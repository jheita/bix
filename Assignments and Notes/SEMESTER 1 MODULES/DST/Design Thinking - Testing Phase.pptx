
<file path=[Content_Types].xml><?xml version="1.0" encoding="utf-8"?>
<Types xmlns="http://schemas.openxmlformats.org/package/2006/content-types">
  <Default Extension="png" ContentType="image/png"/>
  <Default Extension="m4a" ContentType="audio/mp4"/>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0150475" cy="7635875"/>
  <p:notesSz cx="9144000" cy="6858000"/>
  <p:embeddedFontLst>
    <p:embeddedFont>
      <p:font typeface="Calibri" panose="020F0502020204030204" pitchFamily="34" charset="0"/>
      <p:regular r:id="rId29"/>
      <p:bold r:id="rId30"/>
      <p:italic r:id="rId31"/>
      <p:boldItalic r:id="rId32"/>
    </p:embeddedFont>
    <p:embeddedFont>
      <p:font typeface="Georgia" panose="02040502050405020303" pitchFamily="18" charset="0"/>
      <p:regular r:id="rId33"/>
      <p:bold r:id="rId34"/>
      <p:italic r:id="rId35"/>
      <p:boldItalic r:id="rId36"/>
    </p:embeddedFont>
    <p:embeddedFont>
      <p:font typeface="Roboto"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62">
          <p15:clr>
            <a:srgbClr val="000000"/>
          </p15:clr>
        </p15:guide>
        <p15:guide id="2" pos="421">
          <p15:clr>
            <a:srgbClr val="000000"/>
          </p15:clr>
        </p15:guide>
      </p15:sldGuideLst>
    </p:ext>
    <p:ext uri="{2D200454-40CA-4A62-9FC3-DE9A4176ACB9}">
      <p15:notesGuideLst xmlns:p15="http://schemas.microsoft.com/office/powerpoint/2012/main">
        <p15:guide id="1" orient="horz" pos="2160">
          <p15:clr>
            <a:srgbClr val="000000"/>
          </p15:clr>
        </p15:guide>
        <p15:guide id="2" pos="288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526" autoAdjust="0"/>
  </p:normalViewPr>
  <p:slideViewPr>
    <p:cSldViewPr snapToGrid="0">
      <p:cViewPr varScale="1">
        <p:scale>
          <a:sx n="46" d="100"/>
          <a:sy n="46" d="100"/>
        </p:scale>
        <p:origin x="1308" y="42"/>
      </p:cViewPr>
      <p:guideLst>
        <p:guide orient="horz" pos="462"/>
        <p:guide pos="421"/>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interaction-design.org/literature/topics/desirability"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www.interaction-design.org/literature/topics/viability"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user.com.sg/5-usability-testing-tools-to-use/"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4" name="Google Shape;94;p1: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2: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For an interface to be a success, it must provide the right functionality, at the right time, in the right place, and in the right form from the user’s point of view. • Such interfaces are called usable. • Example: if we are designing an ATM, we should be able to justify each user action: – Insert card? – Enter PIN? – Press Quick Cash key? – Press Okay? – Remove card? – Remove money? – Remove receipt?</a:t>
            </a:r>
            <a:endParaRPr/>
          </a:p>
        </p:txBody>
      </p:sp>
      <p:sp>
        <p:nvSpPr>
          <p:cNvPr id="118" name="Google Shape;118;p4: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a:t>The Testing stage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US"/>
              <a:t>The purpose of testing is to learn what works, and what doesn’t and then iterate.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US"/>
              <a:t>It involves producing user feedback as related to the prototypes you have developed, as well as</a:t>
            </a:r>
            <a:endParaRPr/>
          </a:p>
          <a:p>
            <a:pPr marL="0" lvl="0" indent="0" algn="l" rtl="0">
              <a:lnSpc>
                <a:spcPct val="100000"/>
              </a:lnSpc>
              <a:spcBef>
                <a:spcPts val="0"/>
              </a:spcBef>
              <a:spcAft>
                <a:spcPts val="0"/>
              </a:spcAft>
              <a:buClr>
                <a:schemeClr val="dk1"/>
              </a:buClr>
              <a:buSzPts val="1100"/>
              <a:buFont typeface="Arial"/>
              <a:buNone/>
            </a:pPr>
            <a:r>
              <a:rPr lang="en-US"/>
              <a:t>earning a deeper comprehension of your users.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US"/>
              <a:t>Testing is an essential step in the design thinking process.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US"/>
              <a:t>Not infrequently, decisive change proposals appear during this phase that could enhance the quality of the end result substantially.</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US"/>
              <a:t>In particular, the fresh views of people who were not involved in the development of the prototype and thus are much freer in their assessment can pay off quite well in the end. They can see prototypes through the eyes of a customer or user.</a:t>
            </a:r>
            <a:endParaRPr/>
          </a:p>
          <a:p>
            <a:pPr marL="0" lvl="0" indent="0" algn="l" rtl="0">
              <a:lnSpc>
                <a:spcPct val="100000"/>
              </a:lnSpc>
              <a:spcBef>
                <a:spcPts val="0"/>
              </a:spcBef>
              <a:spcAft>
                <a:spcPts val="0"/>
              </a:spcAft>
              <a:buSzPts val="1400"/>
              <a:buNone/>
            </a:pPr>
            <a:endParaRPr/>
          </a:p>
        </p:txBody>
      </p:sp>
      <p:sp>
        <p:nvSpPr>
          <p:cNvPr id="125" name="Google Shape;125;p5: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100"/>
              <a:buFont typeface="Arial"/>
              <a:buNone/>
            </a:pPr>
            <a:r>
              <a:rPr lang="en-US"/>
              <a:t>Negative feedback is your way to learn and improve. We always receive valuable feedback when we test prototypes with customers in the real world, namely potential users or in the environment of the users.</a:t>
            </a:r>
            <a:endParaRPr/>
          </a:p>
          <a:p>
            <a:pPr marL="0" lvl="0" indent="0" algn="just" rtl="0">
              <a:lnSpc>
                <a:spcPct val="90000"/>
              </a:lnSpc>
              <a:spcBef>
                <a:spcPts val="0"/>
              </a:spcBef>
              <a:spcAft>
                <a:spcPts val="0"/>
              </a:spcAft>
              <a:buClr>
                <a:schemeClr val="dk1"/>
              </a:buClr>
              <a:buSzPts val="1100"/>
              <a:buFont typeface="Arial"/>
              <a:buNone/>
            </a:pPr>
            <a:endParaRPr/>
          </a:p>
          <a:p>
            <a:pPr marL="0" lvl="0" indent="0" algn="just" rtl="0">
              <a:lnSpc>
                <a:spcPct val="90000"/>
              </a:lnSpc>
              <a:spcBef>
                <a:spcPts val="0"/>
              </a:spcBef>
              <a:spcAft>
                <a:spcPts val="0"/>
              </a:spcAft>
              <a:buClr>
                <a:schemeClr val="dk1"/>
              </a:buClr>
              <a:buSzPts val="1100"/>
              <a:buFont typeface="Arial"/>
              <a:buNone/>
            </a:pPr>
            <a:r>
              <a:rPr lang="en-US"/>
              <a:t>This is to address any areas of concern and determine whether a proposed solution is plausible and valuable.</a:t>
            </a:r>
            <a:endParaRPr/>
          </a:p>
          <a:p>
            <a:pPr marL="0" lvl="0" indent="0" algn="just" rtl="0">
              <a:lnSpc>
                <a:spcPct val="90000"/>
              </a:lnSpc>
              <a:spcBef>
                <a:spcPts val="0"/>
              </a:spcBef>
              <a:spcAft>
                <a:spcPts val="0"/>
              </a:spcAft>
              <a:buClr>
                <a:schemeClr val="dk1"/>
              </a:buClr>
              <a:buSzPts val="1100"/>
              <a:buFont typeface="Arial"/>
              <a:buNone/>
            </a:pPr>
            <a:endParaRPr/>
          </a:p>
          <a:p>
            <a:pPr marL="0" lvl="0" indent="0" algn="just" rtl="0">
              <a:lnSpc>
                <a:spcPct val="90000"/>
              </a:lnSpc>
              <a:spcBef>
                <a:spcPts val="0"/>
              </a:spcBef>
              <a:spcAft>
                <a:spcPts val="0"/>
              </a:spcAft>
              <a:buClr>
                <a:schemeClr val="dk1"/>
              </a:buClr>
              <a:buSzPts val="1100"/>
              <a:buFont typeface="Arial"/>
              <a:buNone/>
            </a:pPr>
            <a:r>
              <a:rPr lang="en-US"/>
              <a:t>The team must take the proposed solution to users and other critical stakeholders for testing, refinement, and evaluation.</a:t>
            </a:r>
            <a:endParaRPr/>
          </a:p>
          <a:p>
            <a:pPr marL="0" lvl="0" indent="0" algn="just" rtl="0">
              <a:lnSpc>
                <a:spcPct val="90000"/>
              </a:lnSpc>
              <a:spcBef>
                <a:spcPts val="0"/>
              </a:spcBef>
              <a:spcAft>
                <a:spcPts val="0"/>
              </a:spcAft>
              <a:buClr>
                <a:schemeClr val="dk1"/>
              </a:buClr>
              <a:buSzPts val="1100"/>
              <a:buFont typeface="Arial"/>
              <a:buNone/>
            </a:pPr>
            <a:endParaRPr/>
          </a:p>
          <a:p>
            <a:pPr marL="0" lvl="0" indent="0" algn="just" rtl="0">
              <a:lnSpc>
                <a:spcPct val="90000"/>
              </a:lnSpc>
              <a:spcBef>
                <a:spcPts val="0"/>
              </a:spcBef>
              <a:spcAft>
                <a:spcPts val="0"/>
              </a:spcAft>
              <a:buClr>
                <a:schemeClr val="dk1"/>
              </a:buClr>
              <a:buSzPts val="1100"/>
              <a:buFont typeface="Arial"/>
              <a:buNone/>
            </a:pPr>
            <a:r>
              <a:rPr lang="en-US"/>
              <a:t>This need not be a highly formal or structured process, at least early on, nor should it be a one-time effort.</a:t>
            </a:r>
            <a:endParaRPr/>
          </a:p>
          <a:p>
            <a:pPr marL="0" lvl="0" indent="0" algn="just" rtl="0">
              <a:lnSpc>
                <a:spcPct val="90000"/>
              </a:lnSpc>
              <a:spcBef>
                <a:spcPts val="0"/>
              </a:spcBef>
              <a:spcAft>
                <a:spcPts val="0"/>
              </a:spcAft>
              <a:buClr>
                <a:schemeClr val="dk1"/>
              </a:buClr>
              <a:buSzPts val="1100"/>
              <a:buFont typeface="Arial"/>
              <a:buNone/>
            </a:pPr>
            <a:endParaRPr/>
          </a:p>
          <a:p>
            <a:pPr marL="0" lvl="0" indent="0" algn="just" rtl="0">
              <a:lnSpc>
                <a:spcPct val="90000"/>
              </a:lnSpc>
              <a:spcBef>
                <a:spcPts val="0"/>
              </a:spcBef>
              <a:spcAft>
                <a:spcPts val="0"/>
              </a:spcAft>
              <a:buClr>
                <a:schemeClr val="dk1"/>
              </a:buClr>
              <a:buSzPts val="1100"/>
              <a:buFont typeface="Arial"/>
              <a:buNone/>
            </a:pPr>
            <a:r>
              <a:rPr lang="en-US"/>
              <a:t>Instead, user and stakeholder engagement should be done as soon as possible and iteratively as the solution takes shape.</a:t>
            </a:r>
            <a:endParaRPr/>
          </a:p>
        </p:txBody>
      </p:sp>
      <p:sp>
        <p:nvSpPr>
          <p:cNvPr id="131" name="Google Shape;131;p6: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3600"/>
              <a:buFont typeface="Arial"/>
              <a:buNone/>
            </a:pPr>
            <a:r>
              <a:rPr lang="en-US" dirty="0"/>
              <a:t>Whenever possible, we collect and </a:t>
            </a:r>
            <a:r>
              <a:rPr lang="en-US" dirty="0" err="1"/>
              <a:t>analyse</a:t>
            </a:r>
            <a:r>
              <a:rPr lang="en-US" dirty="0"/>
              <a:t> data to validate the results.</a:t>
            </a:r>
            <a:endParaRPr dirty="0"/>
          </a:p>
        </p:txBody>
      </p:sp>
      <p:sp>
        <p:nvSpPr>
          <p:cNvPr id="137" name="Google Shape;137;p7: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500"/>
              </a:spcBef>
              <a:spcAft>
                <a:spcPts val="0"/>
              </a:spcAft>
              <a:buClr>
                <a:schemeClr val="dk1"/>
              </a:buClr>
              <a:buSzPts val="1100"/>
              <a:buFont typeface="Arial"/>
              <a:buNone/>
            </a:pPr>
            <a:r>
              <a:rPr lang="en-US" dirty="0">
                <a:solidFill>
                  <a:srgbClr val="404040"/>
                </a:solidFill>
                <a:highlight>
                  <a:srgbClr val="FFFFFF"/>
                </a:highlight>
                <a:latin typeface="Roboto"/>
                <a:ea typeface="Roboto"/>
                <a:cs typeface="Roboto"/>
                <a:sym typeface="Roboto"/>
              </a:rPr>
              <a:t>Design Thinking is a human-centered design process that may not have a fixed sequence of steps, but will certainly have an ideal end point. The end goal of every Design Thinking project is to design a solution that satisfies the tests of </a:t>
            </a:r>
            <a:r>
              <a:rPr lang="en-US" dirty="0">
                <a:solidFill>
                  <a:schemeClr val="hlink"/>
                </a:solidFill>
                <a:highlight>
                  <a:srgbClr val="FFFFFF"/>
                </a:highlight>
                <a:uFill>
                  <a:noFill/>
                </a:uFill>
                <a:latin typeface="Roboto"/>
                <a:ea typeface="Roboto"/>
                <a:cs typeface="Roboto"/>
                <a:sym typeface="Roboto"/>
                <a:hlinkClick r:id="rId3"/>
              </a:rPr>
              <a:t>desirability</a:t>
            </a:r>
            <a:r>
              <a:rPr lang="en-US" dirty="0">
                <a:solidFill>
                  <a:srgbClr val="404040"/>
                </a:solidFill>
                <a:highlight>
                  <a:srgbClr val="FFFFFF"/>
                </a:highlight>
                <a:latin typeface="Roboto"/>
                <a:ea typeface="Roboto"/>
                <a:cs typeface="Roboto"/>
                <a:sym typeface="Roboto"/>
              </a:rPr>
              <a:t>, feasibility, and </a:t>
            </a:r>
            <a:r>
              <a:rPr lang="en-US" dirty="0">
                <a:solidFill>
                  <a:schemeClr val="hlink"/>
                </a:solidFill>
                <a:highlight>
                  <a:srgbClr val="FFFFFF"/>
                </a:highlight>
                <a:uFill>
                  <a:noFill/>
                </a:uFill>
                <a:latin typeface="Roboto"/>
                <a:ea typeface="Roboto"/>
                <a:cs typeface="Roboto"/>
                <a:sym typeface="Roboto"/>
                <a:hlinkClick r:id="rId4"/>
              </a:rPr>
              <a:t>viability</a:t>
            </a:r>
            <a:r>
              <a:rPr lang="en-US" dirty="0">
                <a:solidFill>
                  <a:srgbClr val="404040"/>
                </a:solidFill>
                <a:highlight>
                  <a:srgbClr val="FFFFFF"/>
                </a:highlight>
                <a:latin typeface="Roboto"/>
                <a:ea typeface="Roboto"/>
                <a:cs typeface="Roboto"/>
                <a:sym typeface="Roboto"/>
              </a:rPr>
              <a:t>.</a:t>
            </a:r>
            <a:endParaRPr sz="1350" b="1" dirty="0">
              <a:solidFill>
                <a:srgbClr val="404040"/>
              </a:solidFill>
              <a:highlight>
                <a:srgbClr val="FFFFFF"/>
              </a:highlight>
              <a:latin typeface="Roboto"/>
              <a:ea typeface="Roboto"/>
              <a:cs typeface="Roboto"/>
              <a:sym typeface="Roboto"/>
            </a:endParaRPr>
          </a:p>
          <a:p>
            <a:pPr marL="0" lvl="0" indent="0" algn="l" rtl="0">
              <a:lnSpc>
                <a:spcPct val="100000"/>
              </a:lnSpc>
              <a:spcBef>
                <a:spcPts val="800"/>
              </a:spcBef>
              <a:spcAft>
                <a:spcPts val="0"/>
              </a:spcAft>
              <a:buSzPts val="1400"/>
              <a:buNone/>
            </a:pPr>
            <a:endParaRPr dirty="0"/>
          </a:p>
        </p:txBody>
      </p:sp>
      <p:sp>
        <p:nvSpPr>
          <p:cNvPr id="147" name="Google Shape;147;p8: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558800" lvl="0" indent="-304800" algn="l" rtl="0">
              <a:lnSpc>
                <a:spcPct val="115000"/>
              </a:lnSpc>
              <a:spcBef>
                <a:spcPts val="0"/>
              </a:spcBef>
              <a:spcAft>
                <a:spcPts val="0"/>
              </a:spcAft>
              <a:buClr>
                <a:srgbClr val="404040"/>
              </a:buClr>
              <a:buSzPts val="1200"/>
              <a:buFont typeface="Roboto"/>
              <a:buChar char="●"/>
            </a:pPr>
            <a:r>
              <a:rPr lang="en-US" dirty="0">
                <a:solidFill>
                  <a:srgbClr val="404040"/>
                </a:solidFill>
                <a:highlight>
                  <a:srgbClr val="FFFFFF"/>
                </a:highlight>
                <a:latin typeface="Roboto"/>
                <a:ea typeface="Roboto"/>
                <a:cs typeface="Roboto"/>
                <a:sym typeface="Roboto"/>
              </a:rPr>
              <a:t>1.Let your users compare alternatives</a:t>
            </a:r>
            <a:br>
              <a:rPr lang="en-US" dirty="0">
                <a:solidFill>
                  <a:srgbClr val="404040"/>
                </a:solidFill>
                <a:highlight>
                  <a:srgbClr val="FFFFFF"/>
                </a:highlight>
                <a:latin typeface="Roboto"/>
                <a:ea typeface="Roboto"/>
                <a:cs typeface="Roboto"/>
                <a:sym typeface="Roboto"/>
              </a:rPr>
            </a:br>
            <a:r>
              <a:rPr lang="en-US" dirty="0">
                <a:solidFill>
                  <a:srgbClr val="404040"/>
                </a:solidFill>
                <a:highlight>
                  <a:srgbClr val="FFFFFF"/>
                </a:highlight>
                <a:latin typeface="Roboto"/>
                <a:ea typeface="Roboto"/>
                <a:cs typeface="Roboto"/>
                <a:sym typeface="Roboto"/>
              </a:rPr>
              <a:t>Create multiple prototypes, each with a change in variable, so that your users can compare prototypes and tell you which they prefer (and which they don’t). Users often find it easier to elucidate what they like and dislike about prototypes when they can compare, rather than if there was only one to interact with.</a:t>
            </a:r>
            <a:endParaRPr dirty="0">
              <a:solidFill>
                <a:srgbClr val="404040"/>
              </a:solidFill>
              <a:highlight>
                <a:srgbClr val="FFFFFF"/>
              </a:highlight>
              <a:latin typeface="Roboto"/>
              <a:ea typeface="Roboto"/>
              <a:cs typeface="Roboto"/>
              <a:sym typeface="Roboto"/>
            </a:endParaRPr>
          </a:p>
          <a:p>
            <a:pPr marL="558800" lvl="0" indent="-304800" algn="l" rtl="0">
              <a:lnSpc>
                <a:spcPct val="115000"/>
              </a:lnSpc>
              <a:spcBef>
                <a:spcPts val="0"/>
              </a:spcBef>
              <a:spcAft>
                <a:spcPts val="0"/>
              </a:spcAft>
              <a:buClr>
                <a:srgbClr val="404040"/>
              </a:buClr>
              <a:buSzPts val="1200"/>
              <a:buFont typeface="Roboto"/>
              <a:buChar char="●"/>
            </a:pPr>
            <a:r>
              <a:rPr lang="en-US" dirty="0">
                <a:solidFill>
                  <a:srgbClr val="404040"/>
                </a:solidFill>
                <a:highlight>
                  <a:srgbClr val="FFFFFF"/>
                </a:highlight>
                <a:latin typeface="Roboto"/>
                <a:ea typeface="Roboto"/>
                <a:cs typeface="Roboto"/>
                <a:sym typeface="Roboto"/>
              </a:rPr>
              <a:t>2.Show, don’t tell: let your users experience the prototype</a:t>
            </a:r>
            <a:br>
              <a:rPr lang="en-US" dirty="0">
                <a:solidFill>
                  <a:srgbClr val="404040"/>
                </a:solidFill>
                <a:highlight>
                  <a:srgbClr val="FFFFFF"/>
                </a:highlight>
                <a:latin typeface="Roboto"/>
                <a:ea typeface="Roboto"/>
                <a:cs typeface="Roboto"/>
                <a:sym typeface="Roboto"/>
              </a:rPr>
            </a:br>
            <a:r>
              <a:rPr lang="en-US" dirty="0">
                <a:solidFill>
                  <a:srgbClr val="404040"/>
                </a:solidFill>
                <a:highlight>
                  <a:srgbClr val="FFFFFF"/>
                </a:highlight>
                <a:latin typeface="Roboto"/>
                <a:ea typeface="Roboto"/>
                <a:cs typeface="Roboto"/>
                <a:sym typeface="Roboto"/>
              </a:rPr>
              <a:t>Avoid over-explaining how your prototype works, or how it is supposed to solve your user’s problems. Let the users’ experience in using the prototype speak for itself, and observe their reactions.</a:t>
            </a:r>
            <a:endParaRPr dirty="0">
              <a:solidFill>
                <a:srgbClr val="404040"/>
              </a:solidFill>
              <a:highlight>
                <a:srgbClr val="FFFFFF"/>
              </a:highlight>
              <a:latin typeface="Roboto"/>
              <a:ea typeface="Roboto"/>
              <a:cs typeface="Roboto"/>
              <a:sym typeface="Roboto"/>
            </a:endParaRPr>
          </a:p>
          <a:p>
            <a:pPr marL="558800" lvl="0" indent="-304800" algn="l" rtl="0">
              <a:lnSpc>
                <a:spcPct val="115000"/>
              </a:lnSpc>
              <a:spcBef>
                <a:spcPts val="0"/>
              </a:spcBef>
              <a:spcAft>
                <a:spcPts val="0"/>
              </a:spcAft>
              <a:buClr>
                <a:srgbClr val="404040"/>
              </a:buClr>
              <a:buSzPts val="1200"/>
              <a:buFont typeface="Roboto"/>
              <a:buChar char="●"/>
            </a:pPr>
            <a:r>
              <a:rPr lang="en-US" dirty="0">
                <a:solidFill>
                  <a:srgbClr val="404040"/>
                </a:solidFill>
                <a:highlight>
                  <a:srgbClr val="FFFFFF"/>
                </a:highlight>
                <a:latin typeface="Roboto"/>
                <a:ea typeface="Roboto"/>
                <a:cs typeface="Roboto"/>
                <a:sym typeface="Roboto"/>
              </a:rPr>
              <a:t>3.Ask users to talk through their experience</a:t>
            </a:r>
            <a:br>
              <a:rPr lang="en-US" dirty="0">
                <a:solidFill>
                  <a:srgbClr val="404040"/>
                </a:solidFill>
                <a:highlight>
                  <a:srgbClr val="FFFFFF"/>
                </a:highlight>
                <a:latin typeface="Roboto"/>
                <a:ea typeface="Roboto"/>
                <a:cs typeface="Roboto"/>
                <a:sym typeface="Roboto"/>
              </a:rPr>
            </a:br>
            <a:r>
              <a:rPr lang="en-US" dirty="0">
                <a:solidFill>
                  <a:srgbClr val="404040"/>
                </a:solidFill>
                <a:highlight>
                  <a:srgbClr val="FFFFFF"/>
                </a:highlight>
                <a:latin typeface="Roboto"/>
                <a:ea typeface="Roboto"/>
                <a:cs typeface="Roboto"/>
                <a:sym typeface="Roboto"/>
              </a:rPr>
              <a:t>When users are exploring and using the prototype, ask them to tell you what they’re thinking. This may take some getting used to for most users, so it may be a good idea to chat about an unrelated topic, and then prompt them by asking them questions such as, “What are you thinking right now as you are doing this?”</a:t>
            </a:r>
            <a:endParaRPr dirty="0">
              <a:solidFill>
                <a:srgbClr val="404040"/>
              </a:solidFill>
              <a:highlight>
                <a:srgbClr val="FFFFFF"/>
              </a:highlight>
              <a:latin typeface="Roboto"/>
              <a:ea typeface="Roboto"/>
              <a:cs typeface="Roboto"/>
              <a:sym typeface="Roboto"/>
            </a:endParaRPr>
          </a:p>
          <a:p>
            <a:pPr marL="558800" lvl="0" indent="-304800" algn="l" rtl="0">
              <a:lnSpc>
                <a:spcPct val="115000"/>
              </a:lnSpc>
              <a:spcBef>
                <a:spcPts val="0"/>
              </a:spcBef>
              <a:spcAft>
                <a:spcPts val="0"/>
              </a:spcAft>
              <a:buClr>
                <a:srgbClr val="404040"/>
              </a:buClr>
              <a:buSzPts val="1200"/>
              <a:buFont typeface="Roboto"/>
              <a:buChar char="●"/>
            </a:pPr>
            <a:r>
              <a:rPr lang="en-US" dirty="0">
                <a:solidFill>
                  <a:srgbClr val="404040"/>
                </a:solidFill>
                <a:highlight>
                  <a:srgbClr val="FFFFFF"/>
                </a:highlight>
                <a:latin typeface="Roboto"/>
                <a:ea typeface="Roboto"/>
                <a:cs typeface="Roboto"/>
                <a:sym typeface="Roboto"/>
              </a:rPr>
              <a:t>4.Observe</a:t>
            </a:r>
            <a:br>
              <a:rPr lang="en-US" dirty="0">
                <a:solidFill>
                  <a:srgbClr val="404040"/>
                </a:solidFill>
                <a:highlight>
                  <a:srgbClr val="FFFFFF"/>
                </a:highlight>
                <a:latin typeface="Roboto"/>
                <a:ea typeface="Roboto"/>
                <a:cs typeface="Roboto"/>
                <a:sym typeface="Roboto"/>
              </a:rPr>
            </a:br>
            <a:r>
              <a:rPr lang="en-US" dirty="0">
                <a:solidFill>
                  <a:srgbClr val="404040"/>
                </a:solidFill>
                <a:highlight>
                  <a:srgbClr val="FFFFFF"/>
                </a:highlight>
                <a:latin typeface="Roboto"/>
                <a:ea typeface="Roboto"/>
                <a:cs typeface="Roboto"/>
                <a:sym typeface="Roboto"/>
              </a:rPr>
              <a:t>Observe how your users use — either “correctly” or “incorrectly” — your prototype, and try to resist the urge to correct them when they misinterpret how it’s supposed to be used. User mistakes are valuable learning opportunities. Remember that you are testing the prototype, not the user.</a:t>
            </a:r>
            <a:endParaRPr dirty="0">
              <a:solidFill>
                <a:srgbClr val="404040"/>
              </a:solidFill>
              <a:highlight>
                <a:srgbClr val="FFFFFF"/>
              </a:highlight>
              <a:latin typeface="Roboto"/>
              <a:ea typeface="Roboto"/>
              <a:cs typeface="Roboto"/>
              <a:sym typeface="Roboto"/>
            </a:endParaRPr>
          </a:p>
          <a:p>
            <a:pPr marL="558800" lvl="0" indent="-304800" algn="l" rtl="0">
              <a:lnSpc>
                <a:spcPct val="115000"/>
              </a:lnSpc>
              <a:spcBef>
                <a:spcPts val="0"/>
              </a:spcBef>
              <a:spcAft>
                <a:spcPts val="0"/>
              </a:spcAft>
              <a:buClr>
                <a:srgbClr val="404040"/>
              </a:buClr>
              <a:buSzPts val="1200"/>
              <a:buFont typeface="Roboto"/>
              <a:buChar char="●"/>
            </a:pPr>
            <a:r>
              <a:rPr lang="en-US" dirty="0">
                <a:solidFill>
                  <a:srgbClr val="404040"/>
                </a:solidFill>
                <a:highlight>
                  <a:srgbClr val="FFFFFF"/>
                </a:highlight>
                <a:latin typeface="Roboto"/>
                <a:ea typeface="Roboto"/>
                <a:cs typeface="Roboto"/>
                <a:sym typeface="Roboto"/>
              </a:rPr>
              <a:t>5.Ask follow up questions</a:t>
            </a:r>
            <a:br>
              <a:rPr lang="en-US" dirty="0">
                <a:solidFill>
                  <a:srgbClr val="404040"/>
                </a:solidFill>
                <a:highlight>
                  <a:srgbClr val="FFFFFF"/>
                </a:highlight>
                <a:latin typeface="Roboto"/>
                <a:ea typeface="Roboto"/>
                <a:cs typeface="Roboto"/>
                <a:sym typeface="Roboto"/>
              </a:rPr>
            </a:br>
            <a:r>
              <a:rPr lang="en-US" dirty="0">
                <a:solidFill>
                  <a:srgbClr val="404040"/>
                </a:solidFill>
                <a:highlight>
                  <a:srgbClr val="FFFFFF"/>
                </a:highlight>
                <a:latin typeface="Roboto"/>
                <a:ea typeface="Roboto"/>
                <a:cs typeface="Roboto"/>
                <a:sym typeface="Roboto"/>
              </a:rPr>
              <a:t>Always follow up with questions, even if you think you know what the user means. Ask questions such as, “What do you mean when you say ___?”, “How did that make you feel?”, and most importantly, “Why?</a:t>
            </a:r>
            <a:endParaRPr dirty="0">
              <a:solidFill>
                <a:srgbClr val="404040"/>
              </a:solidFill>
              <a:highlight>
                <a:srgbClr val="FFFFFF"/>
              </a:highlight>
              <a:latin typeface="Roboto"/>
              <a:ea typeface="Roboto"/>
              <a:cs typeface="Roboto"/>
              <a:sym typeface="Roboto"/>
            </a:endParaRPr>
          </a:p>
          <a:p>
            <a:pPr marL="0" lvl="0" indent="0" algn="l" rtl="0">
              <a:lnSpc>
                <a:spcPct val="100000"/>
              </a:lnSpc>
              <a:spcBef>
                <a:spcPts val="3000"/>
              </a:spcBef>
              <a:spcAft>
                <a:spcPts val="0"/>
              </a:spcAft>
              <a:buSzPts val="1400"/>
              <a:buNone/>
            </a:pPr>
            <a:endParaRPr dirty="0">
              <a:highlight>
                <a:srgbClr val="FFFFFF"/>
              </a:highlight>
            </a:endParaRPr>
          </a:p>
        </p:txBody>
      </p:sp>
      <p:sp>
        <p:nvSpPr>
          <p:cNvPr id="154" name="Google Shape;154;p9: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10: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2: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7793fc116e_0_9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endParaRPr dirty="0"/>
          </a:p>
        </p:txBody>
      </p:sp>
      <p:sp>
        <p:nvSpPr>
          <p:cNvPr id="176" name="Google Shape;176;g7793fc116e_0_92:notes"/>
          <p:cNvSpPr>
            <a:spLocks noGrp="1" noRot="1" noChangeAspect="1"/>
          </p:cNvSpPr>
          <p:nvPr>
            <p:ph type="sldImg" idx="2"/>
          </p:nvPr>
        </p:nvSpPr>
        <p:spPr>
          <a:xfrm>
            <a:off x="2863850" y="514350"/>
            <a:ext cx="34178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Clr>
                <a:schemeClr val="dk1"/>
              </a:buClr>
              <a:buSzPts val="1750"/>
              <a:buFont typeface="Arial"/>
              <a:buNone/>
            </a:pPr>
            <a:r>
              <a:rPr lang="en-US" sz="1750" dirty="0"/>
              <a:t>The use of a feedback-capture grid has proven quite useful. It facilitates the documentation of feedback, either real-time or from presentations and prototypes. </a:t>
            </a:r>
            <a:endParaRPr sz="1750" dirty="0"/>
          </a:p>
          <a:p>
            <a:pPr marL="0" lvl="0" indent="0" algn="l" rtl="0">
              <a:lnSpc>
                <a:spcPct val="70000"/>
              </a:lnSpc>
              <a:spcBef>
                <a:spcPts val="1000"/>
              </a:spcBef>
              <a:spcAft>
                <a:spcPts val="0"/>
              </a:spcAft>
              <a:buClr>
                <a:schemeClr val="dk1"/>
              </a:buClr>
              <a:buSzPts val="1750"/>
              <a:buFont typeface="Arial"/>
              <a:buNone/>
            </a:pPr>
            <a:endParaRPr sz="1750" dirty="0"/>
          </a:p>
          <a:p>
            <a:pPr marL="0" lvl="0" indent="0" algn="l" rtl="0">
              <a:lnSpc>
                <a:spcPct val="70000"/>
              </a:lnSpc>
              <a:spcBef>
                <a:spcPts val="1000"/>
              </a:spcBef>
              <a:spcAft>
                <a:spcPts val="0"/>
              </a:spcAft>
              <a:buClr>
                <a:schemeClr val="dk1"/>
              </a:buClr>
              <a:buSzPts val="1750"/>
              <a:buFont typeface="Arial"/>
              <a:buNone/>
            </a:pPr>
            <a:r>
              <a:rPr lang="en-US" sz="1750" dirty="0"/>
              <a:t>We use the grid to capture the feedback systematically and deliberately in four main areas.</a:t>
            </a:r>
            <a:endParaRPr sz="2800" dirty="0"/>
          </a:p>
          <a:p>
            <a:pPr marL="0" lvl="0" indent="0" algn="l" rtl="0">
              <a:lnSpc>
                <a:spcPct val="70000"/>
              </a:lnSpc>
              <a:spcBef>
                <a:spcPts val="1000"/>
              </a:spcBef>
              <a:spcAft>
                <a:spcPts val="0"/>
              </a:spcAft>
              <a:buClr>
                <a:schemeClr val="dk1"/>
              </a:buClr>
              <a:buSzPts val="1750"/>
              <a:buFont typeface="Arial"/>
              <a:buNone/>
            </a:pPr>
            <a:endParaRPr sz="1750" dirty="0"/>
          </a:p>
          <a:p>
            <a:pPr marL="0" lvl="0" indent="0" algn="l" rtl="0">
              <a:lnSpc>
                <a:spcPct val="70000"/>
              </a:lnSpc>
              <a:spcBef>
                <a:spcPts val="1000"/>
              </a:spcBef>
              <a:spcAft>
                <a:spcPts val="0"/>
              </a:spcAft>
              <a:buClr>
                <a:schemeClr val="dk1"/>
              </a:buClr>
              <a:buSzPts val="1750"/>
              <a:buFont typeface="Arial"/>
              <a:buNone/>
            </a:pPr>
            <a:r>
              <a:rPr lang="en-US" sz="1750" b="1" dirty="0"/>
              <a:t>What do we like?</a:t>
            </a:r>
            <a:endParaRPr sz="2800" dirty="0"/>
          </a:p>
          <a:p>
            <a:pPr marL="0" lvl="0" indent="0" algn="l" rtl="0">
              <a:lnSpc>
                <a:spcPct val="70000"/>
              </a:lnSpc>
              <a:spcBef>
                <a:spcPts val="1000"/>
              </a:spcBef>
              <a:spcAft>
                <a:spcPts val="0"/>
              </a:spcAft>
              <a:buClr>
                <a:schemeClr val="dk1"/>
              </a:buClr>
              <a:buSzPts val="1750"/>
              <a:buFont typeface="Arial"/>
              <a:buNone/>
            </a:pPr>
            <a:r>
              <a:rPr lang="en-US" sz="1750" b="1" dirty="0"/>
              <a:t>What wishes do we have?</a:t>
            </a:r>
            <a:endParaRPr sz="2800" dirty="0"/>
          </a:p>
          <a:p>
            <a:pPr marL="0" lvl="0" indent="0" algn="l" rtl="0">
              <a:lnSpc>
                <a:spcPct val="70000"/>
              </a:lnSpc>
              <a:spcBef>
                <a:spcPts val="1000"/>
              </a:spcBef>
              <a:spcAft>
                <a:spcPts val="0"/>
              </a:spcAft>
              <a:buClr>
                <a:schemeClr val="dk1"/>
              </a:buClr>
              <a:buSzPts val="1750"/>
              <a:buFont typeface="Arial"/>
              <a:buNone/>
            </a:pPr>
            <a:r>
              <a:rPr lang="en-US" sz="1750" b="1" dirty="0"/>
              <a:t>What questions have cropped up?</a:t>
            </a:r>
            <a:endParaRPr sz="2800" dirty="0"/>
          </a:p>
          <a:p>
            <a:pPr marL="0" lvl="0" indent="0" algn="l" rtl="0">
              <a:lnSpc>
                <a:spcPct val="70000"/>
              </a:lnSpc>
              <a:spcBef>
                <a:spcPts val="1000"/>
              </a:spcBef>
              <a:spcAft>
                <a:spcPts val="0"/>
              </a:spcAft>
              <a:buClr>
                <a:schemeClr val="dk1"/>
              </a:buClr>
              <a:buSzPts val="1750"/>
              <a:buFont typeface="Arial"/>
              <a:buNone/>
            </a:pPr>
            <a:r>
              <a:rPr lang="en-US" sz="1750" b="1" dirty="0"/>
              <a:t>Which initial ideas and solutions have we found?</a:t>
            </a:r>
            <a:endParaRPr sz="2800" dirty="0"/>
          </a:p>
          <a:p>
            <a:pPr marL="0" lvl="0" indent="0" algn="l" rtl="0">
              <a:lnSpc>
                <a:spcPct val="70000"/>
              </a:lnSpc>
              <a:spcBef>
                <a:spcPts val="1000"/>
              </a:spcBef>
              <a:spcAft>
                <a:spcPts val="0"/>
              </a:spcAft>
              <a:buClr>
                <a:schemeClr val="dk1"/>
              </a:buClr>
              <a:buSzPts val="1750"/>
              <a:buFont typeface="Arial"/>
              <a:buNone/>
            </a:pPr>
            <a:endParaRPr sz="1750" b="1" dirty="0"/>
          </a:p>
          <a:p>
            <a:pPr marL="0" lvl="0" indent="0" algn="l" rtl="0">
              <a:lnSpc>
                <a:spcPct val="70000"/>
              </a:lnSpc>
              <a:spcBef>
                <a:spcPts val="1000"/>
              </a:spcBef>
              <a:spcAft>
                <a:spcPts val="0"/>
              </a:spcAft>
              <a:buClr>
                <a:schemeClr val="dk1"/>
              </a:buClr>
              <a:buSzPts val="1750"/>
              <a:buFont typeface="Arial"/>
              <a:buNone/>
            </a:pPr>
            <a:r>
              <a:rPr lang="en-US" sz="1750" dirty="0"/>
              <a:t>Filling in the four quadrants is pretty easy: We write each piece of</a:t>
            </a:r>
            <a:endParaRPr sz="2800" dirty="0"/>
          </a:p>
          <a:p>
            <a:pPr marL="0" lvl="0" indent="0" algn="l" rtl="0">
              <a:lnSpc>
                <a:spcPct val="70000"/>
              </a:lnSpc>
              <a:spcBef>
                <a:spcPts val="1000"/>
              </a:spcBef>
              <a:spcAft>
                <a:spcPts val="0"/>
              </a:spcAft>
              <a:buClr>
                <a:schemeClr val="dk1"/>
              </a:buClr>
              <a:buSzPts val="1750"/>
              <a:buFont typeface="Arial"/>
              <a:buNone/>
            </a:pPr>
            <a:r>
              <a:rPr lang="en-US" sz="1750" dirty="0"/>
              <a:t>user feedback in the suitable quadrant category.</a:t>
            </a:r>
            <a:endParaRPr dirty="0"/>
          </a:p>
        </p:txBody>
      </p:sp>
      <p:sp>
        <p:nvSpPr>
          <p:cNvPr id="182" name="Google Shape;182;p13: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Expert Analysis/Review is conducted by those already familiar with Heuristics but do not necessarily follow a set of heuristics. Heuristics based evaluations use various sets of heuristics following them to the core, there Heuristics are based on empirical rules of thumb, best practices, standards, rules, and conventions. For instance Norman Nielsens’ Heuristics which are the most used in usability have sets of questions along a rickert scale</a:t>
            </a:r>
            <a:endParaRPr/>
          </a:p>
        </p:txBody>
      </p:sp>
      <p:sp>
        <p:nvSpPr>
          <p:cNvPr id="187" name="Google Shape;187;p14: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100" b="1" dirty="0">
                <a:highlight>
                  <a:srgbClr val="FFFFFF"/>
                </a:highlight>
                <a:latin typeface="Arial"/>
                <a:ea typeface="Arial"/>
                <a:cs typeface="Arial"/>
                <a:sym typeface="Arial"/>
              </a:rPr>
              <a:t>Cognitive Walkthrough </a:t>
            </a:r>
            <a:endParaRPr sz="1100" b="1" dirty="0">
              <a:highlight>
                <a:srgbClr val="FFFFFF"/>
              </a:highlight>
              <a:latin typeface="Arial"/>
              <a:ea typeface="Arial"/>
              <a:cs typeface="Arial"/>
              <a:sym typeface="Arial"/>
            </a:endParaRPr>
          </a:p>
          <a:p>
            <a:pPr marL="0" lvl="0" indent="0" algn="l" rtl="0">
              <a:lnSpc>
                <a:spcPct val="100000"/>
              </a:lnSpc>
              <a:spcBef>
                <a:spcPts val="0"/>
              </a:spcBef>
              <a:spcAft>
                <a:spcPts val="0"/>
              </a:spcAft>
              <a:buSzPts val="1400"/>
              <a:buNone/>
            </a:pPr>
            <a:endParaRPr sz="1100" b="1" dirty="0">
              <a:highlight>
                <a:srgbClr val="FFFFFF"/>
              </a:highlight>
              <a:latin typeface="Arial"/>
              <a:ea typeface="Arial"/>
              <a:cs typeface="Arial"/>
              <a:sym typeface="Arial"/>
            </a:endParaRPr>
          </a:p>
          <a:p>
            <a:pPr marL="0" lvl="0" indent="0" algn="l" rtl="0">
              <a:lnSpc>
                <a:spcPct val="100000"/>
              </a:lnSpc>
              <a:spcBef>
                <a:spcPts val="0"/>
              </a:spcBef>
              <a:spcAft>
                <a:spcPts val="0"/>
              </a:spcAft>
              <a:buSzPts val="1400"/>
              <a:buNone/>
            </a:pPr>
            <a:r>
              <a:rPr lang="en-US" sz="1100" b="1" dirty="0">
                <a:highlight>
                  <a:srgbClr val="FFFFFF"/>
                </a:highlight>
                <a:latin typeface="Arial"/>
                <a:ea typeface="Arial"/>
                <a:cs typeface="Arial"/>
                <a:sym typeface="Arial"/>
              </a:rPr>
              <a:t>Who:</a:t>
            </a:r>
            <a:r>
              <a:rPr lang="en-US" sz="1100" dirty="0">
                <a:highlight>
                  <a:srgbClr val="FFFFFF"/>
                </a:highlight>
                <a:latin typeface="Arial"/>
                <a:ea typeface="Arial"/>
                <a:cs typeface="Arial"/>
                <a:sym typeface="Arial"/>
              </a:rPr>
              <a:t> New user.</a:t>
            </a:r>
            <a:endParaRPr sz="1100" dirty="0">
              <a:highlight>
                <a:srgbClr val="FFFFFF"/>
              </a:highlight>
              <a:latin typeface="Arial"/>
              <a:ea typeface="Arial"/>
              <a:cs typeface="Arial"/>
              <a:sym typeface="Arial"/>
            </a:endParaRPr>
          </a:p>
          <a:p>
            <a:pPr marL="0" lvl="0" indent="0" algn="l" rtl="0">
              <a:lnSpc>
                <a:spcPct val="100000"/>
              </a:lnSpc>
              <a:spcBef>
                <a:spcPts val="0"/>
              </a:spcBef>
              <a:spcAft>
                <a:spcPts val="0"/>
              </a:spcAft>
              <a:buSzPts val="1400"/>
              <a:buNone/>
            </a:pPr>
            <a:r>
              <a:rPr lang="en-US" sz="1100" b="1" dirty="0">
                <a:highlight>
                  <a:srgbClr val="FFFFFF"/>
                </a:highlight>
                <a:latin typeface="Arial"/>
                <a:ea typeface="Arial"/>
                <a:cs typeface="Arial"/>
                <a:sym typeface="Arial"/>
              </a:rPr>
              <a:t>What:</a:t>
            </a:r>
            <a:r>
              <a:rPr lang="en-US" sz="1100" dirty="0">
                <a:highlight>
                  <a:srgbClr val="FFFFFF"/>
                </a:highlight>
                <a:latin typeface="Arial"/>
                <a:ea typeface="Arial"/>
                <a:cs typeface="Arial"/>
                <a:sym typeface="Arial"/>
              </a:rPr>
              <a:t> Performs specific user tasks in line with user goals.</a:t>
            </a:r>
            <a:endParaRPr sz="1100" dirty="0">
              <a:highlight>
                <a:srgbClr val="FFFFFF"/>
              </a:highlight>
              <a:latin typeface="Arial"/>
              <a:ea typeface="Arial"/>
              <a:cs typeface="Arial"/>
              <a:sym typeface="Arial"/>
            </a:endParaRPr>
          </a:p>
          <a:p>
            <a:pPr marL="0" lvl="0" indent="0" algn="l" rtl="0">
              <a:lnSpc>
                <a:spcPct val="100000"/>
              </a:lnSpc>
              <a:spcBef>
                <a:spcPts val="0"/>
              </a:spcBef>
              <a:spcAft>
                <a:spcPts val="0"/>
              </a:spcAft>
              <a:buSzPts val="1400"/>
              <a:buNone/>
            </a:pPr>
            <a:r>
              <a:rPr lang="en-US" sz="1100" b="1" dirty="0">
                <a:highlight>
                  <a:srgbClr val="FFFFFF"/>
                </a:highlight>
                <a:latin typeface="Arial"/>
                <a:ea typeface="Arial"/>
                <a:cs typeface="Arial"/>
                <a:sym typeface="Arial"/>
              </a:rPr>
              <a:t>Why:</a:t>
            </a:r>
            <a:r>
              <a:rPr lang="en-US" sz="1100" dirty="0">
                <a:highlight>
                  <a:srgbClr val="FFFFFF"/>
                </a:highlight>
                <a:latin typeface="Arial"/>
                <a:ea typeface="Arial"/>
                <a:cs typeface="Arial"/>
                <a:sym typeface="Arial"/>
              </a:rPr>
              <a:t> To determine if the sequential processes to get from point A (user task) to point B (user goal) work in the correct order they were designed to.</a:t>
            </a:r>
            <a:endParaRPr sz="1100" dirty="0">
              <a:highlight>
                <a:srgbClr val="FFFFFF"/>
              </a:highlight>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dirty="0">
              <a:highlight>
                <a:srgbClr val="FFFFFF"/>
              </a:highlight>
              <a:latin typeface="Arial"/>
              <a:ea typeface="Arial"/>
              <a:cs typeface="Arial"/>
              <a:sym typeface="Arial"/>
            </a:endParaRPr>
          </a:p>
        </p:txBody>
      </p:sp>
      <p:sp>
        <p:nvSpPr>
          <p:cNvPr id="195" name="Google Shape;195;p15: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457200" lvl="0" indent="-298450" algn="l" rtl="0">
              <a:lnSpc>
                <a:spcPct val="70000"/>
              </a:lnSpc>
              <a:spcBef>
                <a:spcPts val="1000"/>
              </a:spcBef>
              <a:spcAft>
                <a:spcPts val="0"/>
              </a:spcAft>
              <a:buClr>
                <a:srgbClr val="2B2F33"/>
              </a:buClr>
              <a:buSzPts val="1100"/>
              <a:buChar char="●"/>
            </a:pPr>
            <a:r>
              <a:rPr lang="en-US" sz="1960" dirty="0" smtClean="0"/>
              <a:t>It </a:t>
            </a:r>
            <a:r>
              <a:rPr lang="en-US" sz="1960" dirty="0"/>
              <a:t>is useful when experts within an existing community have the possibility of selecting their field of expertise (e.g., channel marketing, big data analytics, accounting). </a:t>
            </a:r>
            <a:endParaRPr sz="1960" dirty="0"/>
          </a:p>
          <a:p>
            <a:pPr marL="457200" lvl="0" indent="-298450" algn="l" rtl="0">
              <a:lnSpc>
                <a:spcPct val="70000"/>
              </a:lnSpc>
              <a:spcBef>
                <a:spcPts val="1000"/>
              </a:spcBef>
              <a:spcAft>
                <a:spcPts val="0"/>
              </a:spcAft>
              <a:buClr>
                <a:srgbClr val="2B2F33"/>
              </a:buClr>
              <a:buSzPts val="1100"/>
              <a:buChar char="●"/>
            </a:pPr>
            <a:r>
              <a:rPr lang="en-US" sz="1960" dirty="0"/>
              <a:t>This makes it easier in actual practice to obtain fast feedback, such as from the experts with</a:t>
            </a:r>
            <a:endParaRPr sz="2800" dirty="0"/>
          </a:p>
          <a:p>
            <a:pPr marL="457200" lvl="0" indent="-298450" algn="l" rtl="0">
              <a:lnSpc>
                <a:spcPct val="70000"/>
              </a:lnSpc>
              <a:spcBef>
                <a:spcPts val="1000"/>
              </a:spcBef>
              <a:spcAft>
                <a:spcPts val="0"/>
              </a:spcAft>
              <a:buClr>
                <a:srgbClr val="2B2F33"/>
              </a:buClr>
              <a:buSzPts val="1100"/>
              <a:buChar char="●"/>
            </a:pPr>
            <a:r>
              <a:rPr lang="en-US" sz="1960" dirty="0"/>
              <a:t>respect to their expert knowledge.</a:t>
            </a:r>
            <a:endParaRPr sz="2800" dirty="0"/>
          </a:p>
          <a:p>
            <a:pPr marL="457200" lvl="0" indent="-298450" algn="l" rtl="0">
              <a:lnSpc>
                <a:spcPct val="70000"/>
              </a:lnSpc>
              <a:spcBef>
                <a:spcPts val="1000"/>
              </a:spcBef>
              <a:spcAft>
                <a:spcPts val="0"/>
              </a:spcAft>
              <a:buClr>
                <a:srgbClr val="2B2F33"/>
              </a:buClr>
              <a:buSzPts val="1100"/>
              <a:buChar char="●"/>
            </a:pPr>
            <a:r>
              <a:rPr lang="en-US" sz="1960" dirty="0"/>
              <a:t>The dedicated selection of technically accomplished community participants can boost the quality of the feedback, but you should always consider the feedback of non-experts as well; because they are less professionally blinkered, they often have a fresh viewpoint.</a:t>
            </a:r>
            <a:endParaRPr sz="1960" dirty="0"/>
          </a:p>
          <a:p>
            <a:pPr marL="457200" lvl="0" indent="0" algn="l" rtl="0">
              <a:lnSpc>
                <a:spcPct val="160000"/>
              </a:lnSpc>
              <a:spcBef>
                <a:spcPts val="0"/>
              </a:spcBef>
              <a:spcAft>
                <a:spcPts val="0"/>
              </a:spcAft>
              <a:buNone/>
            </a:pPr>
            <a:endParaRPr sz="1100" dirty="0">
              <a:highlight>
                <a:srgbClr val="FFFFFF"/>
              </a:highlight>
              <a:latin typeface="Arial"/>
              <a:ea typeface="Arial"/>
              <a:cs typeface="Arial"/>
              <a:sym typeface="Arial"/>
            </a:endParaRPr>
          </a:p>
        </p:txBody>
      </p:sp>
      <p:sp>
        <p:nvSpPr>
          <p:cNvPr id="204" name="Google Shape;204;p16: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749300" lvl="0" indent="-304800" algn="l" rtl="0">
              <a:lnSpc>
                <a:spcPct val="115000"/>
              </a:lnSpc>
              <a:spcBef>
                <a:spcPts val="0"/>
              </a:spcBef>
              <a:spcAft>
                <a:spcPts val="0"/>
              </a:spcAft>
              <a:buClr>
                <a:srgbClr val="666666"/>
              </a:buClr>
              <a:buSzPts val="1200"/>
              <a:buChar char="●"/>
            </a:pPr>
            <a:r>
              <a:rPr lang="en-US">
                <a:solidFill>
                  <a:srgbClr val="666666"/>
                </a:solidFill>
                <a:highlight>
                  <a:srgbClr val="FFFFFF"/>
                </a:highlight>
                <a:latin typeface="Arial"/>
                <a:ea typeface="Arial"/>
                <a:cs typeface="Arial"/>
                <a:sym typeface="Arial"/>
              </a:rPr>
              <a:t>What features of your product are likely to cause usability problems and should be improved.</a:t>
            </a:r>
            <a:endParaRPr>
              <a:solidFill>
                <a:srgbClr val="666666"/>
              </a:solidFill>
              <a:highlight>
                <a:srgbClr val="FFFFFF"/>
              </a:highlight>
              <a:latin typeface="Arial"/>
              <a:ea typeface="Arial"/>
              <a:cs typeface="Arial"/>
              <a:sym typeface="Arial"/>
            </a:endParaRPr>
          </a:p>
          <a:p>
            <a:pPr marL="749300" lvl="0" indent="-304800" algn="l" rtl="0">
              <a:lnSpc>
                <a:spcPct val="115000"/>
              </a:lnSpc>
              <a:spcBef>
                <a:spcPts val="0"/>
              </a:spcBef>
              <a:spcAft>
                <a:spcPts val="0"/>
              </a:spcAft>
              <a:buClr>
                <a:srgbClr val="666666"/>
              </a:buClr>
              <a:buSzPts val="1200"/>
              <a:buChar char="●"/>
            </a:pPr>
            <a:r>
              <a:rPr lang="en-US">
                <a:solidFill>
                  <a:srgbClr val="666666"/>
                </a:solidFill>
                <a:highlight>
                  <a:srgbClr val="FFFFFF"/>
                </a:highlight>
                <a:latin typeface="Arial"/>
                <a:ea typeface="Arial"/>
                <a:cs typeface="Arial"/>
                <a:sym typeface="Arial"/>
              </a:rPr>
              <a:t>What features are likely to be successful and should be retained.</a:t>
            </a:r>
            <a:endParaRPr>
              <a:solidFill>
                <a:srgbClr val="666666"/>
              </a:solidFill>
              <a:highlight>
                <a:srgbClr val="FFFFFF"/>
              </a:highlight>
              <a:latin typeface="Arial"/>
              <a:ea typeface="Arial"/>
              <a:cs typeface="Arial"/>
              <a:sym typeface="Arial"/>
            </a:endParaRPr>
          </a:p>
          <a:p>
            <a:pPr marL="749300" lvl="0" indent="-304800" algn="l" rtl="0">
              <a:lnSpc>
                <a:spcPct val="115000"/>
              </a:lnSpc>
              <a:spcBef>
                <a:spcPts val="0"/>
              </a:spcBef>
              <a:spcAft>
                <a:spcPts val="0"/>
              </a:spcAft>
              <a:buClr>
                <a:srgbClr val="666666"/>
              </a:buClr>
              <a:buSzPts val="1200"/>
              <a:buChar char="●"/>
            </a:pPr>
            <a:r>
              <a:rPr lang="en-US">
                <a:solidFill>
                  <a:srgbClr val="666666"/>
                </a:solidFill>
                <a:highlight>
                  <a:srgbClr val="FFFFFF"/>
                </a:highlight>
                <a:latin typeface="Arial"/>
                <a:ea typeface="Arial"/>
                <a:cs typeface="Arial"/>
                <a:sym typeface="Arial"/>
              </a:rPr>
              <a:t>What features should be tested with actual users.</a:t>
            </a:r>
            <a:endParaRPr>
              <a:solidFill>
                <a:srgbClr val="666666"/>
              </a:solidFill>
              <a:highlight>
                <a:srgbClr val="FFFFFF"/>
              </a:highlight>
              <a:latin typeface="Arial"/>
              <a:ea typeface="Arial"/>
              <a:cs typeface="Arial"/>
              <a:sym typeface="Arial"/>
            </a:endParaRPr>
          </a:p>
          <a:p>
            <a:pPr marL="0" lvl="0" indent="0" algn="l" rtl="0">
              <a:lnSpc>
                <a:spcPct val="115000"/>
              </a:lnSpc>
              <a:spcBef>
                <a:spcPts val="0"/>
              </a:spcBef>
              <a:spcAft>
                <a:spcPts val="0"/>
              </a:spcAft>
              <a:buNone/>
            </a:pPr>
            <a:endParaRPr>
              <a:solidFill>
                <a:srgbClr val="666666"/>
              </a:solidFill>
              <a:highlight>
                <a:srgbClr val="FFFFFF"/>
              </a:highlight>
              <a:latin typeface="Arial"/>
              <a:ea typeface="Arial"/>
              <a:cs typeface="Arial"/>
              <a:sym typeface="Arial"/>
            </a:endParaRPr>
          </a:p>
          <a:p>
            <a:pPr marL="457200" lvl="0" indent="0" algn="l" rtl="0">
              <a:lnSpc>
                <a:spcPct val="160000"/>
              </a:lnSpc>
              <a:spcBef>
                <a:spcPts val="0"/>
              </a:spcBef>
              <a:spcAft>
                <a:spcPts val="0"/>
              </a:spcAft>
              <a:buNone/>
            </a:pPr>
            <a:r>
              <a:rPr lang="en-US" sz="1100" b="1">
                <a:solidFill>
                  <a:srgbClr val="2B2F33"/>
                </a:solidFill>
                <a:highlight>
                  <a:schemeClr val="lt1"/>
                </a:highlight>
                <a:latin typeface="Arial"/>
                <a:ea typeface="Arial"/>
                <a:cs typeface="Arial"/>
                <a:sym typeface="Arial"/>
              </a:rPr>
              <a:t>Who: </a:t>
            </a:r>
            <a:r>
              <a:rPr lang="en-US" sz="1100">
                <a:solidFill>
                  <a:srgbClr val="2B2F33"/>
                </a:solidFill>
                <a:highlight>
                  <a:schemeClr val="lt1"/>
                </a:highlight>
                <a:latin typeface="Arial"/>
                <a:ea typeface="Arial"/>
                <a:cs typeface="Arial"/>
                <a:sym typeface="Arial"/>
              </a:rPr>
              <a:t>System expert.</a:t>
            </a:r>
            <a:endParaRPr sz="1100">
              <a:solidFill>
                <a:srgbClr val="2B2F33"/>
              </a:solidFill>
              <a:highlight>
                <a:schemeClr val="lt1"/>
              </a:highlight>
              <a:latin typeface="Arial"/>
              <a:ea typeface="Arial"/>
              <a:cs typeface="Arial"/>
              <a:sym typeface="Arial"/>
            </a:endParaRPr>
          </a:p>
          <a:p>
            <a:pPr marL="457200" lvl="0" indent="0" algn="l" rtl="0">
              <a:lnSpc>
                <a:spcPct val="160000"/>
              </a:lnSpc>
              <a:spcBef>
                <a:spcPts val="0"/>
              </a:spcBef>
              <a:spcAft>
                <a:spcPts val="0"/>
              </a:spcAft>
              <a:buNone/>
            </a:pPr>
            <a:r>
              <a:rPr lang="en-US" sz="1100" b="1">
                <a:solidFill>
                  <a:srgbClr val="2B2F33"/>
                </a:solidFill>
                <a:highlight>
                  <a:schemeClr val="lt1"/>
                </a:highlight>
                <a:latin typeface="Arial"/>
                <a:ea typeface="Arial"/>
                <a:cs typeface="Arial"/>
                <a:sym typeface="Arial"/>
              </a:rPr>
              <a:t>What</a:t>
            </a:r>
            <a:r>
              <a:rPr lang="en-US" sz="1100">
                <a:solidFill>
                  <a:srgbClr val="2B2F33"/>
                </a:solidFill>
                <a:highlight>
                  <a:schemeClr val="lt1"/>
                </a:highlight>
                <a:latin typeface="Arial"/>
                <a:ea typeface="Arial"/>
                <a:cs typeface="Arial"/>
                <a:sym typeface="Arial"/>
              </a:rPr>
              <a:t>: Compares usability to predefined heuristics.</a:t>
            </a:r>
            <a:endParaRPr sz="1100">
              <a:solidFill>
                <a:srgbClr val="2B2F33"/>
              </a:solidFill>
              <a:highlight>
                <a:schemeClr val="lt1"/>
              </a:highlight>
              <a:latin typeface="Arial"/>
              <a:ea typeface="Arial"/>
              <a:cs typeface="Arial"/>
              <a:sym typeface="Arial"/>
            </a:endParaRPr>
          </a:p>
          <a:p>
            <a:pPr marL="457200" lvl="0" indent="0" algn="l" rtl="0">
              <a:lnSpc>
                <a:spcPct val="160000"/>
              </a:lnSpc>
              <a:spcBef>
                <a:spcPts val="0"/>
              </a:spcBef>
              <a:spcAft>
                <a:spcPts val="0"/>
              </a:spcAft>
              <a:buNone/>
            </a:pPr>
            <a:r>
              <a:rPr lang="en-US" sz="1100" b="1">
                <a:solidFill>
                  <a:srgbClr val="2B2F33"/>
                </a:solidFill>
                <a:highlight>
                  <a:schemeClr val="lt1"/>
                </a:highlight>
                <a:latin typeface="Arial"/>
                <a:ea typeface="Arial"/>
                <a:cs typeface="Arial"/>
                <a:sym typeface="Arial"/>
              </a:rPr>
              <a:t>Why:</a:t>
            </a:r>
            <a:r>
              <a:rPr lang="en-US" sz="1100">
                <a:solidFill>
                  <a:srgbClr val="2B2F33"/>
                </a:solidFill>
                <a:highlight>
                  <a:schemeClr val="lt1"/>
                </a:highlight>
                <a:latin typeface="Arial"/>
                <a:ea typeface="Arial"/>
                <a:cs typeface="Arial"/>
                <a:sym typeface="Arial"/>
              </a:rPr>
              <a:t> To see if the digital product can be used in a way that is most compatible for users and aligns with recognized usability principles.</a:t>
            </a:r>
            <a:endParaRPr sz="1100">
              <a:solidFill>
                <a:srgbClr val="2B2F33"/>
              </a:solidFill>
              <a:highlight>
                <a:schemeClr val="lt1"/>
              </a:highlight>
              <a:latin typeface="Arial"/>
              <a:ea typeface="Arial"/>
              <a:cs typeface="Arial"/>
              <a:sym typeface="Arial"/>
            </a:endParaRPr>
          </a:p>
          <a:p>
            <a:pPr marL="0" lvl="0" indent="0" algn="l" rtl="0">
              <a:lnSpc>
                <a:spcPct val="115000"/>
              </a:lnSpc>
              <a:spcBef>
                <a:spcPts val="0"/>
              </a:spcBef>
              <a:spcAft>
                <a:spcPts val="0"/>
              </a:spcAft>
              <a:buNone/>
            </a:pPr>
            <a:endParaRPr>
              <a:solidFill>
                <a:srgbClr val="666666"/>
              </a:solidFill>
              <a:highlight>
                <a:srgbClr val="FFFFFF"/>
              </a:highlight>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12" name="Google Shape;212;p17: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8: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600" dirty="0">
                <a:highlight>
                  <a:srgbClr val="FFFFFF"/>
                </a:highlight>
                <a:latin typeface="Georgia"/>
                <a:ea typeface="Georgia"/>
                <a:cs typeface="Georgia"/>
                <a:sym typeface="Georgia"/>
              </a:rPr>
              <a:t>Heuristic evaluation is one of the normally used </a:t>
            </a:r>
            <a:r>
              <a:rPr lang="en-US" sz="1600" b="1" dirty="0">
                <a:solidFill>
                  <a:schemeClr val="hlink"/>
                </a:solidFill>
                <a:highlight>
                  <a:srgbClr val="FFFFFF"/>
                </a:highlight>
                <a:uFill>
                  <a:noFill/>
                </a:uFill>
                <a:latin typeface="Georgia"/>
                <a:ea typeface="Georgia"/>
                <a:cs typeface="Georgia"/>
                <a:sym typeface="Georgia"/>
                <a:hlinkClick r:id="rId3"/>
              </a:rPr>
              <a:t>usability testing methods</a:t>
            </a:r>
            <a:r>
              <a:rPr lang="en-US" sz="1600" dirty="0">
                <a:highlight>
                  <a:srgbClr val="FFFFFF"/>
                </a:highlight>
                <a:latin typeface="Georgia"/>
                <a:ea typeface="Georgia"/>
                <a:cs typeface="Georgia"/>
                <a:sym typeface="Georgia"/>
              </a:rPr>
              <a:t>. In a heuristic evaluation, usability experts review your product or web site’s interface and compare it against accepted usability principles. The analysis results in a list of potential usability issues.</a:t>
            </a:r>
            <a:endParaRPr dirty="0"/>
          </a:p>
        </p:txBody>
      </p:sp>
      <p:sp>
        <p:nvSpPr>
          <p:cNvPr id="222" name="Google Shape;222;p18: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a:solidFill>
                  <a:srgbClr val="212529"/>
                </a:solidFill>
                <a:highlight>
                  <a:srgbClr val="FFFFFF"/>
                </a:highlight>
                <a:latin typeface="Roboto"/>
                <a:ea typeface="Roboto"/>
                <a:cs typeface="Roboto"/>
                <a:sym typeface="Roboto"/>
              </a:rPr>
              <a:t>The core of the GenderMag Method is a gender-specialized cognitive walkthrough and a set of GenderMag personas that focus on five cognitive factors in problem-solving styles.</a:t>
            </a:r>
            <a:endParaRPr>
              <a:solidFill>
                <a:srgbClr val="212529"/>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30" name="Google Shape;230;p19: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0: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sz="1100">
              <a:highlight>
                <a:srgbClr val="FFFFFF"/>
              </a:highlight>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en-US" sz="1100" b="1">
                <a:highlight>
                  <a:srgbClr val="FFFFFF"/>
                </a:highlight>
                <a:latin typeface="Arial"/>
                <a:ea typeface="Arial"/>
                <a:cs typeface="Arial"/>
                <a:sym typeface="Arial"/>
              </a:rPr>
              <a:t>User Testing</a:t>
            </a:r>
            <a:endParaRPr sz="1100" b="1">
              <a:highlight>
                <a:srgbClr val="FFFFFF"/>
              </a:highlight>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100">
              <a:highlight>
                <a:srgbClr val="FFFFFF"/>
              </a:highlight>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en-US" b="1"/>
              <a:t>Who: </a:t>
            </a:r>
            <a:r>
              <a:rPr lang="en-US"/>
              <a:t>End-user.</a:t>
            </a:r>
            <a:endParaRPr/>
          </a:p>
          <a:p>
            <a:pPr marL="0" lvl="0" indent="0" algn="l" rtl="0">
              <a:lnSpc>
                <a:spcPct val="100000"/>
              </a:lnSpc>
              <a:spcBef>
                <a:spcPts val="0"/>
              </a:spcBef>
              <a:spcAft>
                <a:spcPts val="0"/>
              </a:spcAft>
              <a:buClr>
                <a:schemeClr val="dk1"/>
              </a:buClr>
              <a:buSzPts val="1100"/>
              <a:buFont typeface="Arial"/>
              <a:buNone/>
            </a:pPr>
            <a:r>
              <a:rPr lang="en-US" b="1"/>
              <a:t>What:</a:t>
            </a:r>
            <a:r>
              <a:rPr lang="en-US"/>
              <a:t> Uses the digital product in realistic circumstances.</a:t>
            </a:r>
            <a:endParaRPr/>
          </a:p>
          <a:p>
            <a:pPr marL="0" lvl="0" indent="0" algn="l" rtl="0">
              <a:lnSpc>
                <a:spcPct val="100000"/>
              </a:lnSpc>
              <a:spcBef>
                <a:spcPts val="0"/>
              </a:spcBef>
              <a:spcAft>
                <a:spcPts val="0"/>
              </a:spcAft>
              <a:buClr>
                <a:schemeClr val="dk1"/>
              </a:buClr>
              <a:buSzPts val="1100"/>
              <a:buFont typeface="Arial"/>
              <a:buNone/>
            </a:pPr>
            <a:r>
              <a:rPr lang="en-US" b="1"/>
              <a:t>Why:</a:t>
            </a:r>
            <a:r>
              <a:rPr lang="en-US"/>
              <a:t> To understand how representative users will complete typical tasks in real-life situations.</a:t>
            </a:r>
            <a:endParaRPr/>
          </a:p>
        </p:txBody>
      </p:sp>
      <p:sp>
        <p:nvSpPr>
          <p:cNvPr id="240" name="Google Shape;240;p20: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21: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2: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2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58" name="Google Shape;258;p22: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23: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24: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25: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26:notes"/>
          <p:cNvSpPr>
            <a:spLocks noGrp="1" noRot="1" noChangeAspect="1"/>
          </p:cNvSpPr>
          <p:nvPr>
            <p:ph type="sldImg" idx="2"/>
          </p:nvPr>
        </p:nvSpPr>
        <p:spPr>
          <a:xfrm>
            <a:off x="2862263" y="514350"/>
            <a:ext cx="3419475"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a:stretch/>
        </p:blipFill>
        <p:spPr>
          <a:xfrm>
            <a:off x="0" y="23019"/>
            <a:ext cx="10150475" cy="7612856"/>
          </a:xfrm>
          <a:prstGeom prst="rect">
            <a:avLst/>
          </a:prstGeom>
          <a:noFill/>
          <a:ln>
            <a:noFill/>
          </a:ln>
        </p:spPr>
      </p:pic>
      <p:sp>
        <p:nvSpPr>
          <p:cNvPr id="17" name="Google Shape;17;p2"/>
          <p:cNvSpPr txBox="1"/>
          <p:nvPr/>
        </p:nvSpPr>
        <p:spPr>
          <a:xfrm>
            <a:off x="4946303" y="644594"/>
            <a:ext cx="5110475" cy="61555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Faculty of Computing &amp; Informatics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FF"/>
              </a:solidFill>
              <a:latin typeface="Arial"/>
              <a:ea typeface="Arial"/>
              <a:cs typeface="Arial"/>
              <a:sym typeface="Arial"/>
            </a:endParaRPr>
          </a:p>
        </p:txBody>
      </p:sp>
      <p:pic>
        <p:nvPicPr>
          <p:cNvPr id="18" name="Google Shape;18;p2"/>
          <p:cNvPicPr preferRelativeResize="0"/>
          <p:nvPr/>
        </p:nvPicPr>
        <p:blipFill rotWithShape="1">
          <a:blip r:embed="rId3">
            <a:alphaModFix/>
          </a:blip>
          <a:srcRect/>
          <a:stretch/>
        </p:blipFill>
        <p:spPr>
          <a:xfrm>
            <a:off x="7880778" y="4734276"/>
            <a:ext cx="2387599" cy="2933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5"/>
        <p:cNvGrpSpPr/>
        <p:nvPr/>
      </p:nvGrpSpPr>
      <p:grpSpPr>
        <a:xfrm>
          <a:off x="0" y="0"/>
          <a:ext cx="0" cy="0"/>
          <a:chOff x="0" y="0"/>
          <a:chExt cx="0" cy="0"/>
        </a:xfrm>
      </p:grpSpPr>
      <p:sp>
        <p:nvSpPr>
          <p:cNvPr id="26" name="Google Shape;26;p4"/>
          <p:cNvSpPr txBox="1">
            <a:spLocks noGrp="1"/>
          </p:cNvSpPr>
          <p:nvPr>
            <p:ph type="body" idx="1"/>
          </p:nvPr>
        </p:nvSpPr>
        <p:spPr>
          <a:xfrm>
            <a:off x="508021" y="1701478"/>
            <a:ext cx="9134436" cy="5382918"/>
          </a:xfrm>
          <a:prstGeom prst="rect">
            <a:avLst/>
          </a:prstGeom>
          <a:noFill/>
          <a:ln>
            <a:noFill/>
          </a:ln>
        </p:spPr>
        <p:txBody>
          <a:bodyPr spcFirstLastPara="1" wrap="square" lIns="71425" tIns="35700" rIns="71425" bIns="3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7" name="Google Shape;27;p4" descr="NUST Marketing Brand Mark.ai"/>
          <p:cNvPicPr preferRelativeResize="0"/>
          <p:nvPr/>
        </p:nvPicPr>
        <p:blipFill rotWithShape="1">
          <a:blip r:embed="rId2">
            <a:alphaModFix/>
          </a:blip>
          <a:srcRect/>
          <a:stretch/>
        </p:blipFill>
        <p:spPr>
          <a:xfrm>
            <a:off x="8570352" y="7141481"/>
            <a:ext cx="1580123" cy="494394"/>
          </a:xfrm>
          <a:prstGeom prst="rect">
            <a:avLst/>
          </a:prstGeom>
          <a:noFill/>
          <a:ln>
            <a:noFill/>
          </a:ln>
        </p:spPr>
      </p:pic>
      <p:sp>
        <p:nvSpPr>
          <p:cNvPr id="28" name="Google Shape;28;p4"/>
          <p:cNvSpPr txBox="1">
            <a:spLocks noGrp="1"/>
          </p:cNvSpPr>
          <p:nvPr>
            <p:ph type="title"/>
          </p:nvPr>
        </p:nvSpPr>
        <p:spPr>
          <a:xfrm>
            <a:off x="508021" y="226696"/>
            <a:ext cx="9135428" cy="1272646"/>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9"/>
        <p:cNvGrpSpPr/>
        <p:nvPr/>
      </p:nvGrpSpPr>
      <p:grpSpPr>
        <a:xfrm>
          <a:off x="0" y="0"/>
          <a:ext cx="0" cy="0"/>
          <a:chOff x="0" y="0"/>
          <a:chExt cx="0" cy="0"/>
        </a:xfrm>
      </p:grpSpPr>
      <p:pic>
        <p:nvPicPr>
          <p:cNvPr id="30" name="Google Shape;30;p5"/>
          <p:cNvPicPr preferRelativeResize="0"/>
          <p:nvPr/>
        </p:nvPicPr>
        <p:blipFill rotWithShape="1">
          <a:blip r:embed="rId2">
            <a:alphaModFix/>
          </a:blip>
          <a:srcRect/>
          <a:stretch/>
        </p:blipFill>
        <p:spPr>
          <a:xfrm>
            <a:off x="1" y="0"/>
            <a:ext cx="10150475" cy="7612856"/>
          </a:xfrm>
          <a:prstGeom prst="rect">
            <a:avLst/>
          </a:prstGeom>
          <a:noFill/>
          <a:ln>
            <a:noFill/>
          </a:ln>
        </p:spPr>
      </p:pic>
      <p:sp>
        <p:nvSpPr>
          <p:cNvPr id="31" name="Google Shape;31;p5"/>
          <p:cNvSpPr txBox="1"/>
          <p:nvPr/>
        </p:nvSpPr>
        <p:spPr>
          <a:xfrm>
            <a:off x="4946303" y="644594"/>
            <a:ext cx="5110475" cy="61555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Faculty of Computing &amp; Informatics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2"/>
        <p:cNvGrpSpPr/>
        <p:nvPr/>
      </p:nvGrpSpPr>
      <p:grpSpPr>
        <a:xfrm>
          <a:off x="0" y="0"/>
          <a:ext cx="0" cy="0"/>
          <a:chOff x="0" y="0"/>
          <a:chExt cx="0" cy="0"/>
        </a:xfrm>
      </p:grpSpPr>
      <p:pic>
        <p:nvPicPr>
          <p:cNvPr id="33" name="Google Shape;33;p6" descr="NUST Marketing Brand Mark.ai"/>
          <p:cNvPicPr preferRelativeResize="0"/>
          <p:nvPr/>
        </p:nvPicPr>
        <p:blipFill rotWithShape="1">
          <a:blip r:embed="rId2">
            <a:alphaModFix/>
          </a:blip>
          <a:srcRect/>
          <a:stretch/>
        </p:blipFill>
        <p:spPr>
          <a:xfrm>
            <a:off x="8235158" y="7036604"/>
            <a:ext cx="1915317" cy="59927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body" idx="1"/>
          </p:nvPr>
        </p:nvSpPr>
        <p:spPr>
          <a:xfrm>
            <a:off x="563915" y="1983207"/>
            <a:ext cx="4985365" cy="5612015"/>
          </a:xfrm>
          <a:prstGeom prst="rect">
            <a:avLst/>
          </a:prstGeom>
          <a:noFill/>
          <a:ln>
            <a:noFill/>
          </a:ln>
        </p:spPr>
        <p:txBody>
          <a:bodyPr spcFirstLastPara="1" wrap="square" lIns="101625" tIns="50800" rIns="101625" bIns="50800" anchor="t" anchorCtr="0">
            <a:noAutofit/>
          </a:bodyPr>
          <a:lstStyle>
            <a:lvl1pPr marL="457200" lvl="0" indent="-425450" algn="l">
              <a:lnSpc>
                <a:spcPct val="100000"/>
              </a:lnSpc>
              <a:spcBef>
                <a:spcPts val="620"/>
              </a:spcBef>
              <a:spcAft>
                <a:spcPts val="0"/>
              </a:spcAft>
              <a:buClr>
                <a:schemeClr val="dk1"/>
              </a:buClr>
              <a:buSzPts val="3100"/>
              <a:buChar char="•"/>
              <a:defRPr sz="3100"/>
            </a:lvl1pPr>
            <a:lvl2pPr marL="914400" lvl="1" indent="-400050" algn="l">
              <a:lnSpc>
                <a:spcPct val="100000"/>
              </a:lnSpc>
              <a:spcBef>
                <a:spcPts val="540"/>
              </a:spcBef>
              <a:spcAft>
                <a:spcPts val="0"/>
              </a:spcAft>
              <a:buClr>
                <a:schemeClr val="dk1"/>
              </a:buClr>
              <a:buSzPts val="2700"/>
              <a:buChar char="–"/>
              <a:defRPr sz="2700"/>
            </a:lvl2pPr>
            <a:lvl3pPr marL="1371600" lvl="2" indent="-368300" algn="l">
              <a:lnSpc>
                <a:spcPct val="100000"/>
              </a:lnSpc>
              <a:spcBef>
                <a:spcPts val="440"/>
              </a:spcBef>
              <a:spcAft>
                <a:spcPts val="0"/>
              </a:spcAft>
              <a:buClr>
                <a:schemeClr val="dk1"/>
              </a:buClr>
              <a:buSzPts val="2200"/>
              <a:buChar char="•"/>
              <a:defRPr sz="22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2" name="Google Shape;42;p8"/>
          <p:cNvSpPr txBox="1">
            <a:spLocks noGrp="1"/>
          </p:cNvSpPr>
          <p:nvPr>
            <p:ph type="body" idx="2"/>
          </p:nvPr>
        </p:nvSpPr>
        <p:spPr>
          <a:xfrm>
            <a:off x="5718455" y="1983207"/>
            <a:ext cx="4985363" cy="5612015"/>
          </a:xfrm>
          <a:prstGeom prst="rect">
            <a:avLst/>
          </a:prstGeom>
          <a:noFill/>
          <a:ln>
            <a:noFill/>
          </a:ln>
        </p:spPr>
        <p:txBody>
          <a:bodyPr spcFirstLastPara="1" wrap="square" lIns="101625" tIns="50800" rIns="101625" bIns="50800" anchor="t" anchorCtr="0">
            <a:noAutofit/>
          </a:bodyPr>
          <a:lstStyle>
            <a:lvl1pPr marL="457200" lvl="0" indent="-425450" algn="l">
              <a:lnSpc>
                <a:spcPct val="100000"/>
              </a:lnSpc>
              <a:spcBef>
                <a:spcPts val="620"/>
              </a:spcBef>
              <a:spcAft>
                <a:spcPts val="0"/>
              </a:spcAft>
              <a:buClr>
                <a:schemeClr val="dk1"/>
              </a:buClr>
              <a:buSzPts val="3100"/>
              <a:buChar char="•"/>
              <a:defRPr sz="3100"/>
            </a:lvl1pPr>
            <a:lvl2pPr marL="914400" lvl="1" indent="-400050" algn="l">
              <a:lnSpc>
                <a:spcPct val="100000"/>
              </a:lnSpc>
              <a:spcBef>
                <a:spcPts val="540"/>
              </a:spcBef>
              <a:spcAft>
                <a:spcPts val="0"/>
              </a:spcAft>
              <a:buClr>
                <a:schemeClr val="dk1"/>
              </a:buClr>
              <a:buSzPts val="2700"/>
              <a:buChar char="–"/>
              <a:defRPr sz="2700"/>
            </a:lvl2pPr>
            <a:lvl3pPr marL="1371600" lvl="2" indent="-368300" algn="l">
              <a:lnSpc>
                <a:spcPct val="100000"/>
              </a:lnSpc>
              <a:spcBef>
                <a:spcPts val="440"/>
              </a:spcBef>
              <a:spcAft>
                <a:spcPts val="0"/>
              </a:spcAft>
              <a:buClr>
                <a:schemeClr val="dk1"/>
              </a:buClr>
              <a:buSzPts val="2200"/>
              <a:buChar char="•"/>
              <a:defRPr sz="22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3" name="Google Shape;43;p8"/>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6" name="Google Shape;46;p8" descr="NUST Marketing Brand Mark.ai"/>
          <p:cNvPicPr preferRelativeResize="0"/>
          <p:nvPr/>
        </p:nvPicPr>
        <p:blipFill rotWithShape="1">
          <a:blip r:embed="rId2">
            <a:alphaModFix/>
          </a:blip>
          <a:srcRect/>
          <a:stretch/>
        </p:blipFill>
        <p:spPr>
          <a:xfrm>
            <a:off x="8570352" y="7141481"/>
            <a:ext cx="1580123" cy="49439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49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9"/>
          <p:cNvSpPr txBox="1">
            <a:spLocks noGrp="1"/>
          </p:cNvSpPr>
          <p:nvPr>
            <p:ph type="body" idx="1"/>
          </p:nvPr>
        </p:nvSpPr>
        <p:spPr>
          <a:xfrm>
            <a:off x="507525" y="1709234"/>
            <a:ext cx="4484889" cy="712328"/>
          </a:xfrm>
          <a:prstGeom prst="rect">
            <a:avLst/>
          </a:prstGeom>
          <a:noFill/>
          <a:ln>
            <a:noFill/>
          </a:ln>
        </p:spPr>
        <p:txBody>
          <a:bodyPr spcFirstLastPara="1" wrap="square" lIns="101625" tIns="50800" rIns="101625" bIns="50800" anchor="b" anchorCtr="0">
            <a:noAutofit/>
          </a:bodyPr>
          <a:lstStyle>
            <a:lvl1pPr marL="457200" lvl="0" indent="-228600" algn="l">
              <a:lnSpc>
                <a:spcPct val="100000"/>
              </a:lnSpc>
              <a:spcBef>
                <a:spcPts val="540"/>
              </a:spcBef>
              <a:spcAft>
                <a:spcPts val="0"/>
              </a:spcAft>
              <a:buClr>
                <a:schemeClr val="dk1"/>
              </a:buClr>
              <a:buSzPts val="2700"/>
              <a:buNone/>
              <a:defRPr sz="2700" b="1"/>
            </a:lvl1pPr>
            <a:lvl2pPr marL="914400" lvl="1" indent="-228600" algn="l">
              <a:lnSpc>
                <a:spcPct val="100000"/>
              </a:lnSpc>
              <a:spcBef>
                <a:spcPts val="440"/>
              </a:spcBef>
              <a:spcAft>
                <a:spcPts val="0"/>
              </a:spcAft>
              <a:buClr>
                <a:schemeClr val="dk1"/>
              </a:buClr>
              <a:buSzPts val="2200"/>
              <a:buNone/>
              <a:defRPr sz="2200" b="1"/>
            </a:lvl2pPr>
            <a:lvl3pPr marL="1371600" lvl="2" indent="-228600" algn="l">
              <a:lnSpc>
                <a:spcPct val="100000"/>
              </a:lnSpc>
              <a:spcBef>
                <a:spcPts val="400"/>
              </a:spcBef>
              <a:spcAft>
                <a:spcPts val="0"/>
              </a:spcAft>
              <a:buClr>
                <a:schemeClr val="dk1"/>
              </a:buClr>
              <a:buSzPts val="2000"/>
              <a:buNone/>
              <a:defRPr sz="2000" b="1"/>
            </a:lvl3pPr>
            <a:lvl4pPr marL="1828800" lvl="3" indent="-228600" algn="l">
              <a:lnSpc>
                <a:spcPct val="100000"/>
              </a:lnSpc>
              <a:spcBef>
                <a:spcPts val="360"/>
              </a:spcBef>
              <a:spcAft>
                <a:spcPts val="0"/>
              </a:spcAft>
              <a:buClr>
                <a:schemeClr val="dk1"/>
              </a:buClr>
              <a:buSzPts val="1800"/>
              <a:buNone/>
              <a:defRPr sz="1800" b="1"/>
            </a:lvl4pPr>
            <a:lvl5pPr marL="2286000" lvl="4" indent="-228600" algn="l">
              <a:lnSpc>
                <a:spcPct val="100000"/>
              </a:lnSpc>
              <a:spcBef>
                <a:spcPts val="360"/>
              </a:spcBef>
              <a:spcAft>
                <a:spcPts val="0"/>
              </a:spcAft>
              <a:buClr>
                <a:schemeClr val="dk1"/>
              </a:buClr>
              <a:buSzPts val="1800"/>
              <a:buNone/>
              <a:defRPr sz="1800" b="1"/>
            </a:lvl5pPr>
            <a:lvl6pPr marL="2743200" lvl="5" indent="-228600" algn="l">
              <a:lnSpc>
                <a:spcPct val="100000"/>
              </a:lnSpc>
              <a:spcBef>
                <a:spcPts val="360"/>
              </a:spcBef>
              <a:spcAft>
                <a:spcPts val="0"/>
              </a:spcAft>
              <a:buClr>
                <a:schemeClr val="dk1"/>
              </a:buClr>
              <a:buSzPts val="1800"/>
              <a:buNone/>
              <a:defRPr sz="1800" b="1"/>
            </a:lvl6pPr>
            <a:lvl7pPr marL="3200400" lvl="6" indent="-228600" algn="l">
              <a:lnSpc>
                <a:spcPct val="100000"/>
              </a:lnSpc>
              <a:spcBef>
                <a:spcPts val="360"/>
              </a:spcBef>
              <a:spcAft>
                <a:spcPts val="0"/>
              </a:spcAft>
              <a:buClr>
                <a:schemeClr val="dk1"/>
              </a:buClr>
              <a:buSzPts val="1800"/>
              <a:buNone/>
              <a:defRPr sz="1800" b="1"/>
            </a:lvl7pPr>
            <a:lvl8pPr marL="3657600" lvl="7" indent="-228600" algn="l">
              <a:lnSpc>
                <a:spcPct val="100000"/>
              </a:lnSpc>
              <a:spcBef>
                <a:spcPts val="360"/>
              </a:spcBef>
              <a:spcAft>
                <a:spcPts val="0"/>
              </a:spcAft>
              <a:buClr>
                <a:schemeClr val="dk1"/>
              </a:buClr>
              <a:buSzPts val="1800"/>
              <a:buNone/>
              <a:defRPr sz="1800" b="1"/>
            </a:lvl8pPr>
            <a:lvl9pPr marL="4114800" lvl="8" indent="-228600" algn="l">
              <a:lnSpc>
                <a:spcPct val="100000"/>
              </a:lnSpc>
              <a:spcBef>
                <a:spcPts val="360"/>
              </a:spcBef>
              <a:spcAft>
                <a:spcPts val="0"/>
              </a:spcAft>
              <a:buClr>
                <a:schemeClr val="dk1"/>
              </a:buClr>
              <a:buSzPts val="1800"/>
              <a:buNone/>
              <a:defRPr sz="1800" b="1"/>
            </a:lvl9pPr>
          </a:lstStyle>
          <a:p>
            <a:endParaRPr/>
          </a:p>
        </p:txBody>
      </p:sp>
      <p:sp>
        <p:nvSpPr>
          <p:cNvPr id="50" name="Google Shape;50;p9"/>
          <p:cNvSpPr txBox="1">
            <a:spLocks noGrp="1"/>
          </p:cNvSpPr>
          <p:nvPr>
            <p:ph type="body" idx="2"/>
          </p:nvPr>
        </p:nvSpPr>
        <p:spPr>
          <a:xfrm>
            <a:off x="507525" y="2421563"/>
            <a:ext cx="4484889" cy="4399467"/>
          </a:xfrm>
          <a:prstGeom prst="rect">
            <a:avLst/>
          </a:prstGeom>
          <a:noFill/>
          <a:ln>
            <a:noFill/>
          </a:ln>
        </p:spPr>
        <p:txBody>
          <a:bodyPr spcFirstLastPara="1" wrap="square" lIns="101625" tIns="50800" rIns="101625" bIns="50800" anchor="t" anchorCtr="0">
            <a:noAutofit/>
          </a:bodyPr>
          <a:lstStyle>
            <a:lvl1pPr marL="457200" lvl="0" indent="-400050" algn="l">
              <a:lnSpc>
                <a:spcPct val="100000"/>
              </a:lnSpc>
              <a:spcBef>
                <a:spcPts val="540"/>
              </a:spcBef>
              <a:spcAft>
                <a:spcPts val="0"/>
              </a:spcAft>
              <a:buClr>
                <a:schemeClr val="dk1"/>
              </a:buClr>
              <a:buSzPts val="2700"/>
              <a:buChar char="•"/>
              <a:defRPr sz="2700"/>
            </a:lvl1pPr>
            <a:lvl2pPr marL="914400" lvl="1" indent="-368300" algn="l">
              <a:lnSpc>
                <a:spcPct val="100000"/>
              </a:lnSpc>
              <a:spcBef>
                <a:spcPts val="440"/>
              </a:spcBef>
              <a:spcAft>
                <a:spcPts val="0"/>
              </a:spcAft>
              <a:buClr>
                <a:schemeClr val="dk1"/>
              </a:buClr>
              <a:buSzPts val="2200"/>
              <a:buChar char="–"/>
              <a:defRPr sz="22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1" name="Google Shape;51;p9"/>
          <p:cNvSpPr txBox="1">
            <a:spLocks noGrp="1"/>
          </p:cNvSpPr>
          <p:nvPr>
            <p:ph type="body" idx="3"/>
          </p:nvPr>
        </p:nvSpPr>
        <p:spPr>
          <a:xfrm>
            <a:off x="5156302" y="1709234"/>
            <a:ext cx="4486651" cy="712328"/>
          </a:xfrm>
          <a:prstGeom prst="rect">
            <a:avLst/>
          </a:prstGeom>
          <a:noFill/>
          <a:ln>
            <a:noFill/>
          </a:ln>
        </p:spPr>
        <p:txBody>
          <a:bodyPr spcFirstLastPara="1" wrap="square" lIns="101625" tIns="50800" rIns="101625" bIns="50800" anchor="b" anchorCtr="0">
            <a:noAutofit/>
          </a:bodyPr>
          <a:lstStyle>
            <a:lvl1pPr marL="457200" lvl="0" indent="-228600" algn="l">
              <a:lnSpc>
                <a:spcPct val="100000"/>
              </a:lnSpc>
              <a:spcBef>
                <a:spcPts val="540"/>
              </a:spcBef>
              <a:spcAft>
                <a:spcPts val="0"/>
              </a:spcAft>
              <a:buClr>
                <a:schemeClr val="dk1"/>
              </a:buClr>
              <a:buSzPts val="2700"/>
              <a:buNone/>
              <a:defRPr sz="2700" b="1"/>
            </a:lvl1pPr>
            <a:lvl2pPr marL="914400" lvl="1" indent="-228600" algn="l">
              <a:lnSpc>
                <a:spcPct val="100000"/>
              </a:lnSpc>
              <a:spcBef>
                <a:spcPts val="440"/>
              </a:spcBef>
              <a:spcAft>
                <a:spcPts val="0"/>
              </a:spcAft>
              <a:buClr>
                <a:schemeClr val="dk1"/>
              </a:buClr>
              <a:buSzPts val="2200"/>
              <a:buNone/>
              <a:defRPr sz="2200" b="1"/>
            </a:lvl2pPr>
            <a:lvl3pPr marL="1371600" lvl="2" indent="-228600" algn="l">
              <a:lnSpc>
                <a:spcPct val="100000"/>
              </a:lnSpc>
              <a:spcBef>
                <a:spcPts val="400"/>
              </a:spcBef>
              <a:spcAft>
                <a:spcPts val="0"/>
              </a:spcAft>
              <a:buClr>
                <a:schemeClr val="dk1"/>
              </a:buClr>
              <a:buSzPts val="2000"/>
              <a:buNone/>
              <a:defRPr sz="2000" b="1"/>
            </a:lvl3pPr>
            <a:lvl4pPr marL="1828800" lvl="3" indent="-228600" algn="l">
              <a:lnSpc>
                <a:spcPct val="100000"/>
              </a:lnSpc>
              <a:spcBef>
                <a:spcPts val="360"/>
              </a:spcBef>
              <a:spcAft>
                <a:spcPts val="0"/>
              </a:spcAft>
              <a:buClr>
                <a:schemeClr val="dk1"/>
              </a:buClr>
              <a:buSzPts val="1800"/>
              <a:buNone/>
              <a:defRPr sz="1800" b="1"/>
            </a:lvl4pPr>
            <a:lvl5pPr marL="2286000" lvl="4" indent="-228600" algn="l">
              <a:lnSpc>
                <a:spcPct val="100000"/>
              </a:lnSpc>
              <a:spcBef>
                <a:spcPts val="360"/>
              </a:spcBef>
              <a:spcAft>
                <a:spcPts val="0"/>
              </a:spcAft>
              <a:buClr>
                <a:schemeClr val="dk1"/>
              </a:buClr>
              <a:buSzPts val="1800"/>
              <a:buNone/>
              <a:defRPr sz="1800" b="1"/>
            </a:lvl5pPr>
            <a:lvl6pPr marL="2743200" lvl="5" indent="-228600" algn="l">
              <a:lnSpc>
                <a:spcPct val="100000"/>
              </a:lnSpc>
              <a:spcBef>
                <a:spcPts val="360"/>
              </a:spcBef>
              <a:spcAft>
                <a:spcPts val="0"/>
              </a:spcAft>
              <a:buClr>
                <a:schemeClr val="dk1"/>
              </a:buClr>
              <a:buSzPts val="1800"/>
              <a:buNone/>
              <a:defRPr sz="1800" b="1"/>
            </a:lvl6pPr>
            <a:lvl7pPr marL="3200400" lvl="6" indent="-228600" algn="l">
              <a:lnSpc>
                <a:spcPct val="100000"/>
              </a:lnSpc>
              <a:spcBef>
                <a:spcPts val="360"/>
              </a:spcBef>
              <a:spcAft>
                <a:spcPts val="0"/>
              </a:spcAft>
              <a:buClr>
                <a:schemeClr val="dk1"/>
              </a:buClr>
              <a:buSzPts val="1800"/>
              <a:buNone/>
              <a:defRPr sz="1800" b="1"/>
            </a:lvl7pPr>
            <a:lvl8pPr marL="3657600" lvl="7" indent="-228600" algn="l">
              <a:lnSpc>
                <a:spcPct val="100000"/>
              </a:lnSpc>
              <a:spcBef>
                <a:spcPts val="360"/>
              </a:spcBef>
              <a:spcAft>
                <a:spcPts val="0"/>
              </a:spcAft>
              <a:buClr>
                <a:schemeClr val="dk1"/>
              </a:buClr>
              <a:buSzPts val="1800"/>
              <a:buNone/>
              <a:defRPr sz="1800" b="1"/>
            </a:lvl8pPr>
            <a:lvl9pPr marL="4114800" lvl="8" indent="-228600" algn="l">
              <a:lnSpc>
                <a:spcPct val="100000"/>
              </a:lnSpc>
              <a:spcBef>
                <a:spcPts val="360"/>
              </a:spcBef>
              <a:spcAft>
                <a:spcPts val="0"/>
              </a:spcAft>
              <a:buClr>
                <a:schemeClr val="dk1"/>
              </a:buClr>
              <a:buSzPts val="1800"/>
              <a:buNone/>
              <a:defRPr sz="1800" b="1"/>
            </a:lvl9pPr>
          </a:lstStyle>
          <a:p>
            <a:endParaRPr/>
          </a:p>
        </p:txBody>
      </p:sp>
      <p:sp>
        <p:nvSpPr>
          <p:cNvPr id="52" name="Google Shape;52;p9"/>
          <p:cNvSpPr txBox="1">
            <a:spLocks noGrp="1"/>
          </p:cNvSpPr>
          <p:nvPr>
            <p:ph type="body" idx="4"/>
          </p:nvPr>
        </p:nvSpPr>
        <p:spPr>
          <a:xfrm>
            <a:off x="5156302" y="2421563"/>
            <a:ext cx="4486651" cy="4399467"/>
          </a:xfrm>
          <a:prstGeom prst="rect">
            <a:avLst/>
          </a:prstGeom>
          <a:noFill/>
          <a:ln>
            <a:noFill/>
          </a:ln>
        </p:spPr>
        <p:txBody>
          <a:bodyPr spcFirstLastPara="1" wrap="square" lIns="101625" tIns="50800" rIns="101625" bIns="50800" anchor="t" anchorCtr="0">
            <a:noAutofit/>
          </a:bodyPr>
          <a:lstStyle>
            <a:lvl1pPr marL="457200" lvl="0" indent="-400050" algn="l">
              <a:lnSpc>
                <a:spcPct val="100000"/>
              </a:lnSpc>
              <a:spcBef>
                <a:spcPts val="540"/>
              </a:spcBef>
              <a:spcAft>
                <a:spcPts val="0"/>
              </a:spcAft>
              <a:buClr>
                <a:schemeClr val="dk1"/>
              </a:buClr>
              <a:buSzPts val="2700"/>
              <a:buChar char="•"/>
              <a:defRPr sz="2700"/>
            </a:lvl1pPr>
            <a:lvl2pPr marL="914400" lvl="1" indent="-368300" algn="l">
              <a:lnSpc>
                <a:spcPct val="100000"/>
              </a:lnSpc>
              <a:spcBef>
                <a:spcPts val="440"/>
              </a:spcBef>
              <a:spcAft>
                <a:spcPts val="0"/>
              </a:spcAft>
              <a:buClr>
                <a:schemeClr val="dk1"/>
              </a:buClr>
              <a:buSzPts val="2200"/>
              <a:buChar char="–"/>
              <a:defRPr sz="22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3" name="Google Shape;53;p9"/>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9"/>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6" name="Google Shape;56;p9" descr="NUST Marketing Brand Mark.ai"/>
          <p:cNvPicPr preferRelativeResize="0"/>
          <p:nvPr/>
        </p:nvPicPr>
        <p:blipFill rotWithShape="1">
          <a:blip r:embed="rId2">
            <a:alphaModFix/>
          </a:blip>
          <a:srcRect/>
          <a:stretch/>
        </p:blipFill>
        <p:spPr>
          <a:xfrm>
            <a:off x="8570352" y="7141481"/>
            <a:ext cx="1580123" cy="49439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57"/>
        <p:cNvGrpSpPr/>
        <p:nvPr/>
      </p:nvGrpSpPr>
      <p:grpSpPr>
        <a:xfrm>
          <a:off x="0" y="0"/>
          <a:ext cx="0" cy="0"/>
          <a:chOff x="0" y="0"/>
          <a:chExt cx="0" cy="0"/>
        </a:xfrm>
      </p:grpSpPr>
      <p:sp>
        <p:nvSpPr>
          <p:cNvPr id="58" name="Google Shape;58;p10"/>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0"/>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1"/>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1"/>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1"/>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66"/>
        <p:cNvGrpSpPr/>
        <p:nvPr/>
      </p:nvGrpSpPr>
      <p:grpSpPr>
        <a:xfrm>
          <a:off x="0" y="0"/>
          <a:ext cx="0" cy="0"/>
          <a:chOff x="0" y="0"/>
          <a:chExt cx="0" cy="0"/>
        </a:xfrm>
      </p:grpSpPr>
      <p:sp>
        <p:nvSpPr>
          <p:cNvPr id="67" name="Google Shape;67;p12"/>
          <p:cNvSpPr txBox="1">
            <a:spLocks noGrp="1"/>
          </p:cNvSpPr>
          <p:nvPr>
            <p:ph type="title"/>
          </p:nvPr>
        </p:nvSpPr>
        <p:spPr>
          <a:xfrm>
            <a:off x="507524" y="304021"/>
            <a:ext cx="3339436" cy="1293857"/>
          </a:xfrm>
          <a:prstGeom prst="rect">
            <a:avLst/>
          </a:prstGeom>
          <a:noFill/>
          <a:ln>
            <a:noFill/>
          </a:ln>
        </p:spPr>
        <p:txBody>
          <a:bodyPr spcFirstLastPara="1" wrap="square" lIns="101625" tIns="50800" rIns="101625" bIns="50800" anchor="b" anchorCtr="0">
            <a:noAutofit/>
          </a:bodyPr>
          <a:lstStyle>
            <a:lvl1pPr lvl="0" algn="l">
              <a:lnSpc>
                <a:spcPct val="100000"/>
              </a:lnSpc>
              <a:spcBef>
                <a:spcPts val="0"/>
              </a:spcBef>
              <a:spcAft>
                <a:spcPts val="0"/>
              </a:spcAft>
              <a:buClr>
                <a:schemeClr val="dk1"/>
              </a:buClr>
              <a:buSzPts val="2200"/>
              <a:buFont typeface="Calibri"/>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2"/>
          <p:cNvSpPr txBox="1">
            <a:spLocks noGrp="1"/>
          </p:cNvSpPr>
          <p:nvPr>
            <p:ph type="body" idx="1"/>
          </p:nvPr>
        </p:nvSpPr>
        <p:spPr>
          <a:xfrm>
            <a:off x="3968555" y="304021"/>
            <a:ext cx="5674397" cy="6517008"/>
          </a:xfrm>
          <a:prstGeom prst="rect">
            <a:avLst/>
          </a:prstGeom>
          <a:noFill/>
          <a:ln>
            <a:noFill/>
          </a:ln>
        </p:spPr>
        <p:txBody>
          <a:bodyPr spcFirstLastPara="1" wrap="square" lIns="101625" tIns="50800" rIns="101625" bIns="50800" anchor="t" anchorCtr="0">
            <a:noAutofit/>
          </a:bodyPr>
          <a:lstStyle>
            <a:lvl1pPr marL="457200" lvl="0" indent="-457200" algn="l">
              <a:lnSpc>
                <a:spcPct val="100000"/>
              </a:lnSpc>
              <a:spcBef>
                <a:spcPts val="720"/>
              </a:spcBef>
              <a:spcAft>
                <a:spcPts val="0"/>
              </a:spcAft>
              <a:buClr>
                <a:schemeClr val="dk1"/>
              </a:buClr>
              <a:buSzPts val="3600"/>
              <a:buChar char="•"/>
              <a:defRPr sz="3600"/>
            </a:lvl1pPr>
            <a:lvl2pPr marL="914400" lvl="1" indent="-425450" algn="l">
              <a:lnSpc>
                <a:spcPct val="100000"/>
              </a:lnSpc>
              <a:spcBef>
                <a:spcPts val="620"/>
              </a:spcBef>
              <a:spcAft>
                <a:spcPts val="0"/>
              </a:spcAft>
              <a:buClr>
                <a:schemeClr val="dk1"/>
              </a:buClr>
              <a:buSzPts val="3100"/>
              <a:buChar char="–"/>
              <a:defRPr sz="3100"/>
            </a:lvl2pPr>
            <a:lvl3pPr marL="1371600" lvl="2" indent="-400050" algn="l">
              <a:lnSpc>
                <a:spcPct val="100000"/>
              </a:lnSpc>
              <a:spcBef>
                <a:spcPts val="540"/>
              </a:spcBef>
              <a:spcAft>
                <a:spcPts val="0"/>
              </a:spcAft>
              <a:buClr>
                <a:schemeClr val="dk1"/>
              </a:buClr>
              <a:buSzPts val="2700"/>
              <a:buChar char="•"/>
              <a:defRPr sz="2700"/>
            </a:lvl3pPr>
            <a:lvl4pPr marL="1828800" lvl="3" indent="-368300" algn="l">
              <a:lnSpc>
                <a:spcPct val="100000"/>
              </a:lnSpc>
              <a:spcBef>
                <a:spcPts val="440"/>
              </a:spcBef>
              <a:spcAft>
                <a:spcPts val="0"/>
              </a:spcAft>
              <a:buClr>
                <a:schemeClr val="dk1"/>
              </a:buClr>
              <a:buSzPts val="2200"/>
              <a:buChar char="–"/>
              <a:defRPr sz="2200"/>
            </a:lvl4pPr>
            <a:lvl5pPr marL="2286000" lvl="4" indent="-368300" algn="l">
              <a:lnSpc>
                <a:spcPct val="100000"/>
              </a:lnSpc>
              <a:spcBef>
                <a:spcPts val="440"/>
              </a:spcBef>
              <a:spcAft>
                <a:spcPts val="0"/>
              </a:spcAft>
              <a:buClr>
                <a:schemeClr val="dk1"/>
              </a:buClr>
              <a:buSzPts val="2200"/>
              <a:buChar char="»"/>
              <a:defRPr sz="2200"/>
            </a:lvl5pPr>
            <a:lvl6pPr marL="2743200" lvl="5" indent="-368300" algn="l">
              <a:lnSpc>
                <a:spcPct val="100000"/>
              </a:lnSpc>
              <a:spcBef>
                <a:spcPts val="440"/>
              </a:spcBef>
              <a:spcAft>
                <a:spcPts val="0"/>
              </a:spcAft>
              <a:buClr>
                <a:schemeClr val="dk1"/>
              </a:buClr>
              <a:buSzPts val="2200"/>
              <a:buChar char="•"/>
              <a:defRPr sz="2200"/>
            </a:lvl6pPr>
            <a:lvl7pPr marL="3200400" lvl="6" indent="-368300" algn="l">
              <a:lnSpc>
                <a:spcPct val="100000"/>
              </a:lnSpc>
              <a:spcBef>
                <a:spcPts val="440"/>
              </a:spcBef>
              <a:spcAft>
                <a:spcPts val="0"/>
              </a:spcAft>
              <a:buClr>
                <a:schemeClr val="dk1"/>
              </a:buClr>
              <a:buSzPts val="2200"/>
              <a:buChar char="•"/>
              <a:defRPr sz="2200"/>
            </a:lvl7pPr>
            <a:lvl8pPr marL="3657600" lvl="7" indent="-368300" algn="l">
              <a:lnSpc>
                <a:spcPct val="100000"/>
              </a:lnSpc>
              <a:spcBef>
                <a:spcPts val="440"/>
              </a:spcBef>
              <a:spcAft>
                <a:spcPts val="0"/>
              </a:spcAft>
              <a:buClr>
                <a:schemeClr val="dk1"/>
              </a:buClr>
              <a:buSzPts val="2200"/>
              <a:buChar char="•"/>
              <a:defRPr sz="2200"/>
            </a:lvl8pPr>
            <a:lvl9pPr marL="4114800" lvl="8" indent="-368300" algn="l">
              <a:lnSpc>
                <a:spcPct val="100000"/>
              </a:lnSpc>
              <a:spcBef>
                <a:spcPts val="440"/>
              </a:spcBef>
              <a:spcAft>
                <a:spcPts val="0"/>
              </a:spcAft>
              <a:buClr>
                <a:schemeClr val="dk1"/>
              </a:buClr>
              <a:buSzPts val="2200"/>
              <a:buChar char="•"/>
              <a:defRPr sz="2200"/>
            </a:lvl9pPr>
          </a:lstStyle>
          <a:p>
            <a:endParaRPr/>
          </a:p>
        </p:txBody>
      </p:sp>
      <p:sp>
        <p:nvSpPr>
          <p:cNvPr id="69" name="Google Shape;69;p12"/>
          <p:cNvSpPr txBox="1">
            <a:spLocks noGrp="1"/>
          </p:cNvSpPr>
          <p:nvPr>
            <p:ph type="body" idx="2"/>
          </p:nvPr>
        </p:nvSpPr>
        <p:spPr>
          <a:xfrm>
            <a:off x="507524" y="1597879"/>
            <a:ext cx="3339436" cy="5223151"/>
          </a:xfrm>
          <a:prstGeom prst="rect">
            <a:avLst/>
          </a:prstGeom>
          <a:noFill/>
          <a:ln>
            <a:noFill/>
          </a:ln>
        </p:spPr>
        <p:txBody>
          <a:bodyPr spcFirstLastPara="1" wrap="square" lIns="101625" tIns="50800" rIns="101625" bIns="50800" anchor="t" anchorCtr="0">
            <a:no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260"/>
              </a:spcBef>
              <a:spcAft>
                <a:spcPts val="0"/>
              </a:spcAft>
              <a:buClr>
                <a:schemeClr val="dk1"/>
              </a:buClr>
              <a:buSzPts val="1300"/>
              <a:buNone/>
              <a:defRPr sz="1300"/>
            </a:lvl2pPr>
            <a:lvl3pPr marL="1371600" lvl="2" indent="-228600" algn="l">
              <a:lnSpc>
                <a:spcPct val="100000"/>
              </a:lnSpc>
              <a:spcBef>
                <a:spcPts val="220"/>
              </a:spcBef>
              <a:spcAft>
                <a:spcPts val="0"/>
              </a:spcAft>
              <a:buClr>
                <a:schemeClr val="dk1"/>
              </a:buClr>
              <a:buSzPts val="1100"/>
              <a:buNone/>
              <a:defRPr sz="1100"/>
            </a:lvl3pPr>
            <a:lvl4pPr marL="1828800" lvl="3" indent="-228600" algn="l">
              <a:lnSpc>
                <a:spcPct val="100000"/>
              </a:lnSpc>
              <a:spcBef>
                <a:spcPts val="200"/>
              </a:spcBef>
              <a:spcAft>
                <a:spcPts val="0"/>
              </a:spcAft>
              <a:buClr>
                <a:schemeClr val="dk1"/>
              </a:buClr>
              <a:buSzPts val="1000"/>
              <a:buNone/>
              <a:defRPr sz="1000"/>
            </a:lvl4pPr>
            <a:lvl5pPr marL="2286000" lvl="4" indent="-228600" algn="l">
              <a:lnSpc>
                <a:spcPct val="100000"/>
              </a:lnSpc>
              <a:spcBef>
                <a:spcPts val="200"/>
              </a:spcBef>
              <a:spcAft>
                <a:spcPts val="0"/>
              </a:spcAft>
              <a:buClr>
                <a:schemeClr val="dk1"/>
              </a:buClr>
              <a:buSzPts val="1000"/>
              <a:buNone/>
              <a:defRPr sz="1000"/>
            </a:lvl5pPr>
            <a:lvl6pPr marL="2743200" lvl="5" indent="-228600" algn="l">
              <a:lnSpc>
                <a:spcPct val="100000"/>
              </a:lnSpc>
              <a:spcBef>
                <a:spcPts val="200"/>
              </a:spcBef>
              <a:spcAft>
                <a:spcPts val="0"/>
              </a:spcAft>
              <a:buClr>
                <a:schemeClr val="dk1"/>
              </a:buClr>
              <a:buSzPts val="1000"/>
              <a:buNone/>
              <a:defRPr sz="1000"/>
            </a:lvl6pPr>
            <a:lvl7pPr marL="3200400" lvl="6" indent="-228600" algn="l">
              <a:lnSpc>
                <a:spcPct val="100000"/>
              </a:lnSpc>
              <a:spcBef>
                <a:spcPts val="200"/>
              </a:spcBef>
              <a:spcAft>
                <a:spcPts val="0"/>
              </a:spcAft>
              <a:buClr>
                <a:schemeClr val="dk1"/>
              </a:buClr>
              <a:buSzPts val="1000"/>
              <a:buNone/>
              <a:defRPr sz="1000"/>
            </a:lvl7pPr>
            <a:lvl8pPr marL="3657600" lvl="7" indent="-228600" algn="l">
              <a:lnSpc>
                <a:spcPct val="100000"/>
              </a:lnSpc>
              <a:spcBef>
                <a:spcPts val="200"/>
              </a:spcBef>
              <a:spcAft>
                <a:spcPts val="0"/>
              </a:spcAft>
              <a:buClr>
                <a:schemeClr val="dk1"/>
              </a:buClr>
              <a:buSzPts val="1000"/>
              <a:buNone/>
              <a:defRPr sz="1000"/>
            </a:lvl8pPr>
            <a:lvl9pPr marL="4114800" lvl="8" indent="-228600" algn="l">
              <a:lnSpc>
                <a:spcPct val="100000"/>
              </a:lnSpc>
              <a:spcBef>
                <a:spcPts val="200"/>
              </a:spcBef>
              <a:spcAft>
                <a:spcPts val="0"/>
              </a:spcAft>
              <a:buClr>
                <a:schemeClr val="dk1"/>
              </a:buClr>
              <a:buSzPts val="1000"/>
              <a:buNone/>
              <a:defRPr sz="1000"/>
            </a:lvl9pPr>
          </a:lstStyle>
          <a:p>
            <a:endParaRPr/>
          </a:p>
        </p:txBody>
      </p:sp>
      <p:sp>
        <p:nvSpPr>
          <p:cNvPr id="70" name="Google Shape;70;p12"/>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1989565" y="5345113"/>
            <a:ext cx="6090285" cy="631021"/>
          </a:xfrm>
          <a:prstGeom prst="rect">
            <a:avLst/>
          </a:prstGeom>
          <a:noFill/>
          <a:ln>
            <a:noFill/>
          </a:ln>
        </p:spPr>
        <p:txBody>
          <a:bodyPr spcFirstLastPara="1" wrap="square" lIns="101625" tIns="50800" rIns="101625" bIns="50800" anchor="b" anchorCtr="0">
            <a:noAutofit/>
          </a:bodyPr>
          <a:lstStyle>
            <a:lvl1pPr lvl="0" algn="l">
              <a:lnSpc>
                <a:spcPct val="100000"/>
              </a:lnSpc>
              <a:spcBef>
                <a:spcPts val="0"/>
              </a:spcBef>
              <a:spcAft>
                <a:spcPts val="0"/>
              </a:spcAft>
              <a:buClr>
                <a:schemeClr val="dk1"/>
              </a:buClr>
              <a:buSzPts val="2200"/>
              <a:buFont typeface="Calibri"/>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1989565" y="682281"/>
            <a:ext cx="6090285" cy="4581525"/>
          </a:xfrm>
          <a:prstGeom prst="rect">
            <a:avLst/>
          </a:prstGeom>
          <a:noFill/>
          <a:ln>
            <a:noFill/>
          </a:ln>
        </p:spPr>
        <p:txBody>
          <a:bodyPr spcFirstLastPara="1" wrap="square" lIns="101625" tIns="50800" rIns="101625" bIns="50800" anchor="t" anchorCtr="0">
            <a:noAutofit/>
          </a:bodyPr>
          <a:lstStyle>
            <a:lvl1pPr marR="0" lvl="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Calibri"/>
                <a:ea typeface="Calibri"/>
                <a:cs typeface="Calibri"/>
                <a:sym typeface="Calibri"/>
              </a:defRPr>
            </a:lvl1pPr>
            <a:lvl2pPr marR="0" lvl="1" algn="l" rtl="0">
              <a:lnSpc>
                <a:spcPct val="100000"/>
              </a:lnSpc>
              <a:spcBef>
                <a:spcPts val="620"/>
              </a:spcBef>
              <a:spcAft>
                <a:spcPts val="0"/>
              </a:spcAft>
              <a:buClr>
                <a:schemeClr val="dk1"/>
              </a:buClr>
              <a:buSzPts val="3100"/>
              <a:buFont typeface="Arial"/>
              <a:buNone/>
              <a:defRPr sz="3100" b="0" i="0" u="none" strike="noStrike" cap="none">
                <a:solidFill>
                  <a:schemeClr val="dk1"/>
                </a:solidFill>
                <a:latin typeface="Calibri"/>
                <a:ea typeface="Calibri"/>
                <a:cs typeface="Calibri"/>
                <a:sym typeface="Calibri"/>
              </a:defRPr>
            </a:lvl2pPr>
            <a:lvl3pPr marR="0" lvl="2" algn="l" rtl="0">
              <a:lnSpc>
                <a:spcPct val="100000"/>
              </a:lnSpc>
              <a:spcBef>
                <a:spcPts val="540"/>
              </a:spcBef>
              <a:spcAft>
                <a:spcPts val="0"/>
              </a:spcAft>
              <a:buClr>
                <a:schemeClr val="dk1"/>
              </a:buClr>
              <a:buSzPts val="2700"/>
              <a:buFont typeface="Arial"/>
              <a:buNone/>
              <a:defRPr sz="2700" b="0" i="0" u="none" strike="noStrike" cap="none">
                <a:solidFill>
                  <a:schemeClr val="dk1"/>
                </a:solidFill>
                <a:latin typeface="Calibri"/>
                <a:ea typeface="Calibri"/>
                <a:cs typeface="Calibri"/>
                <a:sym typeface="Calibri"/>
              </a:defRPr>
            </a:lvl3pPr>
            <a:lvl4pPr marR="0" lvl="3" algn="l" rtl="0">
              <a:lnSpc>
                <a:spcPct val="100000"/>
              </a:lnSpc>
              <a:spcBef>
                <a:spcPts val="440"/>
              </a:spcBef>
              <a:spcAft>
                <a:spcPts val="0"/>
              </a:spcAft>
              <a:buClr>
                <a:schemeClr val="dk1"/>
              </a:buClr>
              <a:buSzPts val="2200"/>
              <a:buFont typeface="Arial"/>
              <a:buNone/>
              <a:defRPr sz="2200" b="0" i="0" u="none" strike="noStrike" cap="none">
                <a:solidFill>
                  <a:schemeClr val="dk1"/>
                </a:solidFill>
                <a:latin typeface="Calibri"/>
                <a:ea typeface="Calibri"/>
                <a:cs typeface="Calibri"/>
                <a:sym typeface="Calibri"/>
              </a:defRPr>
            </a:lvl4pPr>
            <a:lvl5pPr marR="0" lvl="4" algn="l" rtl="0">
              <a:lnSpc>
                <a:spcPct val="100000"/>
              </a:lnSpc>
              <a:spcBef>
                <a:spcPts val="440"/>
              </a:spcBef>
              <a:spcAft>
                <a:spcPts val="0"/>
              </a:spcAft>
              <a:buClr>
                <a:schemeClr val="dk1"/>
              </a:buClr>
              <a:buSzPts val="2200"/>
              <a:buFont typeface="Arial"/>
              <a:buNone/>
              <a:defRPr sz="2200" b="0" i="0" u="none" strike="noStrike" cap="none">
                <a:solidFill>
                  <a:schemeClr val="dk1"/>
                </a:solidFill>
                <a:latin typeface="Calibri"/>
                <a:ea typeface="Calibri"/>
                <a:cs typeface="Calibri"/>
                <a:sym typeface="Calibri"/>
              </a:defRPr>
            </a:lvl5pPr>
            <a:lvl6pPr marR="0" lvl="5" algn="l" rtl="0">
              <a:lnSpc>
                <a:spcPct val="100000"/>
              </a:lnSpc>
              <a:spcBef>
                <a:spcPts val="440"/>
              </a:spcBef>
              <a:spcAft>
                <a:spcPts val="0"/>
              </a:spcAft>
              <a:buClr>
                <a:schemeClr val="dk1"/>
              </a:buClr>
              <a:buSzPts val="2200"/>
              <a:buFont typeface="Arial"/>
              <a:buNone/>
              <a:defRPr sz="2200" b="0" i="0" u="none" strike="noStrike" cap="none">
                <a:solidFill>
                  <a:schemeClr val="dk1"/>
                </a:solidFill>
                <a:latin typeface="Calibri"/>
                <a:ea typeface="Calibri"/>
                <a:cs typeface="Calibri"/>
                <a:sym typeface="Calibri"/>
              </a:defRPr>
            </a:lvl6pPr>
            <a:lvl7pPr marR="0" lvl="6" algn="l" rtl="0">
              <a:lnSpc>
                <a:spcPct val="100000"/>
              </a:lnSpc>
              <a:spcBef>
                <a:spcPts val="440"/>
              </a:spcBef>
              <a:spcAft>
                <a:spcPts val="0"/>
              </a:spcAft>
              <a:buClr>
                <a:schemeClr val="dk1"/>
              </a:buClr>
              <a:buSzPts val="2200"/>
              <a:buFont typeface="Arial"/>
              <a:buNone/>
              <a:defRPr sz="2200" b="0" i="0" u="none" strike="noStrike" cap="none">
                <a:solidFill>
                  <a:schemeClr val="dk1"/>
                </a:solidFill>
                <a:latin typeface="Calibri"/>
                <a:ea typeface="Calibri"/>
                <a:cs typeface="Calibri"/>
                <a:sym typeface="Calibri"/>
              </a:defRPr>
            </a:lvl7pPr>
            <a:lvl8pPr marR="0" lvl="7" algn="l" rtl="0">
              <a:lnSpc>
                <a:spcPct val="100000"/>
              </a:lnSpc>
              <a:spcBef>
                <a:spcPts val="440"/>
              </a:spcBef>
              <a:spcAft>
                <a:spcPts val="0"/>
              </a:spcAft>
              <a:buClr>
                <a:schemeClr val="dk1"/>
              </a:buClr>
              <a:buSzPts val="2200"/>
              <a:buFont typeface="Arial"/>
              <a:buNone/>
              <a:defRPr sz="2200" b="0" i="0" u="none" strike="noStrike" cap="none">
                <a:solidFill>
                  <a:schemeClr val="dk1"/>
                </a:solidFill>
                <a:latin typeface="Calibri"/>
                <a:ea typeface="Calibri"/>
                <a:cs typeface="Calibri"/>
                <a:sym typeface="Calibri"/>
              </a:defRPr>
            </a:lvl8pPr>
            <a:lvl9pPr marR="0" lvl="8" algn="l" rtl="0">
              <a:lnSpc>
                <a:spcPct val="100000"/>
              </a:lnSpc>
              <a:spcBef>
                <a:spcPts val="440"/>
              </a:spcBef>
              <a:spcAft>
                <a:spcPts val="0"/>
              </a:spcAft>
              <a:buClr>
                <a:schemeClr val="dk1"/>
              </a:buClr>
              <a:buSzPts val="2200"/>
              <a:buFont typeface="Arial"/>
              <a:buNone/>
              <a:defRPr sz="2200" b="0" i="0" u="none" strike="noStrike" cap="none">
                <a:solidFill>
                  <a:schemeClr val="dk1"/>
                </a:solidFill>
                <a:latin typeface="Calibri"/>
                <a:ea typeface="Calibri"/>
                <a:cs typeface="Calibri"/>
                <a:sym typeface="Calibri"/>
              </a:defRPr>
            </a:lvl9pPr>
          </a:lstStyle>
          <a:p>
            <a:endParaRPr/>
          </a:p>
        </p:txBody>
      </p:sp>
      <p:sp>
        <p:nvSpPr>
          <p:cNvPr id="76" name="Google Shape;76;p13"/>
          <p:cNvSpPr txBox="1">
            <a:spLocks noGrp="1"/>
          </p:cNvSpPr>
          <p:nvPr>
            <p:ph type="body" idx="1"/>
          </p:nvPr>
        </p:nvSpPr>
        <p:spPr>
          <a:xfrm>
            <a:off x="1989565" y="5976133"/>
            <a:ext cx="6090285" cy="896154"/>
          </a:xfrm>
          <a:prstGeom prst="rect">
            <a:avLst/>
          </a:prstGeom>
          <a:noFill/>
          <a:ln>
            <a:noFill/>
          </a:ln>
        </p:spPr>
        <p:txBody>
          <a:bodyPr spcFirstLastPara="1" wrap="square" lIns="101625" tIns="50800" rIns="101625" bIns="50800" anchor="t" anchorCtr="0">
            <a:no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260"/>
              </a:spcBef>
              <a:spcAft>
                <a:spcPts val="0"/>
              </a:spcAft>
              <a:buClr>
                <a:schemeClr val="dk1"/>
              </a:buClr>
              <a:buSzPts val="1300"/>
              <a:buNone/>
              <a:defRPr sz="1300"/>
            </a:lvl2pPr>
            <a:lvl3pPr marL="1371600" lvl="2" indent="-228600" algn="l">
              <a:lnSpc>
                <a:spcPct val="100000"/>
              </a:lnSpc>
              <a:spcBef>
                <a:spcPts val="220"/>
              </a:spcBef>
              <a:spcAft>
                <a:spcPts val="0"/>
              </a:spcAft>
              <a:buClr>
                <a:schemeClr val="dk1"/>
              </a:buClr>
              <a:buSzPts val="1100"/>
              <a:buNone/>
              <a:defRPr sz="1100"/>
            </a:lvl3pPr>
            <a:lvl4pPr marL="1828800" lvl="3" indent="-228600" algn="l">
              <a:lnSpc>
                <a:spcPct val="100000"/>
              </a:lnSpc>
              <a:spcBef>
                <a:spcPts val="200"/>
              </a:spcBef>
              <a:spcAft>
                <a:spcPts val="0"/>
              </a:spcAft>
              <a:buClr>
                <a:schemeClr val="dk1"/>
              </a:buClr>
              <a:buSzPts val="1000"/>
              <a:buNone/>
              <a:defRPr sz="1000"/>
            </a:lvl4pPr>
            <a:lvl5pPr marL="2286000" lvl="4" indent="-228600" algn="l">
              <a:lnSpc>
                <a:spcPct val="100000"/>
              </a:lnSpc>
              <a:spcBef>
                <a:spcPts val="200"/>
              </a:spcBef>
              <a:spcAft>
                <a:spcPts val="0"/>
              </a:spcAft>
              <a:buClr>
                <a:schemeClr val="dk1"/>
              </a:buClr>
              <a:buSzPts val="1000"/>
              <a:buNone/>
              <a:defRPr sz="1000"/>
            </a:lvl5pPr>
            <a:lvl6pPr marL="2743200" lvl="5" indent="-228600" algn="l">
              <a:lnSpc>
                <a:spcPct val="100000"/>
              </a:lnSpc>
              <a:spcBef>
                <a:spcPts val="200"/>
              </a:spcBef>
              <a:spcAft>
                <a:spcPts val="0"/>
              </a:spcAft>
              <a:buClr>
                <a:schemeClr val="dk1"/>
              </a:buClr>
              <a:buSzPts val="1000"/>
              <a:buNone/>
              <a:defRPr sz="1000"/>
            </a:lvl6pPr>
            <a:lvl7pPr marL="3200400" lvl="6" indent="-228600" algn="l">
              <a:lnSpc>
                <a:spcPct val="100000"/>
              </a:lnSpc>
              <a:spcBef>
                <a:spcPts val="200"/>
              </a:spcBef>
              <a:spcAft>
                <a:spcPts val="0"/>
              </a:spcAft>
              <a:buClr>
                <a:schemeClr val="dk1"/>
              </a:buClr>
              <a:buSzPts val="1000"/>
              <a:buNone/>
              <a:defRPr sz="1000"/>
            </a:lvl7pPr>
            <a:lvl8pPr marL="3657600" lvl="7" indent="-228600" algn="l">
              <a:lnSpc>
                <a:spcPct val="100000"/>
              </a:lnSpc>
              <a:spcBef>
                <a:spcPts val="200"/>
              </a:spcBef>
              <a:spcAft>
                <a:spcPts val="0"/>
              </a:spcAft>
              <a:buClr>
                <a:schemeClr val="dk1"/>
              </a:buClr>
              <a:buSzPts val="1000"/>
              <a:buNone/>
              <a:defRPr sz="1000"/>
            </a:lvl8pPr>
            <a:lvl9pPr marL="4114800" lvl="8" indent="-228600" algn="l">
              <a:lnSpc>
                <a:spcPct val="100000"/>
              </a:lnSpc>
              <a:spcBef>
                <a:spcPts val="2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body" idx="1"/>
          </p:nvPr>
        </p:nvSpPr>
        <p:spPr>
          <a:xfrm rot="5400000">
            <a:off x="2555576" y="-266346"/>
            <a:ext cx="5039325" cy="9135428"/>
          </a:xfrm>
          <a:prstGeom prst="rect">
            <a:avLst/>
          </a:prstGeom>
          <a:noFill/>
          <a:ln>
            <a:noFill/>
          </a:ln>
        </p:spPr>
        <p:txBody>
          <a:bodyPr spcFirstLastPara="1" wrap="square" lIns="101625" tIns="50800" rIns="101625" bIns="508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3" name="Google Shape;83;p14"/>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4"/>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86"/>
        <p:cNvGrpSpPr/>
        <p:nvPr/>
      </p:nvGrpSpPr>
      <p:grpSpPr>
        <a:xfrm>
          <a:off x="0" y="0"/>
          <a:ext cx="0" cy="0"/>
          <a:chOff x="0" y="0"/>
          <a:chExt cx="0" cy="0"/>
        </a:xfrm>
      </p:grpSpPr>
      <p:sp>
        <p:nvSpPr>
          <p:cNvPr id="87" name="Google Shape;87;p15"/>
          <p:cNvSpPr txBox="1">
            <a:spLocks noGrp="1"/>
          </p:cNvSpPr>
          <p:nvPr>
            <p:ph type="title"/>
          </p:nvPr>
        </p:nvSpPr>
        <p:spPr>
          <a:xfrm rot="5400000">
            <a:off x="5809730" y="2701134"/>
            <a:ext cx="7254081" cy="2534094"/>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5"/>
          <p:cNvSpPr txBox="1">
            <a:spLocks noGrp="1"/>
          </p:cNvSpPr>
          <p:nvPr>
            <p:ph type="body" idx="1"/>
          </p:nvPr>
        </p:nvSpPr>
        <p:spPr>
          <a:xfrm rot="5400000">
            <a:off x="655193" y="249865"/>
            <a:ext cx="7254081" cy="7436633"/>
          </a:xfrm>
          <a:prstGeom prst="rect">
            <a:avLst/>
          </a:prstGeom>
          <a:noFill/>
          <a:ln>
            <a:noFill/>
          </a:ln>
        </p:spPr>
        <p:txBody>
          <a:bodyPr spcFirstLastPara="1" wrap="square" lIns="101625" tIns="50800" rIns="101625" bIns="508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9" name="Google Shape;89;p15"/>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5"/>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lvl1pPr marR="0" lvl="0" algn="ctr" rtl="0">
              <a:lnSpc>
                <a:spcPct val="100000"/>
              </a:lnSpc>
              <a:spcBef>
                <a:spcPts val="0"/>
              </a:spcBef>
              <a:spcAft>
                <a:spcPts val="0"/>
              </a:spcAft>
              <a:buClr>
                <a:schemeClr val="dk1"/>
              </a:buClr>
              <a:buSzPts val="4900"/>
              <a:buFont typeface="Calibri"/>
              <a:buNone/>
              <a:defRPr sz="4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lvl1pPr marL="457200" marR="0" lvl="0" indent="-457200" algn="l" rtl="0">
              <a:lnSpc>
                <a:spcPct val="100000"/>
              </a:lnSpc>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25450" algn="l" rtl="0">
              <a:lnSpc>
                <a:spcPct val="100000"/>
              </a:lnSpc>
              <a:spcBef>
                <a:spcPts val="620"/>
              </a:spcBef>
              <a:spcAft>
                <a:spcPts val="0"/>
              </a:spcAft>
              <a:buClr>
                <a:schemeClr val="dk1"/>
              </a:buClr>
              <a:buSzPts val="3100"/>
              <a:buFont typeface="Arial"/>
              <a:buChar char="–"/>
              <a:defRPr sz="3100" b="0" i="0" u="none" strike="noStrike" cap="none">
                <a:solidFill>
                  <a:schemeClr val="dk1"/>
                </a:solidFill>
                <a:latin typeface="Calibri"/>
                <a:ea typeface="Calibri"/>
                <a:cs typeface="Calibri"/>
                <a:sym typeface="Calibri"/>
              </a:defRPr>
            </a:lvl2pPr>
            <a:lvl3pPr marL="1371600" marR="0" lvl="2" indent="-400050" algn="l" rtl="0">
              <a:lnSpc>
                <a:spcPct val="100000"/>
              </a:lnSpc>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3pPr>
            <a:lvl4pPr marL="1828800" marR="0" lvl="3" indent="-368300" algn="l" rtl="0">
              <a:lnSpc>
                <a:spcPct val="100000"/>
              </a:lnSpc>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4pPr>
            <a:lvl5pPr marL="2286000" marR="0" lvl="4" indent="-368300" algn="l" rtl="0">
              <a:lnSpc>
                <a:spcPct val="100000"/>
              </a:lnSpc>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5pPr>
            <a:lvl6pPr marL="2743200" marR="0" lvl="5" indent="-368300" algn="l" rtl="0">
              <a:lnSpc>
                <a:spcPct val="100000"/>
              </a:lnSpc>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6pPr>
            <a:lvl7pPr marL="3200400" marR="0" lvl="6" indent="-368300" algn="l" rtl="0">
              <a:lnSpc>
                <a:spcPct val="100000"/>
              </a:lnSpc>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7pPr>
            <a:lvl8pPr marL="3657600" marR="0" lvl="7" indent="-368300" algn="l" rtl="0">
              <a:lnSpc>
                <a:spcPct val="100000"/>
              </a:lnSpc>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8pPr>
            <a:lvl9pPr marL="4114800" marR="0" lvl="8" indent="-368300" algn="l" rtl="0">
              <a:lnSpc>
                <a:spcPct val="100000"/>
              </a:lnSpc>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507524" y="7077325"/>
            <a:ext cx="2368444" cy="406540"/>
          </a:xfrm>
          <a:prstGeom prst="rect">
            <a:avLst/>
          </a:prstGeom>
          <a:noFill/>
          <a:ln>
            <a:noFill/>
          </a:ln>
        </p:spPr>
        <p:txBody>
          <a:bodyPr spcFirstLastPara="1" wrap="square" lIns="101625" tIns="50800" rIns="101625" bIns="50800" anchor="ctr"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lvl1pPr marR="0" lvl="0" algn="ctr" rtl="0">
              <a:lnSpc>
                <a:spcPct val="100000"/>
              </a:lnSpc>
              <a:spcBef>
                <a:spcPts val="0"/>
              </a:spcBef>
              <a:spcAft>
                <a:spcPts val="0"/>
              </a:spcAft>
              <a:buClr>
                <a:srgbClr val="000000"/>
              </a:buClr>
              <a:buSzPts val="1400"/>
              <a:buFont typeface="Arial"/>
              <a:buNone/>
              <a:defRPr sz="13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image" Target="../media/image10.jp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5"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4.png"/><Relationship Id="rId5" Type="http://schemas.openxmlformats.org/officeDocument/2006/relationships/image" Target="../media/image1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5" Type="http://schemas.openxmlformats.org/officeDocument/2006/relationships/image" Target="../media/image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4a"/><Relationship Id="rId1" Type="http://schemas.microsoft.com/office/2007/relationships/media" Target="../media/media22.m4a"/><Relationship Id="rId5" Type="http://schemas.openxmlformats.org/officeDocument/2006/relationships/image" Target="../media/image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4a"/><Relationship Id="rId1" Type="http://schemas.microsoft.com/office/2007/relationships/media" Target="../media/media23.m4a"/><Relationship Id="rId5" Type="http://schemas.openxmlformats.org/officeDocument/2006/relationships/image" Target="../media/image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product.voxmedia.com/2016/5/26/11787530/remote-user-testing-at-vox"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library.launchkit.io/how-to-run-live-user-testing-part-3-the-debrief-d057dbe3a979#.sm6e6vfb3" TargetMode="External"/><Relationship Id="rId5" Type="http://schemas.openxmlformats.org/officeDocument/2006/relationships/hyperlink" Target="https://alannaholeson.com/papers/chi17-GenderMagPersonas-vs-stereotypes.pdf" TargetMode="External"/><Relationship Id="rId4" Type="http://schemas.openxmlformats.org/officeDocument/2006/relationships/hyperlink" Target="https://gendermag.org/"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p:nvPr/>
        </p:nvSpPr>
        <p:spPr>
          <a:xfrm>
            <a:off x="95944" y="1712515"/>
            <a:ext cx="9805294" cy="193895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6000" b="1" i="0" u="none" strike="noStrike" cap="none">
                <a:solidFill>
                  <a:schemeClr val="lt1"/>
                </a:solidFill>
                <a:latin typeface="Calibri"/>
                <a:ea typeface="Calibri"/>
                <a:cs typeface="Calibri"/>
                <a:sym typeface="Calibri"/>
              </a:rPr>
              <a:t>Phase 5: Test </a:t>
            </a:r>
            <a:endParaRPr/>
          </a:p>
          <a:p>
            <a:pPr marL="0" marR="0" lvl="0" indent="0" algn="ctr" rtl="0">
              <a:lnSpc>
                <a:spcPct val="100000"/>
              </a:lnSpc>
              <a:spcBef>
                <a:spcPts val="0"/>
              </a:spcBef>
              <a:spcAft>
                <a:spcPts val="0"/>
              </a:spcAft>
              <a:buClr>
                <a:srgbClr val="000000"/>
              </a:buClr>
              <a:buSzPts val="4000"/>
              <a:buFont typeface="Arial"/>
              <a:buNone/>
            </a:pPr>
            <a:r>
              <a:rPr lang="en-US" sz="6000" b="1" i="0" u="none" strike="noStrike" cap="none">
                <a:solidFill>
                  <a:schemeClr val="lt1"/>
                </a:solidFill>
                <a:latin typeface="Calibri"/>
                <a:ea typeface="Calibri"/>
                <a:cs typeface="Calibri"/>
                <a:sym typeface="Calibri"/>
              </a:rPr>
              <a:t>(or, OBSERVE again!)</a:t>
            </a:r>
            <a:endParaRPr sz="6000" b="0" i="0" u="none" strike="noStrike" cap="none">
              <a:solidFill>
                <a:srgbClr val="FFFFFF"/>
              </a:solidFill>
              <a:latin typeface="Calibri"/>
              <a:ea typeface="Calibri"/>
              <a:cs typeface="Calibri"/>
              <a:sym typeface="Calibri"/>
            </a:endParaRPr>
          </a:p>
        </p:txBody>
      </p:sp>
      <p:sp>
        <p:nvSpPr>
          <p:cNvPr id="97" name="Google Shape;97;p16"/>
          <p:cNvSpPr/>
          <p:nvPr/>
        </p:nvSpPr>
        <p:spPr>
          <a:xfrm>
            <a:off x="1238795" y="5283597"/>
            <a:ext cx="7672884" cy="18774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Ms Rosetha Kays (Namibia University Of Science and Technology)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Ms Joseph</a:t>
            </a:r>
            <a:r>
              <a:rPr lang="en-US" sz="1800">
                <a:solidFill>
                  <a:schemeClr val="lt1"/>
                </a:solidFill>
                <a:latin typeface="Calibri"/>
                <a:ea typeface="Calibri"/>
                <a:cs typeface="Calibri"/>
                <a:sym typeface="Calibri"/>
              </a:rPr>
              <a:t>ina </a:t>
            </a:r>
            <a:r>
              <a:rPr lang="en-US" sz="1800" b="0" i="0" u="none" strike="noStrike" cap="none">
                <a:solidFill>
                  <a:schemeClr val="lt1"/>
                </a:solidFill>
                <a:latin typeface="Calibri"/>
                <a:ea typeface="Calibri"/>
                <a:cs typeface="Calibri"/>
                <a:sym typeface="Calibri"/>
              </a:rPr>
              <a:t>Muntuumo (Namibia University Of Science and Technology)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sp>
        <p:nvSpPr>
          <p:cNvPr id="98" name="Google Shape;98;p16"/>
          <p:cNvSpPr txBox="1"/>
          <p:nvPr/>
        </p:nvSpPr>
        <p:spPr>
          <a:xfrm>
            <a:off x="659868" y="3984408"/>
            <a:ext cx="8677446" cy="70784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4000" b="0" i="1" u="none" strike="noStrike" cap="none" dirty="0">
                <a:solidFill>
                  <a:srgbClr val="FF0000"/>
                </a:solidFill>
                <a:latin typeface="Calibri"/>
                <a:ea typeface="Calibri"/>
                <a:cs typeface="Calibri"/>
                <a:sym typeface="Calibri"/>
              </a:rPr>
              <a:t>The key to user testing is listening</a:t>
            </a:r>
            <a:endParaRPr sz="4000" b="0" i="0" u="none" strike="noStrike" cap="none" dirty="0">
              <a:solidFill>
                <a:srgbClr val="000000"/>
              </a:solidFill>
              <a:latin typeface="Arial"/>
              <a:ea typeface="Arial"/>
              <a:cs typeface="Arial"/>
              <a:sym typeface="Arial"/>
            </a:endParaRPr>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66539"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2606"/>
    </mc:Choice>
    <mc:Fallback xmlns="">
      <p:transition spd="slow" advTm="126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900"/>
              <a:buFont typeface="Calibri"/>
              <a:buNone/>
            </a:pPr>
            <a:r>
              <a:rPr lang="en-US" sz="5000"/>
              <a:t>Testing Stage Outline</a:t>
            </a:r>
            <a:endParaRPr sz="5000"/>
          </a:p>
        </p:txBody>
      </p:sp>
      <p:sp>
        <p:nvSpPr>
          <p:cNvPr id="104" name="Google Shape;104;p17"/>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457200" lvl="0" indent="-354965" algn="l" rtl="0">
              <a:spcBef>
                <a:spcPts val="0"/>
              </a:spcBef>
              <a:spcAft>
                <a:spcPts val="0"/>
              </a:spcAft>
              <a:buSzPts val="2800"/>
              <a:buAutoNum type="arabicPeriod"/>
            </a:pPr>
            <a:r>
              <a:rPr lang="en-US" sz="2800" dirty="0"/>
              <a:t>Recap on </a:t>
            </a:r>
            <a:r>
              <a:rPr lang="en-US" sz="2800" dirty="0" err="1"/>
              <a:t>empathise</a:t>
            </a:r>
            <a:r>
              <a:rPr lang="en-US" sz="2800" dirty="0"/>
              <a:t>, define, ideate and prototype stage</a:t>
            </a:r>
            <a:endParaRPr sz="2800" dirty="0"/>
          </a:p>
          <a:p>
            <a:pPr marL="457200" lvl="0" indent="-354965" algn="l" rtl="0">
              <a:spcBef>
                <a:spcPts val="0"/>
              </a:spcBef>
              <a:spcAft>
                <a:spcPts val="0"/>
              </a:spcAft>
              <a:buSzPts val="2800"/>
              <a:buAutoNum type="arabicPeriod"/>
            </a:pPr>
            <a:r>
              <a:rPr lang="en-US" sz="2800" dirty="0"/>
              <a:t>What is Testing?</a:t>
            </a:r>
            <a:endParaRPr sz="2800" dirty="0"/>
          </a:p>
          <a:p>
            <a:pPr marL="457200" lvl="0" indent="-354965" algn="l" rtl="0">
              <a:spcBef>
                <a:spcPts val="0"/>
              </a:spcBef>
              <a:spcAft>
                <a:spcPts val="0"/>
              </a:spcAft>
              <a:buSzPts val="2800"/>
              <a:buAutoNum type="arabicPeriod"/>
            </a:pPr>
            <a:r>
              <a:rPr lang="en-US" sz="2800" dirty="0"/>
              <a:t>What is the Test mode?</a:t>
            </a:r>
            <a:endParaRPr sz="2800" dirty="0"/>
          </a:p>
          <a:p>
            <a:pPr marL="457200" lvl="0" indent="-354965" algn="l" rtl="0">
              <a:spcBef>
                <a:spcPts val="0"/>
              </a:spcBef>
              <a:spcAft>
                <a:spcPts val="0"/>
              </a:spcAft>
              <a:buSzPts val="2800"/>
              <a:buAutoNum type="arabicPeriod"/>
            </a:pPr>
            <a:r>
              <a:rPr lang="en-US" sz="2800" dirty="0"/>
              <a:t>WHY test?</a:t>
            </a:r>
            <a:endParaRPr sz="2800" dirty="0"/>
          </a:p>
          <a:p>
            <a:pPr marL="457200" lvl="0" indent="-354965" algn="l" rtl="0">
              <a:spcBef>
                <a:spcPts val="0"/>
              </a:spcBef>
              <a:spcAft>
                <a:spcPts val="0"/>
              </a:spcAft>
              <a:buSzPts val="2800"/>
              <a:buAutoNum type="arabicPeriod"/>
            </a:pPr>
            <a:r>
              <a:rPr lang="en-US" sz="2800" dirty="0"/>
              <a:t>HOW to test?</a:t>
            </a:r>
            <a:endParaRPr sz="2800" dirty="0"/>
          </a:p>
          <a:p>
            <a:pPr marL="457200" lvl="0" indent="-354965" algn="l" rtl="0">
              <a:spcBef>
                <a:spcPts val="0"/>
              </a:spcBef>
              <a:spcAft>
                <a:spcPts val="0"/>
              </a:spcAft>
              <a:buSzPts val="2800"/>
              <a:buAutoNum type="arabicPeriod"/>
            </a:pPr>
            <a:r>
              <a:rPr lang="en-US" sz="2800" dirty="0"/>
              <a:t>How do we visualize prototypes for tests in digital tools?</a:t>
            </a:r>
            <a:endParaRPr sz="2800" dirty="0"/>
          </a:p>
          <a:p>
            <a:pPr marL="457200" lvl="0" indent="-354965" algn="l" rtl="0">
              <a:spcBef>
                <a:spcPts val="0"/>
              </a:spcBef>
              <a:spcAft>
                <a:spcPts val="0"/>
              </a:spcAft>
              <a:buSzPts val="2800"/>
              <a:buAutoNum type="arabicPeriod"/>
            </a:pPr>
            <a:r>
              <a:rPr lang="en-US" sz="2800" dirty="0"/>
              <a:t>Testing Methods</a:t>
            </a:r>
            <a:endParaRPr sz="2800" dirty="0"/>
          </a:p>
          <a:p>
            <a:pPr marL="457200" lvl="0" indent="-354965" algn="l" rtl="0">
              <a:spcBef>
                <a:spcPts val="0"/>
              </a:spcBef>
              <a:spcAft>
                <a:spcPts val="0"/>
              </a:spcAft>
              <a:buSzPts val="2800"/>
              <a:buAutoNum type="arabicPeriod"/>
            </a:pPr>
            <a:r>
              <a:rPr lang="en-US" sz="2800" dirty="0"/>
              <a:t>Summary</a:t>
            </a:r>
            <a:endParaRPr sz="2800" dirty="0"/>
          </a:p>
          <a:p>
            <a:pPr marL="457200" lvl="0" indent="-354965" algn="l" rtl="0">
              <a:spcBef>
                <a:spcPts val="0"/>
              </a:spcBef>
              <a:spcAft>
                <a:spcPts val="0"/>
              </a:spcAft>
              <a:buSzPts val="2800"/>
              <a:buAutoNum type="arabicPeriod"/>
            </a:pPr>
            <a:r>
              <a:rPr lang="en-US" sz="2800" dirty="0"/>
              <a:t>The Takeaway</a:t>
            </a:r>
            <a:endParaRPr sz="2800" dirty="0"/>
          </a:p>
          <a:p>
            <a:pPr marL="457200" lvl="0" indent="-354965" algn="l" rtl="0">
              <a:spcBef>
                <a:spcPts val="0"/>
              </a:spcBef>
              <a:spcAft>
                <a:spcPts val="0"/>
              </a:spcAft>
              <a:buSzPts val="2800"/>
              <a:buAutoNum type="arabicPeriod"/>
            </a:pPr>
            <a:r>
              <a:rPr lang="en-US" sz="2800" dirty="0"/>
              <a:t>Task One</a:t>
            </a:r>
            <a:endParaRPr sz="2800" dirty="0"/>
          </a:p>
          <a:p>
            <a:pPr marL="457200" lvl="0" indent="-354965" algn="l" rtl="0">
              <a:spcBef>
                <a:spcPts val="0"/>
              </a:spcBef>
              <a:spcAft>
                <a:spcPts val="0"/>
              </a:spcAft>
              <a:buSzPts val="2800"/>
              <a:buAutoNum type="arabicPeriod"/>
            </a:pPr>
            <a:r>
              <a:rPr lang="en-US" sz="2800" dirty="0"/>
              <a:t>Further Reading</a:t>
            </a:r>
            <a:endParaRPr sz="2800" dirty="0"/>
          </a:p>
          <a:p>
            <a:pPr marL="457200" lvl="0" indent="-354965" algn="l" rtl="0">
              <a:spcBef>
                <a:spcPts val="0"/>
              </a:spcBef>
              <a:spcAft>
                <a:spcPts val="0"/>
              </a:spcAft>
              <a:buSzPts val="2800"/>
              <a:buAutoNum type="arabicPeriod"/>
            </a:pPr>
            <a:r>
              <a:rPr lang="en-US" sz="2800" dirty="0"/>
              <a:t>References</a:t>
            </a:r>
            <a:endParaRPr sz="2800" dirty="0"/>
          </a:p>
          <a:p>
            <a:pPr marL="457200" lvl="0" indent="-354965" algn="l" rtl="0">
              <a:spcBef>
                <a:spcPts val="0"/>
              </a:spcBef>
              <a:spcAft>
                <a:spcPts val="0"/>
              </a:spcAft>
              <a:buSzPts val="2800"/>
              <a:buAutoNum type="arabicPeriod"/>
            </a:pPr>
            <a:r>
              <a:rPr lang="en-US" sz="2800" dirty="0"/>
              <a:t>Questions</a:t>
            </a:r>
            <a:endParaRPr dirty="0"/>
          </a:p>
        </p:txBody>
      </p:sp>
      <p:sp>
        <p:nvSpPr>
          <p:cNvPr id="105" name="Google Shape;105;p17"/>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106" name="Google Shape;106;p17"/>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a:t>
            </a:fld>
            <a:endParaRPr dirty="0"/>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6258"/>
    </mc:Choice>
    <mc:Fallback xmlns="">
      <p:transition spd="slow" advTm="262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10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a:spLocks noGrp="1"/>
          </p:cNvSpPr>
          <p:nvPr>
            <p:ph type="title"/>
          </p:nvPr>
        </p:nvSpPr>
        <p:spPr>
          <a:xfrm>
            <a:off x="507520" y="598662"/>
            <a:ext cx="9135428" cy="1272646"/>
          </a:xfrm>
          <a:prstGeom prst="rect">
            <a:avLst/>
          </a:prstGeom>
          <a:noFill/>
          <a:ln>
            <a:noFill/>
          </a:ln>
        </p:spPr>
        <p:txBody>
          <a:bodyPr spcFirstLastPara="1" wrap="square" lIns="101625" tIns="50800" rIns="101625" bIns="50800" anchor="ctr" anchorCtr="0">
            <a:noAutofit/>
          </a:bodyPr>
          <a:lstStyle/>
          <a:p>
            <a:pPr marL="457200" lvl="0" indent="-546100" algn="ctr" rtl="0">
              <a:lnSpc>
                <a:spcPct val="100000"/>
              </a:lnSpc>
              <a:spcBef>
                <a:spcPts val="0"/>
              </a:spcBef>
              <a:spcAft>
                <a:spcPts val="0"/>
              </a:spcAft>
              <a:buSzPts val="5000"/>
              <a:buAutoNum type="arabicPeriod"/>
            </a:pPr>
            <a:r>
              <a:rPr lang="en-US" sz="5000"/>
              <a:t>Recap on empathise, define, ideate and prototype stage</a:t>
            </a:r>
            <a:endParaRPr sz="5000"/>
          </a:p>
        </p:txBody>
      </p:sp>
      <p:pic>
        <p:nvPicPr>
          <p:cNvPr id="112" name="Google Shape;112;p18"/>
          <p:cNvPicPr preferRelativeResize="0"/>
          <p:nvPr/>
        </p:nvPicPr>
        <p:blipFill rotWithShape="1">
          <a:blip r:embed="rId5">
            <a:alphaModFix/>
          </a:blip>
          <a:srcRect/>
          <a:stretch/>
        </p:blipFill>
        <p:spPr>
          <a:xfrm>
            <a:off x="856716" y="4817360"/>
            <a:ext cx="8437035" cy="710986"/>
          </a:xfrm>
          <a:prstGeom prst="rect">
            <a:avLst/>
          </a:prstGeom>
          <a:noFill/>
          <a:ln>
            <a:noFill/>
          </a:ln>
        </p:spPr>
      </p:pic>
      <p:pic>
        <p:nvPicPr>
          <p:cNvPr id="113" name="Google Shape;113;p18" descr="\\fsrmainsrvp001.shared.nust.na\userfiles$\rkays\Documents\WORK 2015-2018\2019\Masters Docs\DRAWINGS\Computer Science expert 4.PNG"/>
          <p:cNvPicPr preferRelativeResize="0"/>
          <p:nvPr/>
        </p:nvPicPr>
        <p:blipFill rotWithShape="1">
          <a:blip r:embed="rId6">
            <a:alphaModFix/>
          </a:blip>
          <a:srcRect/>
          <a:stretch/>
        </p:blipFill>
        <p:spPr>
          <a:xfrm>
            <a:off x="3181629" y="2324390"/>
            <a:ext cx="3787215" cy="2039888"/>
          </a:xfrm>
          <a:prstGeom prst="rect">
            <a:avLst/>
          </a:prstGeom>
          <a:noFill/>
          <a:ln>
            <a:noFill/>
          </a:ln>
        </p:spPr>
      </p:pic>
      <p:sp>
        <p:nvSpPr>
          <p:cNvPr id="114" name="Google Shape;114;p18"/>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115" name="Google Shape;115;p18"/>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3</a:t>
            </a:fld>
            <a:endParaRP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1791"/>
    </mc:Choice>
    <mc:Fallback xmlns="">
      <p:transition spd="slow" advTm="717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body" idx="1"/>
          </p:nvPr>
        </p:nvSpPr>
        <p:spPr>
          <a:xfrm>
            <a:off x="4945828" y="1863945"/>
            <a:ext cx="4719867" cy="5194080"/>
          </a:xfrm>
          <a:prstGeom prst="rect">
            <a:avLst/>
          </a:prstGeom>
          <a:noFill/>
          <a:ln>
            <a:noFill/>
          </a:ln>
        </p:spPr>
        <p:txBody>
          <a:bodyPr spcFirstLastPara="1" wrap="square" lIns="71425" tIns="35700" rIns="71425" bIns="35700" anchor="t" anchorCtr="0">
            <a:noAutofit/>
          </a:bodyPr>
          <a:lstStyle/>
          <a:p>
            <a:pPr marL="381133" lvl="0" indent="-381133" algn="l" rtl="0">
              <a:lnSpc>
                <a:spcPct val="100000"/>
              </a:lnSpc>
              <a:spcBef>
                <a:spcPts val="0"/>
              </a:spcBef>
              <a:spcAft>
                <a:spcPts val="0"/>
              </a:spcAft>
              <a:buClr>
                <a:schemeClr val="dk1"/>
              </a:buClr>
              <a:buSzPts val="2000"/>
              <a:buChar char="•"/>
            </a:pPr>
            <a:r>
              <a:rPr lang="en-US" sz="2500"/>
              <a:t> “Testing is an </a:t>
            </a:r>
            <a:r>
              <a:rPr lang="en-US" sz="2500" b="1"/>
              <a:t>opportunity</a:t>
            </a:r>
            <a:r>
              <a:rPr lang="en-US" sz="2500"/>
              <a:t> to learn about your </a:t>
            </a:r>
            <a:r>
              <a:rPr lang="en-US" sz="2500" b="1"/>
              <a:t>solution</a:t>
            </a:r>
            <a:r>
              <a:rPr lang="en-US" sz="2500"/>
              <a:t> and your </a:t>
            </a:r>
            <a:r>
              <a:rPr lang="en-US" sz="2500" b="1"/>
              <a:t>user</a:t>
            </a:r>
            <a:r>
              <a:rPr lang="en-US" sz="2500"/>
              <a:t>(s).”</a:t>
            </a:r>
            <a:endParaRPr sz="2500"/>
          </a:p>
          <a:p>
            <a:pPr marL="0" lvl="0" indent="0" algn="l" rtl="0">
              <a:lnSpc>
                <a:spcPct val="100000"/>
              </a:lnSpc>
              <a:spcBef>
                <a:spcPts val="400"/>
              </a:spcBef>
              <a:spcAft>
                <a:spcPts val="0"/>
              </a:spcAft>
              <a:buClr>
                <a:schemeClr val="dk1"/>
              </a:buClr>
              <a:buSzPts val="2000"/>
              <a:buNone/>
            </a:pPr>
            <a:endParaRPr sz="2500"/>
          </a:p>
          <a:p>
            <a:pPr marL="0" lvl="0" indent="0" algn="l" rtl="0">
              <a:lnSpc>
                <a:spcPct val="100000"/>
              </a:lnSpc>
              <a:spcBef>
                <a:spcPts val="400"/>
              </a:spcBef>
              <a:spcAft>
                <a:spcPts val="0"/>
              </a:spcAft>
              <a:buClr>
                <a:schemeClr val="dk1"/>
              </a:buClr>
              <a:buSzPts val="2000"/>
              <a:buNone/>
            </a:pPr>
            <a:r>
              <a:rPr lang="en-US" sz="2500"/>
              <a:t>How will you go about testing the design of an ATM on your left ?</a:t>
            </a:r>
            <a:endParaRPr sz="2500"/>
          </a:p>
          <a:p>
            <a:pPr marL="381133" lvl="0" indent="-381133" algn="l" rtl="0">
              <a:lnSpc>
                <a:spcPct val="100000"/>
              </a:lnSpc>
              <a:spcBef>
                <a:spcPts val="400"/>
              </a:spcBef>
              <a:spcAft>
                <a:spcPts val="0"/>
              </a:spcAft>
              <a:buClr>
                <a:schemeClr val="dk1"/>
              </a:buClr>
              <a:buSzPts val="2000"/>
              <a:buChar char="•"/>
            </a:pPr>
            <a:r>
              <a:rPr lang="en-US" sz="2500"/>
              <a:t>Who are the potential users and critical stakeholders for testing, refinement, and evaluation?</a:t>
            </a:r>
            <a:endParaRPr sz="2500"/>
          </a:p>
          <a:p>
            <a:pPr marL="381133" lvl="0" indent="-381133" algn="l" rtl="0">
              <a:lnSpc>
                <a:spcPct val="100000"/>
              </a:lnSpc>
              <a:spcBef>
                <a:spcPts val="400"/>
              </a:spcBef>
              <a:spcAft>
                <a:spcPts val="0"/>
              </a:spcAft>
              <a:buClr>
                <a:schemeClr val="dk1"/>
              </a:buClr>
              <a:buSzPts val="2000"/>
              <a:buChar char="•"/>
            </a:pPr>
            <a:r>
              <a:rPr lang="en-US" sz="2500"/>
              <a:t>What </a:t>
            </a:r>
            <a:r>
              <a:rPr lang="en-US" sz="2500" b="1"/>
              <a:t>tools</a:t>
            </a:r>
            <a:r>
              <a:rPr lang="en-US" sz="2500"/>
              <a:t> can you use to carry out the test?</a:t>
            </a:r>
            <a:endParaRPr sz="2500"/>
          </a:p>
          <a:p>
            <a:pPr marL="381133" lvl="0" indent="-381133" algn="l" rtl="0">
              <a:lnSpc>
                <a:spcPct val="100000"/>
              </a:lnSpc>
              <a:spcBef>
                <a:spcPts val="400"/>
              </a:spcBef>
              <a:spcAft>
                <a:spcPts val="0"/>
              </a:spcAft>
              <a:buClr>
                <a:schemeClr val="dk1"/>
              </a:buClr>
              <a:buSzPts val="2000"/>
              <a:buChar char="•"/>
            </a:pPr>
            <a:r>
              <a:rPr lang="en-US" sz="2500"/>
              <a:t>What type of </a:t>
            </a:r>
            <a:r>
              <a:rPr lang="en-US" sz="2500" b="1"/>
              <a:t>feedback</a:t>
            </a:r>
            <a:r>
              <a:rPr lang="en-US" sz="2500"/>
              <a:t> are you likely to receive? </a:t>
            </a:r>
            <a:endParaRPr sz="2500"/>
          </a:p>
        </p:txBody>
      </p:sp>
      <p:sp>
        <p:nvSpPr>
          <p:cNvPr id="121" name="Google Shape;121;p19"/>
          <p:cNvSpPr txBox="1">
            <a:spLocks noGrp="1"/>
          </p:cNvSpPr>
          <p:nvPr>
            <p:ph type="title"/>
          </p:nvPr>
        </p:nvSpPr>
        <p:spPr>
          <a:xfrm>
            <a:off x="530267" y="471488"/>
            <a:ext cx="9135428" cy="9442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3500"/>
              <a:buFont typeface="Calibri"/>
              <a:buNone/>
            </a:pPr>
            <a:r>
              <a:rPr lang="en-US" sz="5000" dirty="0"/>
              <a:t>2. What is Testing?</a:t>
            </a:r>
            <a:endParaRPr sz="5000" dirty="0"/>
          </a:p>
        </p:txBody>
      </p:sp>
      <p:pic>
        <p:nvPicPr>
          <p:cNvPr id="122" name="Google Shape;122;p19"/>
          <p:cNvPicPr preferRelativeResize="0"/>
          <p:nvPr/>
        </p:nvPicPr>
        <p:blipFill rotWithShape="1">
          <a:blip r:embed="rId5">
            <a:alphaModFix/>
          </a:blip>
          <a:srcRect/>
          <a:stretch/>
        </p:blipFill>
        <p:spPr>
          <a:xfrm>
            <a:off x="152400" y="1568128"/>
            <a:ext cx="4398942" cy="5915347"/>
          </a:xfrm>
          <a:prstGeom prst="rect">
            <a:avLst/>
          </a:prstGeom>
          <a:noFill/>
          <a:ln>
            <a:noFill/>
          </a:ln>
        </p:spPr>
      </p:pic>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5728"/>
    </mc:Choice>
    <mc:Fallback xmlns="">
      <p:transition spd="slow" advTm="457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body" idx="1"/>
          </p:nvPr>
        </p:nvSpPr>
        <p:spPr>
          <a:xfrm>
            <a:off x="400049" y="1657350"/>
            <a:ext cx="9458325" cy="5380448"/>
          </a:xfrm>
          <a:prstGeom prst="rect">
            <a:avLst/>
          </a:prstGeom>
          <a:noFill/>
          <a:ln>
            <a:noFill/>
          </a:ln>
        </p:spPr>
        <p:txBody>
          <a:bodyPr spcFirstLastPara="1" wrap="square" lIns="71425" tIns="35700" rIns="71425" bIns="35700" anchor="t" anchorCtr="0">
            <a:noAutofit/>
          </a:bodyPr>
          <a:lstStyle/>
          <a:p>
            <a:pPr marL="381133" lvl="0" indent="-381133" algn="just" rtl="0">
              <a:lnSpc>
                <a:spcPct val="90000"/>
              </a:lnSpc>
              <a:spcBef>
                <a:spcPts val="0"/>
              </a:spcBef>
              <a:spcAft>
                <a:spcPts val="0"/>
              </a:spcAft>
              <a:buClr>
                <a:schemeClr val="dk1"/>
              </a:buClr>
              <a:buSzPts val="2000"/>
              <a:buFont typeface="Arial"/>
              <a:buChar char="•"/>
            </a:pPr>
            <a:r>
              <a:rPr lang="en-US" sz="2312" dirty="0"/>
              <a:t>The Test mode is when you solicit </a:t>
            </a:r>
            <a:r>
              <a:rPr lang="en-US" sz="2312" b="1" dirty="0"/>
              <a:t>feedback</a:t>
            </a:r>
            <a:r>
              <a:rPr lang="en-US" sz="2312" dirty="0"/>
              <a:t>, about the prototypes you have created, from your users and have another opportunity to gain empathy for the people you are designing for. </a:t>
            </a:r>
            <a:endParaRPr sz="2312" dirty="0"/>
          </a:p>
          <a:p>
            <a:pPr marL="0" lvl="0" indent="0" algn="just" rtl="0">
              <a:lnSpc>
                <a:spcPct val="90000"/>
              </a:lnSpc>
              <a:spcBef>
                <a:spcPts val="400"/>
              </a:spcBef>
              <a:spcAft>
                <a:spcPts val="0"/>
              </a:spcAft>
              <a:buClr>
                <a:schemeClr val="dk1"/>
              </a:buClr>
              <a:buSzPts val="2000"/>
              <a:buNone/>
            </a:pPr>
            <a:endParaRPr sz="2312" dirty="0"/>
          </a:p>
          <a:p>
            <a:pPr marL="381133" lvl="0" indent="-381133" algn="just" rtl="0">
              <a:lnSpc>
                <a:spcPct val="90000"/>
              </a:lnSpc>
              <a:spcBef>
                <a:spcPts val="400"/>
              </a:spcBef>
              <a:spcAft>
                <a:spcPts val="0"/>
              </a:spcAft>
              <a:buClr>
                <a:schemeClr val="dk1"/>
              </a:buClr>
              <a:buSzPts val="2000"/>
              <a:buChar char="•"/>
            </a:pPr>
            <a:r>
              <a:rPr lang="en-US" sz="2312" b="1" dirty="0"/>
              <a:t>Testing</a:t>
            </a:r>
            <a:r>
              <a:rPr lang="en-US" sz="2312" dirty="0"/>
              <a:t> is another opportunity to understand your user, but unlike your initial empathy mode, you have now likely done more framing of the problem and created prototypes to test. </a:t>
            </a:r>
            <a:endParaRPr sz="2312" dirty="0"/>
          </a:p>
          <a:p>
            <a:pPr marL="381133" lvl="0" indent="-254133" algn="just" rtl="0">
              <a:lnSpc>
                <a:spcPct val="90000"/>
              </a:lnSpc>
              <a:spcBef>
                <a:spcPts val="400"/>
              </a:spcBef>
              <a:spcAft>
                <a:spcPts val="0"/>
              </a:spcAft>
              <a:buClr>
                <a:schemeClr val="dk1"/>
              </a:buClr>
              <a:buSzPts val="2000"/>
              <a:buNone/>
            </a:pPr>
            <a:endParaRPr sz="2312" dirty="0"/>
          </a:p>
          <a:p>
            <a:pPr marL="381133" lvl="0" indent="-381133" algn="just" rtl="0">
              <a:lnSpc>
                <a:spcPct val="90000"/>
              </a:lnSpc>
              <a:spcBef>
                <a:spcPts val="400"/>
              </a:spcBef>
              <a:spcAft>
                <a:spcPts val="0"/>
              </a:spcAft>
              <a:buClr>
                <a:schemeClr val="dk1"/>
              </a:buClr>
              <a:buSzPts val="2000"/>
              <a:buChar char="•"/>
            </a:pPr>
            <a:r>
              <a:rPr lang="en-US" sz="2312" dirty="0"/>
              <a:t>Both these things tend to focus on the interaction with users, but DON’T reduce your “testing” work to asking whether or not people like your solution . Instead, continue to ask </a:t>
            </a:r>
            <a:r>
              <a:rPr lang="en-US" sz="2312" b="1" dirty="0"/>
              <a:t>“Why?”, </a:t>
            </a:r>
            <a:r>
              <a:rPr lang="en-US" sz="2312" dirty="0"/>
              <a:t>and focus on what you can learn about the person and the problem as well as your potential solutions.</a:t>
            </a:r>
            <a:endParaRPr sz="2312" dirty="0"/>
          </a:p>
          <a:p>
            <a:pPr marL="381133" lvl="0" indent="-254133" algn="just" rtl="0">
              <a:lnSpc>
                <a:spcPct val="90000"/>
              </a:lnSpc>
              <a:spcBef>
                <a:spcPts val="400"/>
              </a:spcBef>
              <a:spcAft>
                <a:spcPts val="0"/>
              </a:spcAft>
              <a:buClr>
                <a:schemeClr val="dk1"/>
              </a:buClr>
              <a:buSzPts val="2000"/>
              <a:buNone/>
            </a:pPr>
            <a:endParaRPr sz="2312" dirty="0"/>
          </a:p>
          <a:p>
            <a:pPr marL="381133" lvl="0" indent="-381133" algn="just" rtl="0">
              <a:lnSpc>
                <a:spcPct val="90000"/>
              </a:lnSpc>
              <a:spcBef>
                <a:spcPts val="400"/>
              </a:spcBef>
              <a:spcAft>
                <a:spcPts val="0"/>
              </a:spcAft>
              <a:buClr>
                <a:schemeClr val="dk1"/>
              </a:buClr>
              <a:buSzPts val="2000"/>
              <a:buChar char="•"/>
            </a:pPr>
            <a:r>
              <a:rPr lang="en-US" sz="2312" dirty="0"/>
              <a:t>Ideally you can test within a </a:t>
            </a:r>
            <a:r>
              <a:rPr lang="en-US" sz="2312" b="1" dirty="0"/>
              <a:t>real context </a:t>
            </a:r>
            <a:r>
              <a:rPr lang="en-US" sz="2312" dirty="0"/>
              <a:t>of </a:t>
            </a:r>
            <a:r>
              <a:rPr lang="en-US" sz="2312" b="1" dirty="0"/>
              <a:t>the user’s life</a:t>
            </a:r>
            <a:r>
              <a:rPr lang="en-US" sz="2312" dirty="0"/>
              <a:t>.</a:t>
            </a:r>
            <a:endParaRPr sz="2312" dirty="0"/>
          </a:p>
          <a:p>
            <a:pPr marL="381133" lvl="0" indent="-254133" algn="just" rtl="0">
              <a:lnSpc>
                <a:spcPct val="90000"/>
              </a:lnSpc>
              <a:spcBef>
                <a:spcPts val="400"/>
              </a:spcBef>
              <a:spcAft>
                <a:spcPts val="0"/>
              </a:spcAft>
              <a:buClr>
                <a:schemeClr val="dk1"/>
              </a:buClr>
              <a:buSzPts val="2000"/>
              <a:buNone/>
            </a:pPr>
            <a:endParaRPr sz="1850" dirty="0"/>
          </a:p>
          <a:p>
            <a:pPr marL="381133" lvl="0" indent="-228733" algn="just" rtl="0">
              <a:lnSpc>
                <a:spcPct val="90000"/>
              </a:lnSpc>
              <a:spcBef>
                <a:spcPts val="480"/>
              </a:spcBef>
              <a:spcAft>
                <a:spcPts val="0"/>
              </a:spcAft>
              <a:buClr>
                <a:schemeClr val="dk1"/>
              </a:buClr>
              <a:buSzPts val="2400"/>
              <a:buNone/>
            </a:pPr>
            <a:endParaRPr sz="2220" dirty="0"/>
          </a:p>
        </p:txBody>
      </p:sp>
      <p:sp>
        <p:nvSpPr>
          <p:cNvPr id="128" name="Google Shape;128;p20"/>
          <p:cNvSpPr txBox="1">
            <a:spLocks noGrp="1"/>
          </p:cNvSpPr>
          <p:nvPr>
            <p:ph type="title"/>
          </p:nvPr>
        </p:nvSpPr>
        <p:spPr>
          <a:xfrm>
            <a:off x="530267" y="542925"/>
            <a:ext cx="9135428" cy="9442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3500"/>
              <a:buFont typeface="Calibri"/>
              <a:buNone/>
            </a:pPr>
            <a:r>
              <a:rPr lang="en-US" sz="5000" dirty="0"/>
              <a:t>3. WHAT is the Test mode</a:t>
            </a:r>
            <a:endParaRPr sz="5000" dirty="0"/>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83702"/>
    </mc:Choice>
    <mc:Fallback xmlns="">
      <p:transition spd="slow" advTm="837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body" idx="1"/>
          </p:nvPr>
        </p:nvSpPr>
        <p:spPr>
          <a:xfrm>
            <a:off x="400049" y="1657350"/>
            <a:ext cx="9458325" cy="5380448"/>
          </a:xfrm>
          <a:prstGeom prst="rect">
            <a:avLst/>
          </a:prstGeom>
          <a:noFill/>
          <a:ln>
            <a:noFill/>
          </a:ln>
        </p:spPr>
        <p:txBody>
          <a:bodyPr spcFirstLastPara="1" wrap="square" lIns="71425" tIns="35700" rIns="71425" bIns="35700" anchor="t" anchorCtr="0">
            <a:noAutofit/>
          </a:bodyPr>
          <a:lstStyle/>
          <a:p>
            <a:pPr marL="381133" lvl="0" indent="-381133" algn="just" rtl="0">
              <a:lnSpc>
                <a:spcPct val="100000"/>
              </a:lnSpc>
              <a:spcBef>
                <a:spcPts val="0"/>
              </a:spcBef>
              <a:spcAft>
                <a:spcPts val="0"/>
              </a:spcAft>
              <a:buClr>
                <a:schemeClr val="dk1"/>
              </a:buClr>
              <a:buSzPts val="2000"/>
              <a:buFont typeface="Arial"/>
              <a:buChar char="•"/>
            </a:pPr>
            <a:r>
              <a:rPr lang="en-US" sz="2500" dirty="0"/>
              <a:t>For a </a:t>
            </a:r>
            <a:r>
              <a:rPr lang="en-US" sz="2500" b="1" dirty="0"/>
              <a:t>physical object</a:t>
            </a:r>
            <a:r>
              <a:rPr lang="en-US" sz="2500" dirty="0"/>
              <a:t>, ask people to take it with them and use it within their normal routines. For an experience, try to create a scenario in a location that would capture the real situation. </a:t>
            </a:r>
            <a:endParaRPr sz="2500" dirty="0"/>
          </a:p>
          <a:p>
            <a:pPr marL="0" lvl="0" indent="0" algn="just" rtl="0">
              <a:lnSpc>
                <a:spcPct val="100000"/>
              </a:lnSpc>
              <a:spcBef>
                <a:spcPts val="400"/>
              </a:spcBef>
              <a:spcAft>
                <a:spcPts val="0"/>
              </a:spcAft>
              <a:buClr>
                <a:schemeClr val="dk1"/>
              </a:buClr>
              <a:buSzPts val="2000"/>
              <a:buNone/>
            </a:pPr>
            <a:endParaRPr sz="2500" dirty="0"/>
          </a:p>
          <a:p>
            <a:pPr marL="381133" lvl="0" indent="-381133" algn="just" rtl="0">
              <a:lnSpc>
                <a:spcPct val="100000"/>
              </a:lnSpc>
              <a:spcBef>
                <a:spcPts val="400"/>
              </a:spcBef>
              <a:spcAft>
                <a:spcPts val="0"/>
              </a:spcAft>
              <a:buClr>
                <a:schemeClr val="dk1"/>
              </a:buClr>
              <a:buSzPts val="2000"/>
              <a:buChar char="•"/>
            </a:pPr>
            <a:r>
              <a:rPr lang="en-US" sz="2500" dirty="0"/>
              <a:t>If testing a prototype in situ is not possible, frame a more </a:t>
            </a:r>
            <a:r>
              <a:rPr lang="en-US" sz="2500" b="1" dirty="0"/>
              <a:t>realistic situation</a:t>
            </a:r>
            <a:r>
              <a:rPr lang="en-US" sz="2500" dirty="0"/>
              <a:t> by having users take on a role or task when approaching your prototype. </a:t>
            </a:r>
            <a:endParaRPr sz="2500" dirty="0"/>
          </a:p>
          <a:p>
            <a:pPr marL="0" lvl="0" indent="0" algn="just" rtl="0">
              <a:lnSpc>
                <a:spcPct val="100000"/>
              </a:lnSpc>
              <a:spcBef>
                <a:spcPts val="400"/>
              </a:spcBef>
              <a:spcAft>
                <a:spcPts val="0"/>
              </a:spcAft>
              <a:buClr>
                <a:schemeClr val="dk1"/>
              </a:buClr>
              <a:buSzPts val="2000"/>
              <a:buNone/>
            </a:pPr>
            <a:endParaRPr sz="2500" dirty="0"/>
          </a:p>
          <a:p>
            <a:pPr marL="381133" lvl="0" indent="-381133" algn="just" rtl="0">
              <a:lnSpc>
                <a:spcPct val="100000"/>
              </a:lnSpc>
              <a:spcBef>
                <a:spcPts val="400"/>
              </a:spcBef>
              <a:spcAft>
                <a:spcPts val="0"/>
              </a:spcAft>
              <a:buClr>
                <a:schemeClr val="dk1"/>
              </a:buClr>
              <a:buSzPts val="2000"/>
              <a:buChar char="•"/>
            </a:pPr>
            <a:r>
              <a:rPr lang="en-US" sz="2500" b="1" dirty="0"/>
              <a:t>A rule of thumb: </a:t>
            </a:r>
            <a:r>
              <a:rPr lang="en-US" sz="2500" dirty="0"/>
              <a:t>always prototype as if you know you’re right, but test as if you know you’re wrong—testing is the chance to refine your solutions and make them better. </a:t>
            </a:r>
            <a:endParaRPr sz="2500" dirty="0"/>
          </a:p>
          <a:p>
            <a:pPr marL="0" lvl="0" indent="0" algn="just" rtl="0">
              <a:lnSpc>
                <a:spcPct val="100000"/>
              </a:lnSpc>
              <a:spcBef>
                <a:spcPts val="400"/>
              </a:spcBef>
              <a:spcAft>
                <a:spcPts val="0"/>
              </a:spcAft>
              <a:buSzPts val="1800"/>
              <a:buNone/>
            </a:pPr>
            <a:endParaRPr sz="2500" dirty="0"/>
          </a:p>
          <a:p>
            <a:pPr marL="381133" lvl="0" indent="-228733" algn="just" rtl="0">
              <a:lnSpc>
                <a:spcPct val="100000"/>
              </a:lnSpc>
              <a:spcBef>
                <a:spcPts val="480"/>
              </a:spcBef>
              <a:spcAft>
                <a:spcPts val="0"/>
              </a:spcAft>
              <a:buClr>
                <a:schemeClr val="dk1"/>
              </a:buClr>
              <a:buSzPts val="2400"/>
              <a:buNone/>
            </a:pPr>
            <a:endParaRPr sz="2500" dirty="0"/>
          </a:p>
        </p:txBody>
      </p:sp>
      <p:sp>
        <p:nvSpPr>
          <p:cNvPr id="134" name="Google Shape;134;p21"/>
          <p:cNvSpPr txBox="1">
            <a:spLocks noGrp="1"/>
          </p:cNvSpPr>
          <p:nvPr>
            <p:ph type="title"/>
          </p:nvPr>
        </p:nvSpPr>
        <p:spPr>
          <a:xfrm>
            <a:off x="530267" y="542925"/>
            <a:ext cx="9135428" cy="9442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3500"/>
              <a:buNone/>
            </a:pPr>
            <a:r>
              <a:rPr lang="en-US" sz="3600"/>
              <a:t>… WHAT is the Test mode</a:t>
            </a:r>
            <a:endParaRPr sz="3500" b="1"/>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6584"/>
    </mc:Choice>
    <mc:Fallback xmlns="">
      <p:transition spd="slow" advTm="665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p:nvPr/>
        </p:nvSpPr>
        <p:spPr>
          <a:xfrm>
            <a:off x="3128450" y="307327"/>
            <a:ext cx="3893573" cy="86173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5000">
                <a:solidFill>
                  <a:schemeClr val="dk1"/>
                </a:solidFill>
                <a:latin typeface="Calibri"/>
                <a:ea typeface="Calibri"/>
                <a:cs typeface="Calibri"/>
                <a:sym typeface="Calibri"/>
              </a:rPr>
              <a:t>4. </a:t>
            </a:r>
            <a:r>
              <a:rPr lang="en-US" sz="5000" b="0" i="0" u="none" strike="noStrike" cap="none">
                <a:solidFill>
                  <a:schemeClr val="dk1"/>
                </a:solidFill>
                <a:latin typeface="Calibri"/>
                <a:ea typeface="Calibri"/>
                <a:cs typeface="Calibri"/>
                <a:sym typeface="Calibri"/>
              </a:rPr>
              <a:t>WHY test?</a:t>
            </a:r>
            <a:endParaRPr sz="5000" b="0" i="0" u="none" strike="noStrike" cap="none">
              <a:solidFill>
                <a:schemeClr val="dk1"/>
              </a:solidFill>
              <a:latin typeface="Calibri"/>
              <a:ea typeface="Calibri"/>
              <a:cs typeface="Calibri"/>
              <a:sym typeface="Calibri"/>
            </a:endParaRPr>
          </a:p>
        </p:txBody>
      </p:sp>
      <p:sp>
        <p:nvSpPr>
          <p:cNvPr id="140" name="Google Shape;140;p22"/>
          <p:cNvSpPr/>
          <p:nvPr/>
        </p:nvSpPr>
        <p:spPr>
          <a:xfrm>
            <a:off x="528637" y="4053056"/>
            <a:ext cx="9158288" cy="255450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200"/>
              <a:buFont typeface="Arial"/>
              <a:buChar char="•"/>
            </a:pPr>
            <a:r>
              <a:rPr lang="en-US" sz="2000" b="1" i="0" u="none" strike="noStrike" cap="none" dirty="0">
                <a:solidFill>
                  <a:schemeClr val="dk1"/>
                </a:solidFill>
                <a:latin typeface="Calibri"/>
                <a:ea typeface="Calibri"/>
                <a:cs typeface="Calibri"/>
                <a:sym typeface="Calibri"/>
              </a:rPr>
              <a:t>To refine prototypes and solutions. </a:t>
            </a:r>
            <a:r>
              <a:rPr lang="en-US" sz="2000" b="0" i="0" u="none" strike="noStrike" cap="none" dirty="0">
                <a:solidFill>
                  <a:schemeClr val="dk1"/>
                </a:solidFill>
                <a:latin typeface="Calibri"/>
                <a:ea typeface="Calibri"/>
                <a:cs typeface="Calibri"/>
                <a:sym typeface="Calibri"/>
              </a:rPr>
              <a:t>Testing informs the next iterations of prototypes. Sometimes this means going back to the drawing board.</a:t>
            </a:r>
            <a:endParaRPr sz="20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200"/>
              <a:buFont typeface="Arial"/>
              <a:buChar char="•"/>
            </a:pPr>
            <a:r>
              <a:rPr lang="en-US" sz="2000" b="1" i="0" u="none" strike="noStrike" cap="none" dirty="0">
                <a:solidFill>
                  <a:schemeClr val="dk1"/>
                </a:solidFill>
                <a:latin typeface="Calibri"/>
                <a:ea typeface="Calibri"/>
                <a:cs typeface="Calibri"/>
                <a:sym typeface="Calibri"/>
              </a:rPr>
              <a:t>To learn more about your user. </a:t>
            </a:r>
            <a:r>
              <a:rPr lang="en-US" sz="2000" b="0" i="0" u="none" strike="noStrike" cap="none" dirty="0">
                <a:solidFill>
                  <a:schemeClr val="dk1"/>
                </a:solidFill>
                <a:latin typeface="Calibri"/>
                <a:ea typeface="Calibri"/>
                <a:cs typeface="Calibri"/>
                <a:sym typeface="Calibri"/>
              </a:rPr>
              <a:t>Testing is another opportunity to build </a:t>
            </a:r>
            <a:r>
              <a:rPr lang="en-US" sz="2000" b="0" i="0" u="none" strike="noStrike" cap="none" dirty="0" smtClean="0">
                <a:solidFill>
                  <a:schemeClr val="dk1"/>
                </a:solidFill>
                <a:latin typeface="Calibri"/>
                <a:ea typeface="Calibri"/>
                <a:cs typeface="Calibri"/>
                <a:sym typeface="Calibri"/>
              </a:rPr>
              <a:t>empathy.</a:t>
            </a:r>
            <a:endParaRPr sz="20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200"/>
              <a:buFont typeface="Arial"/>
              <a:buChar char="•"/>
            </a:pPr>
            <a:r>
              <a:rPr lang="en-US" sz="2000" b="1" dirty="0">
                <a:solidFill>
                  <a:schemeClr val="dk1"/>
                </a:solidFill>
                <a:latin typeface="Calibri"/>
                <a:ea typeface="Calibri"/>
                <a:cs typeface="Calibri"/>
                <a:sym typeface="Calibri"/>
              </a:rPr>
              <a:t>O</a:t>
            </a:r>
            <a:r>
              <a:rPr lang="en-US" sz="2000" b="1" i="0" u="none" strike="noStrike" cap="none" dirty="0" smtClean="0">
                <a:solidFill>
                  <a:schemeClr val="dk1"/>
                </a:solidFill>
                <a:latin typeface="Calibri"/>
                <a:ea typeface="Calibri"/>
                <a:cs typeface="Calibri"/>
                <a:sym typeface="Calibri"/>
              </a:rPr>
              <a:t>bservation </a:t>
            </a:r>
            <a:r>
              <a:rPr lang="en-US" sz="2000" b="1" i="0" u="none" strike="noStrike" cap="none" dirty="0">
                <a:solidFill>
                  <a:schemeClr val="dk1"/>
                </a:solidFill>
                <a:latin typeface="Calibri"/>
                <a:ea typeface="Calibri"/>
                <a:cs typeface="Calibri"/>
                <a:sym typeface="Calibri"/>
              </a:rPr>
              <a:t>and engagement—</a:t>
            </a:r>
            <a:r>
              <a:rPr lang="en-US" sz="2000" b="0" i="0" u="none" strike="noStrike" cap="none" dirty="0">
                <a:solidFill>
                  <a:schemeClr val="dk1"/>
                </a:solidFill>
                <a:latin typeface="Calibri"/>
                <a:ea typeface="Calibri"/>
                <a:cs typeface="Calibri"/>
                <a:sym typeface="Calibri"/>
              </a:rPr>
              <a:t>it often yields unexpected insights.</a:t>
            </a:r>
            <a:endParaRPr sz="20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200"/>
              <a:buFont typeface="Arial"/>
              <a:buChar char="•"/>
            </a:pPr>
            <a:r>
              <a:rPr lang="en-US" sz="2000" b="1" i="0" u="none" strike="noStrike" cap="none" dirty="0">
                <a:solidFill>
                  <a:schemeClr val="dk1"/>
                </a:solidFill>
                <a:latin typeface="Calibri"/>
                <a:ea typeface="Calibri"/>
                <a:cs typeface="Calibri"/>
                <a:sym typeface="Calibri"/>
              </a:rPr>
              <a:t>To refine your  (Point Of view) POV. </a:t>
            </a:r>
            <a:r>
              <a:rPr lang="en-US" sz="2000" b="0" i="0" u="none" strike="noStrike" cap="none" dirty="0">
                <a:solidFill>
                  <a:schemeClr val="dk1"/>
                </a:solidFill>
                <a:latin typeface="Calibri"/>
                <a:ea typeface="Calibri"/>
                <a:cs typeface="Calibri"/>
                <a:sym typeface="Calibri"/>
              </a:rPr>
              <a:t>Sometimes testing reveals that not only did you not get the solution right, but also that you failed to frame the problem correctly.</a:t>
            </a:r>
            <a:endParaRPr sz="2000" b="0" i="0" u="none" strike="noStrike" cap="none" dirty="0">
              <a:solidFill>
                <a:schemeClr val="dk1"/>
              </a:solidFill>
              <a:latin typeface="Calibri"/>
              <a:ea typeface="Calibri"/>
              <a:cs typeface="Calibri"/>
              <a:sym typeface="Calibri"/>
            </a:endParaRPr>
          </a:p>
        </p:txBody>
      </p:sp>
      <p:pic>
        <p:nvPicPr>
          <p:cNvPr id="141" name="Google Shape;141;p22" descr="C:\Users\Maria Kauhondamwa\Downloads\IMG_5208 (1).JPG"/>
          <p:cNvPicPr preferRelativeResize="0"/>
          <p:nvPr/>
        </p:nvPicPr>
        <p:blipFill rotWithShape="1">
          <a:blip r:embed="rId5">
            <a:alphaModFix/>
          </a:blip>
          <a:srcRect l="1495" t="-248" r="1326" b="1990"/>
          <a:stretch/>
        </p:blipFill>
        <p:spPr>
          <a:xfrm>
            <a:off x="528637" y="1697637"/>
            <a:ext cx="2880000" cy="2160000"/>
          </a:xfrm>
          <a:prstGeom prst="rect">
            <a:avLst/>
          </a:prstGeom>
          <a:noFill/>
          <a:ln>
            <a:noFill/>
          </a:ln>
        </p:spPr>
      </p:pic>
      <p:pic>
        <p:nvPicPr>
          <p:cNvPr id="142" name="Google Shape;142;p22" descr="F:\MASTERS\workshop 2\pictures\IMG_5172.JPG"/>
          <p:cNvPicPr preferRelativeResize="0"/>
          <p:nvPr/>
        </p:nvPicPr>
        <p:blipFill rotWithShape="1">
          <a:blip r:embed="rId6">
            <a:alphaModFix/>
          </a:blip>
          <a:srcRect t="20902" b="5475"/>
          <a:stretch/>
        </p:blipFill>
        <p:spPr>
          <a:xfrm>
            <a:off x="3667781" y="1632061"/>
            <a:ext cx="2880000" cy="2160000"/>
          </a:xfrm>
          <a:prstGeom prst="rect">
            <a:avLst/>
          </a:prstGeom>
          <a:noFill/>
          <a:ln>
            <a:noFill/>
          </a:ln>
        </p:spPr>
      </p:pic>
      <p:pic>
        <p:nvPicPr>
          <p:cNvPr id="143" name="Google Shape;143;p22" descr="D:\Users\n5044405\Downloads\IMG_5052.JPG"/>
          <p:cNvPicPr preferRelativeResize="0"/>
          <p:nvPr/>
        </p:nvPicPr>
        <p:blipFill rotWithShape="1">
          <a:blip r:embed="rId7">
            <a:alphaModFix/>
          </a:blip>
          <a:srcRect/>
          <a:stretch/>
        </p:blipFill>
        <p:spPr>
          <a:xfrm>
            <a:off x="6806925" y="1632061"/>
            <a:ext cx="2880000" cy="2160000"/>
          </a:xfrm>
          <a:prstGeom prst="rect">
            <a:avLst/>
          </a:prstGeom>
          <a:noFill/>
          <a:ln>
            <a:noFill/>
          </a:ln>
        </p:spPr>
      </p:pic>
      <p:pic>
        <p:nvPicPr>
          <p:cNvPr id="7" name="Audio 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89529"/>
    </mc:Choice>
    <mc:Fallback xmlns="">
      <p:transition spd="slow" advTm="895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body" idx="1"/>
          </p:nvPr>
        </p:nvSpPr>
        <p:spPr>
          <a:xfrm>
            <a:off x="508021" y="1701478"/>
            <a:ext cx="9134400" cy="5382900"/>
          </a:xfrm>
          <a:prstGeom prst="rect">
            <a:avLst/>
          </a:prstGeom>
          <a:noFill/>
          <a:ln>
            <a:noFill/>
          </a:ln>
        </p:spPr>
        <p:txBody>
          <a:bodyPr spcFirstLastPara="1" wrap="square" lIns="71425" tIns="35700" rIns="71425" bIns="35700" anchor="t" anchorCtr="0">
            <a:noAutofit/>
          </a:bodyPr>
          <a:lstStyle/>
          <a:p>
            <a:pPr marL="0" lvl="0" indent="0" algn="l" rtl="0">
              <a:lnSpc>
                <a:spcPct val="100000"/>
              </a:lnSpc>
              <a:spcBef>
                <a:spcPts val="360"/>
              </a:spcBef>
              <a:spcAft>
                <a:spcPts val="0"/>
              </a:spcAft>
              <a:buSzPts val="1800"/>
              <a:buNone/>
            </a:pPr>
            <a:endParaRPr/>
          </a:p>
        </p:txBody>
      </p:sp>
      <p:sp>
        <p:nvSpPr>
          <p:cNvPr id="150" name="Google Shape;150;p23"/>
          <p:cNvSpPr txBox="1">
            <a:spLocks noGrp="1"/>
          </p:cNvSpPr>
          <p:nvPr>
            <p:ph type="title"/>
          </p:nvPr>
        </p:nvSpPr>
        <p:spPr>
          <a:xfrm>
            <a:off x="508021" y="226696"/>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800"/>
              <a:buNone/>
            </a:pPr>
            <a:r>
              <a:rPr lang="en-US" dirty="0"/>
              <a:t>The End Goal: Desirable, Feasible, and Viable Solutions</a:t>
            </a:r>
            <a:endParaRPr dirty="0"/>
          </a:p>
        </p:txBody>
      </p:sp>
      <p:pic>
        <p:nvPicPr>
          <p:cNvPr id="151" name="Google Shape;151;p23"/>
          <p:cNvPicPr preferRelativeResize="0"/>
          <p:nvPr/>
        </p:nvPicPr>
        <p:blipFill rotWithShape="1">
          <a:blip r:embed="rId5">
            <a:alphaModFix/>
          </a:blip>
          <a:srcRect/>
          <a:stretch/>
        </p:blipFill>
        <p:spPr>
          <a:xfrm>
            <a:off x="389088" y="1701475"/>
            <a:ext cx="8953500" cy="5534025"/>
          </a:xfrm>
          <a:prstGeom prst="rect">
            <a:avLst/>
          </a:prstGeom>
          <a:noFill/>
          <a:ln>
            <a:noFill/>
          </a:ln>
        </p:spPr>
      </p:pic>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3743"/>
    </mc:Choice>
    <mc:Fallback xmlns="">
      <p:transition spd="slow" advTm="737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p:nvPr/>
        </p:nvSpPr>
        <p:spPr>
          <a:xfrm>
            <a:off x="2794458" y="300677"/>
            <a:ext cx="4531667" cy="86173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5000">
                <a:solidFill>
                  <a:schemeClr val="dk1"/>
                </a:solidFill>
                <a:latin typeface="Calibri"/>
                <a:ea typeface="Calibri"/>
                <a:cs typeface="Calibri"/>
                <a:sym typeface="Calibri"/>
              </a:rPr>
              <a:t>5. </a:t>
            </a:r>
            <a:r>
              <a:rPr lang="en-US" sz="5000" b="0" i="0" u="none" strike="noStrike" cap="none">
                <a:solidFill>
                  <a:schemeClr val="dk1"/>
                </a:solidFill>
                <a:latin typeface="Calibri"/>
                <a:ea typeface="Calibri"/>
                <a:cs typeface="Calibri"/>
                <a:sym typeface="Calibri"/>
              </a:rPr>
              <a:t>HOW to test?</a:t>
            </a:r>
            <a:endParaRPr sz="5000" b="0" i="0" u="none" strike="noStrike" cap="none">
              <a:solidFill>
                <a:schemeClr val="dk1"/>
              </a:solidFill>
              <a:latin typeface="Calibri"/>
              <a:ea typeface="Calibri"/>
              <a:cs typeface="Calibri"/>
              <a:sym typeface="Calibri"/>
            </a:endParaRPr>
          </a:p>
        </p:txBody>
      </p:sp>
      <p:sp>
        <p:nvSpPr>
          <p:cNvPr id="157" name="Google Shape;157;p24"/>
          <p:cNvSpPr/>
          <p:nvPr/>
        </p:nvSpPr>
        <p:spPr>
          <a:xfrm>
            <a:off x="481092" y="1435239"/>
            <a:ext cx="9158400" cy="6055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200"/>
              <a:buFont typeface="Arial"/>
              <a:buChar char="•"/>
            </a:pPr>
            <a:r>
              <a:rPr lang="en-US" sz="2200" b="1" i="0" u="none" strike="noStrike" cap="none" dirty="0">
                <a:solidFill>
                  <a:schemeClr val="dk1"/>
                </a:solidFill>
                <a:latin typeface="Calibri"/>
                <a:ea typeface="Calibri"/>
                <a:cs typeface="Calibri"/>
                <a:sym typeface="Calibri"/>
              </a:rPr>
              <a:t>Show don’t tell. </a:t>
            </a:r>
            <a:r>
              <a:rPr lang="en-US" sz="2200" b="0" i="0" u="none" strike="noStrike" cap="none" dirty="0">
                <a:solidFill>
                  <a:schemeClr val="dk1"/>
                </a:solidFill>
                <a:latin typeface="Calibri"/>
                <a:ea typeface="Calibri"/>
                <a:cs typeface="Calibri"/>
                <a:sym typeface="Calibri"/>
              </a:rPr>
              <a:t>Put your prototype in the user’s hands – or your user within an experience. </a:t>
            </a:r>
            <a:r>
              <a:rPr lang="en-US" sz="2200" b="1" i="0" u="none" strike="noStrike" cap="none" dirty="0">
                <a:solidFill>
                  <a:schemeClr val="dk1"/>
                </a:solidFill>
                <a:latin typeface="Calibri"/>
                <a:ea typeface="Calibri"/>
                <a:cs typeface="Calibri"/>
                <a:sym typeface="Calibri"/>
              </a:rPr>
              <a:t>And don’t explain everything (yet). </a:t>
            </a:r>
            <a:r>
              <a:rPr lang="en-US" sz="2200" b="0" i="0" u="none" strike="noStrike" cap="none" dirty="0">
                <a:solidFill>
                  <a:schemeClr val="dk1"/>
                </a:solidFill>
                <a:latin typeface="Calibri"/>
                <a:ea typeface="Calibri"/>
                <a:cs typeface="Calibri"/>
                <a:sym typeface="Calibri"/>
              </a:rPr>
              <a:t>Let your tester interpret the prototype. Watch how they </a:t>
            </a:r>
            <a:r>
              <a:rPr lang="en-US" sz="2200" b="1" i="0" u="none" strike="noStrike" cap="none" dirty="0">
                <a:solidFill>
                  <a:schemeClr val="dk1"/>
                </a:solidFill>
                <a:latin typeface="Calibri"/>
                <a:ea typeface="Calibri"/>
                <a:cs typeface="Calibri"/>
                <a:sym typeface="Calibri"/>
              </a:rPr>
              <a:t>use (and misuse!) </a:t>
            </a:r>
            <a:r>
              <a:rPr lang="en-US" sz="2200" b="0" i="0" u="none" strike="noStrike" cap="none" dirty="0">
                <a:solidFill>
                  <a:schemeClr val="dk1"/>
                </a:solidFill>
                <a:latin typeface="Calibri"/>
                <a:ea typeface="Calibri"/>
                <a:cs typeface="Calibri"/>
                <a:sym typeface="Calibri"/>
              </a:rPr>
              <a:t>what you have given them, and how they handle and interact with it; then </a:t>
            </a:r>
            <a:r>
              <a:rPr lang="en-US" sz="2200" b="1" i="0" u="none" strike="noStrike" cap="none" dirty="0">
                <a:solidFill>
                  <a:schemeClr val="dk1"/>
                </a:solidFill>
                <a:latin typeface="Calibri"/>
                <a:ea typeface="Calibri"/>
                <a:cs typeface="Calibri"/>
                <a:sym typeface="Calibri"/>
              </a:rPr>
              <a:t>listen </a:t>
            </a:r>
            <a:r>
              <a:rPr lang="en-US" sz="2200" b="0" i="0" u="none" strike="noStrike" cap="none" dirty="0">
                <a:solidFill>
                  <a:schemeClr val="dk1"/>
                </a:solidFill>
                <a:latin typeface="Calibri"/>
                <a:ea typeface="Calibri"/>
                <a:cs typeface="Calibri"/>
                <a:sym typeface="Calibri"/>
              </a:rPr>
              <a:t>to what they say about it, and the questions they have.</a:t>
            </a:r>
            <a:endParaRPr sz="1400" b="0" i="0" u="none" strike="noStrike" cap="none" dirty="0">
              <a:solidFill>
                <a:srgbClr val="000000"/>
              </a:solidFill>
              <a:latin typeface="Arial"/>
              <a:ea typeface="Arial"/>
              <a:cs typeface="Arial"/>
              <a:sym typeface="Arial"/>
            </a:endParaRPr>
          </a:p>
          <a:p>
            <a:pPr marL="342900" marR="0" lvl="0" indent="-203200" algn="l" rtl="0">
              <a:lnSpc>
                <a:spcPct val="100000"/>
              </a:lnSpc>
              <a:spcBef>
                <a:spcPts val="0"/>
              </a:spcBef>
              <a:spcAft>
                <a:spcPts val="0"/>
              </a:spcAft>
              <a:buClr>
                <a:schemeClr val="dk1"/>
              </a:buClr>
              <a:buSzPts val="2200"/>
              <a:buFont typeface="Arial"/>
              <a:buNone/>
            </a:pPr>
            <a:endParaRPr sz="22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200"/>
              <a:buFont typeface="Arial"/>
              <a:buChar char="•"/>
            </a:pPr>
            <a:r>
              <a:rPr lang="en-US" sz="2200" b="1" i="0" u="none" strike="noStrike" cap="none" dirty="0">
                <a:solidFill>
                  <a:schemeClr val="dk1"/>
                </a:solidFill>
                <a:latin typeface="Calibri"/>
                <a:ea typeface="Calibri"/>
                <a:cs typeface="Calibri"/>
                <a:sym typeface="Calibri"/>
              </a:rPr>
              <a:t>Create Experiences. </a:t>
            </a:r>
            <a:r>
              <a:rPr lang="en-US" sz="2200" b="0" i="0" u="none" strike="noStrike" cap="none" dirty="0">
                <a:solidFill>
                  <a:schemeClr val="dk1"/>
                </a:solidFill>
                <a:latin typeface="Calibri"/>
                <a:ea typeface="Calibri"/>
                <a:cs typeface="Calibri"/>
                <a:sym typeface="Calibri"/>
              </a:rPr>
              <a:t>Create your prototypes and test them in a way that feels like an </a:t>
            </a:r>
            <a:r>
              <a:rPr lang="en-US" sz="2200" b="1" i="0" u="none" strike="noStrike" cap="none" dirty="0">
                <a:solidFill>
                  <a:schemeClr val="dk1"/>
                </a:solidFill>
                <a:latin typeface="Calibri"/>
                <a:ea typeface="Calibri"/>
                <a:cs typeface="Calibri"/>
                <a:sym typeface="Calibri"/>
              </a:rPr>
              <a:t>experience</a:t>
            </a:r>
            <a:r>
              <a:rPr lang="en-US" sz="2200" b="0" i="0" u="none" strike="noStrike" cap="none" dirty="0">
                <a:solidFill>
                  <a:schemeClr val="dk1"/>
                </a:solidFill>
                <a:latin typeface="Calibri"/>
                <a:ea typeface="Calibri"/>
                <a:cs typeface="Calibri"/>
                <a:sym typeface="Calibri"/>
              </a:rPr>
              <a:t> that your user is reacting to, rather than an explanation that your user is evaluating.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200"/>
              <a:buFont typeface="Arial"/>
              <a:buChar char="•"/>
            </a:pPr>
            <a:r>
              <a:rPr lang="en-US" sz="2200" b="1" i="0" u="none" strike="noStrike" cap="none" dirty="0">
                <a:solidFill>
                  <a:schemeClr val="dk1"/>
                </a:solidFill>
                <a:latin typeface="Calibri"/>
                <a:ea typeface="Calibri"/>
                <a:cs typeface="Calibri"/>
                <a:sym typeface="Calibri"/>
              </a:rPr>
              <a:t>Ask users to compare. </a:t>
            </a:r>
            <a:r>
              <a:rPr lang="en-US" sz="2200" b="0" i="0" u="none" strike="noStrike" cap="none" dirty="0">
                <a:solidFill>
                  <a:schemeClr val="dk1"/>
                </a:solidFill>
                <a:latin typeface="Calibri"/>
                <a:ea typeface="Calibri"/>
                <a:cs typeface="Calibri"/>
                <a:sym typeface="Calibri"/>
              </a:rPr>
              <a:t>Bringing multiple prototypes to the field to test gives users a basis for comparison, and comparisons often reveal latent needs.</a:t>
            </a:r>
            <a:endParaRPr sz="2200" b="0" i="0" u="none" strike="noStrike" cap="none" dirty="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200"/>
              <a:buFont typeface="Arial"/>
              <a:buNone/>
            </a:pPr>
            <a:endParaRPr sz="22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200"/>
              <a:buFont typeface="Calibri"/>
              <a:buChar char="•"/>
            </a:pPr>
            <a:r>
              <a:rPr lang="en-US" sz="2200" b="1" i="0" u="none" strike="noStrike" cap="none" dirty="0">
                <a:solidFill>
                  <a:schemeClr val="dk1"/>
                </a:solidFill>
                <a:latin typeface="Calibri"/>
                <a:ea typeface="Calibri"/>
                <a:cs typeface="Calibri"/>
                <a:sym typeface="Calibri"/>
              </a:rPr>
              <a:t>Observe</a:t>
            </a:r>
            <a:endParaRPr sz="2200" b="1" i="0" u="none" strike="noStrike" cap="none" dirty="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200"/>
              <a:buFont typeface="Arial"/>
              <a:buNone/>
            </a:pPr>
            <a:endParaRPr sz="2200" b="1"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200"/>
              <a:buFont typeface="Calibri"/>
              <a:buChar char="•"/>
            </a:pPr>
            <a:r>
              <a:rPr lang="en-US" sz="2200" b="1" i="0" u="none" strike="noStrike" cap="none" dirty="0">
                <a:solidFill>
                  <a:schemeClr val="dk1"/>
                </a:solidFill>
                <a:latin typeface="Calibri"/>
                <a:ea typeface="Calibri"/>
                <a:cs typeface="Calibri"/>
                <a:sym typeface="Calibri"/>
              </a:rPr>
              <a:t>Ask follow up questions</a:t>
            </a:r>
            <a:endParaRPr sz="2200" b="1" i="0" u="none" strike="noStrike" cap="none" dirty="0">
              <a:solidFill>
                <a:schemeClr val="dk1"/>
              </a:solidFill>
              <a:latin typeface="Calibri"/>
              <a:ea typeface="Calibri"/>
              <a:cs typeface="Calibri"/>
              <a:sym typeface="Calibri"/>
            </a:endParaRP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55522"/>
    </mc:Choice>
    <mc:Fallback xmlns="">
      <p:transition spd="slow" advTm="1555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txBox="1">
            <a:spLocks noGrp="1"/>
          </p:cNvSpPr>
          <p:nvPr>
            <p:ph type="title"/>
          </p:nvPr>
        </p:nvSpPr>
        <p:spPr>
          <a:xfrm>
            <a:off x="507524" y="305789"/>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410"/>
              <a:buFont typeface="Calibri"/>
              <a:buNone/>
            </a:pPr>
            <a:r>
              <a:rPr lang="en-US" sz="4500"/>
              <a:t>6. How do we visualize prototypes for tests in digital tools?</a:t>
            </a:r>
            <a:endParaRPr sz="4500"/>
          </a:p>
        </p:txBody>
      </p:sp>
      <p:sp>
        <p:nvSpPr>
          <p:cNvPr id="163" name="Google Shape;163;p25"/>
          <p:cNvSpPr txBox="1">
            <a:spLocks noGrp="1"/>
          </p:cNvSpPr>
          <p:nvPr>
            <p:ph type="body" idx="1"/>
          </p:nvPr>
        </p:nvSpPr>
        <p:spPr>
          <a:xfrm>
            <a:off x="507524" y="1781705"/>
            <a:ext cx="9135300" cy="5039400"/>
          </a:xfrm>
          <a:prstGeom prst="rect">
            <a:avLst/>
          </a:prstGeom>
          <a:noFill/>
          <a:ln>
            <a:noFill/>
          </a:ln>
        </p:spPr>
        <p:txBody>
          <a:bodyPr spcFirstLastPara="1" wrap="square" lIns="101625" tIns="50800" rIns="101625" bIns="50800" anchor="t" anchorCtr="0">
            <a:noAutofit/>
          </a:bodyPr>
          <a:lstStyle/>
          <a:p>
            <a:pPr marL="0" lvl="0" indent="0" algn="l" rtl="0">
              <a:lnSpc>
                <a:spcPct val="100000"/>
              </a:lnSpc>
              <a:spcBef>
                <a:spcPts val="0"/>
              </a:spcBef>
              <a:spcAft>
                <a:spcPts val="0"/>
              </a:spcAft>
              <a:buClr>
                <a:schemeClr val="dk1"/>
              </a:buClr>
              <a:buSzPts val="3600"/>
              <a:buNone/>
            </a:pPr>
            <a:r>
              <a:rPr lang="en-US" dirty="0"/>
              <a:t>A </a:t>
            </a:r>
            <a:r>
              <a:rPr lang="en-US" b="1" dirty="0"/>
              <a:t>prototype</a:t>
            </a:r>
            <a:r>
              <a:rPr lang="en-US" dirty="0"/>
              <a:t> is the </a:t>
            </a:r>
            <a:r>
              <a:rPr lang="en-US" b="1" dirty="0"/>
              <a:t>visualization</a:t>
            </a:r>
            <a:r>
              <a:rPr lang="en-US" dirty="0"/>
              <a:t> of an idea. It can be a sketch, a photo, a storyboard, website, or a chart. </a:t>
            </a:r>
            <a:endParaRPr lang="en-US" dirty="0" smtClean="0"/>
          </a:p>
          <a:p>
            <a:pPr marL="0" lvl="0" indent="0" algn="l" rtl="0">
              <a:lnSpc>
                <a:spcPct val="100000"/>
              </a:lnSpc>
              <a:spcBef>
                <a:spcPts val="0"/>
              </a:spcBef>
              <a:spcAft>
                <a:spcPts val="0"/>
              </a:spcAft>
              <a:buClr>
                <a:schemeClr val="dk1"/>
              </a:buClr>
              <a:buSzPts val="3600"/>
              <a:buNone/>
            </a:pPr>
            <a:r>
              <a:rPr lang="en-US" dirty="0" smtClean="0"/>
              <a:t>Any </a:t>
            </a:r>
            <a:r>
              <a:rPr lang="en-US" dirty="0"/>
              <a:t>offer can be visualized as a prototype early on and made available to a tester community for </a:t>
            </a:r>
            <a:r>
              <a:rPr lang="en-US" dirty="0" smtClean="0"/>
              <a:t>feedback.</a:t>
            </a:r>
            <a:endParaRPr dirty="0"/>
          </a:p>
          <a:p>
            <a:pPr marL="0" lvl="0" indent="0" algn="l" rtl="0">
              <a:lnSpc>
                <a:spcPct val="100000"/>
              </a:lnSpc>
              <a:spcBef>
                <a:spcPts val="720"/>
              </a:spcBef>
              <a:spcAft>
                <a:spcPts val="0"/>
              </a:spcAft>
              <a:buClr>
                <a:schemeClr val="dk1"/>
              </a:buClr>
              <a:buSzPts val="3600"/>
              <a:buNone/>
            </a:pPr>
            <a:endParaRPr dirty="0"/>
          </a:p>
        </p:txBody>
      </p:sp>
      <p:sp>
        <p:nvSpPr>
          <p:cNvPr id="164" name="Google Shape;164;p25"/>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165" name="Google Shape;165;p25"/>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10</a:t>
            </a:fld>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541"/>
    </mc:Choice>
    <mc:Fallback xmlns="">
      <p:transition spd="slow" advTm="305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title"/>
          </p:nvPr>
        </p:nvSpPr>
        <p:spPr>
          <a:xfrm>
            <a:off x="507524" y="305789"/>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410"/>
              <a:buFont typeface="Calibri"/>
              <a:buNone/>
            </a:pPr>
            <a:r>
              <a:rPr lang="en-US" sz="4500" dirty="0"/>
              <a:t>… How do we visualize prototypes for tests in digital tools?</a:t>
            </a:r>
            <a:endParaRPr sz="4500" dirty="0"/>
          </a:p>
        </p:txBody>
      </p:sp>
      <p:pic>
        <p:nvPicPr>
          <p:cNvPr id="171" name="Google Shape;171;p26"/>
          <p:cNvPicPr preferRelativeResize="0"/>
          <p:nvPr/>
        </p:nvPicPr>
        <p:blipFill rotWithShape="1">
          <a:blip r:embed="rId5">
            <a:alphaModFix/>
          </a:blip>
          <a:srcRect/>
          <a:stretch/>
        </p:blipFill>
        <p:spPr>
          <a:xfrm>
            <a:off x="1254890" y="2008862"/>
            <a:ext cx="7640693" cy="4777700"/>
          </a:xfrm>
          <a:prstGeom prst="rect">
            <a:avLst/>
          </a:prstGeom>
          <a:noFill/>
          <a:ln>
            <a:noFill/>
          </a:ln>
        </p:spPr>
      </p:pic>
      <p:sp>
        <p:nvSpPr>
          <p:cNvPr id="172" name="Google Shape;172;p26"/>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173" name="Google Shape;173;p26"/>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11</a:t>
            </a:fld>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5588"/>
    </mc:Choice>
    <mc:Fallback xmlns="">
      <p:transition spd="slow" advTm="155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p:nvPr>
        </p:nvSpPr>
        <p:spPr>
          <a:xfrm>
            <a:off x="422540" y="340473"/>
            <a:ext cx="7605600" cy="1416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Testing procedures</a:t>
            </a:r>
            <a:endParaRPr/>
          </a:p>
        </p:txBody>
      </p:sp>
      <p:sp>
        <p:nvSpPr>
          <p:cNvPr id="179" name="Google Shape;179;p27"/>
          <p:cNvSpPr txBox="1">
            <a:spLocks noGrp="1"/>
          </p:cNvSpPr>
          <p:nvPr>
            <p:ph type="body" idx="1"/>
          </p:nvPr>
        </p:nvSpPr>
        <p:spPr>
          <a:xfrm>
            <a:off x="303225" y="1470350"/>
            <a:ext cx="9545100" cy="5610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endParaRPr/>
          </a:p>
          <a:p>
            <a:pPr marL="457200" lvl="0" indent="-406400" algn="l" rtl="0">
              <a:lnSpc>
                <a:spcPct val="90000"/>
              </a:lnSpc>
              <a:spcBef>
                <a:spcPts val="1000"/>
              </a:spcBef>
              <a:spcAft>
                <a:spcPts val="0"/>
              </a:spcAft>
              <a:buClr>
                <a:schemeClr val="dk1"/>
              </a:buClr>
              <a:buSzPts val="2800"/>
              <a:buAutoNum type="arabicPeriod"/>
            </a:pPr>
            <a:r>
              <a:rPr lang="en-US">
                <a:solidFill>
                  <a:schemeClr val="dk1"/>
                </a:solidFill>
              </a:rPr>
              <a:t>Test Preparation/Objectives: Where? How? What? Who?</a:t>
            </a:r>
            <a:endParaRPr>
              <a:solidFill>
                <a:schemeClr val="dk1"/>
              </a:solidFill>
            </a:endParaRPr>
          </a:p>
          <a:p>
            <a:pPr marL="457200" lvl="0" indent="-406400" algn="l" rtl="0">
              <a:lnSpc>
                <a:spcPct val="90000"/>
              </a:lnSpc>
              <a:spcBef>
                <a:spcPts val="0"/>
              </a:spcBef>
              <a:spcAft>
                <a:spcPts val="0"/>
              </a:spcAft>
              <a:buSzPts val="2800"/>
              <a:buAutoNum type="arabicPeriod"/>
            </a:pPr>
            <a:r>
              <a:rPr lang="en-US"/>
              <a:t>Recruiting users: Conducting the test with users in real context</a:t>
            </a:r>
            <a:endParaRPr/>
          </a:p>
          <a:p>
            <a:pPr marL="457200" lvl="0" indent="-406400" algn="l" rtl="0">
              <a:lnSpc>
                <a:spcPct val="90000"/>
              </a:lnSpc>
              <a:spcBef>
                <a:spcPts val="0"/>
              </a:spcBef>
              <a:spcAft>
                <a:spcPts val="0"/>
              </a:spcAft>
              <a:buClr>
                <a:schemeClr val="dk1"/>
              </a:buClr>
              <a:buSzPts val="2800"/>
              <a:buAutoNum type="arabicPeriod"/>
            </a:pPr>
            <a:r>
              <a:rPr lang="en-US">
                <a:solidFill>
                  <a:schemeClr val="dk1"/>
                </a:solidFill>
              </a:rPr>
              <a:t>Document Results</a:t>
            </a:r>
            <a:endParaRPr/>
          </a:p>
          <a:p>
            <a:pPr marL="457200" lvl="0" indent="-406400" algn="l" rtl="0">
              <a:lnSpc>
                <a:spcPct val="90000"/>
              </a:lnSpc>
              <a:spcBef>
                <a:spcPts val="0"/>
              </a:spcBef>
              <a:spcAft>
                <a:spcPts val="0"/>
              </a:spcAft>
              <a:buSzPts val="2800"/>
              <a:buAutoNum type="arabicPeriod"/>
            </a:pPr>
            <a:r>
              <a:rPr lang="en-US"/>
              <a:t>Reflect</a:t>
            </a:r>
            <a:endParaRPr/>
          </a:p>
          <a:p>
            <a:pPr marL="0" lvl="0" indent="0" algn="l" rtl="0">
              <a:lnSpc>
                <a:spcPct val="90000"/>
              </a:lnSpc>
              <a:spcBef>
                <a:spcPts val="1000"/>
              </a:spcBef>
              <a:spcAft>
                <a:spcPts val="0"/>
              </a:spcAft>
              <a:buClr>
                <a:schemeClr val="dk1"/>
              </a:buClr>
              <a:buSzPts val="2800"/>
              <a:buNone/>
            </a:pPr>
            <a:endParaRPr>
              <a:solidFill>
                <a:schemeClr val="dk1"/>
              </a:solidFill>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34331"/>
    </mc:Choice>
    <mc:Fallback xmlns="">
      <p:transition spd="slow" advTm="1343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8"/>
          <p:cNvPicPr preferRelativeResize="0"/>
          <p:nvPr/>
        </p:nvPicPr>
        <p:blipFill rotWithShape="1">
          <a:blip r:embed="rId5">
            <a:alphaModFix/>
          </a:blip>
          <a:srcRect/>
          <a:stretch/>
        </p:blipFill>
        <p:spPr>
          <a:xfrm>
            <a:off x="471549" y="271625"/>
            <a:ext cx="9207376" cy="6886413"/>
          </a:xfrm>
          <a:prstGeom prst="rect">
            <a:avLst/>
          </a:prstGeom>
          <a:noFill/>
          <a:ln>
            <a:noFill/>
          </a:ln>
        </p:spPr>
      </p:pic>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1967"/>
    </mc:Choice>
    <mc:Fallback xmlns="">
      <p:transition spd="slow" advTm="619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900"/>
              <a:buFont typeface="Calibri"/>
              <a:buNone/>
            </a:pPr>
            <a:r>
              <a:rPr lang="en-US" sz="5000"/>
              <a:t>7. Testing Methods</a:t>
            </a:r>
            <a:endParaRPr sz="5000"/>
          </a:p>
        </p:txBody>
      </p:sp>
      <p:sp>
        <p:nvSpPr>
          <p:cNvPr id="190" name="Google Shape;190;p29"/>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457200" lvl="0" indent="-419100" algn="l" rtl="0">
              <a:lnSpc>
                <a:spcPct val="100000"/>
              </a:lnSpc>
              <a:spcBef>
                <a:spcPts val="0"/>
              </a:spcBef>
              <a:spcAft>
                <a:spcPts val="0"/>
              </a:spcAft>
              <a:buSzPts val="3000"/>
              <a:buAutoNum type="alphaUcPeriod"/>
            </a:pPr>
            <a:r>
              <a:rPr lang="en-US" sz="4000" b="1" dirty="0"/>
              <a:t>Cognitive Walkthrough</a:t>
            </a:r>
            <a:endParaRPr sz="4000" b="1" dirty="0"/>
          </a:p>
          <a:p>
            <a:pPr marL="457200" lvl="0" indent="-419100" algn="l" rtl="0">
              <a:lnSpc>
                <a:spcPct val="100000"/>
              </a:lnSpc>
              <a:spcBef>
                <a:spcPts val="0"/>
              </a:spcBef>
              <a:spcAft>
                <a:spcPts val="0"/>
              </a:spcAft>
              <a:buSzPts val="3000"/>
              <a:buAutoNum type="alphaUcPeriod"/>
            </a:pPr>
            <a:r>
              <a:rPr lang="en-US" sz="4000" dirty="0"/>
              <a:t>Evaluation through </a:t>
            </a:r>
            <a:r>
              <a:rPr lang="en-US" sz="4000" b="1" dirty="0"/>
              <a:t>Expert Analysis/Review </a:t>
            </a:r>
            <a:r>
              <a:rPr lang="en-US" sz="4000" dirty="0"/>
              <a:t>Usability experts to inspect the interface</a:t>
            </a:r>
            <a:endParaRPr sz="4000" dirty="0"/>
          </a:p>
          <a:p>
            <a:pPr marL="457200" lvl="0" indent="-419100" algn="l" rtl="0">
              <a:lnSpc>
                <a:spcPct val="100000"/>
              </a:lnSpc>
              <a:spcBef>
                <a:spcPts val="0"/>
              </a:spcBef>
              <a:spcAft>
                <a:spcPts val="0"/>
              </a:spcAft>
              <a:buSzPts val="3000"/>
              <a:buAutoNum type="alphaUcPeriod"/>
            </a:pPr>
            <a:r>
              <a:rPr lang="en-US" sz="4000" b="1" dirty="0"/>
              <a:t>Heuristic Evaluation</a:t>
            </a:r>
            <a:endParaRPr sz="4000" dirty="0"/>
          </a:p>
          <a:p>
            <a:pPr marL="457200" lvl="0" indent="-419100" algn="l" rtl="0">
              <a:lnSpc>
                <a:spcPct val="100000"/>
              </a:lnSpc>
              <a:spcBef>
                <a:spcPts val="0"/>
              </a:spcBef>
              <a:spcAft>
                <a:spcPts val="0"/>
              </a:spcAft>
              <a:buSzPts val="3000"/>
              <a:buAutoNum type="alphaUcPeriod"/>
            </a:pPr>
            <a:r>
              <a:rPr lang="en-US" sz="4000" b="1" dirty="0"/>
              <a:t>Gender Mag Methods</a:t>
            </a:r>
            <a:endParaRPr sz="4000" b="1" dirty="0"/>
          </a:p>
          <a:p>
            <a:pPr marL="457200" lvl="0" indent="-419100" algn="l" rtl="0">
              <a:lnSpc>
                <a:spcPct val="100000"/>
              </a:lnSpc>
              <a:spcBef>
                <a:spcPts val="0"/>
              </a:spcBef>
              <a:spcAft>
                <a:spcPts val="0"/>
              </a:spcAft>
              <a:buSzPts val="3000"/>
              <a:buAutoNum type="alphaUcPeriod"/>
            </a:pPr>
            <a:r>
              <a:rPr lang="en-US" sz="4000" b="1" dirty="0"/>
              <a:t>Software Testing</a:t>
            </a:r>
            <a:endParaRPr sz="4000" b="1" dirty="0"/>
          </a:p>
        </p:txBody>
      </p:sp>
      <p:sp>
        <p:nvSpPr>
          <p:cNvPr id="191" name="Google Shape;191;p29"/>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192" name="Google Shape;192;p29"/>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14</a:t>
            </a:fld>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8971"/>
    </mc:Choice>
    <mc:Fallback xmlns="">
      <p:transition spd="slow" advTm="189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a:spLocks noGrp="1"/>
          </p:cNvSpPr>
          <p:nvPr>
            <p:ph type="title"/>
          </p:nvPr>
        </p:nvSpPr>
        <p:spPr>
          <a:xfrm>
            <a:off x="507524" y="305789"/>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None/>
            </a:pPr>
            <a:r>
              <a:rPr lang="en-US" sz="5000" dirty="0"/>
              <a:t>A. Cognitive Walkthrough</a:t>
            </a:r>
            <a:endParaRPr sz="5000" dirty="0"/>
          </a:p>
        </p:txBody>
      </p:sp>
      <p:sp>
        <p:nvSpPr>
          <p:cNvPr id="198" name="Google Shape;198;p30"/>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0" lvl="0" indent="0" algn="l" rtl="0">
              <a:lnSpc>
                <a:spcPct val="80000"/>
              </a:lnSpc>
              <a:spcBef>
                <a:spcPts val="450"/>
              </a:spcBef>
              <a:spcAft>
                <a:spcPts val="0"/>
              </a:spcAft>
              <a:buClr>
                <a:schemeClr val="dk1"/>
              </a:buClr>
              <a:buSzPts val="2250"/>
              <a:buNone/>
            </a:pPr>
            <a:r>
              <a:rPr lang="en-US" sz="2250"/>
              <a:t>The</a:t>
            </a:r>
            <a:r>
              <a:rPr lang="en-US" sz="2250" b="1"/>
              <a:t> Cognitive Walkthrough </a:t>
            </a:r>
            <a:r>
              <a:rPr lang="en-US" sz="2250"/>
              <a:t>is a way to test the usability of interactive software (paper or on finished applications) to identify design issues .</a:t>
            </a:r>
            <a:endParaRPr sz="2250"/>
          </a:p>
          <a:p>
            <a:pPr marL="0" lvl="0" indent="0" algn="l" rtl="0">
              <a:lnSpc>
                <a:spcPct val="80000"/>
              </a:lnSpc>
              <a:spcBef>
                <a:spcPts val="450"/>
              </a:spcBef>
              <a:spcAft>
                <a:spcPts val="0"/>
              </a:spcAft>
              <a:buClr>
                <a:schemeClr val="dk1"/>
              </a:buClr>
              <a:buSzPts val="2250"/>
              <a:buNone/>
            </a:pPr>
            <a:endParaRPr sz="2250"/>
          </a:p>
          <a:p>
            <a:pPr marL="0" lvl="0" indent="0" algn="l" rtl="0">
              <a:lnSpc>
                <a:spcPct val="80000"/>
              </a:lnSpc>
              <a:spcBef>
                <a:spcPts val="450"/>
              </a:spcBef>
              <a:spcAft>
                <a:spcPts val="0"/>
              </a:spcAft>
              <a:buClr>
                <a:schemeClr val="dk1"/>
              </a:buClr>
              <a:buSzPts val="2250"/>
              <a:buNone/>
            </a:pPr>
            <a:r>
              <a:rPr lang="en-US" sz="2250"/>
              <a:t>• The cognitive walkthrough focuses on</a:t>
            </a:r>
            <a:endParaRPr sz="2250"/>
          </a:p>
          <a:p>
            <a:pPr marL="0" lvl="0" indent="0" algn="l" rtl="0">
              <a:lnSpc>
                <a:spcPct val="80000"/>
              </a:lnSpc>
              <a:spcBef>
                <a:spcPts val="450"/>
              </a:spcBef>
              <a:spcAft>
                <a:spcPts val="0"/>
              </a:spcAft>
              <a:buClr>
                <a:schemeClr val="dk1"/>
              </a:buClr>
              <a:buSzPts val="2250"/>
              <a:buNone/>
            </a:pPr>
            <a:endParaRPr sz="2250"/>
          </a:p>
          <a:p>
            <a:pPr marL="0" lvl="0" indent="0" algn="l" rtl="0">
              <a:lnSpc>
                <a:spcPct val="80000"/>
              </a:lnSpc>
              <a:spcBef>
                <a:spcPts val="450"/>
              </a:spcBef>
              <a:spcAft>
                <a:spcPts val="0"/>
              </a:spcAft>
              <a:buClr>
                <a:schemeClr val="dk1"/>
              </a:buClr>
              <a:buSzPts val="2250"/>
              <a:buNone/>
            </a:pPr>
            <a:r>
              <a:rPr lang="en-US" sz="2250"/>
              <a:t>– Task(s)</a:t>
            </a:r>
            <a:endParaRPr sz="2250"/>
          </a:p>
          <a:p>
            <a:pPr marL="0" lvl="0" indent="0" algn="l" rtl="0">
              <a:lnSpc>
                <a:spcPct val="80000"/>
              </a:lnSpc>
              <a:spcBef>
                <a:spcPts val="450"/>
              </a:spcBef>
              <a:spcAft>
                <a:spcPts val="0"/>
              </a:spcAft>
              <a:buClr>
                <a:schemeClr val="dk1"/>
              </a:buClr>
              <a:buSzPts val="2250"/>
              <a:buNone/>
            </a:pPr>
            <a:r>
              <a:rPr lang="en-US" sz="2250"/>
              <a:t>– Interface</a:t>
            </a:r>
            <a:endParaRPr sz="2250"/>
          </a:p>
          <a:p>
            <a:pPr marL="0" lvl="0" indent="0" algn="l" rtl="0">
              <a:lnSpc>
                <a:spcPct val="80000"/>
              </a:lnSpc>
              <a:spcBef>
                <a:spcPts val="450"/>
              </a:spcBef>
              <a:spcAft>
                <a:spcPts val="0"/>
              </a:spcAft>
              <a:buClr>
                <a:schemeClr val="dk1"/>
              </a:buClr>
              <a:buSzPts val="2250"/>
              <a:buNone/>
            </a:pPr>
            <a:r>
              <a:rPr lang="en-US" sz="2250"/>
              <a:t>– Learnability (one kind of usability)				</a:t>
            </a:r>
            <a:endParaRPr sz="2250"/>
          </a:p>
          <a:p>
            <a:pPr marL="0" lvl="0" indent="0" algn="l" rtl="0">
              <a:lnSpc>
                <a:spcPct val="80000"/>
              </a:lnSpc>
              <a:spcBef>
                <a:spcPts val="450"/>
              </a:spcBef>
              <a:spcAft>
                <a:spcPts val="0"/>
              </a:spcAft>
              <a:buClr>
                <a:schemeClr val="dk1"/>
              </a:buClr>
              <a:buSzPts val="2250"/>
              <a:buNone/>
            </a:pPr>
            <a:endParaRPr sz="2250"/>
          </a:p>
          <a:p>
            <a:pPr marL="0" lvl="0" indent="0" algn="l" rtl="0">
              <a:lnSpc>
                <a:spcPct val="80000"/>
              </a:lnSpc>
              <a:spcBef>
                <a:spcPts val="450"/>
              </a:spcBef>
              <a:spcAft>
                <a:spcPts val="0"/>
              </a:spcAft>
              <a:buClr>
                <a:schemeClr val="dk1"/>
              </a:buClr>
              <a:buSzPts val="2250"/>
              <a:buNone/>
            </a:pPr>
            <a:r>
              <a:rPr lang="en-US" sz="2250"/>
              <a:t>• The cognitive walkthrough may be used</a:t>
            </a:r>
            <a:endParaRPr sz="2250"/>
          </a:p>
          <a:p>
            <a:pPr marL="0" lvl="0" indent="0" algn="l" rtl="0">
              <a:lnSpc>
                <a:spcPct val="80000"/>
              </a:lnSpc>
              <a:spcBef>
                <a:spcPts val="450"/>
              </a:spcBef>
              <a:spcAft>
                <a:spcPts val="0"/>
              </a:spcAft>
              <a:buClr>
                <a:schemeClr val="dk1"/>
              </a:buClr>
              <a:buSzPts val="2250"/>
              <a:buNone/>
            </a:pPr>
            <a:r>
              <a:rPr lang="en-US" sz="2250"/>
              <a:t>– without “real” users</a:t>
            </a:r>
            <a:endParaRPr sz="2250"/>
          </a:p>
          <a:p>
            <a:pPr marL="0" lvl="0" indent="0" algn="l" rtl="0">
              <a:lnSpc>
                <a:spcPct val="80000"/>
              </a:lnSpc>
              <a:spcBef>
                <a:spcPts val="450"/>
              </a:spcBef>
              <a:spcAft>
                <a:spcPts val="0"/>
              </a:spcAft>
              <a:buClr>
                <a:schemeClr val="dk1"/>
              </a:buClr>
              <a:buSzPts val="2250"/>
              <a:buNone/>
            </a:pPr>
            <a:r>
              <a:rPr lang="en-US" sz="2250"/>
              <a:t>– before a system is implemented</a:t>
            </a:r>
            <a:endParaRPr sz="2250"/>
          </a:p>
          <a:p>
            <a:pPr marL="0" lvl="0" indent="0" algn="l" rtl="0">
              <a:lnSpc>
                <a:spcPct val="80000"/>
              </a:lnSpc>
              <a:spcBef>
                <a:spcPts val="450"/>
              </a:spcBef>
              <a:spcAft>
                <a:spcPts val="0"/>
              </a:spcAft>
              <a:buClr>
                <a:schemeClr val="dk1"/>
              </a:buClr>
              <a:buSzPts val="2250"/>
              <a:buNone/>
            </a:pPr>
            <a:r>
              <a:rPr lang="en-US" sz="2250"/>
              <a:t>– with prototypes, wireframes or mockups </a:t>
            </a:r>
            <a:endParaRPr sz="2250"/>
          </a:p>
          <a:p>
            <a:pPr marL="0" lvl="0" indent="0" algn="l" rtl="0">
              <a:lnSpc>
                <a:spcPct val="80000"/>
              </a:lnSpc>
              <a:spcBef>
                <a:spcPts val="450"/>
              </a:spcBef>
              <a:spcAft>
                <a:spcPts val="0"/>
              </a:spcAft>
              <a:buClr>
                <a:schemeClr val="dk1"/>
              </a:buClr>
              <a:buSzPts val="2250"/>
              <a:buNone/>
            </a:pPr>
            <a:endParaRPr sz="2250"/>
          </a:p>
          <a:p>
            <a:pPr marL="0" lvl="0" indent="0" algn="l" rtl="0">
              <a:lnSpc>
                <a:spcPct val="80000"/>
              </a:lnSpc>
              <a:spcBef>
                <a:spcPts val="450"/>
              </a:spcBef>
              <a:spcAft>
                <a:spcPts val="0"/>
              </a:spcAft>
              <a:buClr>
                <a:schemeClr val="dk1"/>
              </a:buClr>
              <a:buSzPts val="2250"/>
              <a:buNone/>
            </a:pPr>
            <a:endParaRPr sz="2250"/>
          </a:p>
        </p:txBody>
      </p:sp>
      <p:pic>
        <p:nvPicPr>
          <p:cNvPr id="199" name="Google Shape;199;p30"/>
          <p:cNvPicPr preferRelativeResize="0"/>
          <p:nvPr/>
        </p:nvPicPr>
        <p:blipFill rotWithShape="1">
          <a:blip r:embed="rId5">
            <a:alphaModFix/>
          </a:blip>
          <a:srcRect/>
          <a:stretch/>
        </p:blipFill>
        <p:spPr>
          <a:xfrm>
            <a:off x="5928074" y="3157138"/>
            <a:ext cx="3714750" cy="2838450"/>
          </a:xfrm>
          <a:prstGeom prst="rect">
            <a:avLst/>
          </a:prstGeom>
          <a:noFill/>
          <a:ln>
            <a:noFill/>
          </a:ln>
        </p:spPr>
      </p:pic>
      <p:sp>
        <p:nvSpPr>
          <p:cNvPr id="200" name="Google Shape;200;p30"/>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01" name="Google Shape;201;p30"/>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15</a:t>
            </a:fld>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5581"/>
    </mc:Choice>
    <mc:Fallback xmlns="">
      <p:transition spd="slow" advTm="255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1"/>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410"/>
              <a:buFont typeface="Calibri"/>
              <a:buNone/>
            </a:pPr>
            <a:r>
              <a:rPr lang="en-US" sz="3968" dirty="0"/>
              <a:t>B. Evaluation through Expert Analysis - Usability experts inspect the interface</a:t>
            </a:r>
            <a:endParaRPr sz="3968" dirty="0"/>
          </a:p>
        </p:txBody>
      </p:sp>
      <p:sp>
        <p:nvSpPr>
          <p:cNvPr id="207" name="Google Shape;207;p31"/>
          <p:cNvSpPr txBox="1">
            <a:spLocks noGrp="1"/>
          </p:cNvSpPr>
          <p:nvPr>
            <p:ph type="body" idx="1"/>
          </p:nvPr>
        </p:nvSpPr>
        <p:spPr>
          <a:xfrm>
            <a:off x="697845" y="1834900"/>
            <a:ext cx="8754900" cy="3622800"/>
          </a:xfrm>
          <a:prstGeom prst="rect">
            <a:avLst/>
          </a:prstGeom>
          <a:noFill/>
          <a:ln>
            <a:noFill/>
          </a:ln>
        </p:spPr>
        <p:txBody>
          <a:bodyPr spcFirstLastPara="1" wrap="square" lIns="101625" tIns="50800" rIns="101625" bIns="50800" anchor="t" anchorCtr="0">
            <a:noAutofit/>
          </a:bodyPr>
          <a:lstStyle/>
          <a:p>
            <a:pPr marL="342900" lvl="0" indent="-342900" algn="l" rtl="0">
              <a:lnSpc>
                <a:spcPct val="80000"/>
              </a:lnSpc>
              <a:spcBef>
                <a:spcPts val="396"/>
              </a:spcBef>
              <a:spcAft>
                <a:spcPts val="0"/>
              </a:spcAft>
              <a:buSzPts val="1979"/>
              <a:buChar char="•"/>
            </a:pPr>
            <a:r>
              <a:rPr lang="en-US" sz="2500" b="1"/>
              <a:t>Objective</a:t>
            </a:r>
            <a:r>
              <a:rPr lang="en-US" sz="2500"/>
              <a:t> –To identify any areas that are likely to cause difficulties.</a:t>
            </a:r>
            <a:endParaRPr sz="2500"/>
          </a:p>
          <a:p>
            <a:pPr marL="342900" lvl="0" indent="-217233" algn="l" rtl="0">
              <a:lnSpc>
                <a:spcPct val="80000"/>
              </a:lnSpc>
              <a:spcBef>
                <a:spcPts val="396"/>
              </a:spcBef>
              <a:spcAft>
                <a:spcPts val="0"/>
              </a:spcAft>
              <a:buSzPts val="1979"/>
              <a:buNone/>
            </a:pPr>
            <a:endParaRPr sz="2500"/>
          </a:p>
          <a:p>
            <a:pPr marL="342900" lvl="0" indent="-342900" algn="l" rtl="0">
              <a:lnSpc>
                <a:spcPct val="80000"/>
              </a:lnSpc>
              <a:spcBef>
                <a:spcPts val="396"/>
              </a:spcBef>
              <a:spcAft>
                <a:spcPts val="0"/>
              </a:spcAft>
              <a:buSzPts val="1979"/>
              <a:buChar char="•"/>
            </a:pPr>
            <a:r>
              <a:rPr lang="en-US" sz="2500" b="1"/>
              <a:t> Application stage</a:t>
            </a:r>
            <a:r>
              <a:rPr lang="en-US" sz="2500"/>
              <a:t> –Any stage in the development process: Design, Code, Test and Development.</a:t>
            </a:r>
            <a:endParaRPr sz="2500"/>
          </a:p>
          <a:p>
            <a:pPr marL="342900" lvl="0" indent="-217233" algn="l" rtl="0">
              <a:lnSpc>
                <a:spcPct val="80000"/>
              </a:lnSpc>
              <a:spcBef>
                <a:spcPts val="396"/>
              </a:spcBef>
              <a:spcAft>
                <a:spcPts val="0"/>
              </a:spcAft>
              <a:buSzPts val="1979"/>
              <a:buNone/>
            </a:pPr>
            <a:endParaRPr sz="2500"/>
          </a:p>
          <a:p>
            <a:pPr marL="342900" lvl="0" indent="-342900" algn="l" rtl="0">
              <a:lnSpc>
                <a:spcPct val="80000"/>
              </a:lnSpc>
              <a:spcBef>
                <a:spcPts val="396"/>
              </a:spcBef>
              <a:spcAft>
                <a:spcPts val="0"/>
              </a:spcAft>
              <a:buSzPts val="1979"/>
              <a:buChar char="•"/>
            </a:pPr>
            <a:r>
              <a:rPr lang="en-US" sz="2500" b="1"/>
              <a:t>Advantages </a:t>
            </a:r>
            <a:r>
              <a:rPr lang="en-US" sz="2500"/>
              <a:t>–Relatively cheap and fast –Do not require the involvement of users.</a:t>
            </a:r>
            <a:endParaRPr sz="2500"/>
          </a:p>
          <a:p>
            <a:pPr marL="342900" lvl="0" indent="-217233" algn="l" rtl="0">
              <a:lnSpc>
                <a:spcPct val="80000"/>
              </a:lnSpc>
              <a:spcBef>
                <a:spcPts val="396"/>
              </a:spcBef>
              <a:spcAft>
                <a:spcPts val="0"/>
              </a:spcAft>
              <a:buSzPts val="1979"/>
              <a:buNone/>
            </a:pPr>
            <a:endParaRPr sz="2500"/>
          </a:p>
          <a:p>
            <a:pPr marL="342900" lvl="0" indent="-342900" algn="l" rtl="0">
              <a:lnSpc>
                <a:spcPct val="80000"/>
              </a:lnSpc>
              <a:spcBef>
                <a:spcPts val="396"/>
              </a:spcBef>
              <a:spcAft>
                <a:spcPts val="0"/>
              </a:spcAft>
              <a:buSzPts val="1979"/>
              <a:buChar char="•"/>
            </a:pPr>
            <a:r>
              <a:rPr lang="en-US" sz="2500" b="1"/>
              <a:t>Disadvantages </a:t>
            </a:r>
            <a:r>
              <a:rPr lang="en-US" sz="2500"/>
              <a:t>–Not assess actual use of the system, assess only whether or not a system upholds accepted usability principles –Often abused by developers that consider themselves to be experts.</a:t>
            </a:r>
            <a:endParaRPr sz="2500"/>
          </a:p>
          <a:p>
            <a:pPr marL="342900" lvl="0" indent="-217170" algn="l" rtl="0">
              <a:lnSpc>
                <a:spcPct val="80000"/>
              </a:lnSpc>
              <a:spcBef>
                <a:spcPts val="396"/>
              </a:spcBef>
              <a:spcAft>
                <a:spcPts val="0"/>
              </a:spcAft>
              <a:buSzPts val="1980"/>
              <a:buNone/>
            </a:pPr>
            <a:endParaRPr sz="2500"/>
          </a:p>
        </p:txBody>
      </p:sp>
      <p:sp>
        <p:nvSpPr>
          <p:cNvPr id="208" name="Google Shape;208;p31"/>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09" name="Google Shape;209;p31"/>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16</a:t>
            </a:fld>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561"/>
    </mc:Choice>
    <mc:Fallback xmlns="">
      <p:transition spd="slow" advTm="405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410"/>
              <a:buFont typeface="Calibri"/>
              <a:buNone/>
            </a:pPr>
            <a:r>
              <a:rPr lang="en-US" sz="5000" dirty="0"/>
              <a:t>C. Heuristic Analysis Steps </a:t>
            </a:r>
            <a:endParaRPr sz="5000" dirty="0"/>
          </a:p>
        </p:txBody>
      </p:sp>
      <p:sp>
        <p:nvSpPr>
          <p:cNvPr id="215" name="Google Shape;215;p32"/>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457200" lvl="0" indent="-400050" algn="l" rtl="0">
              <a:lnSpc>
                <a:spcPct val="80000"/>
              </a:lnSpc>
              <a:spcBef>
                <a:spcPts val="504"/>
              </a:spcBef>
              <a:spcAft>
                <a:spcPts val="0"/>
              </a:spcAft>
              <a:buSzPts val="2700"/>
              <a:buAutoNum type="arabicPeriod"/>
            </a:pPr>
            <a:r>
              <a:rPr lang="en-US" sz="3000"/>
              <a:t>Establish an appropriate list of heuristics ...</a:t>
            </a:r>
            <a:endParaRPr sz="3000"/>
          </a:p>
          <a:p>
            <a:pPr marL="457200" lvl="0" indent="-400050" algn="l" rtl="0">
              <a:lnSpc>
                <a:spcPct val="80000"/>
              </a:lnSpc>
              <a:spcBef>
                <a:spcPts val="0"/>
              </a:spcBef>
              <a:spcAft>
                <a:spcPts val="0"/>
              </a:spcAft>
              <a:buSzPts val="2700"/>
              <a:buAutoNum type="arabicPeriod"/>
            </a:pPr>
            <a:r>
              <a:rPr lang="en-US" sz="3000"/>
              <a:t>Select your evaluators ...</a:t>
            </a:r>
            <a:endParaRPr sz="3000"/>
          </a:p>
          <a:p>
            <a:pPr marL="457200" lvl="0" indent="-400050" algn="l" rtl="0">
              <a:lnSpc>
                <a:spcPct val="80000"/>
              </a:lnSpc>
              <a:spcBef>
                <a:spcPts val="0"/>
              </a:spcBef>
              <a:spcAft>
                <a:spcPts val="0"/>
              </a:spcAft>
              <a:buSzPts val="2700"/>
              <a:buAutoNum type="arabicPeriod"/>
            </a:pPr>
            <a:r>
              <a:rPr lang="en-US" sz="3000"/>
              <a:t>Brief your evaluators so they know exactly what they are meant to do and cover during their evaluation ...</a:t>
            </a:r>
            <a:endParaRPr sz="3000"/>
          </a:p>
          <a:p>
            <a:pPr marL="457200" lvl="0" indent="-400050" algn="l" rtl="0">
              <a:lnSpc>
                <a:spcPct val="80000"/>
              </a:lnSpc>
              <a:spcBef>
                <a:spcPts val="0"/>
              </a:spcBef>
              <a:spcAft>
                <a:spcPts val="0"/>
              </a:spcAft>
              <a:buSzPts val="2700"/>
              <a:buAutoNum type="arabicPeriod"/>
            </a:pPr>
            <a:r>
              <a:rPr lang="en-US" sz="3000"/>
              <a:t>First evaluation phase ...</a:t>
            </a:r>
            <a:endParaRPr sz="3000"/>
          </a:p>
          <a:p>
            <a:pPr marL="457200" lvl="0" indent="-400050" algn="l" rtl="0">
              <a:lnSpc>
                <a:spcPct val="80000"/>
              </a:lnSpc>
              <a:spcBef>
                <a:spcPts val="0"/>
              </a:spcBef>
              <a:spcAft>
                <a:spcPts val="0"/>
              </a:spcAft>
              <a:buSzPts val="2700"/>
              <a:buAutoNum type="arabicPeriod"/>
            </a:pPr>
            <a:r>
              <a:rPr lang="en-US" sz="3000"/>
              <a:t>Second evaluation phase. </a:t>
            </a:r>
            <a:endParaRPr sz="3000"/>
          </a:p>
        </p:txBody>
      </p:sp>
      <p:pic>
        <p:nvPicPr>
          <p:cNvPr id="216" name="Google Shape;216;p32"/>
          <p:cNvPicPr preferRelativeResize="0"/>
          <p:nvPr/>
        </p:nvPicPr>
        <p:blipFill rotWithShape="1">
          <a:blip r:embed="rId5">
            <a:alphaModFix/>
          </a:blip>
          <a:srcRect/>
          <a:stretch/>
        </p:blipFill>
        <p:spPr>
          <a:xfrm>
            <a:off x="646113" y="4219825"/>
            <a:ext cx="8572500" cy="2857500"/>
          </a:xfrm>
          <a:prstGeom prst="rect">
            <a:avLst/>
          </a:prstGeom>
          <a:noFill/>
          <a:ln>
            <a:noFill/>
          </a:ln>
        </p:spPr>
      </p:pic>
      <p:sp>
        <p:nvSpPr>
          <p:cNvPr id="217" name="Google Shape;217;p32"/>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18" name="Google Shape;218;p32"/>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17</a:t>
            </a:fld>
            <a:endParaRP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734"/>
    </mc:Choice>
    <mc:Fallback xmlns="">
      <p:transition spd="slow" advTm="237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3"/>
          <p:cNvSpPr txBox="1">
            <a:spLocks noGrp="1"/>
          </p:cNvSpPr>
          <p:nvPr>
            <p:ph type="title"/>
          </p:nvPr>
        </p:nvSpPr>
        <p:spPr>
          <a:xfrm>
            <a:off x="507524" y="305789"/>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n-US" dirty="0"/>
              <a:t>Ten Principles of Usability Testing Heuristic Evaluation</a:t>
            </a:r>
            <a:endParaRPr dirty="0"/>
          </a:p>
        </p:txBody>
      </p:sp>
      <p:pic>
        <p:nvPicPr>
          <p:cNvPr id="225" name="Google Shape;225;p33"/>
          <p:cNvPicPr preferRelativeResize="0"/>
          <p:nvPr/>
        </p:nvPicPr>
        <p:blipFill rotWithShape="1">
          <a:blip r:embed="rId5">
            <a:alphaModFix/>
          </a:blip>
          <a:srcRect/>
          <a:stretch/>
        </p:blipFill>
        <p:spPr>
          <a:xfrm>
            <a:off x="1257161" y="1977190"/>
            <a:ext cx="7636025" cy="4972025"/>
          </a:xfrm>
          <a:prstGeom prst="rect">
            <a:avLst/>
          </a:prstGeom>
          <a:noFill/>
          <a:ln>
            <a:noFill/>
          </a:ln>
        </p:spPr>
      </p:pic>
      <p:sp>
        <p:nvSpPr>
          <p:cNvPr id="226" name="Google Shape;226;p33"/>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27" name="Google Shape;227;p33"/>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18</a:t>
            </a:fld>
            <a:endParaRP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52844"/>
    </mc:Choice>
    <mc:Fallback xmlns="">
      <p:transition spd="slow" advTm="1528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4"/>
          <p:cNvSpPr txBox="1">
            <a:spLocks noGrp="1"/>
          </p:cNvSpPr>
          <p:nvPr>
            <p:ph type="title"/>
          </p:nvPr>
        </p:nvSpPr>
        <p:spPr>
          <a:xfrm>
            <a:off x="507524" y="-103911"/>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3240"/>
              <a:buFont typeface="Calibri"/>
              <a:buNone/>
            </a:pPr>
            <a:r>
              <a:rPr lang="en-US" sz="4410" dirty="0"/>
              <a:t>D. The </a:t>
            </a:r>
            <a:r>
              <a:rPr lang="en-US" sz="4410" dirty="0" err="1"/>
              <a:t>GenderMag</a:t>
            </a:r>
            <a:r>
              <a:rPr lang="en-US" sz="4410" dirty="0"/>
              <a:t> Method</a:t>
            </a:r>
            <a:endParaRPr sz="4410" dirty="0"/>
          </a:p>
        </p:txBody>
      </p:sp>
      <p:sp>
        <p:nvSpPr>
          <p:cNvPr id="233" name="Google Shape;233;p34"/>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0" lvl="0" indent="0" algn="l" rtl="0">
              <a:lnSpc>
                <a:spcPct val="80000"/>
              </a:lnSpc>
              <a:spcBef>
                <a:spcPts val="396"/>
              </a:spcBef>
              <a:spcAft>
                <a:spcPts val="0"/>
              </a:spcAft>
              <a:buClr>
                <a:schemeClr val="dk1"/>
              </a:buClr>
              <a:buSzPts val="1979"/>
              <a:buNone/>
            </a:pPr>
            <a:endParaRPr sz="1979"/>
          </a:p>
        </p:txBody>
      </p:sp>
      <p:pic>
        <p:nvPicPr>
          <p:cNvPr id="234" name="Google Shape;234;p34"/>
          <p:cNvPicPr preferRelativeResize="0"/>
          <p:nvPr/>
        </p:nvPicPr>
        <p:blipFill rotWithShape="1">
          <a:blip r:embed="rId5">
            <a:alphaModFix/>
          </a:blip>
          <a:srcRect/>
          <a:stretch/>
        </p:blipFill>
        <p:spPr>
          <a:xfrm>
            <a:off x="848422" y="974984"/>
            <a:ext cx="8794402" cy="6652766"/>
          </a:xfrm>
          <a:prstGeom prst="rect">
            <a:avLst/>
          </a:prstGeom>
          <a:noFill/>
          <a:ln>
            <a:noFill/>
          </a:ln>
        </p:spPr>
      </p:pic>
      <p:sp>
        <p:nvSpPr>
          <p:cNvPr id="235" name="Google Shape;235;p34"/>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36" name="Google Shape;236;p34"/>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19</a:t>
            </a:fld>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9651"/>
    </mc:Choice>
    <mc:Fallback xmlns="">
      <p:transition spd="slow" advTm="696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5"/>
          <p:cNvSpPr txBox="1">
            <a:spLocks noGrp="1"/>
          </p:cNvSpPr>
          <p:nvPr>
            <p:ph type="title"/>
          </p:nvPr>
        </p:nvSpPr>
        <p:spPr>
          <a:xfrm>
            <a:off x="507524" y="305789"/>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15000"/>
              </a:lnSpc>
              <a:spcBef>
                <a:spcPts val="1800"/>
              </a:spcBef>
              <a:spcAft>
                <a:spcPts val="0"/>
              </a:spcAft>
              <a:buSzPts val="1800"/>
              <a:buNone/>
            </a:pPr>
            <a:endParaRPr/>
          </a:p>
          <a:p>
            <a:pPr marL="0" lvl="0" indent="0" algn="ctr" rtl="0">
              <a:lnSpc>
                <a:spcPct val="115000"/>
              </a:lnSpc>
              <a:spcBef>
                <a:spcPts val="1800"/>
              </a:spcBef>
              <a:spcAft>
                <a:spcPts val="0"/>
              </a:spcAft>
              <a:buSzPts val="1800"/>
              <a:buNone/>
            </a:pPr>
            <a:r>
              <a:rPr lang="en-US"/>
              <a:t>E. Software Testing</a:t>
            </a:r>
            <a:endParaRPr/>
          </a:p>
          <a:p>
            <a:pPr marL="0" lvl="0" indent="0" algn="l" rtl="0">
              <a:lnSpc>
                <a:spcPct val="115000"/>
              </a:lnSpc>
              <a:spcBef>
                <a:spcPts val="1800"/>
              </a:spcBef>
              <a:spcAft>
                <a:spcPts val="1800"/>
              </a:spcAft>
              <a:buSzPts val="1800"/>
              <a:buNone/>
            </a:pPr>
            <a:endParaRPr/>
          </a:p>
        </p:txBody>
      </p:sp>
      <p:sp>
        <p:nvSpPr>
          <p:cNvPr id="243" name="Google Shape;243;p35"/>
          <p:cNvSpPr txBox="1">
            <a:spLocks noGrp="1"/>
          </p:cNvSpPr>
          <p:nvPr>
            <p:ph type="body" idx="1"/>
          </p:nvPr>
        </p:nvSpPr>
        <p:spPr>
          <a:xfrm>
            <a:off x="507524" y="1781705"/>
            <a:ext cx="9135300" cy="5039400"/>
          </a:xfrm>
          <a:prstGeom prst="rect">
            <a:avLst/>
          </a:prstGeom>
          <a:noFill/>
          <a:ln>
            <a:noFill/>
          </a:ln>
        </p:spPr>
        <p:txBody>
          <a:bodyPr spcFirstLastPara="1" wrap="square" lIns="101625" tIns="50800" rIns="101625" bIns="50800" anchor="t" anchorCtr="0">
            <a:noAutofit/>
          </a:bodyPr>
          <a:lstStyle/>
          <a:p>
            <a:pPr marL="0" lvl="0" indent="0" algn="l" rtl="0">
              <a:lnSpc>
                <a:spcPct val="100000"/>
              </a:lnSpc>
              <a:spcBef>
                <a:spcPts val="360"/>
              </a:spcBef>
              <a:spcAft>
                <a:spcPts val="0"/>
              </a:spcAft>
              <a:buSzPts val="1800"/>
              <a:buNone/>
            </a:pPr>
            <a:r>
              <a:rPr lang="en-US"/>
              <a:t>Two Category of Software Testing</a:t>
            </a:r>
            <a:endParaRPr/>
          </a:p>
          <a:p>
            <a:pPr marL="0" lvl="0" indent="0" algn="l" rtl="0">
              <a:lnSpc>
                <a:spcPct val="100000"/>
              </a:lnSpc>
              <a:spcBef>
                <a:spcPts val="360"/>
              </a:spcBef>
              <a:spcAft>
                <a:spcPts val="0"/>
              </a:spcAft>
              <a:buSzPts val="1800"/>
              <a:buNone/>
            </a:pPr>
            <a:endParaRPr/>
          </a:p>
          <a:p>
            <a:pPr marL="0" lvl="0" indent="0" algn="l" rtl="0">
              <a:lnSpc>
                <a:spcPct val="100000"/>
              </a:lnSpc>
              <a:spcBef>
                <a:spcPts val="360"/>
              </a:spcBef>
              <a:spcAft>
                <a:spcPts val="0"/>
              </a:spcAft>
              <a:buSzPts val="1800"/>
              <a:buNone/>
            </a:pPr>
            <a:r>
              <a:rPr lang="en-US"/>
              <a:t>Black Box Testing</a:t>
            </a:r>
            <a:endParaRPr/>
          </a:p>
          <a:p>
            <a:pPr marL="0" lvl="0" indent="0" algn="l" rtl="0">
              <a:lnSpc>
                <a:spcPct val="100000"/>
              </a:lnSpc>
              <a:spcBef>
                <a:spcPts val="360"/>
              </a:spcBef>
              <a:spcAft>
                <a:spcPts val="0"/>
              </a:spcAft>
              <a:buSzPts val="1800"/>
              <a:buNone/>
            </a:pPr>
            <a:r>
              <a:rPr lang="en-US"/>
              <a:t>White Box Testing</a:t>
            </a:r>
            <a:endParaRPr/>
          </a:p>
          <a:p>
            <a:pPr marL="0" lvl="0" indent="0" algn="l" rtl="0">
              <a:lnSpc>
                <a:spcPct val="100000"/>
              </a:lnSpc>
              <a:spcBef>
                <a:spcPts val="360"/>
              </a:spcBef>
              <a:spcAft>
                <a:spcPts val="0"/>
              </a:spcAft>
              <a:buSzPts val="1800"/>
              <a:buNone/>
            </a:pPr>
            <a:endParaRPr i="1">
              <a:solidFill>
                <a:srgbClr val="980000"/>
              </a:solidFill>
            </a:endParaRPr>
          </a:p>
        </p:txBody>
      </p:sp>
      <p:pic>
        <p:nvPicPr>
          <p:cNvPr id="244" name="Google Shape;244;p35"/>
          <p:cNvPicPr preferRelativeResize="0"/>
          <p:nvPr/>
        </p:nvPicPr>
        <p:blipFill rotWithShape="1">
          <a:blip r:embed="rId5">
            <a:alphaModFix/>
          </a:blip>
          <a:srcRect/>
          <a:stretch/>
        </p:blipFill>
        <p:spPr>
          <a:xfrm>
            <a:off x="4295238" y="2782325"/>
            <a:ext cx="5524500" cy="3438525"/>
          </a:xfrm>
          <a:prstGeom prst="rect">
            <a:avLst/>
          </a:prstGeom>
          <a:noFill/>
          <a:ln>
            <a:noFill/>
          </a:ln>
        </p:spPr>
      </p:pic>
      <p:sp>
        <p:nvSpPr>
          <p:cNvPr id="245" name="Google Shape;245;p35"/>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46" name="Google Shape;246;p35"/>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20</a:t>
            </a:fld>
            <a:endParaRPr/>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84390"/>
    </mc:Choice>
    <mc:Fallback xmlns="">
      <p:transition spd="slow" advTm="84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6"/>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900"/>
              <a:buFont typeface="Calibri"/>
              <a:buNone/>
            </a:pPr>
            <a:r>
              <a:rPr lang="en-US"/>
              <a:t>8. Summary</a:t>
            </a:r>
            <a:endParaRPr/>
          </a:p>
        </p:txBody>
      </p:sp>
      <p:sp>
        <p:nvSpPr>
          <p:cNvPr id="252" name="Google Shape;252;p36"/>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571500" lvl="0" indent="-571500" algn="just" rtl="0">
              <a:lnSpc>
                <a:spcPct val="90000"/>
              </a:lnSpc>
              <a:spcBef>
                <a:spcPts val="0"/>
              </a:spcBef>
              <a:spcAft>
                <a:spcPts val="0"/>
              </a:spcAft>
              <a:buSzPts val="3600"/>
              <a:buChar char="•"/>
            </a:pPr>
            <a:r>
              <a:rPr lang="en-US" sz="3000" dirty="0"/>
              <a:t>Testing guarantees that you come back to the essential core of design thinking allowing to </a:t>
            </a:r>
            <a:r>
              <a:rPr lang="en-US" sz="3000" b="1" dirty="0"/>
              <a:t>Empathize </a:t>
            </a:r>
            <a:r>
              <a:rPr lang="en-US" sz="3000" dirty="0"/>
              <a:t>and gain a better knowledge of the user/customer/client; </a:t>
            </a:r>
            <a:endParaRPr sz="3000" dirty="0"/>
          </a:p>
          <a:p>
            <a:pPr marL="571500" lvl="0" indent="-571500" algn="just" rtl="0">
              <a:lnSpc>
                <a:spcPct val="90000"/>
              </a:lnSpc>
              <a:spcBef>
                <a:spcPts val="0"/>
              </a:spcBef>
              <a:spcAft>
                <a:spcPts val="0"/>
              </a:spcAft>
              <a:buSzPts val="3600"/>
              <a:buChar char="•"/>
            </a:pPr>
            <a:r>
              <a:rPr lang="en-US" sz="3000" dirty="0"/>
              <a:t>I</a:t>
            </a:r>
            <a:r>
              <a:rPr lang="en-US" sz="3000" dirty="0" smtClean="0"/>
              <a:t>t </a:t>
            </a:r>
            <a:r>
              <a:rPr lang="en-US" sz="3000" dirty="0"/>
              <a:t>may drive a team to new insights that improve the way we </a:t>
            </a:r>
            <a:r>
              <a:rPr lang="en-US" sz="3000" b="1" dirty="0"/>
              <a:t>Define </a:t>
            </a:r>
            <a:r>
              <a:rPr lang="en-US" sz="3000" dirty="0"/>
              <a:t>a design challenge; </a:t>
            </a:r>
            <a:endParaRPr sz="3000" dirty="0"/>
          </a:p>
          <a:p>
            <a:pPr marL="571500" lvl="0" indent="-571500" algn="just" rtl="0">
              <a:lnSpc>
                <a:spcPct val="90000"/>
              </a:lnSpc>
              <a:spcBef>
                <a:spcPts val="0"/>
              </a:spcBef>
              <a:spcAft>
                <a:spcPts val="0"/>
              </a:spcAft>
              <a:buSzPts val="3600"/>
              <a:buChar char="•"/>
            </a:pPr>
            <a:r>
              <a:rPr lang="en-US" sz="3000" dirty="0"/>
              <a:t>I</a:t>
            </a:r>
            <a:r>
              <a:rPr lang="en-US" sz="3000" dirty="0" smtClean="0"/>
              <a:t>t </a:t>
            </a:r>
            <a:r>
              <a:rPr lang="en-US" sz="3000" dirty="0"/>
              <a:t>may generate new ideas in the </a:t>
            </a:r>
            <a:r>
              <a:rPr lang="en-US" sz="3000" b="1" dirty="0"/>
              <a:t>Ideation </a:t>
            </a:r>
            <a:r>
              <a:rPr lang="en-US" sz="3000" dirty="0"/>
              <a:t>stage; </a:t>
            </a:r>
            <a:endParaRPr sz="3000" dirty="0"/>
          </a:p>
          <a:p>
            <a:pPr marL="571500" lvl="0" indent="-571500" algn="just" rtl="0">
              <a:lnSpc>
                <a:spcPct val="90000"/>
              </a:lnSpc>
              <a:spcBef>
                <a:spcPts val="0"/>
              </a:spcBef>
              <a:spcAft>
                <a:spcPts val="0"/>
              </a:spcAft>
              <a:buSzPts val="3600"/>
              <a:buChar char="•"/>
            </a:pPr>
            <a:r>
              <a:rPr lang="en-US" sz="3000" dirty="0"/>
              <a:t>and finally, it might lead to an improved iteration of your </a:t>
            </a:r>
            <a:r>
              <a:rPr lang="en-US" sz="3000" b="1" dirty="0"/>
              <a:t>Prototype</a:t>
            </a:r>
            <a:r>
              <a:rPr lang="en-US" sz="3000" dirty="0"/>
              <a:t>.</a:t>
            </a:r>
            <a:endParaRPr sz="3000" dirty="0"/>
          </a:p>
          <a:p>
            <a:pPr marL="571500" lvl="0" indent="-342900" algn="just" rtl="0">
              <a:lnSpc>
                <a:spcPct val="90000"/>
              </a:lnSpc>
              <a:spcBef>
                <a:spcPts val="0"/>
              </a:spcBef>
              <a:spcAft>
                <a:spcPts val="0"/>
              </a:spcAft>
              <a:buSzPts val="3600"/>
              <a:buNone/>
            </a:pPr>
            <a:endParaRPr sz="3000" b="1" dirty="0"/>
          </a:p>
          <a:p>
            <a:pPr marL="571500" lvl="0" indent="-342900" algn="just" rtl="0">
              <a:lnSpc>
                <a:spcPct val="90000"/>
              </a:lnSpc>
              <a:spcBef>
                <a:spcPts val="0"/>
              </a:spcBef>
              <a:spcAft>
                <a:spcPts val="0"/>
              </a:spcAft>
              <a:buSzPts val="3600"/>
              <a:buNone/>
            </a:pPr>
            <a:endParaRPr sz="3000" dirty="0"/>
          </a:p>
        </p:txBody>
      </p:sp>
      <p:sp>
        <p:nvSpPr>
          <p:cNvPr id="253" name="Google Shape;253;p36"/>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54" name="Google Shape;254;p36"/>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21</a:t>
            </a:fld>
            <a:endParaRPr/>
          </a:p>
        </p:txBody>
      </p:sp>
      <p:pic>
        <p:nvPicPr>
          <p:cNvPr id="2" name="Audio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030"/>
    </mc:Choice>
    <mc:Fallback xmlns="">
      <p:transition spd="slow" advTm="35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7"/>
          <p:cNvSpPr txBox="1">
            <a:spLocks noGrp="1"/>
          </p:cNvSpPr>
          <p:nvPr>
            <p:ph type="title"/>
          </p:nvPr>
        </p:nvSpPr>
        <p:spPr>
          <a:xfrm>
            <a:off x="507524" y="305789"/>
            <a:ext cx="9135300" cy="127260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800"/>
              <a:buNone/>
            </a:pPr>
            <a:r>
              <a:rPr lang="en-US"/>
              <a:t>9. The Takeaway</a:t>
            </a:r>
            <a:endParaRPr/>
          </a:p>
        </p:txBody>
      </p:sp>
      <p:sp>
        <p:nvSpPr>
          <p:cNvPr id="261" name="Google Shape;261;p37"/>
          <p:cNvSpPr txBox="1">
            <a:spLocks noGrp="1"/>
          </p:cNvSpPr>
          <p:nvPr>
            <p:ph type="body" idx="1"/>
          </p:nvPr>
        </p:nvSpPr>
        <p:spPr>
          <a:xfrm>
            <a:off x="507524" y="1781705"/>
            <a:ext cx="9135300" cy="5039400"/>
          </a:xfrm>
          <a:prstGeom prst="rect">
            <a:avLst/>
          </a:prstGeom>
          <a:noFill/>
          <a:ln>
            <a:noFill/>
          </a:ln>
        </p:spPr>
        <p:txBody>
          <a:bodyPr spcFirstLastPara="1" wrap="square" lIns="101625" tIns="50800" rIns="101625" bIns="50800" anchor="t" anchorCtr="0">
            <a:noAutofit/>
          </a:bodyPr>
          <a:lstStyle/>
          <a:p>
            <a:pPr marL="457200" lvl="0" indent="-342900" algn="l" rtl="0">
              <a:lnSpc>
                <a:spcPct val="100000"/>
              </a:lnSpc>
              <a:spcBef>
                <a:spcPts val="360"/>
              </a:spcBef>
              <a:spcAft>
                <a:spcPts val="0"/>
              </a:spcAft>
              <a:buSzPts val="1800"/>
              <a:buChar char="●"/>
            </a:pPr>
            <a:r>
              <a:rPr lang="en-US" dirty="0"/>
              <a:t>Let your users </a:t>
            </a:r>
            <a:r>
              <a:rPr lang="en-US" b="1" dirty="0"/>
              <a:t>compare alternatives</a:t>
            </a:r>
            <a:endParaRPr b="1" dirty="0"/>
          </a:p>
          <a:p>
            <a:pPr marL="457200" lvl="0" indent="-342900" algn="l" rtl="0">
              <a:lnSpc>
                <a:spcPct val="100000"/>
              </a:lnSpc>
              <a:spcBef>
                <a:spcPts val="360"/>
              </a:spcBef>
              <a:spcAft>
                <a:spcPts val="0"/>
              </a:spcAft>
              <a:buSzPts val="1800"/>
              <a:buChar char="●"/>
            </a:pPr>
            <a:r>
              <a:rPr lang="en-US" b="1" dirty="0"/>
              <a:t>Show, don’t tell</a:t>
            </a:r>
            <a:r>
              <a:rPr lang="en-US" dirty="0"/>
              <a:t>: let your users experience the prototype</a:t>
            </a:r>
            <a:endParaRPr dirty="0"/>
          </a:p>
          <a:p>
            <a:pPr marL="457200" lvl="0" indent="-342900" algn="l" rtl="0">
              <a:lnSpc>
                <a:spcPct val="100000"/>
              </a:lnSpc>
              <a:spcBef>
                <a:spcPts val="360"/>
              </a:spcBef>
              <a:spcAft>
                <a:spcPts val="0"/>
              </a:spcAft>
              <a:buSzPts val="1800"/>
              <a:buChar char="●"/>
            </a:pPr>
            <a:r>
              <a:rPr lang="en-US" b="1" dirty="0"/>
              <a:t>Ask users </a:t>
            </a:r>
            <a:r>
              <a:rPr lang="en-US" dirty="0"/>
              <a:t>to talk through their experience</a:t>
            </a:r>
            <a:endParaRPr dirty="0"/>
          </a:p>
          <a:p>
            <a:pPr marL="457200" lvl="0" indent="-342900" algn="l" rtl="0">
              <a:lnSpc>
                <a:spcPct val="100000"/>
              </a:lnSpc>
              <a:spcBef>
                <a:spcPts val="360"/>
              </a:spcBef>
              <a:spcAft>
                <a:spcPts val="0"/>
              </a:spcAft>
              <a:buSzPts val="1800"/>
              <a:buChar char="●"/>
            </a:pPr>
            <a:r>
              <a:rPr lang="en-US" b="1" dirty="0"/>
              <a:t>Observe</a:t>
            </a:r>
            <a:endParaRPr dirty="0"/>
          </a:p>
          <a:p>
            <a:pPr marL="457200" lvl="0" indent="-342900" algn="l" rtl="0">
              <a:lnSpc>
                <a:spcPct val="100000"/>
              </a:lnSpc>
              <a:spcBef>
                <a:spcPts val="360"/>
              </a:spcBef>
              <a:spcAft>
                <a:spcPts val="0"/>
              </a:spcAft>
              <a:buSzPts val="1800"/>
              <a:buChar char="●"/>
            </a:pPr>
            <a:r>
              <a:rPr lang="en-US" dirty="0"/>
              <a:t>Ask </a:t>
            </a:r>
            <a:r>
              <a:rPr lang="en-US" b="1" dirty="0"/>
              <a:t>follow up questions</a:t>
            </a:r>
            <a:endParaRPr b="1" dirty="0"/>
          </a:p>
        </p:txBody>
      </p:sp>
      <p:sp>
        <p:nvSpPr>
          <p:cNvPr id="262" name="Google Shape;262;p37"/>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63" name="Google Shape;263;p37"/>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22</a:t>
            </a:fld>
            <a:endParaRPr/>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719"/>
    </mc:Choice>
    <mc:Fallback>
      <p:transition spd="slow" advTm="597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8"/>
          <p:cNvSpPr txBox="1">
            <a:spLocks noGrp="1"/>
          </p:cNvSpPr>
          <p:nvPr>
            <p:ph type="body" idx="1"/>
          </p:nvPr>
        </p:nvSpPr>
        <p:spPr>
          <a:xfrm>
            <a:off x="508021" y="1671638"/>
            <a:ext cx="9135428" cy="5243512"/>
          </a:xfrm>
          <a:prstGeom prst="rect">
            <a:avLst/>
          </a:prstGeom>
          <a:noFill/>
          <a:ln>
            <a:noFill/>
          </a:ln>
        </p:spPr>
        <p:txBody>
          <a:bodyPr spcFirstLastPara="1" wrap="square" lIns="71425" tIns="35700" rIns="71425" bIns="35700" anchor="t" anchorCtr="0">
            <a:noAutofit/>
          </a:bodyPr>
          <a:lstStyle/>
          <a:p>
            <a:pPr marL="457200" lvl="0" indent="0" algn="l" rtl="0">
              <a:lnSpc>
                <a:spcPct val="100000"/>
              </a:lnSpc>
              <a:spcBef>
                <a:spcPts val="0"/>
              </a:spcBef>
              <a:spcAft>
                <a:spcPts val="0"/>
              </a:spcAft>
              <a:buSzPts val="1800"/>
              <a:buNone/>
            </a:pPr>
            <a:endParaRPr sz="3000"/>
          </a:p>
          <a:p>
            <a:pPr marL="381133" lvl="0" indent="-381133" algn="l" rtl="0">
              <a:lnSpc>
                <a:spcPct val="100000"/>
              </a:lnSpc>
              <a:spcBef>
                <a:spcPts val="0"/>
              </a:spcBef>
              <a:spcAft>
                <a:spcPts val="0"/>
              </a:spcAft>
              <a:buSzPts val="3000"/>
              <a:buChar char="•"/>
            </a:pPr>
            <a:r>
              <a:rPr lang="en-US" sz="3000"/>
              <a:t>Cognitive Walkthrough</a:t>
            </a:r>
            <a:endParaRPr sz="3000"/>
          </a:p>
          <a:p>
            <a:pPr marL="381133" lvl="0" indent="-381133" algn="l" rtl="0">
              <a:lnSpc>
                <a:spcPct val="100000"/>
              </a:lnSpc>
              <a:spcBef>
                <a:spcPts val="0"/>
              </a:spcBef>
              <a:spcAft>
                <a:spcPts val="0"/>
              </a:spcAft>
              <a:buSzPts val="3000"/>
              <a:buChar char="•"/>
            </a:pPr>
            <a:r>
              <a:rPr lang="en-US" sz="3000"/>
              <a:t>Evaluation through Expert Analysis Usability experts inspect the interface</a:t>
            </a:r>
            <a:endParaRPr sz="3000"/>
          </a:p>
          <a:p>
            <a:pPr marL="381133" lvl="0" indent="-381133" algn="l" rtl="0">
              <a:lnSpc>
                <a:spcPct val="100000"/>
              </a:lnSpc>
              <a:spcBef>
                <a:spcPts val="0"/>
              </a:spcBef>
              <a:spcAft>
                <a:spcPts val="0"/>
              </a:spcAft>
              <a:buSzPts val="3000"/>
              <a:buChar char="•"/>
            </a:pPr>
            <a:r>
              <a:rPr lang="en-US" sz="3000"/>
              <a:t>Heuristic Evaluation</a:t>
            </a:r>
            <a:endParaRPr sz="3000"/>
          </a:p>
          <a:p>
            <a:pPr marL="381133" lvl="0" indent="-381133" algn="l" rtl="0">
              <a:lnSpc>
                <a:spcPct val="100000"/>
              </a:lnSpc>
              <a:spcBef>
                <a:spcPts val="0"/>
              </a:spcBef>
              <a:spcAft>
                <a:spcPts val="0"/>
              </a:spcAft>
              <a:buSzPts val="3000"/>
              <a:buChar char="•"/>
            </a:pPr>
            <a:r>
              <a:rPr lang="en-US" sz="3000"/>
              <a:t>Gender Mag Methods</a:t>
            </a:r>
            <a:endParaRPr sz="3000"/>
          </a:p>
          <a:p>
            <a:pPr marL="381133" lvl="0" indent="-381133" algn="l" rtl="0">
              <a:lnSpc>
                <a:spcPct val="100000"/>
              </a:lnSpc>
              <a:spcBef>
                <a:spcPts val="0"/>
              </a:spcBef>
              <a:spcAft>
                <a:spcPts val="0"/>
              </a:spcAft>
              <a:buSzPts val="3000"/>
              <a:buChar char="•"/>
            </a:pPr>
            <a:r>
              <a:rPr lang="en-US" sz="3000"/>
              <a:t>Software Testing</a:t>
            </a:r>
            <a:endParaRPr sz="3000"/>
          </a:p>
          <a:p>
            <a:pPr marL="0" lvl="0" indent="0" algn="l" rtl="0">
              <a:lnSpc>
                <a:spcPct val="100000"/>
              </a:lnSpc>
              <a:spcBef>
                <a:spcPts val="0"/>
              </a:spcBef>
              <a:spcAft>
                <a:spcPts val="0"/>
              </a:spcAft>
              <a:buSzPts val="1800"/>
              <a:buNone/>
            </a:pPr>
            <a:endParaRPr sz="3000"/>
          </a:p>
          <a:p>
            <a:pPr marL="0" lvl="0" indent="0" algn="l" rtl="0">
              <a:lnSpc>
                <a:spcPct val="100000"/>
              </a:lnSpc>
              <a:spcBef>
                <a:spcPts val="0"/>
              </a:spcBef>
              <a:spcAft>
                <a:spcPts val="0"/>
              </a:spcAft>
              <a:buSzPts val="1800"/>
              <a:buNone/>
            </a:pPr>
            <a:r>
              <a:rPr lang="en-US" sz="3000" b="1"/>
              <a:t>Which once are you going to use for your group project? And how, give examples?</a:t>
            </a:r>
            <a:endParaRPr sz="3000" b="1"/>
          </a:p>
          <a:p>
            <a:pPr marL="381133" lvl="0" indent="-254133" algn="l" rtl="0">
              <a:lnSpc>
                <a:spcPct val="100000"/>
              </a:lnSpc>
              <a:spcBef>
                <a:spcPts val="400"/>
              </a:spcBef>
              <a:spcAft>
                <a:spcPts val="0"/>
              </a:spcAft>
              <a:buClr>
                <a:schemeClr val="dk1"/>
              </a:buClr>
              <a:buSzPts val="2000"/>
              <a:buNone/>
            </a:pPr>
            <a:endParaRPr sz="2000"/>
          </a:p>
          <a:p>
            <a:pPr marL="0" lvl="0" indent="0" algn="l" rtl="0">
              <a:lnSpc>
                <a:spcPct val="100000"/>
              </a:lnSpc>
              <a:spcBef>
                <a:spcPts val="400"/>
              </a:spcBef>
              <a:spcAft>
                <a:spcPts val="0"/>
              </a:spcAft>
              <a:buClr>
                <a:schemeClr val="dk1"/>
              </a:buClr>
              <a:buSzPts val="2000"/>
              <a:buNone/>
            </a:pPr>
            <a:endParaRPr sz="2000"/>
          </a:p>
          <a:p>
            <a:pPr marL="381133" lvl="0" indent="-254133" algn="l" rtl="0">
              <a:lnSpc>
                <a:spcPct val="100000"/>
              </a:lnSpc>
              <a:spcBef>
                <a:spcPts val="400"/>
              </a:spcBef>
              <a:spcAft>
                <a:spcPts val="0"/>
              </a:spcAft>
              <a:buClr>
                <a:schemeClr val="dk1"/>
              </a:buClr>
              <a:buSzPts val="2000"/>
              <a:buNone/>
            </a:pPr>
            <a:endParaRPr sz="2000"/>
          </a:p>
          <a:p>
            <a:pPr marL="381133" lvl="0" indent="-254133" algn="l" rtl="0">
              <a:lnSpc>
                <a:spcPct val="100000"/>
              </a:lnSpc>
              <a:spcBef>
                <a:spcPts val="400"/>
              </a:spcBef>
              <a:spcAft>
                <a:spcPts val="0"/>
              </a:spcAft>
              <a:buClr>
                <a:schemeClr val="dk1"/>
              </a:buClr>
              <a:buSzPts val="2000"/>
              <a:buNone/>
            </a:pPr>
            <a:endParaRPr sz="2000"/>
          </a:p>
          <a:p>
            <a:pPr marL="381133" lvl="0" indent="-254133" algn="l" rtl="0">
              <a:lnSpc>
                <a:spcPct val="100000"/>
              </a:lnSpc>
              <a:spcBef>
                <a:spcPts val="400"/>
              </a:spcBef>
              <a:spcAft>
                <a:spcPts val="0"/>
              </a:spcAft>
              <a:buClr>
                <a:schemeClr val="dk1"/>
              </a:buClr>
              <a:buSzPts val="2000"/>
              <a:buNone/>
            </a:pPr>
            <a:endParaRPr sz="2000"/>
          </a:p>
        </p:txBody>
      </p:sp>
      <p:sp>
        <p:nvSpPr>
          <p:cNvPr id="269" name="Google Shape;269;p38"/>
          <p:cNvSpPr txBox="1">
            <a:spLocks noGrp="1"/>
          </p:cNvSpPr>
          <p:nvPr>
            <p:ph type="title"/>
          </p:nvPr>
        </p:nvSpPr>
        <p:spPr>
          <a:xfrm>
            <a:off x="508021" y="226696"/>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3150"/>
              <a:buFont typeface="Calibri"/>
              <a:buNone/>
            </a:pPr>
            <a:r>
              <a:rPr lang="en-US" sz="3234"/>
              <a:t>10. Task One: Please discuss the following user evaluation/testing methods and where they will be suitable ?</a:t>
            </a:r>
            <a:endParaRPr sz="3234"/>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324975" y="6810375"/>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24"/>
    </mc:Choice>
    <mc:Fallback>
      <p:transition spd="slow" advTm="15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9"/>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900"/>
              <a:buFont typeface="Calibri"/>
              <a:buNone/>
            </a:pPr>
            <a:r>
              <a:rPr lang="en-US"/>
              <a:t>11. Further readings</a:t>
            </a:r>
            <a:endParaRPr/>
          </a:p>
        </p:txBody>
      </p:sp>
      <p:sp>
        <p:nvSpPr>
          <p:cNvPr id="275" name="Google Shape;275;p39"/>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381133" lvl="0" indent="-169678" algn="l" rtl="0">
              <a:lnSpc>
                <a:spcPct val="90000"/>
              </a:lnSpc>
              <a:spcBef>
                <a:spcPts val="0"/>
              </a:spcBef>
              <a:spcAft>
                <a:spcPts val="0"/>
              </a:spcAft>
              <a:buClr>
                <a:schemeClr val="dk1"/>
              </a:buClr>
              <a:buSzPts val="3330"/>
              <a:buNone/>
            </a:pPr>
            <a:endParaRPr sz="3080"/>
          </a:p>
          <a:p>
            <a:pPr marL="381133" lvl="0" indent="-381133" algn="l" rtl="0">
              <a:lnSpc>
                <a:spcPct val="90000"/>
              </a:lnSpc>
              <a:spcBef>
                <a:spcPts val="666"/>
              </a:spcBef>
              <a:spcAft>
                <a:spcPts val="0"/>
              </a:spcAft>
              <a:buClr>
                <a:schemeClr val="dk1"/>
              </a:buClr>
              <a:buSzPts val="3330"/>
              <a:buChar char="•"/>
            </a:pPr>
            <a:r>
              <a:rPr lang="en-US" sz="3080"/>
              <a:t>Remote User Testing at Vox: </a:t>
            </a:r>
            <a:r>
              <a:rPr lang="en-US" sz="3080" u="sng">
                <a:solidFill>
                  <a:schemeClr val="hlink"/>
                </a:solidFill>
                <a:hlinkClick r:id="rId3"/>
              </a:rPr>
              <a:t>http://product.voxmedia.com/2016/5/26/11787530/remote-user-testing-at-vox%20</a:t>
            </a:r>
            <a:endParaRPr sz="3080"/>
          </a:p>
          <a:p>
            <a:pPr marL="381133" lvl="0" indent="-381133" algn="l" rtl="0">
              <a:lnSpc>
                <a:spcPct val="90000"/>
              </a:lnSpc>
              <a:spcBef>
                <a:spcPts val="666"/>
              </a:spcBef>
              <a:spcAft>
                <a:spcPts val="0"/>
              </a:spcAft>
              <a:buSzPts val="3330"/>
              <a:buChar char="•"/>
            </a:pPr>
            <a:r>
              <a:rPr lang="en-US" sz="3080" u="sng">
                <a:solidFill>
                  <a:schemeClr val="hlink"/>
                </a:solidFill>
                <a:hlinkClick r:id="rId4"/>
              </a:rPr>
              <a:t>https://gendermag.org/</a:t>
            </a:r>
            <a:endParaRPr sz="3080"/>
          </a:p>
          <a:p>
            <a:pPr marL="381133" lvl="0" indent="-381133" algn="l" rtl="0">
              <a:lnSpc>
                <a:spcPct val="90000"/>
              </a:lnSpc>
              <a:spcBef>
                <a:spcPts val="666"/>
              </a:spcBef>
              <a:spcAft>
                <a:spcPts val="0"/>
              </a:spcAft>
              <a:buSzPts val="3330"/>
              <a:buChar char="•"/>
            </a:pPr>
            <a:r>
              <a:rPr lang="en-US" sz="3080" u="sng">
                <a:solidFill>
                  <a:schemeClr val="hlink"/>
                </a:solidFill>
                <a:hlinkClick r:id="rId5"/>
              </a:rPr>
              <a:t>https://alannaholeson.com/papers/chi17-GenderMagPersonas-vs-stereotypes.pdf</a:t>
            </a:r>
            <a:r>
              <a:rPr lang="en-US" sz="3080"/>
              <a:t> </a:t>
            </a:r>
            <a:endParaRPr sz="3080"/>
          </a:p>
          <a:p>
            <a:pPr marL="381133" lvl="0" indent="-381133" algn="l" rtl="0">
              <a:lnSpc>
                <a:spcPct val="90000"/>
              </a:lnSpc>
              <a:spcBef>
                <a:spcPts val="666"/>
              </a:spcBef>
              <a:spcAft>
                <a:spcPts val="0"/>
              </a:spcAft>
              <a:buClr>
                <a:schemeClr val="dk1"/>
              </a:buClr>
              <a:buSzPts val="3330"/>
              <a:buChar char="•"/>
            </a:pPr>
            <a:r>
              <a:rPr lang="en-US" sz="3080"/>
              <a:t>How to run live user testing Part 3: the debrief</a:t>
            </a:r>
            <a:endParaRPr sz="3330"/>
          </a:p>
          <a:p>
            <a:pPr marL="457200" lvl="1" indent="0" algn="l" rtl="0">
              <a:lnSpc>
                <a:spcPct val="90000"/>
              </a:lnSpc>
              <a:spcBef>
                <a:spcPts val="666"/>
              </a:spcBef>
              <a:spcAft>
                <a:spcPts val="0"/>
              </a:spcAft>
              <a:buSzPts val="3330"/>
              <a:buNone/>
            </a:pPr>
            <a:r>
              <a:rPr lang="en-US" sz="2617" u="sng">
                <a:solidFill>
                  <a:schemeClr val="hlink"/>
                </a:solidFill>
                <a:hlinkClick r:id="rId6"/>
              </a:rPr>
              <a:t>https://library.launchkit.io/how-to-run-live-user-testing-part-3-the-debrief-d057dbe3a979#.sm6e6vfb3</a:t>
            </a:r>
            <a:endParaRPr sz="2617"/>
          </a:p>
          <a:p>
            <a:pPr marL="0" lvl="0" indent="0" algn="l" rtl="0">
              <a:lnSpc>
                <a:spcPct val="90000"/>
              </a:lnSpc>
              <a:spcBef>
                <a:spcPts val="666"/>
              </a:spcBef>
              <a:spcAft>
                <a:spcPts val="0"/>
              </a:spcAft>
              <a:buClr>
                <a:schemeClr val="dk1"/>
              </a:buClr>
              <a:buSzPts val="3330"/>
              <a:buNone/>
            </a:pPr>
            <a:endParaRPr sz="3080"/>
          </a:p>
          <a:p>
            <a:pPr marL="0" lvl="0" indent="0" algn="l" rtl="0">
              <a:lnSpc>
                <a:spcPct val="90000"/>
              </a:lnSpc>
              <a:spcBef>
                <a:spcPts val="666"/>
              </a:spcBef>
              <a:spcAft>
                <a:spcPts val="0"/>
              </a:spcAft>
              <a:buClr>
                <a:schemeClr val="dk1"/>
              </a:buClr>
              <a:buSzPts val="3330"/>
              <a:buNone/>
            </a:pPr>
            <a:endParaRPr sz="3080"/>
          </a:p>
          <a:p>
            <a:pPr marL="381133" lvl="0" indent="-169678" algn="l" rtl="0">
              <a:lnSpc>
                <a:spcPct val="90000"/>
              </a:lnSpc>
              <a:spcBef>
                <a:spcPts val="666"/>
              </a:spcBef>
              <a:spcAft>
                <a:spcPts val="0"/>
              </a:spcAft>
              <a:buClr>
                <a:schemeClr val="dk1"/>
              </a:buClr>
              <a:buSzPts val="3330"/>
              <a:buNone/>
            </a:pPr>
            <a:endParaRPr sz="3080"/>
          </a:p>
        </p:txBody>
      </p:sp>
      <p:sp>
        <p:nvSpPr>
          <p:cNvPr id="276" name="Google Shape;276;p39"/>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77" name="Google Shape;277;p39"/>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24</a:t>
            </a:fld>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0"/>
          <p:cNvSpPr txBox="1">
            <a:spLocks noGrp="1"/>
          </p:cNvSpPr>
          <p:nvPr>
            <p:ph type="title"/>
          </p:nvPr>
        </p:nvSpPr>
        <p:spPr>
          <a:xfrm>
            <a:off x="507524" y="305789"/>
            <a:ext cx="9135428" cy="1272646"/>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Clr>
                <a:schemeClr val="dk1"/>
              </a:buClr>
              <a:buSzPts val="4900"/>
              <a:buFont typeface="Calibri"/>
              <a:buNone/>
            </a:pPr>
            <a:r>
              <a:rPr lang="en-US"/>
              <a:t>12. References</a:t>
            </a:r>
            <a:endParaRPr/>
          </a:p>
        </p:txBody>
      </p:sp>
      <p:sp>
        <p:nvSpPr>
          <p:cNvPr id="283" name="Google Shape;283;p40"/>
          <p:cNvSpPr txBox="1">
            <a:spLocks noGrp="1"/>
          </p:cNvSpPr>
          <p:nvPr>
            <p:ph type="body" idx="1"/>
          </p:nvPr>
        </p:nvSpPr>
        <p:spPr>
          <a:xfrm>
            <a:off x="507524" y="1781705"/>
            <a:ext cx="9135428" cy="5039325"/>
          </a:xfrm>
          <a:prstGeom prst="rect">
            <a:avLst/>
          </a:prstGeom>
          <a:noFill/>
          <a:ln>
            <a:noFill/>
          </a:ln>
        </p:spPr>
        <p:txBody>
          <a:bodyPr spcFirstLastPara="1" wrap="square" lIns="101625" tIns="50800" rIns="101625" bIns="50800" anchor="t" anchorCtr="0">
            <a:noAutofit/>
          </a:bodyPr>
          <a:lstStyle/>
          <a:p>
            <a:pPr marL="381133" lvl="0" indent="-381133" algn="l" rtl="0">
              <a:lnSpc>
                <a:spcPct val="100000"/>
              </a:lnSpc>
              <a:spcBef>
                <a:spcPts val="0"/>
              </a:spcBef>
              <a:spcAft>
                <a:spcPts val="0"/>
              </a:spcAft>
              <a:buClr>
                <a:schemeClr val="dk1"/>
              </a:buClr>
              <a:buSzPts val="3600"/>
              <a:buNone/>
            </a:pPr>
            <a:r>
              <a:rPr lang="en-US" sz="3400"/>
              <a:t>Lewrick, M., Link, P., &amp; Leifer, L. (2018). </a:t>
            </a:r>
            <a:r>
              <a:rPr lang="en-US" sz="3400" i="1"/>
              <a:t>The design thinking playbook: Mindful digital transformation of teams, products, services, businesses and ecosystems</a:t>
            </a:r>
            <a:r>
              <a:rPr lang="en-US" sz="3400"/>
              <a:t>. John Wiley &amp; Sons.</a:t>
            </a:r>
            <a:endParaRPr sz="3400"/>
          </a:p>
          <a:p>
            <a:pPr marL="381133" lvl="0" indent="-381133" algn="l" rtl="0">
              <a:lnSpc>
                <a:spcPct val="100000"/>
              </a:lnSpc>
              <a:spcBef>
                <a:spcPts val="720"/>
              </a:spcBef>
              <a:spcAft>
                <a:spcPts val="0"/>
              </a:spcAft>
              <a:buClr>
                <a:schemeClr val="dk1"/>
              </a:buClr>
              <a:buSzPts val="3600"/>
              <a:buNone/>
            </a:pPr>
            <a:r>
              <a:rPr lang="en-US" sz="3400"/>
              <a:t>Mueller-Roterberg, C. (2018). Handbook of Design Thinking.</a:t>
            </a:r>
            <a:endParaRPr sz="3400"/>
          </a:p>
          <a:p>
            <a:pPr marL="381133" lvl="0" indent="-381133" algn="l" rtl="0">
              <a:lnSpc>
                <a:spcPct val="100000"/>
              </a:lnSpc>
              <a:spcBef>
                <a:spcPts val="720"/>
              </a:spcBef>
              <a:spcAft>
                <a:spcPts val="0"/>
              </a:spcAft>
              <a:buClr>
                <a:schemeClr val="dk1"/>
              </a:buClr>
              <a:buSzPts val="3600"/>
              <a:buNone/>
            </a:pPr>
            <a:r>
              <a:rPr lang="en-US" sz="3400"/>
              <a:t>Vianna, M., Vianna, Y., Adler, I., Lucena, B., &amp; Russo, B. (2012). Design thinking: Business innovation. MJV Tecnologia ltda, Rio de Janeiro.</a:t>
            </a:r>
            <a:endParaRPr sz="3400"/>
          </a:p>
          <a:p>
            <a:pPr marL="381133" lvl="0" indent="-381133" algn="l" rtl="0">
              <a:lnSpc>
                <a:spcPct val="100000"/>
              </a:lnSpc>
              <a:spcBef>
                <a:spcPts val="720"/>
              </a:spcBef>
              <a:spcAft>
                <a:spcPts val="0"/>
              </a:spcAft>
              <a:buClr>
                <a:schemeClr val="dk1"/>
              </a:buClr>
              <a:buSzPts val="3600"/>
              <a:buNone/>
            </a:pPr>
            <a:endParaRPr sz="3400"/>
          </a:p>
          <a:p>
            <a:pPr marL="381133" lvl="0" indent="-381133" algn="l" rtl="0">
              <a:lnSpc>
                <a:spcPct val="100000"/>
              </a:lnSpc>
              <a:spcBef>
                <a:spcPts val="720"/>
              </a:spcBef>
              <a:spcAft>
                <a:spcPts val="0"/>
              </a:spcAft>
              <a:buClr>
                <a:schemeClr val="dk1"/>
              </a:buClr>
              <a:buSzPts val="3600"/>
              <a:buNone/>
            </a:pPr>
            <a:endParaRPr sz="3400"/>
          </a:p>
          <a:p>
            <a:pPr marL="381133" lvl="0" indent="-152533" algn="l" rtl="0">
              <a:lnSpc>
                <a:spcPct val="100000"/>
              </a:lnSpc>
              <a:spcBef>
                <a:spcPts val="720"/>
              </a:spcBef>
              <a:spcAft>
                <a:spcPts val="0"/>
              </a:spcAft>
              <a:buClr>
                <a:schemeClr val="dk1"/>
              </a:buClr>
              <a:buSzPts val="3600"/>
              <a:buNone/>
            </a:pPr>
            <a:endParaRPr sz="3400"/>
          </a:p>
        </p:txBody>
      </p:sp>
      <p:sp>
        <p:nvSpPr>
          <p:cNvPr id="284" name="Google Shape;284;p40"/>
          <p:cNvSpPr txBox="1">
            <a:spLocks noGrp="1"/>
          </p:cNvSpPr>
          <p:nvPr>
            <p:ph type="ftr" idx="11"/>
          </p:nvPr>
        </p:nvSpPr>
        <p:spPr>
          <a:xfrm>
            <a:off x="3468080" y="7077325"/>
            <a:ext cx="3214317" cy="406540"/>
          </a:xfrm>
          <a:prstGeom prst="rect">
            <a:avLst/>
          </a:prstGeom>
          <a:noFill/>
          <a:ln>
            <a:noFill/>
          </a:ln>
        </p:spPr>
        <p:txBody>
          <a:bodyPr spcFirstLastPara="1" wrap="square" lIns="101625" tIns="50800" rIns="101625" bIns="50800" anchor="ctr" anchorCtr="0">
            <a:noAutofit/>
          </a:bodyPr>
          <a:lstStyle/>
          <a:p>
            <a:pPr marL="0" lvl="0" indent="0" algn="ctr" rtl="0">
              <a:lnSpc>
                <a:spcPct val="100000"/>
              </a:lnSpc>
              <a:spcBef>
                <a:spcPts val="0"/>
              </a:spcBef>
              <a:spcAft>
                <a:spcPts val="0"/>
              </a:spcAft>
              <a:buSzPts val="1400"/>
              <a:buNone/>
            </a:pPr>
            <a:r>
              <a:rPr lang="en-US"/>
              <a:t>Phase 5: Test (or, OBSERVE again!)</a:t>
            </a:r>
            <a:endParaRPr/>
          </a:p>
        </p:txBody>
      </p:sp>
      <p:sp>
        <p:nvSpPr>
          <p:cNvPr id="285" name="Google Shape;285;p40"/>
          <p:cNvSpPr txBox="1">
            <a:spLocks noGrp="1"/>
          </p:cNvSpPr>
          <p:nvPr>
            <p:ph type="sldNum" idx="12"/>
          </p:nvPr>
        </p:nvSpPr>
        <p:spPr>
          <a:xfrm>
            <a:off x="7274507" y="7077325"/>
            <a:ext cx="2368444" cy="406540"/>
          </a:xfrm>
          <a:prstGeom prst="rect">
            <a:avLst/>
          </a:prstGeom>
          <a:noFill/>
          <a:ln>
            <a:noFill/>
          </a:ln>
        </p:spPr>
        <p:txBody>
          <a:bodyPr spcFirstLastPara="1" wrap="square" lIns="101625" tIns="50800" rIns="101625" bIns="5080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25</a:t>
            </a:fld>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1"/>
          <p:cNvSpPr txBox="1"/>
          <p:nvPr/>
        </p:nvSpPr>
        <p:spPr>
          <a:xfrm>
            <a:off x="1354550" y="1630150"/>
            <a:ext cx="7300800" cy="550916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a:solidFill>
                  <a:schemeClr val="lt1"/>
                </a:solidFill>
                <a:latin typeface="Calibri"/>
                <a:ea typeface="Calibri"/>
                <a:cs typeface="Calibri"/>
                <a:sym typeface="Calibri"/>
              </a:rPr>
              <a:t>"</a:t>
            </a:r>
            <a:r>
              <a:rPr lang="en-US" sz="4400" b="0" i="1" u="none" strike="noStrike" cap="none" dirty="0">
                <a:solidFill>
                  <a:schemeClr val="lt1"/>
                </a:solidFill>
                <a:latin typeface="Calibri"/>
                <a:ea typeface="Calibri"/>
                <a:cs typeface="Calibri"/>
                <a:sym typeface="Calibri"/>
              </a:rPr>
              <a:t>If you are not prepared to be wrong, you will never come up with anything original</a:t>
            </a:r>
            <a:r>
              <a:rPr lang="en-US" sz="4400" b="0" i="0" u="none" strike="noStrike" cap="none" dirty="0">
                <a:solidFill>
                  <a:schemeClr val="lt1"/>
                </a:solidFill>
                <a:latin typeface="Calibri"/>
                <a:ea typeface="Calibri"/>
                <a:cs typeface="Calibri"/>
                <a:sym typeface="Calibri"/>
              </a:rPr>
              <a:t>.” </a:t>
            </a:r>
            <a:endParaRPr dirty="0"/>
          </a:p>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a:solidFill>
                  <a:schemeClr val="lt1"/>
                </a:solidFill>
                <a:latin typeface="Calibri"/>
                <a:ea typeface="Calibri"/>
                <a:cs typeface="Calibri"/>
                <a:sym typeface="Calibri"/>
              </a:rPr>
              <a:t>- Sir Ken Robinson</a:t>
            </a:r>
            <a:endParaRPr sz="440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a:solidFill>
                  <a:schemeClr val="lt1"/>
                </a:solidFill>
                <a:latin typeface="Calibri"/>
                <a:ea typeface="Calibri"/>
                <a:cs typeface="Calibri"/>
                <a:sym typeface="Calibri"/>
              </a:rPr>
              <a:t>Thank You!</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a:solidFill>
                  <a:schemeClr val="lt1"/>
                </a:solidFill>
                <a:latin typeface="Calibri"/>
                <a:ea typeface="Calibri"/>
                <a:cs typeface="Calibri"/>
                <a:sym typeface="Calibri"/>
              </a:rPr>
              <a:t>Questions? </a:t>
            </a:r>
            <a:endParaRPr sz="4400" b="0" i="0" u="none" strike="noStrike" cap="none"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425</TotalTime>
  <Words>2710</Words>
  <Application>Microsoft Office PowerPoint</Application>
  <PresentationFormat>Custom</PresentationFormat>
  <Paragraphs>252</Paragraphs>
  <Slides>26</Slides>
  <Notes>26</Notes>
  <HiddenSlides>0</HiddenSlides>
  <MMClips>23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Calibri</vt:lpstr>
      <vt:lpstr>Georgia</vt:lpstr>
      <vt:lpstr>Arial</vt:lpstr>
      <vt:lpstr>Roboto</vt:lpstr>
      <vt:lpstr>Office Theme</vt:lpstr>
      <vt:lpstr>PowerPoint Presentation</vt:lpstr>
      <vt:lpstr>Testing Stage Outline</vt:lpstr>
      <vt:lpstr>Recap on empathise, define, ideate and prototype stage</vt:lpstr>
      <vt:lpstr>2. What is Testing?</vt:lpstr>
      <vt:lpstr>3. WHAT is the Test mode</vt:lpstr>
      <vt:lpstr>… WHAT is the Test mode</vt:lpstr>
      <vt:lpstr>PowerPoint Presentation</vt:lpstr>
      <vt:lpstr>The End Goal: Desirable, Feasible, and Viable Solutions</vt:lpstr>
      <vt:lpstr>PowerPoint Presentation</vt:lpstr>
      <vt:lpstr>6. How do we visualize prototypes for tests in digital tools?</vt:lpstr>
      <vt:lpstr>… How do we visualize prototypes for tests in digital tools?</vt:lpstr>
      <vt:lpstr>Testing procedures</vt:lpstr>
      <vt:lpstr>PowerPoint Presentation</vt:lpstr>
      <vt:lpstr>7. Testing Methods</vt:lpstr>
      <vt:lpstr>A. Cognitive Walkthrough</vt:lpstr>
      <vt:lpstr>B. Evaluation through Expert Analysis - Usability experts inspect the interface</vt:lpstr>
      <vt:lpstr>C. Heuristic Analysis Steps </vt:lpstr>
      <vt:lpstr>Ten Principles of Usability Testing Heuristic Evaluation</vt:lpstr>
      <vt:lpstr>D. The GenderMag Method</vt:lpstr>
      <vt:lpstr> E. Software Testing </vt:lpstr>
      <vt:lpstr>8. Summary</vt:lpstr>
      <vt:lpstr>9. The Takeaway</vt:lpstr>
      <vt:lpstr>10. Task One: Please discuss the following user evaluation/testing methods and where they will be suitable ?</vt:lpstr>
      <vt:lpstr>11. Further readings</vt:lpstr>
      <vt:lpstr>12.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Kays, Rosetha (CSI)</dc:creator>
  <cp:lastModifiedBy>Kays, Rosetha (CSI)</cp:lastModifiedBy>
  <cp:revision>25</cp:revision>
  <dcterms:modified xsi:type="dcterms:W3CDTF">2020-05-12T11:40:53Z</dcterms:modified>
</cp:coreProperties>
</file>