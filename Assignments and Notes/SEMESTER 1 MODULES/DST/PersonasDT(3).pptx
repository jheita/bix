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docx" ContentType="application/vnd.openxmlformats-officedocument.wordprocessingml.document"/>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handoutMasterIdLst>
    <p:handoutMasterId r:id="rId19"/>
  </p:handoutMasterIdLst>
  <p:sldIdLst>
    <p:sldId id="358" r:id="rId2"/>
    <p:sldId id="573" r:id="rId3"/>
    <p:sldId id="569" r:id="rId4"/>
    <p:sldId id="572" r:id="rId5"/>
    <p:sldId id="570" r:id="rId6"/>
    <p:sldId id="571" r:id="rId7"/>
    <p:sldId id="444" r:id="rId8"/>
    <p:sldId id="574" r:id="rId9"/>
    <p:sldId id="562" r:id="rId10"/>
    <p:sldId id="548" r:id="rId11"/>
    <p:sldId id="564" r:id="rId12"/>
    <p:sldId id="563" r:id="rId13"/>
    <p:sldId id="565" r:id="rId14"/>
    <p:sldId id="566" r:id="rId15"/>
    <p:sldId id="568" r:id="rId16"/>
    <p:sldId id="567" r:id="rId17"/>
  </p:sldIdLst>
  <p:sldSz cx="10150475" cy="7635875"/>
  <p:notesSz cx="9144000" cy="6858000"/>
  <p:defaultTextStyle>
    <a:defPPr>
      <a:defRPr lang="en-US"/>
    </a:defPPr>
    <a:lvl1pPr marL="0" algn="l" defTabSz="508178" rtl="0" eaLnBrk="1" latinLnBrk="0" hangingPunct="1">
      <a:defRPr sz="2000" kern="1200">
        <a:solidFill>
          <a:schemeClr val="tx1"/>
        </a:solidFill>
        <a:latin typeface="+mn-lt"/>
        <a:ea typeface="+mn-ea"/>
        <a:cs typeface="+mn-cs"/>
      </a:defRPr>
    </a:lvl1pPr>
    <a:lvl2pPr marL="508178" algn="l" defTabSz="508178" rtl="0" eaLnBrk="1" latinLnBrk="0" hangingPunct="1">
      <a:defRPr sz="2000" kern="1200">
        <a:solidFill>
          <a:schemeClr val="tx1"/>
        </a:solidFill>
        <a:latin typeface="+mn-lt"/>
        <a:ea typeface="+mn-ea"/>
        <a:cs typeface="+mn-cs"/>
      </a:defRPr>
    </a:lvl2pPr>
    <a:lvl3pPr marL="1016356" algn="l" defTabSz="508178" rtl="0" eaLnBrk="1" latinLnBrk="0" hangingPunct="1">
      <a:defRPr sz="2000" kern="1200">
        <a:solidFill>
          <a:schemeClr val="tx1"/>
        </a:solidFill>
        <a:latin typeface="+mn-lt"/>
        <a:ea typeface="+mn-ea"/>
        <a:cs typeface="+mn-cs"/>
      </a:defRPr>
    </a:lvl3pPr>
    <a:lvl4pPr marL="1524533" algn="l" defTabSz="508178" rtl="0" eaLnBrk="1" latinLnBrk="0" hangingPunct="1">
      <a:defRPr sz="2000" kern="1200">
        <a:solidFill>
          <a:schemeClr val="tx1"/>
        </a:solidFill>
        <a:latin typeface="+mn-lt"/>
        <a:ea typeface="+mn-ea"/>
        <a:cs typeface="+mn-cs"/>
      </a:defRPr>
    </a:lvl4pPr>
    <a:lvl5pPr marL="2032711" algn="l" defTabSz="508178" rtl="0" eaLnBrk="1" latinLnBrk="0" hangingPunct="1">
      <a:defRPr sz="2000" kern="1200">
        <a:solidFill>
          <a:schemeClr val="tx1"/>
        </a:solidFill>
        <a:latin typeface="+mn-lt"/>
        <a:ea typeface="+mn-ea"/>
        <a:cs typeface="+mn-cs"/>
      </a:defRPr>
    </a:lvl5pPr>
    <a:lvl6pPr marL="2540889" algn="l" defTabSz="508178" rtl="0" eaLnBrk="1" latinLnBrk="0" hangingPunct="1">
      <a:defRPr sz="2000" kern="1200">
        <a:solidFill>
          <a:schemeClr val="tx1"/>
        </a:solidFill>
        <a:latin typeface="+mn-lt"/>
        <a:ea typeface="+mn-ea"/>
        <a:cs typeface="+mn-cs"/>
      </a:defRPr>
    </a:lvl6pPr>
    <a:lvl7pPr marL="3049067" algn="l" defTabSz="508178" rtl="0" eaLnBrk="1" latinLnBrk="0" hangingPunct="1">
      <a:defRPr sz="2000" kern="1200">
        <a:solidFill>
          <a:schemeClr val="tx1"/>
        </a:solidFill>
        <a:latin typeface="+mn-lt"/>
        <a:ea typeface="+mn-ea"/>
        <a:cs typeface="+mn-cs"/>
      </a:defRPr>
    </a:lvl7pPr>
    <a:lvl8pPr marL="3557245" algn="l" defTabSz="508178" rtl="0" eaLnBrk="1" latinLnBrk="0" hangingPunct="1">
      <a:defRPr sz="2000" kern="1200">
        <a:solidFill>
          <a:schemeClr val="tx1"/>
        </a:solidFill>
        <a:latin typeface="+mn-lt"/>
        <a:ea typeface="+mn-ea"/>
        <a:cs typeface="+mn-cs"/>
      </a:defRPr>
    </a:lvl8pPr>
    <a:lvl9pPr marL="4065422" algn="l" defTabSz="508178"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62">
          <p15:clr>
            <a:srgbClr val="A4A3A4"/>
          </p15:clr>
        </p15:guide>
        <p15:guide id="2" pos="421">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A420"/>
    <a:srgbClr val="141A37"/>
    <a:srgbClr val="B70F2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29" autoAdjust="0"/>
    <p:restoredTop sz="92629" autoAdjust="0"/>
  </p:normalViewPr>
  <p:slideViewPr>
    <p:cSldViewPr snapToGrid="0" snapToObjects="1">
      <p:cViewPr varScale="1">
        <p:scale>
          <a:sx n="70" d="100"/>
          <a:sy n="70" d="100"/>
        </p:scale>
        <p:origin x="1560" y="38"/>
      </p:cViewPr>
      <p:guideLst>
        <p:guide orient="horz" pos="462"/>
        <p:guide pos="421"/>
      </p:guideLst>
    </p:cSldViewPr>
  </p:slideViewPr>
  <p:notesTextViewPr>
    <p:cViewPr>
      <p:scale>
        <a:sx n="100" d="100"/>
        <a:sy n="100" d="100"/>
      </p:scale>
      <p:origin x="0" y="0"/>
    </p:cViewPr>
  </p:notesTextViewPr>
  <p:notesViewPr>
    <p:cSldViewPr snapToGrid="0" snapToObjects="1">
      <p:cViewPr varScale="1">
        <p:scale>
          <a:sx n="85" d="100"/>
          <a:sy n="85" d="100"/>
        </p:scale>
        <p:origin x="2035" y="48"/>
      </p:cViewPr>
      <p:guideLst>
        <p:guide orient="horz" pos="2160"/>
        <p:guide pos="288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5.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179484" y="0"/>
            <a:ext cx="3962400" cy="342900"/>
          </a:xfrm>
          <a:prstGeom prst="rect">
            <a:avLst/>
          </a:prstGeom>
        </p:spPr>
        <p:txBody>
          <a:bodyPr vert="horz" lIns="91440" tIns="45720" rIns="91440" bIns="45720" rtlCol="0"/>
          <a:lstStyle>
            <a:lvl1pPr algn="r">
              <a:defRPr sz="1200"/>
            </a:lvl1pPr>
          </a:lstStyle>
          <a:p>
            <a:fld id="{DFA0F995-B82C-C244-8F3E-0A3DF55EDD28}" type="datetimeFigureOut">
              <a:rPr lang="en-US" smtClean="0"/>
              <a:t>5/12/2020</a:t>
            </a:fld>
            <a:endParaRPr lang="en-US"/>
          </a:p>
        </p:txBody>
      </p:sp>
      <p:sp>
        <p:nvSpPr>
          <p:cNvPr id="4" name="Footer Placeholder 3"/>
          <p:cNvSpPr>
            <a:spLocks noGrp="1"/>
          </p:cNvSpPr>
          <p:nvPr>
            <p:ph type="ftr" sz="quarter" idx="2"/>
          </p:nvPr>
        </p:nvSpPr>
        <p:spPr>
          <a:xfrm>
            <a:off x="0" y="6513910"/>
            <a:ext cx="3962400" cy="3429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179484" y="6513910"/>
            <a:ext cx="3962400" cy="342900"/>
          </a:xfrm>
          <a:prstGeom prst="rect">
            <a:avLst/>
          </a:prstGeom>
        </p:spPr>
        <p:txBody>
          <a:bodyPr vert="horz" lIns="91440" tIns="45720" rIns="91440" bIns="45720" rtlCol="0" anchor="b"/>
          <a:lstStyle>
            <a:lvl1pPr algn="r">
              <a:defRPr sz="1200"/>
            </a:lvl1pPr>
          </a:lstStyle>
          <a:p>
            <a:fld id="{8BA1E8FE-3E85-D94B-BFAE-28E771A5257B}" type="slidenum">
              <a:rPr lang="en-US" smtClean="0"/>
              <a:t>‹#›</a:t>
            </a:fld>
            <a:endParaRPr lang="en-US"/>
          </a:p>
        </p:txBody>
      </p:sp>
    </p:spTree>
    <p:extLst>
      <p:ext uri="{BB962C8B-B14F-4D97-AF65-F5344CB8AC3E}">
        <p14:creationId xmlns:p14="http://schemas.microsoft.com/office/powerpoint/2010/main" val="35773212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A49C4102-6A5D-43BB-BE35-332CF87036DF}" type="datetimeFigureOut">
              <a:rPr lang="en-GB" smtClean="0"/>
              <a:t>12/05/2020</a:t>
            </a:fld>
            <a:endParaRPr lang="en-GB"/>
          </a:p>
        </p:txBody>
      </p:sp>
      <p:sp>
        <p:nvSpPr>
          <p:cNvPr id="4" name="Slide Image Placeholder 3"/>
          <p:cNvSpPr>
            <a:spLocks noGrp="1" noRot="1" noChangeAspect="1"/>
          </p:cNvSpPr>
          <p:nvPr>
            <p:ph type="sldImg" idx="2"/>
          </p:nvPr>
        </p:nvSpPr>
        <p:spPr>
          <a:xfrm>
            <a:off x="2862263" y="514350"/>
            <a:ext cx="3419475" cy="257175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CB34DB03-0123-499D-8E25-F22C904D9B13}" type="slidenum">
              <a:rPr lang="en-GB" smtClean="0"/>
              <a:t>‹#›</a:t>
            </a:fld>
            <a:endParaRPr lang="en-GB"/>
          </a:p>
        </p:txBody>
      </p:sp>
    </p:spTree>
    <p:extLst>
      <p:ext uri="{BB962C8B-B14F-4D97-AF65-F5344CB8AC3E}">
        <p14:creationId xmlns:p14="http://schemas.microsoft.com/office/powerpoint/2010/main" val="2495390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Can</a:t>
            </a:r>
            <a:r>
              <a:rPr lang="en-US" baseline="0" dirty="0" smtClean="0"/>
              <a:t> children envision the future? </a:t>
            </a:r>
            <a:endParaRPr lang="en-GB" dirty="0"/>
          </a:p>
        </p:txBody>
      </p:sp>
      <p:sp>
        <p:nvSpPr>
          <p:cNvPr id="4" name="Slide Number Placeholder 3"/>
          <p:cNvSpPr>
            <a:spLocks noGrp="1"/>
          </p:cNvSpPr>
          <p:nvPr>
            <p:ph type="sldNum" sz="quarter" idx="10"/>
          </p:nvPr>
        </p:nvSpPr>
        <p:spPr/>
        <p:txBody>
          <a:bodyPr/>
          <a:lstStyle/>
          <a:p>
            <a:fld id="{CB34DB03-0123-499D-8E25-F22C904D9B13}" type="slidenum">
              <a:rPr lang="en-GB" smtClean="0"/>
              <a:t>7</a:t>
            </a:fld>
            <a:endParaRPr lang="en-GB"/>
          </a:p>
        </p:txBody>
      </p:sp>
    </p:spTree>
    <p:extLst>
      <p:ext uri="{BB962C8B-B14F-4D97-AF65-F5344CB8AC3E}">
        <p14:creationId xmlns:p14="http://schemas.microsoft.com/office/powerpoint/2010/main" val="235314899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 Id="rId5" Type="http://schemas.openxmlformats.org/officeDocument/2006/relationships/image" Target="../media/image4.jpeg"/><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 y="0"/>
            <a:ext cx="10150475" cy="7612856"/>
          </a:xfrm>
          <a:prstGeom prst="rect">
            <a:avLst/>
          </a:prstGeom>
        </p:spPr>
      </p:pic>
      <p:sp>
        <p:nvSpPr>
          <p:cNvPr id="3" name="TextBox 2"/>
          <p:cNvSpPr txBox="1"/>
          <p:nvPr userDrawn="1"/>
        </p:nvSpPr>
        <p:spPr>
          <a:xfrm>
            <a:off x="1366524" y="1383896"/>
            <a:ext cx="5110475" cy="707886"/>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 of Computing &amp; Informatics</a:t>
            </a:r>
          </a:p>
          <a:p>
            <a:pPr marR="0" algn="l" rtl="0"/>
            <a:endParaRPr lang="en-US" sz="2000" b="1" i="0" u="none" strike="noStrike" baseline="0" dirty="0" smtClean="0">
              <a:solidFill>
                <a:srgbClr val="FFFFFF"/>
              </a:solidFill>
              <a:latin typeface="RopaSoftPro-Regular"/>
            </a:endParaRPr>
          </a:p>
        </p:txBody>
      </p:sp>
      <p:pic>
        <p:nvPicPr>
          <p:cNvPr id="9" name="Picture 8"/>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7880778" y="4734276"/>
            <a:ext cx="2387599" cy="2933700"/>
          </a:xfrm>
          <a:prstGeom prst="rect">
            <a:avLst/>
          </a:prstGeom>
        </p:spPr>
      </p:pic>
      <p:pic>
        <p:nvPicPr>
          <p:cNvPr id="7" name="Picture 6"/>
          <p:cNvPicPr preferRelativeResize="0"/>
          <p:nvPr userDrawn="1"/>
        </p:nvPicPr>
        <p:blipFill rotWithShape="1">
          <a:blip r:embed="rId4" cstate="screen">
            <a:extLst>
              <a:ext uri="{28A0092B-C50C-407E-A947-70E740481C1C}">
                <a14:useLocalDpi xmlns:a14="http://schemas.microsoft.com/office/drawing/2010/main"/>
              </a:ext>
            </a:extLst>
          </a:blip>
          <a:srcRect/>
          <a:stretch/>
        </p:blipFill>
        <p:spPr bwMode="auto">
          <a:xfrm rot="5400000">
            <a:off x="1497222" y="6149616"/>
            <a:ext cx="1515425" cy="1056914"/>
          </a:xfrm>
          <a:prstGeom prst="rect">
            <a:avLst/>
          </a:prstGeom>
          <a:ln>
            <a:noFill/>
          </a:ln>
          <a:extLst>
            <a:ext uri="{53640926-AAD7-44D8-BBD7-CCE9431645EC}">
              <a14:shadowObscured xmlns:a14="http://schemas.microsoft.com/office/drawing/2010/main"/>
            </a:ext>
          </a:extLst>
        </p:spPr>
      </p:pic>
      <p:pic>
        <p:nvPicPr>
          <p:cNvPr id="10" name="Picture 9"/>
          <p:cNvPicPr preferRelativeResize="0"/>
          <p:nvPr userDrawn="1"/>
        </p:nvPicPr>
        <p:blipFill rotWithShape="1">
          <a:blip r:embed="rId5">
            <a:extLst>
              <a:ext uri="{28A0092B-C50C-407E-A947-70E740481C1C}">
                <a14:useLocalDpi xmlns:a14="http://schemas.microsoft.com/office/drawing/2010/main"/>
              </a:ext>
            </a:extLst>
          </a:blip>
          <a:srcRect/>
          <a:stretch/>
        </p:blipFill>
        <p:spPr bwMode="auto">
          <a:xfrm rot="5400000">
            <a:off x="105528" y="6174788"/>
            <a:ext cx="1515424" cy="100656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01312063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 y="0"/>
            <a:ext cx="10150475" cy="7612856"/>
          </a:xfrm>
          <a:prstGeom prst="rect">
            <a:avLst/>
          </a:prstGeom>
        </p:spPr>
      </p:pic>
      <p:sp>
        <p:nvSpPr>
          <p:cNvPr id="5" name="TextBox 4"/>
          <p:cNvSpPr txBox="1"/>
          <p:nvPr userDrawn="1"/>
        </p:nvSpPr>
        <p:spPr>
          <a:xfrm>
            <a:off x="1366525" y="1383897"/>
            <a:ext cx="5138184"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 of Computing &amp; Informatics</a:t>
            </a:r>
            <a:endParaRPr lang="en-US" sz="2000" b="0" i="0" u="none" strike="noStrike" baseline="0" dirty="0" smtClean="0">
              <a:solidFill>
                <a:srgbClr val="FFFFFF"/>
              </a:solidFill>
              <a:latin typeface="RopaSoftPro-Regular"/>
            </a:endParaRPr>
          </a:p>
        </p:txBody>
      </p:sp>
    </p:spTree>
    <p:extLst>
      <p:ext uri="{BB962C8B-B14F-4D97-AF65-F5344CB8AC3E}">
        <p14:creationId xmlns:p14="http://schemas.microsoft.com/office/powerpoint/2010/main" val="1639071442"/>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9" name="Picture 8" descr="NUST Marketing Brand Mark.ai"/>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8235158" y="7036604"/>
            <a:ext cx="1915317" cy="599271"/>
          </a:xfrm>
          <a:prstGeom prst="rect">
            <a:avLst/>
          </a:prstGeom>
        </p:spPr>
      </p:pic>
    </p:spTree>
    <p:extLst>
      <p:ext uri="{BB962C8B-B14F-4D97-AF65-F5344CB8AC3E}">
        <p14:creationId xmlns:p14="http://schemas.microsoft.com/office/powerpoint/2010/main" val="366105389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563417" y="7077325"/>
            <a:ext cx="2368444" cy="406540"/>
          </a:xfrm>
        </p:spPr>
        <p:txBody>
          <a:bodyPr/>
          <a:lstStyle/>
          <a:p>
            <a:fld id="{7D9619E1-8D7B-8148-82B0-908DBEC4CE4D}" type="datetimeFigureOut">
              <a:rPr lang="en-US" smtClean="0"/>
              <a:t>5/12/2020</a:t>
            </a:fld>
            <a:endParaRPr lang="en-US"/>
          </a:p>
        </p:txBody>
      </p:sp>
      <p:sp>
        <p:nvSpPr>
          <p:cNvPr id="4" name="Footer Placeholder 3"/>
          <p:cNvSpPr>
            <a:spLocks noGrp="1"/>
          </p:cNvSpPr>
          <p:nvPr>
            <p:ph type="ftr" sz="quarter" idx="11"/>
          </p:nvPr>
        </p:nvSpPr>
        <p:spPr>
          <a:xfrm>
            <a:off x="2987754" y="7077325"/>
            <a:ext cx="3214317" cy="406540"/>
          </a:xfrm>
        </p:spPr>
        <p:txBody>
          <a:bodyPr/>
          <a:lstStyle/>
          <a:p>
            <a:endParaRPr lang="en-US"/>
          </a:p>
        </p:txBody>
      </p:sp>
      <p:sp>
        <p:nvSpPr>
          <p:cNvPr id="5" name="Slide Number Placeholder 4"/>
          <p:cNvSpPr>
            <a:spLocks noGrp="1"/>
          </p:cNvSpPr>
          <p:nvPr>
            <p:ph type="sldNum" sz="quarter" idx="12"/>
          </p:nvPr>
        </p:nvSpPr>
        <p:spPr>
          <a:xfrm>
            <a:off x="6313858" y="7077325"/>
            <a:ext cx="1361266" cy="406540"/>
          </a:xfrm>
        </p:spPr>
        <p:txBody>
          <a:bodyPr/>
          <a:lstStyle/>
          <a:p>
            <a:fld id="{B56E6150-8108-4B44-B0B0-BFDC52A01023}" type="slidenum">
              <a:rPr lang="en-US" smtClean="0"/>
              <a:t>‹#›</a:t>
            </a:fld>
            <a:endParaRPr lang="en-US"/>
          </a:p>
        </p:txBody>
      </p:sp>
      <p:pic>
        <p:nvPicPr>
          <p:cNvPr id="6" name="Picture 5" descr="NUST Marketing Brand Mark.ai"/>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8235158" y="7036604"/>
            <a:ext cx="1915317" cy="599271"/>
          </a:xfrm>
          <a:prstGeom prst="rect">
            <a:avLst/>
          </a:prstGeom>
        </p:spPr>
      </p:pic>
    </p:spTree>
    <p:extLst>
      <p:ext uri="{BB962C8B-B14F-4D97-AF65-F5344CB8AC3E}">
        <p14:creationId xmlns:p14="http://schemas.microsoft.com/office/powerpoint/2010/main" val="362315961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63915" y="1983207"/>
            <a:ext cx="4985365" cy="5612015"/>
          </a:xfrm>
        </p:spPr>
        <p:txBody>
          <a:bodyPr/>
          <a:lstStyle>
            <a:lvl1pPr>
              <a:defRPr sz="3100"/>
            </a:lvl1pPr>
            <a:lvl2pPr>
              <a:defRPr sz="2700"/>
            </a:lvl2pPr>
            <a:lvl3pPr>
              <a:defRPr sz="22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718455" y="1983207"/>
            <a:ext cx="4985363" cy="5612015"/>
          </a:xfrm>
        </p:spPr>
        <p:txBody>
          <a:bodyPr/>
          <a:lstStyle>
            <a:lvl1pPr>
              <a:defRPr sz="3100"/>
            </a:lvl1pPr>
            <a:lvl2pPr>
              <a:defRPr sz="2700"/>
            </a:lvl2pPr>
            <a:lvl3pPr>
              <a:defRPr sz="22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D9619E1-8D7B-8148-82B0-908DBEC4CE4D}" type="datetimeFigureOut">
              <a:rPr lang="en-US" smtClean="0"/>
              <a:t>5/12/2020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6E6150-8108-4B44-B0B0-BFDC52A01023}" type="slidenum">
              <a:rPr lang="en-US" smtClean="0"/>
              <a:t>‹#›</a:t>
            </a:fld>
            <a:endParaRPr lang="en-US"/>
          </a:p>
        </p:txBody>
      </p:sp>
      <p:pic>
        <p:nvPicPr>
          <p:cNvPr id="9" name="Picture 8" descr="NUST Marketing Brand Mark.ai"/>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8570352" y="7141481"/>
            <a:ext cx="1580123" cy="494394"/>
          </a:xfrm>
          <a:prstGeom prst="rect">
            <a:avLst/>
          </a:prstGeom>
        </p:spPr>
      </p:pic>
    </p:spTree>
    <p:extLst>
      <p:ext uri="{BB962C8B-B14F-4D97-AF65-F5344CB8AC3E}">
        <p14:creationId xmlns:p14="http://schemas.microsoft.com/office/powerpoint/2010/main" val="52203527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7524" y="305789"/>
            <a:ext cx="9135428" cy="1272646"/>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507525" y="1709234"/>
            <a:ext cx="4484889" cy="712328"/>
          </a:xfrm>
        </p:spPr>
        <p:txBody>
          <a:bodyPr anchor="b"/>
          <a:lstStyle>
            <a:lvl1pPr marL="0" indent="0">
              <a:buNone/>
              <a:defRPr sz="2700" b="1"/>
            </a:lvl1pPr>
            <a:lvl2pPr marL="508178" indent="0">
              <a:buNone/>
              <a:defRPr sz="2200" b="1"/>
            </a:lvl2pPr>
            <a:lvl3pPr marL="1016356" indent="0">
              <a:buNone/>
              <a:defRPr sz="2000" b="1"/>
            </a:lvl3pPr>
            <a:lvl4pPr marL="1524533" indent="0">
              <a:buNone/>
              <a:defRPr sz="1800" b="1"/>
            </a:lvl4pPr>
            <a:lvl5pPr marL="2032711" indent="0">
              <a:buNone/>
              <a:defRPr sz="1800" b="1"/>
            </a:lvl5pPr>
            <a:lvl6pPr marL="2540889" indent="0">
              <a:buNone/>
              <a:defRPr sz="1800" b="1"/>
            </a:lvl6pPr>
            <a:lvl7pPr marL="3049067" indent="0">
              <a:buNone/>
              <a:defRPr sz="1800" b="1"/>
            </a:lvl7pPr>
            <a:lvl8pPr marL="3557245" indent="0">
              <a:buNone/>
              <a:defRPr sz="1800" b="1"/>
            </a:lvl8pPr>
            <a:lvl9pPr marL="4065422" indent="0">
              <a:buNone/>
              <a:defRPr sz="1800" b="1"/>
            </a:lvl9pPr>
          </a:lstStyle>
          <a:p>
            <a:pPr lvl="0"/>
            <a:r>
              <a:rPr lang="en-US" smtClean="0"/>
              <a:t>Click to edit Master text styles</a:t>
            </a:r>
          </a:p>
        </p:txBody>
      </p:sp>
      <p:sp>
        <p:nvSpPr>
          <p:cNvPr id="4" name="Content Placeholder 3"/>
          <p:cNvSpPr>
            <a:spLocks noGrp="1"/>
          </p:cNvSpPr>
          <p:nvPr>
            <p:ph sz="half" idx="2"/>
          </p:nvPr>
        </p:nvSpPr>
        <p:spPr>
          <a:xfrm>
            <a:off x="507525" y="2421563"/>
            <a:ext cx="4484889" cy="4399467"/>
          </a:xfrm>
        </p:spPr>
        <p:txBody>
          <a:bodyPr/>
          <a:lstStyle>
            <a:lvl1pPr>
              <a:defRPr sz="27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156302" y="1709234"/>
            <a:ext cx="4486651" cy="712328"/>
          </a:xfrm>
        </p:spPr>
        <p:txBody>
          <a:bodyPr anchor="b"/>
          <a:lstStyle>
            <a:lvl1pPr marL="0" indent="0">
              <a:buNone/>
              <a:defRPr sz="2700" b="1"/>
            </a:lvl1pPr>
            <a:lvl2pPr marL="508178" indent="0">
              <a:buNone/>
              <a:defRPr sz="2200" b="1"/>
            </a:lvl2pPr>
            <a:lvl3pPr marL="1016356" indent="0">
              <a:buNone/>
              <a:defRPr sz="2000" b="1"/>
            </a:lvl3pPr>
            <a:lvl4pPr marL="1524533" indent="0">
              <a:buNone/>
              <a:defRPr sz="1800" b="1"/>
            </a:lvl4pPr>
            <a:lvl5pPr marL="2032711" indent="0">
              <a:buNone/>
              <a:defRPr sz="1800" b="1"/>
            </a:lvl5pPr>
            <a:lvl6pPr marL="2540889" indent="0">
              <a:buNone/>
              <a:defRPr sz="1800" b="1"/>
            </a:lvl6pPr>
            <a:lvl7pPr marL="3049067" indent="0">
              <a:buNone/>
              <a:defRPr sz="1800" b="1"/>
            </a:lvl7pPr>
            <a:lvl8pPr marL="3557245" indent="0">
              <a:buNone/>
              <a:defRPr sz="1800" b="1"/>
            </a:lvl8pPr>
            <a:lvl9pPr marL="4065422" indent="0">
              <a:buNone/>
              <a:defRPr sz="1800" b="1"/>
            </a:lvl9pPr>
          </a:lstStyle>
          <a:p>
            <a:pPr lvl="0"/>
            <a:r>
              <a:rPr lang="en-US" smtClean="0"/>
              <a:t>Click to edit Master text styles</a:t>
            </a:r>
          </a:p>
        </p:txBody>
      </p:sp>
      <p:sp>
        <p:nvSpPr>
          <p:cNvPr id="6" name="Content Placeholder 5"/>
          <p:cNvSpPr>
            <a:spLocks noGrp="1"/>
          </p:cNvSpPr>
          <p:nvPr>
            <p:ph sz="quarter" idx="4"/>
          </p:nvPr>
        </p:nvSpPr>
        <p:spPr>
          <a:xfrm>
            <a:off x="5156302" y="2421563"/>
            <a:ext cx="4486651" cy="4399467"/>
          </a:xfrm>
        </p:spPr>
        <p:txBody>
          <a:bodyPr/>
          <a:lstStyle>
            <a:lvl1pPr>
              <a:defRPr sz="27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D9619E1-8D7B-8148-82B0-908DBEC4CE4D}" type="datetimeFigureOut">
              <a:rPr lang="en-US" smtClean="0"/>
              <a:t>5/12/2020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56E6150-8108-4B44-B0B0-BFDC52A01023}" type="slidenum">
              <a:rPr lang="en-US" smtClean="0"/>
              <a:t>‹#›</a:t>
            </a:fld>
            <a:endParaRPr lang="en-US"/>
          </a:p>
        </p:txBody>
      </p:sp>
      <p:pic>
        <p:nvPicPr>
          <p:cNvPr id="10" name="Picture 9" descr="NUST Marketing Brand Mark.ai"/>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8570352" y="7141481"/>
            <a:ext cx="1580123" cy="494394"/>
          </a:xfrm>
          <a:prstGeom prst="rect">
            <a:avLst/>
          </a:prstGeom>
        </p:spPr>
      </p:pic>
    </p:spTree>
    <p:extLst>
      <p:ext uri="{BB962C8B-B14F-4D97-AF65-F5344CB8AC3E}">
        <p14:creationId xmlns:p14="http://schemas.microsoft.com/office/powerpoint/2010/main" val="95771393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D9619E1-8D7B-8148-82B0-908DBEC4CE4D}" type="datetimeFigureOut">
              <a:rPr lang="en-US" smtClean="0"/>
              <a:t>5/12/2020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56E6150-8108-4B44-B0B0-BFDC52A01023}" type="slidenum">
              <a:rPr lang="en-US" smtClean="0"/>
              <a:t>‹#›</a:t>
            </a:fld>
            <a:endParaRPr lang="en-US"/>
          </a:p>
        </p:txBody>
      </p:sp>
      <p:pic>
        <p:nvPicPr>
          <p:cNvPr id="6" name="Picture 5" descr="NUST Marketing Brand Mark.ai"/>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8235158" y="7036604"/>
            <a:ext cx="1915317" cy="599271"/>
          </a:xfrm>
          <a:prstGeom prst="rect">
            <a:avLst/>
          </a:prstGeom>
        </p:spPr>
      </p:pic>
    </p:spTree>
    <p:extLst>
      <p:ext uri="{BB962C8B-B14F-4D97-AF65-F5344CB8AC3E}">
        <p14:creationId xmlns:p14="http://schemas.microsoft.com/office/powerpoint/2010/main" val="1550457338"/>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9619E1-8D7B-8148-82B0-908DBEC4CE4D}" type="datetimeFigureOut">
              <a:rPr lang="en-US" smtClean="0"/>
              <a:t>5/12/2020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56E6150-8108-4B44-B0B0-BFDC52A01023}" type="slidenum">
              <a:rPr lang="en-US" smtClean="0"/>
              <a:t>‹#›</a:t>
            </a:fld>
            <a:endParaRPr lang="en-US"/>
          </a:p>
        </p:txBody>
      </p:sp>
      <p:pic>
        <p:nvPicPr>
          <p:cNvPr id="5" name="Picture 4" descr="NUST Marketing Brand Mark.ai"/>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8235158" y="7036604"/>
            <a:ext cx="1915317" cy="599271"/>
          </a:xfrm>
          <a:prstGeom prst="rect">
            <a:avLst/>
          </a:prstGeom>
        </p:spPr>
      </p:pic>
    </p:spTree>
    <p:extLst>
      <p:ext uri="{BB962C8B-B14F-4D97-AF65-F5344CB8AC3E}">
        <p14:creationId xmlns:p14="http://schemas.microsoft.com/office/powerpoint/2010/main" val="3419076917"/>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7524" y="304021"/>
            <a:ext cx="3339436" cy="1293857"/>
          </a:xfrm>
        </p:spPr>
        <p:txBody>
          <a:bodyPr anchor="b"/>
          <a:lstStyle>
            <a:lvl1pPr algn="l">
              <a:defRPr sz="2200" b="1"/>
            </a:lvl1pPr>
          </a:lstStyle>
          <a:p>
            <a:r>
              <a:rPr lang="en-US" smtClean="0"/>
              <a:t>Click to edit Master title style</a:t>
            </a:r>
            <a:endParaRPr lang="en-US"/>
          </a:p>
        </p:txBody>
      </p:sp>
      <p:sp>
        <p:nvSpPr>
          <p:cNvPr id="3" name="Content Placeholder 2"/>
          <p:cNvSpPr>
            <a:spLocks noGrp="1"/>
          </p:cNvSpPr>
          <p:nvPr>
            <p:ph idx="1"/>
          </p:nvPr>
        </p:nvSpPr>
        <p:spPr>
          <a:xfrm>
            <a:off x="3968555" y="304021"/>
            <a:ext cx="5674397" cy="6517008"/>
          </a:xfrm>
        </p:spPr>
        <p:txBody>
          <a:bodyPr/>
          <a:lstStyle>
            <a:lvl1pPr>
              <a:defRPr sz="3600"/>
            </a:lvl1pPr>
            <a:lvl2pPr>
              <a:defRPr sz="3100"/>
            </a:lvl2pPr>
            <a:lvl3pPr>
              <a:defRPr sz="2700"/>
            </a:lvl3pPr>
            <a:lvl4pPr>
              <a:defRPr sz="2200"/>
            </a:lvl4pPr>
            <a:lvl5pPr>
              <a:defRPr sz="2200"/>
            </a:lvl5pPr>
            <a:lvl6pPr>
              <a:defRPr sz="2200"/>
            </a:lvl6pPr>
            <a:lvl7pPr>
              <a:defRPr sz="2200"/>
            </a:lvl7pPr>
            <a:lvl8pPr>
              <a:defRPr sz="2200"/>
            </a:lvl8pPr>
            <a:lvl9pPr>
              <a:defRPr sz="2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507524" y="1597879"/>
            <a:ext cx="3339436" cy="5223151"/>
          </a:xfrm>
        </p:spPr>
        <p:txBody>
          <a:bodyPr/>
          <a:lstStyle>
            <a:lvl1pPr marL="0" indent="0">
              <a:buNone/>
              <a:defRPr sz="1600"/>
            </a:lvl1pPr>
            <a:lvl2pPr marL="508178" indent="0">
              <a:buNone/>
              <a:defRPr sz="1300"/>
            </a:lvl2pPr>
            <a:lvl3pPr marL="1016356" indent="0">
              <a:buNone/>
              <a:defRPr sz="1100"/>
            </a:lvl3pPr>
            <a:lvl4pPr marL="1524533" indent="0">
              <a:buNone/>
              <a:defRPr sz="1000"/>
            </a:lvl4pPr>
            <a:lvl5pPr marL="2032711" indent="0">
              <a:buNone/>
              <a:defRPr sz="1000"/>
            </a:lvl5pPr>
            <a:lvl6pPr marL="2540889" indent="0">
              <a:buNone/>
              <a:defRPr sz="1000"/>
            </a:lvl6pPr>
            <a:lvl7pPr marL="3049067" indent="0">
              <a:buNone/>
              <a:defRPr sz="1000"/>
            </a:lvl7pPr>
            <a:lvl8pPr marL="3557245" indent="0">
              <a:buNone/>
              <a:defRPr sz="1000"/>
            </a:lvl8pPr>
            <a:lvl9pPr marL="4065422"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D9619E1-8D7B-8148-82B0-908DBEC4CE4D}" type="datetimeFigureOut">
              <a:rPr lang="en-US" smtClean="0"/>
              <a:t>5/12/2020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6E6150-8108-4B44-B0B0-BFDC52A01023}" type="slidenum">
              <a:rPr lang="en-US" smtClean="0"/>
              <a:t>‹#›</a:t>
            </a:fld>
            <a:endParaRPr lang="en-US"/>
          </a:p>
        </p:txBody>
      </p:sp>
      <p:pic>
        <p:nvPicPr>
          <p:cNvPr id="8" name="Picture 7" descr="NUST Marketing Brand Mark.ai"/>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8235158" y="7036604"/>
            <a:ext cx="1915317" cy="599271"/>
          </a:xfrm>
          <a:prstGeom prst="rect">
            <a:avLst/>
          </a:prstGeom>
        </p:spPr>
      </p:pic>
    </p:spTree>
    <p:extLst>
      <p:ext uri="{BB962C8B-B14F-4D97-AF65-F5344CB8AC3E}">
        <p14:creationId xmlns:p14="http://schemas.microsoft.com/office/powerpoint/2010/main" val="3543931426"/>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89565" y="5345113"/>
            <a:ext cx="6090285" cy="631021"/>
          </a:xfrm>
        </p:spPr>
        <p:txBody>
          <a:bodyPr anchor="b"/>
          <a:lstStyle>
            <a:lvl1pPr algn="l">
              <a:defRPr sz="2200" b="1"/>
            </a:lvl1pPr>
          </a:lstStyle>
          <a:p>
            <a:r>
              <a:rPr lang="en-US" smtClean="0"/>
              <a:t>Click to edit Master title style</a:t>
            </a:r>
            <a:endParaRPr lang="en-US"/>
          </a:p>
        </p:txBody>
      </p:sp>
      <p:sp>
        <p:nvSpPr>
          <p:cNvPr id="3" name="Picture Placeholder 2"/>
          <p:cNvSpPr>
            <a:spLocks noGrp="1"/>
          </p:cNvSpPr>
          <p:nvPr>
            <p:ph type="pic" idx="1"/>
          </p:nvPr>
        </p:nvSpPr>
        <p:spPr>
          <a:xfrm>
            <a:off x="1989565" y="682281"/>
            <a:ext cx="6090285" cy="4581525"/>
          </a:xfrm>
        </p:spPr>
        <p:txBody>
          <a:bodyPr/>
          <a:lstStyle>
            <a:lvl1pPr marL="0" indent="0">
              <a:buNone/>
              <a:defRPr sz="3600"/>
            </a:lvl1pPr>
            <a:lvl2pPr marL="508178" indent="0">
              <a:buNone/>
              <a:defRPr sz="3100"/>
            </a:lvl2pPr>
            <a:lvl3pPr marL="1016356" indent="0">
              <a:buNone/>
              <a:defRPr sz="2700"/>
            </a:lvl3pPr>
            <a:lvl4pPr marL="1524533" indent="0">
              <a:buNone/>
              <a:defRPr sz="2200"/>
            </a:lvl4pPr>
            <a:lvl5pPr marL="2032711" indent="0">
              <a:buNone/>
              <a:defRPr sz="2200"/>
            </a:lvl5pPr>
            <a:lvl6pPr marL="2540889" indent="0">
              <a:buNone/>
              <a:defRPr sz="2200"/>
            </a:lvl6pPr>
            <a:lvl7pPr marL="3049067" indent="0">
              <a:buNone/>
              <a:defRPr sz="2200"/>
            </a:lvl7pPr>
            <a:lvl8pPr marL="3557245" indent="0">
              <a:buNone/>
              <a:defRPr sz="2200"/>
            </a:lvl8pPr>
            <a:lvl9pPr marL="4065422" indent="0">
              <a:buNone/>
              <a:defRPr sz="2200"/>
            </a:lvl9pPr>
          </a:lstStyle>
          <a:p>
            <a:endParaRPr lang="en-US"/>
          </a:p>
        </p:txBody>
      </p:sp>
      <p:sp>
        <p:nvSpPr>
          <p:cNvPr id="4" name="Text Placeholder 3"/>
          <p:cNvSpPr>
            <a:spLocks noGrp="1"/>
          </p:cNvSpPr>
          <p:nvPr>
            <p:ph type="body" sz="half" idx="2"/>
          </p:nvPr>
        </p:nvSpPr>
        <p:spPr>
          <a:xfrm>
            <a:off x="1989565" y="5976133"/>
            <a:ext cx="6090285" cy="896154"/>
          </a:xfrm>
        </p:spPr>
        <p:txBody>
          <a:bodyPr/>
          <a:lstStyle>
            <a:lvl1pPr marL="0" indent="0">
              <a:buNone/>
              <a:defRPr sz="1600"/>
            </a:lvl1pPr>
            <a:lvl2pPr marL="508178" indent="0">
              <a:buNone/>
              <a:defRPr sz="1300"/>
            </a:lvl2pPr>
            <a:lvl3pPr marL="1016356" indent="0">
              <a:buNone/>
              <a:defRPr sz="1100"/>
            </a:lvl3pPr>
            <a:lvl4pPr marL="1524533" indent="0">
              <a:buNone/>
              <a:defRPr sz="1000"/>
            </a:lvl4pPr>
            <a:lvl5pPr marL="2032711" indent="0">
              <a:buNone/>
              <a:defRPr sz="1000"/>
            </a:lvl5pPr>
            <a:lvl6pPr marL="2540889" indent="0">
              <a:buNone/>
              <a:defRPr sz="1000"/>
            </a:lvl6pPr>
            <a:lvl7pPr marL="3049067" indent="0">
              <a:buNone/>
              <a:defRPr sz="1000"/>
            </a:lvl7pPr>
            <a:lvl8pPr marL="3557245" indent="0">
              <a:buNone/>
              <a:defRPr sz="1000"/>
            </a:lvl8pPr>
            <a:lvl9pPr marL="4065422"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D9619E1-8D7B-8148-82B0-908DBEC4CE4D}" type="datetimeFigureOut">
              <a:rPr lang="en-US" smtClean="0"/>
              <a:t>5/12/2020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6E6150-8108-4B44-B0B0-BFDC52A01023}" type="slidenum">
              <a:rPr lang="en-US" smtClean="0"/>
              <a:t>‹#›</a:t>
            </a:fld>
            <a:endParaRPr lang="en-US"/>
          </a:p>
        </p:txBody>
      </p:sp>
      <p:pic>
        <p:nvPicPr>
          <p:cNvPr id="8" name="Picture 7" descr="NUST Marketing Brand Mark.ai"/>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8235158" y="7036604"/>
            <a:ext cx="1915317" cy="599271"/>
          </a:xfrm>
          <a:prstGeom prst="rect">
            <a:avLst/>
          </a:prstGeom>
        </p:spPr>
      </p:pic>
    </p:spTree>
    <p:extLst>
      <p:ext uri="{BB962C8B-B14F-4D97-AF65-F5344CB8AC3E}">
        <p14:creationId xmlns:p14="http://schemas.microsoft.com/office/powerpoint/2010/main" val="3367840225"/>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D9619E1-8D7B-8148-82B0-908DBEC4CE4D}" type="datetimeFigureOut">
              <a:rPr lang="en-US" smtClean="0"/>
              <a:t>5/12/2020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6E6150-8108-4B44-B0B0-BFDC52A01023}" type="slidenum">
              <a:rPr lang="en-US" smtClean="0"/>
              <a:t>‹#›</a:t>
            </a:fld>
            <a:endParaRPr lang="en-US"/>
          </a:p>
        </p:txBody>
      </p:sp>
      <p:pic>
        <p:nvPicPr>
          <p:cNvPr id="7" name="Picture 6" descr="NUST Marketing Brand Mark.ai"/>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8235158" y="7036604"/>
            <a:ext cx="1915317" cy="599271"/>
          </a:xfrm>
          <a:prstGeom prst="rect">
            <a:avLst/>
          </a:prstGeom>
        </p:spPr>
      </p:pic>
    </p:spTree>
    <p:extLst>
      <p:ext uri="{BB962C8B-B14F-4D97-AF65-F5344CB8AC3E}">
        <p14:creationId xmlns:p14="http://schemas.microsoft.com/office/powerpoint/2010/main" val="3422407775"/>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169723" y="341141"/>
            <a:ext cx="2534094" cy="7254081"/>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63917" y="341141"/>
            <a:ext cx="7436633" cy="725408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D9619E1-8D7B-8148-82B0-908DBEC4CE4D}" type="datetimeFigureOut">
              <a:rPr lang="en-US" smtClean="0"/>
              <a:t>5/12/2020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6E6150-8108-4B44-B0B0-BFDC52A01023}" type="slidenum">
              <a:rPr lang="en-US" smtClean="0"/>
              <a:t>‹#›</a:t>
            </a:fld>
            <a:endParaRPr lang="en-US"/>
          </a:p>
        </p:txBody>
      </p:sp>
      <p:pic>
        <p:nvPicPr>
          <p:cNvPr id="7" name="Picture 6" descr="NUST Marketing Brand Mark.ai"/>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8235158" y="7036604"/>
            <a:ext cx="1915317" cy="599271"/>
          </a:xfrm>
          <a:prstGeom prst="rect">
            <a:avLst/>
          </a:prstGeom>
        </p:spPr>
      </p:pic>
    </p:spTree>
    <p:extLst>
      <p:ext uri="{BB962C8B-B14F-4D97-AF65-F5344CB8AC3E}">
        <p14:creationId xmlns:p14="http://schemas.microsoft.com/office/powerpoint/2010/main" val="2534938396"/>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8020" y="1137097"/>
            <a:ext cx="7739241" cy="778004"/>
          </a:xfrm>
          <a:prstGeom prst="rect">
            <a:avLst/>
          </a:prstGeom>
        </p:spPr>
        <p:txBody>
          <a:bodyPr/>
          <a:lstStyle>
            <a:lvl1pPr algn="l">
              <a:defRPr sz="4400"/>
            </a:lvl1pPr>
          </a:lstStyle>
          <a:p>
            <a:r>
              <a:rPr lang="en-AU" smtClean="0"/>
              <a:t>Click to edit Master title style</a:t>
            </a:r>
            <a:endParaRPr lang="en-US" dirty="0"/>
          </a:p>
        </p:txBody>
      </p:sp>
      <p:sp>
        <p:nvSpPr>
          <p:cNvPr id="3" name="Content Placeholder 2"/>
          <p:cNvSpPr>
            <a:spLocks noGrp="1"/>
          </p:cNvSpPr>
          <p:nvPr>
            <p:ph idx="1"/>
          </p:nvPr>
        </p:nvSpPr>
        <p:spPr>
          <a:xfrm>
            <a:off x="508021" y="1923109"/>
            <a:ext cx="9134436" cy="5161287"/>
          </a:xfrm>
          <a:prstGeom prst="rect">
            <a:avLst/>
          </a:prstGeom>
        </p:spPr>
        <p:txBody>
          <a:bodyPr vert="horz" lIns="71444" tIns="35722" rIns="71444" bIns="35722"/>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dirty="0"/>
          </a:p>
        </p:txBody>
      </p:sp>
      <p:pic>
        <p:nvPicPr>
          <p:cNvPr id="4" name="Picture 3" descr="NUST Marketing Brand Mark.ai"/>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8570352" y="7141481"/>
            <a:ext cx="1580123" cy="494394"/>
          </a:xfrm>
          <a:prstGeom prst="rect">
            <a:avLst/>
          </a:prstGeom>
        </p:spPr>
      </p:pic>
    </p:spTree>
    <p:extLst>
      <p:ext uri="{BB962C8B-B14F-4D97-AF65-F5344CB8AC3E}">
        <p14:creationId xmlns:p14="http://schemas.microsoft.com/office/powerpoint/2010/main" val="2488946741"/>
      </p:ext>
    </p:extLst>
  </p:cSld>
  <p:clrMapOvr>
    <a:masterClrMapping/>
  </p:clrMapOvr>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61286" y="2372071"/>
            <a:ext cx="8627904" cy="1636764"/>
          </a:xfrm>
        </p:spPr>
        <p:txBody>
          <a:bodyPr/>
          <a:lstStyle/>
          <a:p>
            <a:r>
              <a:rPr lang="en-US" smtClean="0"/>
              <a:t>Click to edit Master title style</a:t>
            </a:r>
            <a:endParaRPr lang="en-GB"/>
          </a:p>
        </p:txBody>
      </p:sp>
      <p:sp>
        <p:nvSpPr>
          <p:cNvPr id="3" name="Subtitle 2"/>
          <p:cNvSpPr>
            <a:spLocks noGrp="1"/>
          </p:cNvSpPr>
          <p:nvPr>
            <p:ph type="subTitle" idx="1"/>
          </p:nvPr>
        </p:nvSpPr>
        <p:spPr>
          <a:xfrm>
            <a:off x="1522571" y="4326996"/>
            <a:ext cx="7105333" cy="1951390"/>
          </a:xfrm>
        </p:spPr>
        <p:txBody>
          <a:bodyPr/>
          <a:lstStyle>
            <a:lvl1pPr marL="0" indent="0" algn="ctr">
              <a:buNone/>
              <a:defRPr>
                <a:solidFill>
                  <a:schemeClr val="tx1">
                    <a:tint val="75000"/>
                  </a:schemeClr>
                </a:solidFill>
              </a:defRPr>
            </a:lvl1pPr>
            <a:lvl2pPr marL="507538" indent="0" algn="ctr">
              <a:buNone/>
              <a:defRPr>
                <a:solidFill>
                  <a:schemeClr val="tx1">
                    <a:tint val="75000"/>
                  </a:schemeClr>
                </a:solidFill>
              </a:defRPr>
            </a:lvl2pPr>
            <a:lvl3pPr marL="1015075" indent="0" algn="ctr">
              <a:buNone/>
              <a:defRPr>
                <a:solidFill>
                  <a:schemeClr val="tx1">
                    <a:tint val="75000"/>
                  </a:schemeClr>
                </a:solidFill>
              </a:defRPr>
            </a:lvl3pPr>
            <a:lvl4pPr marL="1522613" indent="0" algn="ctr">
              <a:buNone/>
              <a:defRPr>
                <a:solidFill>
                  <a:schemeClr val="tx1">
                    <a:tint val="75000"/>
                  </a:schemeClr>
                </a:solidFill>
              </a:defRPr>
            </a:lvl4pPr>
            <a:lvl5pPr marL="2030151" indent="0" algn="ctr">
              <a:buNone/>
              <a:defRPr>
                <a:solidFill>
                  <a:schemeClr val="tx1">
                    <a:tint val="75000"/>
                  </a:schemeClr>
                </a:solidFill>
              </a:defRPr>
            </a:lvl5pPr>
            <a:lvl6pPr marL="2537689" indent="0" algn="ctr">
              <a:buNone/>
              <a:defRPr>
                <a:solidFill>
                  <a:schemeClr val="tx1">
                    <a:tint val="75000"/>
                  </a:schemeClr>
                </a:solidFill>
              </a:defRPr>
            </a:lvl6pPr>
            <a:lvl7pPr marL="3045226" indent="0" algn="ctr">
              <a:buNone/>
              <a:defRPr>
                <a:solidFill>
                  <a:schemeClr val="tx1">
                    <a:tint val="75000"/>
                  </a:schemeClr>
                </a:solidFill>
              </a:defRPr>
            </a:lvl7pPr>
            <a:lvl8pPr marL="3552764" indent="0" algn="ctr">
              <a:buNone/>
              <a:defRPr>
                <a:solidFill>
                  <a:schemeClr val="tx1">
                    <a:tint val="75000"/>
                  </a:schemeClr>
                </a:solidFill>
              </a:defRPr>
            </a:lvl8pPr>
            <a:lvl9pPr marL="4060302"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C4B347DC-A313-41A6-89EC-C5EE2733692A}" type="datetimeFigureOut">
              <a:rPr lang="en-GB" smtClean="0"/>
              <a:t>12/05/2020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31E61B4-9040-4E0F-ACC2-ABBFBE99E1A2}" type="slidenum">
              <a:rPr lang="en-GB" smtClean="0"/>
              <a:t>‹#›</a:t>
            </a:fld>
            <a:endParaRPr lang="en-GB"/>
          </a:p>
        </p:txBody>
      </p:sp>
    </p:spTree>
    <p:extLst>
      <p:ext uri="{BB962C8B-B14F-4D97-AF65-F5344CB8AC3E}">
        <p14:creationId xmlns:p14="http://schemas.microsoft.com/office/powerpoint/2010/main" val="18963518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7524" y="305789"/>
            <a:ext cx="9135428" cy="1272646"/>
          </a:xfrm>
          <a:prstGeom prst="rect">
            <a:avLst/>
          </a:prstGeom>
        </p:spPr>
        <p:txBody>
          <a:bodyPr vert="horz" lIns="101636" tIns="50818" rIns="101636" bIns="50818"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507524" y="1781705"/>
            <a:ext cx="9135428" cy="5039325"/>
          </a:xfrm>
          <a:prstGeom prst="rect">
            <a:avLst/>
          </a:prstGeom>
        </p:spPr>
        <p:txBody>
          <a:bodyPr vert="horz" lIns="101636" tIns="50818" rIns="101636" bIns="50818"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507524" y="7077325"/>
            <a:ext cx="2368444" cy="406540"/>
          </a:xfrm>
          <a:prstGeom prst="rect">
            <a:avLst/>
          </a:prstGeom>
        </p:spPr>
        <p:txBody>
          <a:bodyPr vert="horz" lIns="101636" tIns="50818" rIns="101636" bIns="50818" rtlCol="0" anchor="ctr"/>
          <a:lstStyle>
            <a:lvl1pPr algn="l">
              <a:defRPr sz="1300">
                <a:solidFill>
                  <a:schemeClr val="tx1">
                    <a:tint val="75000"/>
                  </a:schemeClr>
                </a:solidFill>
              </a:defRPr>
            </a:lvl1pPr>
          </a:lstStyle>
          <a:p>
            <a:fld id="{7D9619E1-8D7B-8148-82B0-908DBEC4CE4D}" type="datetimeFigureOut">
              <a:rPr lang="en-US" smtClean="0"/>
              <a:t>5/12/2020</a:t>
            </a:fld>
            <a:endParaRPr lang="en-US"/>
          </a:p>
        </p:txBody>
      </p:sp>
      <p:sp>
        <p:nvSpPr>
          <p:cNvPr id="5" name="Footer Placeholder 4"/>
          <p:cNvSpPr>
            <a:spLocks noGrp="1"/>
          </p:cNvSpPr>
          <p:nvPr>
            <p:ph type="ftr" sz="quarter" idx="3"/>
          </p:nvPr>
        </p:nvSpPr>
        <p:spPr>
          <a:xfrm>
            <a:off x="3468080" y="7077325"/>
            <a:ext cx="3214317" cy="406540"/>
          </a:xfrm>
          <a:prstGeom prst="rect">
            <a:avLst/>
          </a:prstGeom>
        </p:spPr>
        <p:txBody>
          <a:bodyPr vert="horz" lIns="101636" tIns="50818" rIns="101636" bIns="50818" rtlCol="0" anchor="ctr"/>
          <a:lstStyle>
            <a:lvl1pPr algn="ctr">
              <a:defRPr sz="13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274507" y="7077325"/>
            <a:ext cx="2368444" cy="406540"/>
          </a:xfrm>
          <a:prstGeom prst="rect">
            <a:avLst/>
          </a:prstGeom>
        </p:spPr>
        <p:txBody>
          <a:bodyPr vert="horz" lIns="101636" tIns="50818" rIns="101636" bIns="50818" rtlCol="0" anchor="ctr"/>
          <a:lstStyle>
            <a:lvl1pPr algn="r">
              <a:defRPr sz="1300">
                <a:solidFill>
                  <a:schemeClr val="tx1">
                    <a:tint val="75000"/>
                  </a:schemeClr>
                </a:solidFill>
              </a:defRPr>
            </a:lvl1pPr>
          </a:lstStyle>
          <a:p>
            <a:fld id="{B56E6150-8108-4B44-B0B0-BFDC52A01023}" type="slidenum">
              <a:rPr lang="en-US" smtClean="0"/>
              <a:t>‹#›</a:t>
            </a:fld>
            <a:endParaRPr lang="en-US"/>
          </a:p>
        </p:txBody>
      </p:sp>
    </p:spTree>
    <p:extLst>
      <p:ext uri="{BB962C8B-B14F-4D97-AF65-F5344CB8AC3E}">
        <p14:creationId xmlns:p14="http://schemas.microsoft.com/office/powerpoint/2010/main" val="27592225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0"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 id="2147483662" r:id="rId14"/>
  </p:sldLayoutIdLst>
  <p:timing>
    <p:tnLst>
      <p:par>
        <p:cTn id="1" dur="indefinite" restart="never" nodeType="tmRoot"/>
      </p:par>
    </p:tnLst>
  </p:timing>
  <p:txStyles>
    <p:titleStyle>
      <a:lvl1pPr algn="ctr" defTabSz="508178" rtl="0" eaLnBrk="1" latinLnBrk="0" hangingPunct="1">
        <a:spcBef>
          <a:spcPct val="0"/>
        </a:spcBef>
        <a:buNone/>
        <a:defRPr sz="4900" kern="1200">
          <a:solidFill>
            <a:schemeClr val="tx1"/>
          </a:solidFill>
          <a:latin typeface="+mj-lt"/>
          <a:ea typeface="+mj-ea"/>
          <a:cs typeface="+mj-cs"/>
        </a:defRPr>
      </a:lvl1pPr>
    </p:titleStyle>
    <p:bodyStyle>
      <a:lvl1pPr marL="381133" indent="-381133" algn="l" defTabSz="508178" rtl="0" eaLnBrk="1" latinLnBrk="0" hangingPunct="1">
        <a:spcBef>
          <a:spcPct val="20000"/>
        </a:spcBef>
        <a:buFont typeface="Arial"/>
        <a:buChar char="•"/>
        <a:defRPr sz="3600" kern="1200">
          <a:solidFill>
            <a:schemeClr val="tx1"/>
          </a:solidFill>
          <a:latin typeface="+mn-lt"/>
          <a:ea typeface="+mn-ea"/>
          <a:cs typeface="+mn-cs"/>
        </a:defRPr>
      </a:lvl1pPr>
      <a:lvl2pPr marL="825789" indent="-317611" algn="l" defTabSz="508178" rtl="0" eaLnBrk="1" latinLnBrk="0" hangingPunct="1">
        <a:spcBef>
          <a:spcPct val="20000"/>
        </a:spcBef>
        <a:buFont typeface="Arial"/>
        <a:buChar char="–"/>
        <a:defRPr sz="3100" kern="1200">
          <a:solidFill>
            <a:schemeClr val="tx1"/>
          </a:solidFill>
          <a:latin typeface="+mn-lt"/>
          <a:ea typeface="+mn-ea"/>
          <a:cs typeface="+mn-cs"/>
        </a:defRPr>
      </a:lvl2pPr>
      <a:lvl3pPr marL="1270445" indent="-254089" algn="l" defTabSz="508178" rtl="0" eaLnBrk="1" latinLnBrk="0" hangingPunct="1">
        <a:spcBef>
          <a:spcPct val="20000"/>
        </a:spcBef>
        <a:buFont typeface="Arial"/>
        <a:buChar char="•"/>
        <a:defRPr sz="2700" kern="1200">
          <a:solidFill>
            <a:schemeClr val="tx1"/>
          </a:solidFill>
          <a:latin typeface="+mn-lt"/>
          <a:ea typeface="+mn-ea"/>
          <a:cs typeface="+mn-cs"/>
        </a:defRPr>
      </a:lvl3pPr>
      <a:lvl4pPr marL="1778622" indent="-254089" algn="l" defTabSz="508178" rtl="0" eaLnBrk="1" latinLnBrk="0" hangingPunct="1">
        <a:spcBef>
          <a:spcPct val="20000"/>
        </a:spcBef>
        <a:buFont typeface="Arial"/>
        <a:buChar char="–"/>
        <a:defRPr sz="2200" kern="1200">
          <a:solidFill>
            <a:schemeClr val="tx1"/>
          </a:solidFill>
          <a:latin typeface="+mn-lt"/>
          <a:ea typeface="+mn-ea"/>
          <a:cs typeface="+mn-cs"/>
        </a:defRPr>
      </a:lvl4pPr>
      <a:lvl5pPr marL="2286800" indent="-254089" algn="l" defTabSz="508178" rtl="0" eaLnBrk="1" latinLnBrk="0" hangingPunct="1">
        <a:spcBef>
          <a:spcPct val="20000"/>
        </a:spcBef>
        <a:buFont typeface="Arial"/>
        <a:buChar char="»"/>
        <a:defRPr sz="2200" kern="1200">
          <a:solidFill>
            <a:schemeClr val="tx1"/>
          </a:solidFill>
          <a:latin typeface="+mn-lt"/>
          <a:ea typeface="+mn-ea"/>
          <a:cs typeface="+mn-cs"/>
        </a:defRPr>
      </a:lvl5pPr>
      <a:lvl6pPr marL="2794978" indent="-254089" algn="l" defTabSz="508178" rtl="0" eaLnBrk="1" latinLnBrk="0" hangingPunct="1">
        <a:spcBef>
          <a:spcPct val="20000"/>
        </a:spcBef>
        <a:buFont typeface="Arial"/>
        <a:buChar char="•"/>
        <a:defRPr sz="2200" kern="1200">
          <a:solidFill>
            <a:schemeClr val="tx1"/>
          </a:solidFill>
          <a:latin typeface="+mn-lt"/>
          <a:ea typeface="+mn-ea"/>
          <a:cs typeface="+mn-cs"/>
        </a:defRPr>
      </a:lvl6pPr>
      <a:lvl7pPr marL="3303156" indent="-254089" algn="l" defTabSz="508178" rtl="0" eaLnBrk="1" latinLnBrk="0" hangingPunct="1">
        <a:spcBef>
          <a:spcPct val="20000"/>
        </a:spcBef>
        <a:buFont typeface="Arial"/>
        <a:buChar char="•"/>
        <a:defRPr sz="2200" kern="1200">
          <a:solidFill>
            <a:schemeClr val="tx1"/>
          </a:solidFill>
          <a:latin typeface="+mn-lt"/>
          <a:ea typeface="+mn-ea"/>
          <a:cs typeface="+mn-cs"/>
        </a:defRPr>
      </a:lvl7pPr>
      <a:lvl8pPr marL="3811334" indent="-254089" algn="l" defTabSz="508178" rtl="0" eaLnBrk="1" latinLnBrk="0" hangingPunct="1">
        <a:spcBef>
          <a:spcPct val="20000"/>
        </a:spcBef>
        <a:buFont typeface="Arial"/>
        <a:buChar char="•"/>
        <a:defRPr sz="2200" kern="1200">
          <a:solidFill>
            <a:schemeClr val="tx1"/>
          </a:solidFill>
          <a:latin typeface="+mn-lt"/>
          <a:ea typeface="+mn-ea"/>
          <a:cs typeface="+mn-cs"/>
        </a:defRPr>
      </a:lvl8pPr>
      <a:lvl9pPr marL="4319511" indent="-254089" algn="l" defTabSz="508178" rtl="0" eaLnBrk="1" latinLnBrk="0" hangingPunct="1">
        <a:spcBef>
          <a:spcPct val="20000"/>
        </a:spcBef>
        <a:buFont typeface="Arial"/>
        <a:buChar char="•"/>
        <a:defRPr sz="2200" kern="1200">
          <a:solidFill>
            <a:schemeClr val="tx1"/>
          </a:solidFill>
          <a:latin typeface="+mn-lt"/>
          <a:ea typeface="+mn-ea"/>
          <a:cs typeface="+mn-cs"/>
        </a:defRPr>
      </a:lvl9pPr>
    </p:bodyStyle>
    <p:otherStyle>
      <a:defPPr>
        <a:defRPr lang="en-US"/>
      </a:defPPr>
      <a:lvl1pPr marL="0" algn="l" defTabSz="508178" rtl="0" eaLnBrk="1" latinLnBrk="0" hangingPunct="1">
        <a:defRPr sz="2000" kern="1200">
          <a:solidFill>
            <a:schemeClr val="tx1"/>
          </a:solidFill>
          <a:latin typeface="+mn-lt"/>
          <a:ea typeface="+mn-ea"/>
          <a:cs typeface="+mn-cs"/>
        </a:defRPr>
      </a:lvl1pPr>
      <a:lvl2pPr marL="508178" algn="l" defTabSz="508178" rtl="0" eaLnBrk="1" latinLnBrk="0" hangingPunct="1">
        <a:defRPr sz="2000" kern="1200">
          <a:solidFill>
            <a:schemeClr val="tx1"/>
          </a:solidFill>
          <a:latin typeface="+mn-lt"/>
          <a:ea typeface="+mn-ea"/>
          <a:cs typeface="+mn-cs"/>
        </a:defRPr>
      </a:lvl2pPr>
      <a:lvl3pPr marL="1016356" algn="l" defTabSz="508178" rtl="0" eaLnBrk="1" latinLnBrk="0" hangingPunct="1">
        <a:defRPr sz="2000" kern="1200">
          <a:solidFill>
            <a:schemeClr val="tx1"/>
          </a:solidFill>
          <a:latin typeface="+mn-lt"/>
          <a:ea typeface="+mn-ea"/>
          <a:cs typeface="+mn-cs"/>
        </a:defRPr>
      </a:lvl3pPr>
      <a:lvl4pPr marL="1524533" algn="l" defTabSz="508178" rtl="0" eaLnBrk="1" latinLnBrk="0" hangingPunct="1">
        <a:defRPr sz="2000" kern="1200">
          <a:solidFill>
            <a:schemeClr val="tx1"/>
          </a:solidFill>
          <a:latin typeface="+mn-lt"/>
          <a:ea typeface="+mn-ea"/>
          <a:cs typeface="+mn-cs"/>
        </a:defRPr>
      </a:lvl4pPr>
      <a:lvl5pPr marL="2032711" algn="l" defTabSz="508178" rtl="0" eaLnBrk="1" latinLnBrk="0" hangingPunct="1">
        <a:defRPr sz="2000" kern="1200">
          <a:solidFill>
            <a:schemeClr val="tx1"/>
          </a:solidFill>
          <a:latin typeface="+mn-lt"/>
          <a:ea typeface="+mn-ea"/>
          <a:cs typeface="+mn-cs"/>
        </a:defRPr>
      </a:lvl5pPr>
      <a:lvl6pPr marL="2540889" algn="l" defTabSz="508178" rtl="0" eaLnBrk="1" latinLnBrk="0" hangingPunct="1">
        <a:defRPr sz="2000" kern="1200">
          <a:solidFill>
            <a:schemeClr val="tx1"/>
          </a:solidFill>
          <a:latin typeface="+mn-lt"/>
          <a:ea typeface="+mn-ea"/>
          <a:cs typeface="+mn-cs"/>
        </a:defRPr>
      </a:lvl6pPr>
      <a:lvl7pPr marL="3049067" algn="l" defTabSz="508178" rtl="0" eaLnBrk="1" latinLnBrk="0" hangingPunct="1">
        <a:defRPr sz="2000" kern="1200">
          <a:solidFill>
            <a:schemeClr val="tx1"/>
          </a:solidFill>
          <a:latin typeface="+mn-lt"/>
          <a:ea typeface="+mn-ea"/>
          <a:cs typeface="+mn-cs"/>
        </a:defRPr>
      </a:lvl7pPr>
      <a:lvl8pPr marL="3557245" algn="l" defTabSz="508178" rtl="0" eaLnBrk="1" latinLnBrk="0" hangingPunct="1">
        <a:defRPr sz="2000" kern="1200">
          <a:solidFill>
            <a:schemeClr val="tx1"/>
          </a:solidFill>
          <a:latin typeface="+mn-lt"/>
          <a:ea typeface="+mn-ea"/>
          <a:cs typeface="+mn-cs"/>
        </a:defRPr>
      </a:lvl8pPr>
      <a:lvl9pPr marL="4065422" algn="l" defTabSz="508178"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8" Type="http://schemas.openxmlformats.org/officeDocument/2006/relationships/image" Target="../media/image13.jpeg"/><Relationship Id="rId13" Type="http://schemas.openxmlformats.org/officeDocument/2006/relationships/image" Target="../media/image18.jpeg"/><Relationship Id="rId18" Type="http://schemas.openxmlformats.org/officeDocument/2006/relationships/image" Target="../media/image23.jpeg"/><Relationship Id="rId3" Type="http://schemas.openxmlformats.org/officeDocument/2006/relationships/image" Target="../media/image4.jpeg"/><Relationship Id="rId7" Type="http://schemas.openxmlformats.org/officeDocument/2006/relationships/image" Target="../media/image12.jpeg"/><Relationship Id="rId12" Type="http://schemas.openxmlformats.org/officeDocument/2006/relationships/image" Target="../media/image17.jpeg"/><Relationship Id="rId17" Type="http://schemas.openxmlformats.org/officeDocument/2006/relationships/image" Target="../media/image22.jpeg"/><Relationship Id="rId2" Type="http://schemas.openxmlformats.org/officeDocument/2006/relationships/image" Target="../media/image3.jpeg"/><Relationship Id="rId16" Type="http://schemas.openxmlformats.org/officeDocument/2006/relationships/image" Target="../media/image21.png"/><Relationship Id="rId1" Type="http://schemas.openxmlformats.org/officeDocument/2006/relationships/slideLayout" Target="../slideLayouts/slideLayout3.xml"/><Relationship Id="rId6" Type="http://schemas.openxmlformats.org/officeDocument/2006/relationships/image" Target="../media/image11.jpeg"/><Relationship Id="rId11" Type="http://schemas.openxmlformats.org/officeDocument/2006/relationships/image" Target="../media/image16.jpeg"/><Relationship Id="rId5" Type="http://schemas.microsoft.com/office/2007/relationships/hdphoto" Target="../media/hdphoto2.wdp"/><Relationship Id="rId15" Type="http://schemas.openxmlformats.org/officeDocument/2006/relationships/image" Target="../media/image20.jpeg"/><Relationship Id="rId10" Type="http://schemas.openxmlformats.org/officeDocument/2006/relationships/image" Target="../media/image15.jpeg"/><Relationship Id="rId4" Type="http://schemas.openxmlformats.org/officeDocument/2006/relationships/image" Target="../media/image10.png"/><Relationship Id="rId9" Type="http://schemas.openxmlformats.org/officeDocument/2006/relationships/image" Target="../media/image14.jpeg"/><Relationship Id="rId14" Type="http://schemas.openxmlformats.org/officeDocument/2006/relationships/image" Target="../media/image19.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13.xml"/><Relationship Id="rId1" Type="http://schemas.openxmlformats.org/officeDocument/2006/relationships/vmlDrawing" Target="../drawings/vmlDrawing1.vml"/><Relationship Id="rId6" Type="http://schemas.openxmlformats.org/officeDocument/2006/relationships/image" Target="../media/image25.png"/><Relationship Id="rId5" Type="http://schemas.openxmlformats.org/officeDocument/2006/relationships/package" Target="../embeddings/Microsoft_Word_Document.docx"/><Relationship Id="rId4" Type="http://schemas.openxmlformats.org/officeDocument/2006/relationships/image" Target="../media/image27.jpeg"/></Relationships>
</file>

<file path=ppt/slides/_rels/slide13.xml.rels><?xml version="1.0" encoding="UTF-8" standalone="yes"?>
<Relationships xmlns="http://schemas.openxmlformats.org/package/2006/relationships"><Relationship Id="rId8" Type="http://schemas.microsoft.com/office/2007/relationships/hdphoto" Target="../media/hdphoto4.wdp"/><Relationship Id="rId3" Type="http://schemas.openxmlformats.org/officeDocument/2006/relationships/image" Target="../media/image29.jpeg"/><Relationship Id="rId7" Type="http://schemas.openxmlformats.org/officeDocument/2006/relationships/image" Target="../media/image32.png"/><Relationship Id="rId12" Type="http://schemas.openxmlformats.org/officeDocument/2006/relationships/image" Target="../media/image36.jpeg"/><Relationship Id="rId2" Type="http://schemas.openxmlformats.org/officeDocument/2006/relationships/image" Target="../media/image28.jpeg"/><Relationship Id="rId1" Type="http://schemas.openxmlformats.org/officeDocument/2006/relationships/slideLayout" Target="../slideLayouts/slideLayout13.xml"/><Relationship Id="rId6" Type="http://schemas.openxmlformats.org/officeDocument/2006/relationships/image" Target="../media/image31.jpeg"/><Relationship Id="rId11" Type="http://schemas.openxmlformats.org/officeDocument/2006/relationships/image" Target="../media/image35.jpeg"/><Relationship Id="rId5" Type="http://schemas.microsoft.com/office/2007/relationships/hdphoto" Target="../media/hdphoto3.wdp"/><Relationship Id="rId10" Type="http://schemas.openxmlformats.org/officeDocument/2006/relationships/image" Target="../media/image34.jpeg"/><Relationship Id="rId4" Type="http://schemas.openxmlformats.org/officeDocument/2006/relationships/image" Target="../media/image30.png"/><Relationship Id="rId9" Type="http://schemas.openxmlformats.org/officeDocument/2006/relationships/image" Target="../media/image33.jpeg"/></Relationships>
</file>

<file path=ppt/slides/_rels/slide1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3.xml"/><Relationship Id="rId5" Type="http://schemas.openxmlformats.org/officeDocument/2006/relationships/image" Target="../media/image40.png"/><Relationship Id="rId4" Type="http://schemas.openxmlformats.org/officeDocument/2006/relationships/image" Target="../media/image39.png"/></Relationships>
</file>

<file path=ppt/slides/_rels/slide1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jpeg"/><Relationship Id="rId1" Type="http://schemas.openxmlformats.org/officeDocument/2006/relationships/slideLayout" Target="../slideLayouts/slideLayout14.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44625" y="3800410"/>
            <a:ext cx="9178925" cy="1261884"/>
          </a:xfrm>
          <a:prstGeom prst="rect">
            <a:avLst/>
          </a:prstGeom>
          <a:noFill/>
        </p:spPr>
        <p:txBody>
          <a:bodyPr wrap="square" rtlCol="0">
            <a:spAutoFit/>
          </a:bodyPr>
          <a:lstStyle/>
          <a:p>
            <a:pPr algn="r"/>
            <a:r>
              <a:rPr lang="en-GB" sz="3600" b="1" dirty="0" smtClean="0">
                <a:solidFill>
                  <a:schemeClr val="bg1"/>
                </a:solidFill>
              </a:rPr>
              <a:t> </a:t>
            </a:r>
            <a:r>
              <a:rPr lang="en-GB" sz="2400" b="1" dirty="0" smtClean="0">
                <a:solidFill>
                  <a:schemeClr val="bg1"/>
                </a:solidFill>
              </a:rPr>
              <a:t>Lecture </a:t>
            </a:r>
            <a:endParaRPr lang="en-GB" sz="2400" b="1" dirty="0" smtClean="0">
              <a:solidFill>
                <a:schemeClr val="bg1"/>
              </a:solidFill>
            </a:endParaRPr>
          </a:p>
          <a:p>
            <a:pPr algn="r"/>
            <a:r>
              <a:rPr lang="en-GB" sz="2400" b="1" dirty="0" smtClean="0">
                <a:solidFill>
                  <a:schemeClr val="bg1"/>
                </a:solidFill>
              </a:rPr>
              <a:t> Professor Heike </a:t>
            </a:r>
            <a:r>
              <a:rPr lang="en-GB" sz="2400" b="1" dirty="0" err="1" smtClean="0">
                <a:solidFill>
                  <a:schemeClr val="bg1"/>
                </a:solidFill>
              </a:rPr>
              <a:t>Winschiers-Theophilus</a:t>
            </a:r>
            <a:endParaRPr lang="en-GB" sz="2400" b="1" dirty="0" smtClean="0">
              <a:solidFill>
                <a:schemeClr val="bg1"/>
              </a:solidFill>
            </a:endParaRPr>
          </a:p>
          <a:p>
            <a:pPr algn="r"/>
            <a:r>
              <a:rPr lang="en-US" sz="1600" b="1" dirty="0" smtClean="0">
                <a:solidFill>
                  <a:schemeClr val="bg1"/>
                </a:solidFill>
              </a:rPr>
              <a:t>12 May 2020</a:t>
            </a:r>
            <a:endParaRPr lang="en-US" sz="1600" dirty="0">
              <a:solidFill>
                <a:schemeClr val="bg1"/>
              </a:solidFill>
            </a:endParaRPr>
          </a:p>
        </p:txBody>
      </p:sp>
      <p:sp>
        <p:nvSpPr>
          <p:cNvPr id="3" name="TextBox 5"/>
          <p:cNvSpPr txBox="1">
            <a:spLocks noChangeArrowheads="1"/>
          </p:cNvSpPr>
          <p:nvPr/>
        </p:nvSpPr>
        <p:spPr bwMode="auto">
          <a:xfrm>
            <a:off x="7702550" y="3470276"/>
            <a:ext cx="20574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Calibri" charset="0"/>
                <a:ea typeface="MS PGothic" charset="0"/>
                <a:cs typeface="MS PGothic" charset="0"/>
              </a:defRPr>
            </a:lvl1pPr>
            <a:lvl2pPr marL="742950" indent="-285750">
              <a:defRPr sz="3100">
                <a:solidFill>
                  <a:schemeClr val="tx1"/>
                </a:solidFill>
                <a:latin typeface="Calibri" charset="0"/>
                <a:ea typeface="MS PGothic" charset="0"/>
                <a:cs typeface="MS PGothic" charset="0"/>
              </a:defRPr>
            </a:lvl2pPr>
            <a:lvl3pPr marL="1143000" indent="-228600">
              <a:defRPr sz="2700">
                <a:solidFill>
                  <a:schemeClr val="tx1"/>
                </a:solidFill>
                <a:latin typeface="Calibri" charset="0"/>
                <a:ea typeface="MS PGothic" charset="0"/>
                <a:cs typeface="MS PGothic" charset="0"/>
              </a:defRPr>
            </a:lvl3pPr>
            <a:lvl4pPr marL="1600200" indent="-228600">
              <a:defRPr sz="2200">
                <a:solidFill>
                  <a:schemeClr val="tx1"/>
                </a:solidFill>
                <a:latin typeface="Calibri" charset="0"/>
                <a:ea typeface="MS PGothic" charset="0"/>
                <a:cs typeface="MS PGothic" charset="0"/>
              </a:defRPr>
            </a:lvl4pPr>
            <a:lvl5pPr marL="2057400" indent="-228600">
              <a:defRPr sz="2200">
                <a:solidFill>
                  <a:schemeClr val="tx1"/>
                </a:solidFill>
                <a:latin typeface="Calibri" charset="0"/>
                <a:ea typeface="MS PGothic" charset="0"/>
                <a:cs typeface="MS PGothic" charset="0"/>
              </a:defRPr>
            </a:lvl5pPr>
            <a:lvl6pPr marL="2514600" indent="-228600" defTabSz="508000" eaLnBrk="0" fontAlgn="base" hangingPunct="0">
              <a:spcAft>
                <a:spcPct val="0"/>
              </a:spcAft>
              <a:buFont typeface="Arial" charset="0"/>
              <a:buChar char="»"/>
              <a:defRPr sz="2200">
                <a:solidFill>
                  <a:schemeClr val="tx1"/>
                </a:solidFill>
                <a:latin typeface="Calibri" charset="0"/>
                <a:ea typeface="MS PGothic" charset="0"/>
                <a:cs typeface="MS PGothic" charset="0"/>
              </a:defRPr>
            </a:lvl6pPr>
            <a:lvl7pPr marL="2971800" indent="-228600" defTabSz="508000" eaLnBrk="0" fontAlgn="base" hangingPunct="0">
              <a:spcAft>
                <a:spcPct val="0"/>
              </a:spcAft>
              <a:buFont typeface="Arial" charset="0"/>
              <a:buChar char="»"/>
              <a:defRPr sz="2200">
                <a:solidFill>
                  <a:schemeClr val="tx1"/>
                </a:solidFill>
                <a:latin typeface="Calibri" charset="0"/>
                <a:ea typeface="MS PGothic" charset="0"/>
                <a:cs typeface="MS PGothic" charset="0"/>
              </a:defRPr>
            </a:lvl7pPr>
            <a:lvl8pPr marL="3429000" indent="-228600" defTabSz="508000" eaLnBrk="0" fontAlgn="base" hangingPunct="0">
              <a:spcAft>
                <a:spcPct val="0"/>
              </a:spcAft>
              <a:buFont typeface="Arial" charset="0"/>
              <a:buChar char="»"/>
              <a:defRPr sz="2200">
                <a:solidFill>
                  <a:schemeClr val="tx1"/>
                </a:solidFill>
                <a:latin typeface="Calibri" charset="0"/>
                <a:ea typeface="MS PGothic" charset="0"/>
                <a:cs typeface="MS PGothic" charset="0"/>
              </a:defRPr>
            </a:lvl8pPr>
            <a:lvl9pPr marL="3886200" indent="-228600" defTabSz="508000" eaLnBrk="0" fontAlgn="base" hangingPunct="0">
              <a:spcAft>
                <a:spcPct val="0"/>
              </a:spcAft>
              <a:buFont typeface="Arial" charset="0"/>
              <a:buChar char="»"/>
              <a:defRPr sz="2200">
                <a:solidFill>
                  <a:schemeClr val="tx1"/>
                </a:solidFill>
                <a:latin typeface="Calibri" charset="0"/>
                <a:ea typeface="MS PGothic" charset="0"/>
                <a:cs typeface="MS PGothic" charset="0"/>
              </a:defRPr>
            </a:lvl9pPr>
          </a:lstStyle>
          <a:p>
            <a:pPr algn="r"/>
            <a:endParaRPr lang="en-US" sz="1800" dirty="0">
              <a:solidFill>
                <a:srgbClr val="FFFFFF"/>
              </a:solidFill>
              <a:latin typeface="Ropa Soft Pro" charset="0"/>
              <a:cs typeface="Ropa Soft Pro" charset="0"/>
            </a:endParaRPr>
          </a:p>
          <a:p>
            <a:pPr algn="r"/>
            <a:endParaRPr lang="en-US" sz="1800" dirty="0">
              <a:solidFill>
                <a:srgbClr val="FFFFFF"/>
              </a:solidFill>
              <a:latin typeface="Ropa Soft Pro" charset="0"/>
              <a:cs typeface="Ropa Soft Pro" charset="0"/>
            </a:endParaRPr>
          </a:p>
        </p:txBody>
      </p:sp>
      <p:sp>
        <p:nvSpPr>
          <p:cNvPr id="5" name="TextBox 4"/>
          <p:cNvSpPr txBox="1"/>
          <p:nvPr/>
        </p:nvSpPr>
        <p:spPr>
          <a:xfrm>
            <a:off x="-231321" y="2202779"/>
            <a:ext cx="9601199" cy="2123658"/>
          </a:xfrm>
          <a:prstGeom prst="rect">
            <a:avLst/>
          </a:prstGeom>
          <a:noFill/>
        </p:spPr>
        <p:txBody>
          <a:bodyPr wrap="square" rtlCol="0">
            <a:spAutoFit/>
          </a:bodyPr>
          <a:lstStyle/>
          <a:p>
            <a:pPr algn="ctr"/>
            <a:r>
              <a:rPr lang="en-US" sz="4800" b="1" dirty="0" smtClean="0">
                <a:solidFill>
                  <a:schemeClr val="bg1"/>
                </a:solidFill>
              </a:rPr>
              <a:t>Personas</a:t>
            </a:r>
          </a:p>
          <a:p>
            <a:pPr algn="ctr"/>
            <a:r>
              <a:rPr lang="en-US" sz="4800" b="1" dirty="0" smtClean="0">
                <a:solidFill>
                  <a:schemeClr val="bg1"/>
                </a:solidFill>
              </a:rPr>
              <a:t>In Design Thinking</a:t>
            </a:r>
            <a:endParaRPr lang="en-US" sz="4800" dirty="0">
              <a:solidFill>
                <a:schemeClr val="bg1"/>
              </a:solidFill>
            </a:endParaRPr>
          </a:p>
          <a:p>
            <a:pPr algn="ctr"/>
            <a:r>
              <a:rPr lang="en-GB" sz="3600" b="1" dirty="0" smtClean="0">
                <a:solidFill>
                  <a:schemeClr val="bg1"/>
                </a:solidFill>
              </a:rPr>
              <a:t>					</a:t>
            </a:r>
            <a:endParaRPr lang="en-US" sz="3600" dirty="0">
              <a:solidFill>
                <a:schemeClr val="bg1"/>
              </a:solidFill>
            </a:endParaRPr>
          </a:p>
        </p:txBody>
      </p:sp>
    </p:spTree>
    <p:extLst>
      <p:ext uri="{BB962C8B-B14F-4D97-AF65-F5344CB8AC3E}">
        <p14:creationId xmlns:p14="http://schemas.microsoft.com/office/powerpoint/2010/main" val="75358804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Content</a:t>
            </a:r>
            <a:endParaRPr lang="en-GB" dirty="0"/>
          </a:p>
        </p:txBody>
      </p:sp>
      <p:sp>
        <p:nvSpPr>
          <p:cNvPr id="3" name="Content Placeholder 2"/>
          <p:cNvSpPr>
            <a:spLocks noGrp="1"/>
          </p:cNvSpPr>
          <p:nvPr>
            <p:ph sz="half" idx="1"/>
          </p:nvPr>
        </p:nvSpPr>
        <p:spPr>
          <a:xfrm>
            <a:off x="535719" y="1493349"/>
            <a:ext cx="9079037" cy="5612015"/>
          </a:xfrm>
        </p:spPr>
        <p:txBody>
          <a:bodyPr>
            <a:normAutofit/>
          </a:bodyPr>
          <a:lstStyle/>
          <a:p>
            <a:pPr marL="0" indent="0">
              <a:buNone/>
            </a:pPr>
            <a:endParaRPr lang="en-US" i="1" dirty="0" smtClean="0"/>
          </a:p>
          <a:p>
            <a:r>
              <a:rPr lang="en-US" i="1" dirty="0" smtClean="0"/>
              <a:t>Persona definition</a:t>
            </a:r>
          </a:p>
          <a:p>
            <a:r>
              <a:rPr lang="en-US" i="1" dirty="0" smtClean="0"/>
              <a:t>Purpose of Persona</a:t>
            </a:r>
          </a:p>
          <a:p>
            <a:r>
              <a:rPr lang="en-US" i="1" dirty="0" smtClean="0"/>
              <a:t>Persona Description</a:t>
            </a:r>
          </a:p>
          <a:p>
            <a:r>
              <a:rPr lang="en-US" i="1" dirty="0" smtClean="0"/>
              <a:t>How to create a persona</a:t>
            </a:r>
          </a:p>
          <a:p>
            <a:r>
              <a:rPr lang="en-US" i="1" dirty="0" smtClean="0"/>
              <a:t>Own Examples of persona creations and use </a:t>
            </a:r>
          </a:p>
        </p:txBody>
      </p:sp>
      <p:sp>
        <p:nvSpPr>
          <p:cNvPr id="5" name="Rectangle 4"/>
          <p:cNvSpPr/>
          <p:nvPr/>
        </p:nvSpPr>
        <p:spPr>
          <a:xfrm>
            <a:off x="185057" y="7088267"/>
            <a:ext cx="9100457" cy="338554"/>
          </a:xfrm>
          <a:prstGeom prst="rect">
            <a:avLst/>
          </a:prstGeom>
        </p:spPr>
        <p:txBody>
          <a:bodyPr wrap="square">
            <a:spAutoFit/>
          </a:bodyPr>
          <a:lstStyle/>
          <a:p>
            <a:pPr>
              <a:tabLst>
                <a:tab pos="2865755" algn="ctr"/>
                <a:tab pos="5731510" algn="r"/>
              </a:tabLst>
            </a:pPr>
            <a:r>
              <a:rPr lang="en-GB" sz="1600" dirty="0">
                <a:latin typeface="Calibri" panose="020F0502020204030204" pitchFamily="34" charset="0"/>
                <a:ea typeface="Calibri" panose="020F0502020204030204" pitchFamily="34" charset="0"/>
                <a:cs typeface="Times New Roman" panose="02020603050405020304" pitchFamily="18" charset="0"/>
              </a:rPr>
              <a:t>https://www.interaction-design.org/literature/article/personas-why-and-how-you-should-use-them</a:t>
            </a:r>
          </a:p>
        </p:txBody>
      </p:sp>
    </p:spTree>
    <p:extLst>
      <p:ext uri="{BB962C8B-B14F-4D97-AF65-F5344CB8AC3E}">
        <p14:creationId xmlns:p14="http://schemas.microsoft.com/office/powerpoint/2010/main" val="151817169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Persona definitions</a:t>
            </a:r>
            <a:endParaRPr lang="en-GB" dirty="0"/>
          </a:p>
        </p:txBody>
      </p:sp>
      <p:sp>
        <p:nvSpPr>
          <p:cNvPr id="3" name="Content Placeholder 2"/>
          <p:cNvSpPr>
            <a:spLocks noGrp="1"/>
          </p:cNvSpPr>
          <p:nvPr>
            <p:ph sz="half" idx="1"/>
          </p:nvPr>
        </p:nvSpPr>
        <p:spPr>
          <a:xfrm>
            <a:off x="563915" y="1849361"/>
            <a:ext cx="8547428" cy="1624399"/>
          </a:xfrm>
        </p:spPr>
        <p:txBody>
          <a:bodyPr>
            <a:normAutofit fontScale="77500" lnSpcReduction="20000"/>
          </a:bodyPr>
          <a:lstStyle/>
          <a:p>
            <a:pPr marL="0" indent="0">
              <a:buNone/>
            </a:pPr>
            <a:endParaRPr lang="en-US" dirty="0"/>
          </a:p>
          <a:p>
            <a:pPr marL="0" indent="0">
              <a:buNone/>
            </a:pPr>
            <a:r>
              <a:rPr lang="en-US" dirty="0" smtClean="0"/>
              <a:t>“Personas </a:t>
            </a:r>
            <a:r>
              <a:rPr lang="en-US" dirty="0"/>
              <a:t>are not real people, but they represent them throughout the design process. They are hypothetical archetypes of actual users. […] Personas are defined by their goals</a:t>
            </a:r>
            <a:r>
              <a:rPr lang="en-US" dirty="0" smtClean="0"/>
              <a:t>.” Alan Cooper </a:t>
            </a:r>
            <a:endParaRPr lang="en-US" dirty="0"/>
          </a:p>
        </p:txBody>
      </p:sp>
      <p:sp>
        <p:nvSpPr>
          <p:cNvPr id="4" name="Content Placeholder 3"/>
          <p:cNvSpPr>
            <a:spLocks noGrp="1"/>
          </p:cNvSpPr>
          <p:nvPr>
            <p:ph sz="half" idx="2"/>
          </p:nvPr>
        </p:nvSpPr>
        <p:spPr>
          <a:xfrm>
            <a:off x="563915" y="3744687"/>
            <a:ext cx="8646418" cy="1905000"/>
          </a:xfrm>
        </p:spPr>
        <p:txBody>
          <a:bodyPr>
            <a:normAutofit fontScale="77500" lnSpcReduction="20000"/>
          </a:bodyPr>
          <a:lstStyle/>
          <a:p>
            <a:pPr marL="0" indent="0">
              <a:buNone/>
            </a:pPr>
            <a:r>
              <a:rPr lang="en-US" dirty="0" smtClean="0"/>
              <a:t>“Personas </a:t>
            </a:r>
            <a:r>
              <a:rPr lang="en-US" dirty="0"/>
              <a:t>are fictional characters, which you create based upon your research in order to represent the different user types that might use your service, product, site, or brand in a similar way. </a:t>
            </a:r>
            <a:r>
              <a:rPr lang="en-US" dirty="0" smtClean="0"/>
              <a:t>“Interaction </a:t>
            </a:r>
            <a:r>
              <a:rPr lang="en-US" dirty="0"/>
              <a:t>Design Foundation</a:t>
            </a:r>
            <a:endParaRPr lang="en-GB" dirty="0"/>
          </a:p>
        </p:txBody>
      </p:sp>
    </p:spTree>
    <p:extLst>
      <p:ext uri="{BB962C8B-B14F-4D97-AF65-F5344CB8AC3E}">
        <p14:creationId xmlns:p14="http://schemas.microsoft.com/office/powerpoint/2010/main" val="256975029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Purpose of Personas</a:t>
            </a:r>
            <a:endParaRPr lang="en-GB" dirty="0"/>
          </a:p>
        </p:txBody>
      </p:sp>
      <p:sp>
        <p:nvSpPr>
          <p:cNvPr id="3" name="Content Placeholder 2"/>
          <p:cNvSpPr>
            <a:spLocks noGrp="1"/>
          </p:cNvSpPr>
          <p:nvPr>
            <p:ph sz="half" idx="1"/>
          </p:nvPr>
        </p:nvSpPr>
        <p:spPr>
          <a:xfrm>
            <a:off x="535719" y="1493349"/>
            <a:ext cx="9079037" cy="5612015"/>
          </a:xfrm>
        </p:spPr>
        <p:txBody>
          <a:bodyPr>
            <a:normAutofit lnSpcReduction="10000"/>
          </a:bodyPr>
          <a:lstStyle/>
          <a:p>
            <a:pPr marL="0" indent="0">
              <a:buNone/>
            </a:pPr>
            <a:r>
              <a:rPr lang="en-US" dirty="0" smtClean="0"/>
              <a:t>“Creating </a:t>
            </a:r>
            <a:r>
              <a:rPr lang="en-US" i="1" dirty="0"/>
              <a:t>personas will help you </a:t>
            </a:r>
            <a:endParaRPr lang="en-US" i="1" dirty="0" smtClean="0"/>
          </a:p>
          <a:p>
            <a:r>
              <a:rPr lang="en-US" i="1" dirty="0" smtClean="0"/>
              <a:t>to </a:t>
            </a:r>
            <a:r>
              <a:rPr lang="en-US" i="1" dirty="0"/>
              <a:t>understand your users’ needs, experiences, </a:t>
            </a:r>
            <a:r>
              <a:rPr lang="en-US" i="1" dirty="0" err="1"/>
              <a:t>behaviours</a:t>
            </a:r>
            <a:r>
              <a:rPr lang="en-US" i="1" dirty="0"/>
              <a:t> and </a:t>
            </a:r>
            <a:r>
              <a:rPr lang="en-US" i="1" dirty="0" smtClean="0"/>
              <a:t>goals…</a:t>
            </a:r>
          </a:p>
          <a:p>
            <a:r>
              <a:rPr lang="en-US" i="1" dirty="0" smtClean="0"/>
              <a:t>step </a:t>
            </a:r>
            <a:r>
              <a:rPr lang="en-US" i="1" dirty="0"/>
              <a:t>out of yourself. </a:t>
            </a:r>
            <a:endParaRPr lang="en-US" i="1" dirty="0" smtClean="0"/>
          </a:p>
          <a:p>
            <a:r>
              <a:rPr lang="en-US" i="1" dirty="0" smtClean="0"/>
              <a:t>to </a:t>
            </a:r>
            <a:r>
              <a:rPr lang="en-US" i="1" dirty="0" err="1"/>
              <a:t>recognise</a:t>
            </a:r>
            <a:r>
              <a:rPr lang="en-US" i="1" dirty="0"/>
              <a:t> that different people have different needs and </a:t>
            </a:r>
            <a:r>
              <a:rPr lang="en-US" i="1" dirty="0" smtClean="0"/>
              <a:t>expectations</a:t>
            </a:r>
          </a:p>
          <a:p>
            <a:r>
              <a:rPr lang="en-US" i="1" dirty="0" smtClean="0"/>
              <a:t>to </a:t>
            </a:r>
            <a:r>
              <a:rPr lang="en-US" i="1" dirty="0"/>
              <a:t>identify with the user you’re designing </a:t>
            </a:r>
            <a:r>
              <a:rPr lang="en-US" i="1" dirty="0" smtClean="0"/>
              <a:t>for</a:t>
            </a:r>
          </a:p>
          <a:p>
            <a:r>
              <a:rPr lang="en-US" i="1" dirty="0" smtClean="0"/>
              <a:t>make </a:t>
            </a:r>
            <a:r>
              <a:rPr lang="en-US" i="1" dirty="0"/>
              <a:t>the design task at hand less complex, </a:t>
            </a:r>
            <a:endParaRPr lang="en-US" i="1" dirty="0" smtClean="0"/>
          </a:p>
          <a:p>
            <a:r>
              <a:rPr lang="en-US" i="1" dirty="0" smtClean="0"/>
              <a:t>guide </a:t>
            </a:r>
            <a:r>
              <a:rPr lang="en-US" i="1" dirty="0"/>
              <a:t>your ideation </a:t>
            </a:r>
            <a:r>
              <a:rPr lang="en-US" i="1" dirty="0" smtClean="0"/>
              <a:t>processes</a:t>
            </a:r>
          </a:p>
          <a:p>
            <a:r>
              <a:rPr lang="en-US" i="1" dirty="0" smtClean="0"/>
              <a:t>to </a:t>
            </a:r>
            <a:r>
              <a:rPr lang="en-US" i="1" dirty="0"/>
              <a:t>achieve the goal of creating a good user experience for your target user group</a:t>
            </a:r>
            <a:r>
              <a:rPr lang="en-US" i="1" dirty="0" smtClean="0"/>
              <a:t>.” </a:t>
            </a:r>
            <a:endParaRPr lang="en-GB" dirty="0"/>
          </a:p>
        </p:txBody>
      </p:sp>
      <p:sp>
        <p:nvSpPr>
          <p:cNvPr id="5" name="Rectangle 4"/>
          <p:cNvSpPr/>
          <p:nvPr/>
        </p:nvSpPr>
        <p:spPr>
          <a:xfrm>
            <a:off x="185057" y="7088267"/>
            <a:ext cx="9100457" cy="338554"/>
          </a:xfrm>
          <a:prstGeom prst="rect">
            <a:avLst/>
          </a:prstGeom>
        </p:spPr>
        <p:txBody>
          <a:bodyPr wrap="square">
            <a:spAutoFit/>
          </a:bodyPr>
          <a:lstStyle/>
          <a:p>
            <a:pPr>
              <a:tabLst>
                <a:tab pos="2865755" algn="ctr"/>
                <a:tab pos="5731510" algn="r"/>
              </a:tabLst>
            </a:pPr>
            <a:r>
              <a:rPr lang="en-GB" sz="1600" dirty="0">
                <a:latin typeface="Calibri" panose="020F0502020204030204" pitchFamily="34" charset="0"/>
                <a:ea typeface="Calibri" panose="020F0502020204030204" pitchFamily="34" charset="0"/>
                <a:cs typeface="Times New Roman" panose="02020603050405020304" pitchFamily="18" charset="0"/>
              </a:rPr>
              <a:t>https://www.interaction-design.org/literature/article/personas-why-and-how-you-should-use-them</a:t>
            </a:r>
          </a:p>
        </p:txBody>
      </p:sp>
    </p:spTree>
    <p:extLst>
      <p:ext uri="{BB962C8B-B14F-4D97-AF65-F5344CB8AC3E}">
        <p14:creationId xmlns:p14="http://schemas.microsoft.com/office/powerpoint/2010/main" val="395014821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324" y="989"/>
            <a:ext cx="9135428" cy="1272646"/>
          </a:xfrm>
        </p:spPr>
        <p:txBody>
          <a:bodyPr/>
          <a:lstStyle/>
          <a:p>
            <a:r>
              <a:rPr lang="en-US" dirty="0" smtClean="0"/>
              <a:t>Persona descriptions</a:t>
            </a:r>
            <a:endParaRPr lang="en-GB" dirty="0"/>
          </a:p>
        </p:txBody>
      </p:sp>
      <p:sp>
        <p:nvSpPr>
          <p:cNvPr id="4" name="Content Placeholder 3"/>
          <p:cNvSpPr>
            <a:spLocks noGrp="1"/>
          </p:cNvSpPr>
          <p:nvPr>
            <p:ph sz="half" idx="2"/>
          </p:nvPr>
        </p:nvSpPr>
        <p:spPr/>
        <p:txBody>
          <a:bodyPr/>
          <a:lstStyle/>
          <a:p>
            <a:endParaRPr lang="en-GB"/>
          </a:p>
        </p:txBody>
      </p:sp>
      <p:pic>
        <p:nvPicPr>
          <p:cNvPr id="7" name="Content Placeholder 6"/>
          <p:cNvPicPr>
            <a:picLocks noGrp="1" noChangeAspect="1"/>
          </p:cNvPicPr>
          <p:nvPr>
            <p:ph sz="half" idx="1"/>
          </p:nvPr>
        </p:nvPicPr>
        <p:blipFill>
          <a:blip r:embed="rId2"/>
          <a:stretch>
            <a:fillRect/>
          </a:stretch>
        </p:blipFill>
        <p:spPr>
          <a:xfrm>
            <a:off x="0" y="1186091"/>
            <a:ext cx="8599714" cy="6449784"/>
          </a:xfrm>
          <a:prstGeom prst="rect">
            <a:avLst/>
          </a:prstGeom>
        </p:spPr>
      </p:pic>
      <p:sp>
        <p:nvSpPr>
          <p:cNvPr id="8" name="Rectangle 7"/>
          <p:cNvSpPr/>
          <p:nvPr/>
        </p:nvSpPr>
        <p:spPr>
          <a:xfrm>
            <a:off x="217154" y="1308630"/>
            <a:ext cx="8165405" cy="400110"/>
          </a:xfrm>
          <a:prstGeom prst="rect">
            <a:avLst/>
          </a:prstGeom>
        </p:spPr>
        <p:txBody>
          <a:bodyPr wrap="square">
            <a:spAutoFit/>
          </a:bodyPr>
          <a:lstStyle/>
          <a:p>
            <a:r>
              <a:rPr lang="en-GB" dirty="0"/>
              <a:t>https://dribbble.com/shots/4212167--Free-Template-User-Persona-Bundle</a:t>
            </a:r>
          </a:p>
        </p:txBody>
      </p:sp>
    </p:spTree>
    <p:extLst>
      <p:ext uri="{BB962C8B-B14F-4D97-AF65-F5344CB8AC3E}">
        <p14:creationId xmlns:p14="http://schemas.microsoft.com/office/powerpoint/2010/main" val="332663307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create personas</a:t>
            </a:r>
            <a:endParaRPr lang="en-GB" dirty="0"/>
          </a:p>
        </p:txBody>
      </p:sp>
      <p:sp>
        <p:nvSpPr>
          <p:cNvPr id="3" name="Content Placeholder 2"/>
          <p:cNvSpPr>
            <a:spLocks noGrp="1"/>
          </p:cNvSpPr>
          <p:nvPr>
            <p:ph sz="half" idx="1"/>
          </p:nvPr>
        </p:nvSpPr>
        <p:spPr/>
        <p:txBody>
          <a:bodyPr/>
          <a:lstStyle/>
          <a:p>
            <a:r>
              <a:rPr lang="en-US" dirty="0" smtClean="0"/>
              <a:t>Designer created</a:t>
            </a:r>
          </a:p>
          <a:p>
            <a:pPr lvl="1"/>
            <a:r>
              <a:rPr lang="en-US" dirty="0" smtClean="0"/>
              <a:t>Quantitative user studies</a:t>
            </a:r>
          </a:p>
          <a:p>
            <a:pPr lvl="1"/>
            <a:r>
              <a:rPr lang="en-US" dirty="0" smtClean="0"/>
              <a:t>Qualitative user studies</a:t>
            </a:r>
          </a:p>
          <a:p>
            <a:pPr lvl="1"/>
            <a:r>
              <a:rPr lang="en-US" dirty="0" smtClean="0"/>
              <a:t>Social listening</a:t>
            </a:r>
          </a:p>
          <a:p>
            <a:pPr lvl="1"/>
            <a:r>
              <a:rPr lang="en-US" dirty="0" smtClean="0"/>
              <a:t>Analytics</a:t>
            </a:r>
          </a:p>
          <a:p>
            <a:pPr lvl="1"/>
            <a:r>
              <a:rPr lang="en-US" dirty="0" smtClean="0"/>
              <a:t>Invent them </a:t>
            </a:r>
          </a:p>
          <a:p>
            <a:pPr lvl="1"/>
            <a:r>
              <a:rPr lang="en-US" dirty="0" smtClean="0"/>
              <a:t>Team effort</a:t>
            </a:r>
            <a:endParaRPr lang="en-GB" dirty="0"/>
          </a:p>
        </p:txBody>
      </p:sp>
      <p:sp>
        <p:nvSpPr>
          <p:cNvPr id="4" name="Content Placeholder 3"/>
          <p:cNvSpPr>
            <a:spLocks noGrp="1"/>
          </p:cNvSpPr>
          <p:nvPr>
            <p:ph sz="half" idx="2"/>
          </p:nvPr>
        </p:nvSpPr>
        <p:spPr/>
        <p:txBody>
          <a:bodyPr/>
          <a:lstStyle/>
          <a:p>
            <a:r>
              <a:rPr lang="en-US" dirty="0" smtClean="0"/>
              <a:t>User created</a:t>
            </a:r>
            <a:endParaRPr lang="en-GB" dirty="0"/>
          </a:p>
          <a:p>
            <a:pPr lvl="1"/>
            <a:r>
              <a:rPr lang="en-US" dirty="0" smtClean="0"/>
              <a:t>Brainstorming</a:t>
            </a:r>
          </a:p>
          <a:p>
            <a:pPr lvl="1"/>
            <a:r>
              <a:rPr lang="en-US" dirty="0" smtClean="0"/>
              <a:t>Collages</a:t>
            </a:r>
          </a:p>
          <a:p>
            <a:pPr lvl="1"/>
            <a:r>
              <a:rPr lang="en-US" dirty="0" smtClean="0"/>
              <a:t>Storytelling</a:t>
            </a:r>
          </a:p>
          <a:p>
            <a:pPr lvl="1"/>
            <a:endParaRPr lang="en-GB" dirty="0"/>
          </a:p>
        </p:txBody>
      </p:sp>
    </p:spTree>
    <p:extLst>
      <p:ext uri="{BB962C8B-B14F-4D97-AF65-F5344CB8AC3E}">
        <p14:creationId xmlns:p14="http://schemas.microsoft.com/office/powerpoint/2010/main" val="400505718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Co-designing with children</a:t>
            </a:r>
            <a:endParaRPr lang="en-US" dirty="0"/>
          </a:p>
        </p:txBody>
      </p:sp>
      <p:sp>
        <p:nvSpPr>
          <p:cNvPr id="4" name="Content Placeholder 3"/>
          <p:cNvSpPr>
            <a:spLocks noGrp="1"/>
          </p:cNvSpPr>
          <p:nvPr>
            <p:ph sz="half" idx="2"/>
          </p:nvPr>
        </p:nvSpPr>
        <p:spPr>
          <a:xfrm>
            <a:off x="563917" y="1862626"/>
            <a:ext cx="9079035" cy="5612015"/>
          </a:xfrm>
        </p:spPr>
        <p:txBody>
          <a:bodyPr/>
          <a:lstStyle/>
          <a:p>
            <a:pPr marL="285750" indent="-285750">
              <a:buFontTx/>
              <a:buChar char="•"/>
            </a:pPr>
            <a:r>
              <a:rPr lang="en-US" dirty="0" smtClean="0"/>
              <a:t>Children </a:t>
            </a:r>
            <a:r>
              <a:rPr lang="en-US" dirty="0"/>
              <a:t>cannot “replace” experienced </a:t>
            </a:r>
            <a:r>
              <a:rPr lang="en-US" dirty="0" smtClean="0"/>
              <a:t>designers</a:t>
            </a:r>
          </a:p>
          <a:p>
            <a:pPr marL="0" indent="0">
              <a:buNone/>
            </a:pPr>
            <a:r>
              <a:rPr lang="en-US" dirty="0" smtClean="0"/>
              <a:t>but</a:t>
            </a:r>
            <a:endParaRPr lang="en-US" dirty="0"/>
          </a:p>
          <a:p>
            <a:pPr marL="285750" indent="-285750">
              <a:buFontTx/>
              <a:buChar char="•"/>
            </a:pPr>
            <a:r>
              <a:rPr lang="en-US" dirty="0"/>
              <a:t>“children are experts at being children</a:t>
            </a:r>
            <a:r>
              <a:rPr lang="en-US" dirty="0" smtClean="0"/>
              <a:t>”</a:t>
            </a:r>
            <a:r>
              <a:rPr lang="en-US" sz="3200" dirty="0"/>
              <a:t> </a:t>
            </a:r>
            <a:r>
              <a:rPr lang="en-US" sz="1200" dirty="0"/>
              <a:t>(Fails, </a:t>
            </a:r>
            <a:r>
              <a:rPr lang="en-US" sz="1200" dirty="0" err="1"/>
              <a:t>Guha</a:t>
            </a:r>
            <a:r>
              <a:rPr lang="en-US" sz="1200" dirty="0"/>
              <a:t>, </a:t>
            </a:r>
            <a:r>
              <a:rPr lang="en-US" sz="1200" dirty="0" err="1"/>
              <a:t>Druin</a:t>
            </a:r>
            <a:r>
              <a:rPr lang="en-US" sz="1200" dirty="0"/>
              <a:t>, 2013</a:t>
            </a:r>
            <a:r>
              <a:rPr lang="en-US" sz="1200" dirty="0" smtClean="0"/>
              <a:t>)</a:t>
            </a:r>
          </a:p>
          <a:p>
            <a:pPr marL="285750" indent="-285750">
              <a:buFontTx/>
              <a:buChar char="•"/>
            </a:pPr>
            <a:endParaRPr lang="en-US" sz="1200" dirty="0"/>
          </a:p>
          <a:p>
            <a:pPr marL="285750" indent="-285750">
              <a:buFontTx/>
              <a:buChar char="•"/>
            </a:pPr>
            <a:endParaRPr lang="en-US" sz="1200" dirty="0" smtClean="0"/>
          </a:p>
          <a:p>
            <a:pPr marL="0" indent="0">
              <a:buNone/>
            </a:pPr>
            <a:r>
              <a:rPr lang="en-US" dirty="0" smtClean="0"/>
              <a:t>Can children anticipate the future? </a:t>
            </a:r>
          </a:p>
          <a:p>
            <a:pPr marL="0" indent="0">
              <a:buNone/>
            </a:pPr>
            <a:endParaRPr lang="en-US" sz="1200" dirty="0" smtClean="0"/>
          </a:p>
          <a:p>
            <a:pPr marL="0" indent="0">
              <a:buNone/>
            </a:pPr>
            <a:r>
              <a:rPr lang="en-US" dirty="0" smtClean="0"/>
              <a:t>Can </a:t>
            </a:r>
            <a:r>
              <a:rPr lang="en-US" dirty="0"/>
              <a:t>children design for collective spaces </a:t>
            </a:r>
            <a:endParaRPr lang="en-US" dirty="0" smtClean="0"/>
          </a:p>
          <a:p>
            <a:pPr marL="0" indent="0">
              <a:buNone/>
            </a:pPr>
            <a:r>
              <a:rPr lang="en-US" dirty="0" smtClean="0"/>
              <a:t>and </a:t>
            </a:r>
            <a:r>
              <a:rPr lang="en-US" dirty="0"/>
              <a:t>other </a:t>
            </a:r>
            <a:r>
              <a:rPr lang="en-US" dirty="0" smtClean="0"/>
              <a:t>children? </a:t>
            </a:r>
          </a:p>
          <a:p>
            <a:pPr marL="0" indent="0">
              <a:buNone/>
            </a:pPr>
            <a:endParaRPr lang="en-US" dirty="0" smtClean="0"/>
          </a:p>
          <a:p>
            <a:pPr marL="0" indent="0">
              <a:buNone/>
            </a:pPr>
            <a:endParaRPr lang="en-US" dirty="0"/>
          </a:p>
          <a:p>
            <a:pPr marL="285750" lvl="0" indent="-285750">
              <a:buFontTx/>
              <a:buChar char="•"/>
            </a:pPr>
            <a:endParaRPr lang="en-GB" dirty="0"/>
          </a:p>
          <a:p>
            <a:pPr marL="285750" indent="-285750">
              <a:buFontTx/>
              <a:buChar char="•"/>
            </a:pPr>
            <a:endParaRPr lang="en-US" dirty="0"/>
          </a:p>
        </p:txBody>
      </p:sp>
      <p:sp>
        <p:nvSpPr>
          <p:cNvPr id="3" name="Rectangle 2"/>
          <p:cNvSpPr/>
          <p:nvPr/>
        </p:nvSpPr>
        <p:spPr>
          <a:xfrm>
            <a:off x="323887" y="7086989"/>
            <a:ext cx="8134313" cy="400110"/>
          </a:xfrm>
          <a:prstGeom prst="rect">
            <a:avLst/>
          </a:prstGeom>
        </p:spPr>
        <p:txBody>
          <a:bodyPr wrap="square">
            <a:spAutoFit/>
          </a:bodyPr>
          <a:lstStyle/>
          <a:p>
            <a:r>
              <a:rPr lang="en-US" sz="1000" dirty="0"/>
              <a:t>Fails, JA, </a:t>
            </a:r>
            <a:r>
              <a:rPr lang="en-US" sz="1000" dirty="0" err="1"/>
              <a:t>Guha</a:t>
            </a:r>
            <a:r>
              <a:rPr lang="en-US" sz="1000" dirty="0"/>
              <a:t>, ML and </a:t>
            </a:r>
            <a:r>
              <a:rPr lang="en-US" sz="1000" dirty="0" err="1"/>
              <a:t>Druin</a:t>
            </a:r>
            <a:r>
              <a:rPr lang="en-US" sz="1000" dirty="0"/>
              <a:t> A. "Methods and techniques for involving children in the design of new technology for children." Foundations and </a:t>
            </a:r>
            <a:r>
              <a:rPr lang="en-US" sz="1000" dirty="0" smtClean="0"/>
              <a:t>Trends </a:t>
            </a:r>
            <a:r>
              <a:rPr lang="en-US" sz="1000" dirty="0"/>
              <a:t>in Human–Computer Interaction 6.2 (2013): 85-166.</a:t>
            </a:r>
            <a:endParaRPr lang="en-GB" sz="1000" dirty="0"/>
          </a:p>
        </p:txBody>
      </p:sp>
      <p:pic>
        <p:nvPicPr>
          <p:cNvPr id="5" name="Picture 4"/>
          <p:cNvPicPr>
            <a:picLocks noChangeAspect="1"/>
          </p:cNvPicPr>
          <p:nvPr/>
        </p:nvPicPr>
        <p:blipFill rotWithShape="1">
          <a:blip r:embed="rId3" cstate="email">
            <a:extLst>
              <a:ext uri="{BEBA8EAE-BF5A-486C-A8C5-ECC9F3942E4B}">
                <a14:imgProps xmlns:a14="http://schemas.microsoft.com/office/drawing/2010/main">
                  <a14:imgLayer r:embed="rId4">
                    <a14:imgEffect>
                      <a14:saturation sat="200000"/>
                    </a14:imgEffect>
                  </a14:imgLayer>
                </a14:imgProps>
              </a:ext>
              <a:ext uri="{28A0092B-C50C-407E-A947-70E740481C1C}">
                <a14:useLocalDpi xmlns:a14="http://schemas.microsoft.com/office/drawing/2010/main"/>
              </a:ext>
            </a:extLst>
          </a:blip>
          <a:srcRect l="47365" b="12150"/>
          <a:stretch/>
        </p:blipFill>
        <p:spPr>
          <a:xfrm>
            <a:off x="7267463" y="3682988"/>
            <a:ext cx="2733787" cy="3261905"/>
          </a:xfrm>
          <a:prstGeom prst="rect">
            <a:avLst/>
          </a:prstGeom>
        </p:spPr>
      </p:pic>
    </p:spTree>
    <p:extLst>
      <p:ext uri="{BB962C8B-B14F-4D97-AF65-F5344CB8AC3E}">
        <p14:creationId xmlns:p14="http://schemas.microsoft.com/office/powerpoint/2010/main" val="152948524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hqprint">
            <a:extLst>
              <a:ext uri="{28A0092B-C50C-407E-A947-70E740481C1C}">
                <a14:useLocalDpi xmlns:a14="http://schemas.microsoft.com/office/drawing/2010/main"/>
              </a:ext>
            </a:extLst>
          </a:blip>
          <a:srcRect b="2769"/>
          <a:stretch/>
        </p:blipFill>
        <p:spPr>
          <a:xfrm>
            <a:off x="-95473" y="3219677"/>
            <a:ext cx="5351862" cy="3684361"/>
          </a:xfrm>
          <a:prstGeom prst="rect">
            <a:avLst/>
          </a:prstGeom>
        </p:spPr>
      </p:pic>
      <p:sp>
        <p:nvSpPr>
          <p:cNvPr id="2" name="Title 1"/>
          <p:cNvSpPr>
            <a:spLocks noGrp="1"/>
          </p:cNvSpPr>
          <p:nvPr>
            <p:ph type="title"/>
          </p:nvPr>
        </p:nvSpPr>
        <p:spPr>
          <a:xfrm>
            <a:off x="-330676" y="104851"/>
            <a:ext cx="9135428" cy="1272646"/>
          </a:xfrm>
        </p:spPr>
        <p:txBody>
          <a:bodyPr/>
          <a:lstStyle/>
          <a:p>
            <a:r>
              <a:rPr lang="en-US" dirty="0" smtClean="0"/>
              <a:t>Child-created Child personas</a:t>
            </a:r>
            <a:endParaRPr lang="en-GB" dirty="0"/>
          </a:p>
        </p:txBody>
      </p:sp>
      <p:pic>
        <p:nvPicPr>
          <p:cNvPr id="3" name="Picture 2"/>
          <p:cNvPicPr>
            <a:picLocks noChangeAspect="1"/>
          </p:cNvPicPr>
          <p:nvPr/>
        </p:nvPicPr>
        <p:blipFill rotWithShape="1">
          <a:blip r:embed="rId3" cstate="screen">
            <a:extLst>
              <a:ext uri="{28A0092B-C50C-407E-A947-70E740481C1C}">
                <a14:useLocalDpi xmlns:a14="http://schemas.microsoft.com/office/drawing/2010/main"/>
              </a:ext>
            </a:extLst>
          </a:blip>
          <a:srcRect b="29039"/>
          <a:stretch/>
        </p:blipFill>
        <p:spPr>
          <a:xfrm>
            <a:off x="4624549" y="1284522"/>
            <a:ext cx="5535472" cy="3777336"/>
          </a:xfrm>
          <a:prstGeom prst="rect">
            <a:avLst/>
          </a:prstGeom>
        </p:spPr>
      </p:pic>
      <p:sp>
        <p:nvSpPr>
          <p:cNvPr id="6" name="Content Placeholder 2"/>
          <p:cNvSpPr txBox="1">
            <a:spLocks/>
          </p:cNvSpPr>
          <p:nvPr/>
        </p:nvSpPr>
        <p:spPr>
          <a:xfrm>
            <a:off x="238397" y="7074499"/>
            <a:ext cx="7997281" cy="561376"/>
          </a:xfrm>
          <a:prstGeom prst="rect">
            <a:avLst/>
          </a:prstGeom>
        </p:spPr>
        <p:txBody>
          <a:bodyPr>
            <a:normAutofit fontScale="92500" lnSpcReduction="10000"/>
          </a:bodyPr>
          <a:lstStyle>
            <a:lvl1pPr marL="381133" indent="-381133" algn="l" defTabSz="508178" rtl="0" eaLnBrk="1" latinLnBrk="0" hangingPunct="1">
              <a:spcBef>
                <a:spcPct val="20000"/>
              </a:spcBef>
              <a:buFont typeface="Arial"/>
              <a:buChar char="•"/>
              <a:defRPr sz="3600" kern="1200">
                <a:solidFill>
                  <a:schemeClr val="tx1"/>
                </a:solidFill>
                <a:latin typeface="+mn-lt"/>
                <a:ea typeface="+mn-ea"/>
                <a:cs typeface="+mn-cs"/>
              </a:defRPr>
            </a:lvl1pPr>
            <a:lvl2pPr marL="825789" indent="-317611" algn="l" defTabSz="508178" rtl="0" eaLnBrk="1" latinLnBrk="0" hangingPunct="1">
              <a:spcBef>
                <a:spcPct val="20000"/>
              </a:spcBef>
              <a:buFont typeface="Arial"/>
              <a:buChar char="–"/>
              <a:defRPr sz="3100" kern="1200">
                <a:solidFill>
                  <a:schemeClr val="tx1"/>
                </a:solidFill>
                <a:latin typeface="+mn-lt"/>
                <a:ea typeface="+mn-ea"/>
                <a:cs typeface="+mn-cs"/>
              </a:defRPr>
            </a:lvl2pPr>
            <a:lvl3pPr marL="1270445" indent="-254089" algn="l" defTabSz="508178" rtl="0" eaLnBrk="1" latinLnBrk="0" hangingPunct="1">
              <a:spcBef>
                <a:spcPct val="20000"/>
              </a:spcBef>
              <a:buFont typeface="Arial"/>
              <a:buChar char="•"/>
              <a:defRPr sz="2700" kern="1200">
                <a:solidFill>
                  <a:schemeClr val="tx1"/>
                </a:solidFill>
                <a:latin typeface="+mn-lt"/>
                <a:ea typeface="+mn-ea"/>
                <a:cs typeface="+mn-cs"/>
              </a:defRPr>
            </a:lvl3pPr>
            <a:lvl4pPr marL="1778622" indent="-254089" algn="l" defTabSz="508178" rtl="0" eaLnBrk="1" latinLnBrk="0" hangingPunct="1">
              <a:spcBef>
                <a:spcPct val="20000"/>
              </a:spcBef>
              <a:buFont typeface="Arial"/>
              <a:buChar char="–"/>
              <a:defRPr sz="2200" kern="1200">
                <a:solidFill>
                  <a:schemeClr val="tx1"/>
                </a:solidFill>
                <a:latin typeface="+mn-lt"/>
                <a:ea typeface="+mn-ea"/>
                <a:cs typeface="+mn-cs"/>
              </a:defRPr>
            </a:lvl4pPr>
            <a:lvl5pPr marL="2286800" indent="-254089" algn="l" defTabSz="508178" rtl="0" eaLnBrk="1" latinLnBrk="0" hangingPunct="1">
              <a:spcBef>
                <a:spcPct val="20000"/>
              </a:spcBef>
              <a:buFont typeface="Arial"/>
              <a:buChar char="»"/>
              <a:defRPr sz="2200" kern="1200">
                <a:solidFill>
                  <a:schemeClr val="tx1"/>
                </a:solidFill>
                <a:latin typeface="+mn-lt"/>
                <a:ea typeface="+mn-ea"/>
                <a:cs typeface="+mn-cs"/>
              </a:defRPr>
            </a:lvl5pPr>
            <a:lvl6pPr marL="2794978" indent="-254089" algn="l" defTabSz="508178" rtl="0" eaLnBrk="1" latinLnBrk="0" hangingPunct="1">
              <a:spcBef>
                <a:spcPct val="20000"/>
              </a:spcBef>
              <a:buFont typeface="Arial"/>
              <a:buChar char="•"/>
              <a:defRPr sz="2200" kern="1200">
                <a:solidFill>
                  <a:schemeClr val="tx1"/>
                </a:solidFill>
                <a:latin typeface="+mn-lt"/>
                <a:ea typeface="+mn-ea"/>
                <a:cs typeface="+mn-cs"/>
              </a:defRPr>
            </a:lvl6pPr>
            <a:lvl7pPr marL="3303156" indent="-254089" algn="l" defTabSz="508178" rtl="0" eaLnBrk="1" latinLnBrk="0" hangingPunct="1">
              <a:spcBef>
                <a:spcPct val="20000"/>
              </a:spcBef>
              <a:buFont typeface="Arial"/>
              <a:buChar char="•"/>
              <a:defRPr sz="2200" kern="1200">
                <a:solidFill>
                  <a:schemeClr val="tx1"/>
                </a:solidFill>
                <a:latin typeface="+mn-lt"/>
                <a:ea typeface="+mn-ea"/>
                <a:cs typeface="+mn-cs"/>
              </a:defRPr>
            </a:lvl7pPr>
            <a:lvl8pPr marL="3811334" indent="-254089" algn="l" defTabSz="508178" rtl="0" eaLnBrk="1" latinLnBrk="0" hangingPunct="1">
              <a:spcBef>
                <a:spcPct val="20000"/>
              </a:spcBef>
              <a:buFont typeface="Arial"/>
              <a:buChar char="•"/>
              <a:defRPr sz="2200" kern="1200">
                <a:solidFill>
                  <a:schemeClr val="tx1"/>
                </a:solidFill>
                <a:latin typeface="+mn-lt"/>
                <a:ea typeface="+mn-ea"/>
                <a:cs typeface="+mn-cs"/>
              </a:defRPr>
            </a:lvl8pPr>
            <a:lvl9pPr marL="4319511" indent="-254089" algn="l" defTabSz="508178" rtl="0" eaLnBrk="1" latinLnBrk="0" hangingPunct="1">
              <a:spcBef>
                <a:spcPct val="20000"/>
              </a:spcBef>
              <a:buFont typeface="Arial"/>
              <a:buChar char="•"/>
              <a:defRPr sz="2200" kern="1200">
                <a:solidFill>
                  <a:schemeClr val="tx1"/>
                </a:solidFill>
                <a:latin typeface="+mn-lt"/>
                <a:ea typeface="+mn-ea"/>
                <a:cs typeface="+mn-cs"/>
              </a:defRPr>
            </a:lvl9pPr>
          </a:lstStyle>
          <a:p>
            <a:pPr marL="171450" indent="-171450">
              <a:buFont typeface="Arial"/>
              <a:buNone/>
            </a:pPr>
            <a:r>
              <a:rPr lang="en-US" sz="1200" smtClean="0"/>
              <a:t>Helvi Itenge-Wheeler, Heike Winschiers-Theophilus, Alessandro Soro, Margot Brereton, (2018), Child designers creating personas to diversify design perspectives and concepts for their own technology enhanced library, in Proceedings of the 17th ACM Conference on Interaction Design and Children, 381-388</a:t>
            </a:r>
            <a:endParaRPr lang="en-US" sz="1200" dirty="0"/>
          </a:p>
        </p:txBody>
      </p:sp>
    </p:spTree>
    <p:extLst>
      <p:ext uri="{BB962C8B-B14F-4D97-AF65-F5344CB8AC3E}">
        <p14:creationId xmlns:p14="http://schemas.microsoft.com/office/powerpoint/2010/main" val="6586287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 y="158288"/>
            <a:ext cx="10150474" cy="875856"/>
          </a:xfrm>
          <a:prstGeom prst="rect">
            <a:avLst/>
          </a:prstGeom>
        </p:spPr>
        <p:txBody>
          <a:bodyPr>
            <a:normAutofit fontScale="92500"/>
          </a:bodyPr>
          <a:lstStyle>
            <a:lvl1pPr algn="ctr" defTabSz="508178" rtl="0" eaLnBrk="1" latinLnBrk="0" hangingPunct="1">
              <a:spcBef>
                <a:spcPct val="0"/>
              </a:spcBef>
              <a:buNone/>
              <a:defRPr sz="4900" kern="1200">
                <a:solidFill>
                  <a:schemeClr val="tx1"/>
                </a:solidFill>
                <a:latin typeface="+mj-lt"/>
                <a:ea typeface="+mj-ea"/>
                <a:cs typeface="+mj-cs"/>
              </a:defRPr>
            </a:lvl1pPr>
          </a:lstStyle>
          <a:p>
            <a:r>
              <a:rPr lang="en-US" sz="4400" dirty="0" smtClean="0"/>
              <a:t>Real children designing with fictitious children </a:t>
            </a:r>
            <a:endParaRPr lang="en-GB" sz="4400" dirty="0"/>
          </a:p>
        </p:txBody>
      </p:sp>
      <p:pic>
        <p:nvPicPr>
          <p:cNvPr id="4" name="Picture 3"/>
          <p:cNvPicPr preferRelativeResize="0"/>
          <p:nvPr/>
        </p:nvPicPr>
        <p:blipFill rotWithShape="1">
          <a:blip r:embed="rId2" cstate="screen">
            <a:extLst>
              <a:ext uri="{28A0092B-C50C-407E-A947-70E740481C1C}">
                <a14:useLocalDpi xmlns:a14="http://schemas.microsoft.com/office/drawing/2010/main"/>
              </a:ext>
            </a:extLst>
          </a:blip>
          <a:srcRect/>
          <a:stretch/>
        </p:blipFill>
        <p:spPr bwMode="auto">
          <a:xfrm rot="5400000">
            <a:off x="368559" y="1978651"/>
            <a:ext cx="1115568" cy="837641"/>
          </a:xfrm>
          <a:prstGeom prst="rect">
            <a:avLst/>
          </a:prstGeom>
          <a:ln>
            <a:noFill/>
          </a:ln>
          <a:extLst>
            <a:ext uri="{53640926-AAD7-44D8-BBD7-CCE9431645EC}">
              <a14:shadowObscured xmlns:a14="http://schemas.microsoft.com/office/drawing/2010/main"/>
            </a:ext>
          </a:extLst>
        </p:spPr>
      </p:pic>
      <p:pic>
        <p:nvPicPr>
          <p:cNvPr id="5" name="Picture 4"/>
          <p:cNvPicPr preferRelativeResize="0"/>
          <p:nvPr/>
        </p:nvPicPr>
        <p:blipFill rotWithShape="1">
          <a:blip r:embed="rId3">
            <a:extLst>
              <a:ext uri="{28A0092B-C50C-407E-A947-70E740481C1C}">
                <a14:useLocalDpi xmlns:a14="http://schemas.microsoft.com/office/drawing/2010/main"/>
              </a:ext>
            </a:extLst>
          </a:blip>
          <a:srcRect/>
          <a:stretch/>
        </p:blipFill>
        <p:spPr bwMode="auto">
          <a:xfrm rot="5400000">
            <a:off x="368230" y="3354831"/>
            <a:ext cx="1116229" cy="837641"/>
          </a:xfrm>
          <a:prstGeom prst="rect">
            <a:avLst/>
          </a:prstGeom>
          <a:ln>
            <a:noFill/>
          </a:ln>
          <a:extLst>
            <a:ext uri="{53640926-AAD7-44D8-BBD7-CCE9431645EC}">
              <a14:shadowObscured xmlns:a14="http://schemas.microsoft.com/office/drawing/2010/main"/>
            </a:ext>
          </a:extLst>
        </p:spPr>
      </p:pic>
      <p:pic>
        <p:nvPicPr>
          <p:cNvPr id="6" name="Picture 5"/>
          <p:cNvPicPr preferRelativeResize="0"/>
          <p:nvPr/>
        </p:nvPicPr>
        <p:blipFill rotWithShape="1">
          <a:blip r:embed="rId4">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a:ext>
            </a:extLst>
          </a:blip>
          <a:srcRect/>
          <a:stretch/>
        </p:blipFill>
        <p:spPr bwMode="auto">
          <a:xfrm>
            <a:off x="507524" y="4592048"/>
            <a:ext cx="837641" cy="1116229"/>
          </a:xfrm>
          <a:prstGeom prst="rect">
            <a:avLst/>
          </a:prstGeom>
          <a:ln>
            <a:noFill/>
          </a:ln>
          <a:extLst>
            <a:ext uri="{53640926-AAD7-44D8-BBD7-CCE9431645EC}">
              <a14:shadowObscured xmlns:a14="http://schemas.microsoft.com/office/drawing/2010/main"/>
            </a:ext>
          </a:extLst>
        </p:spPr>
      </p:pic>
      <p:pic>
        <p:nvPicPr>
          <p:cNvPr id="7" name="Picture 6"/>
          <p:cNvPicPr preferRelativeResize="0"/>
          <p:nvPr/>
        </p:nvPicPr>
        <p:blipFill rotWithShape="1">
          <a:blip r:embed="rId6" cstate="screen">
            <a:extLst>
              <a:ext uri="{28A0092B-C50C-407E-A947-70E740481C1C}">
                <a14:useLocalDpi xmlns:a14="http://schemas.microsoft.com/office/drawing/2010/main"/>
              </a:ext>
            </a:extLst>
          </a:blip>
          <a:srcRect/>
          <a:stretch/>
        </p:blipFill>
        <p:spPr bwMode="auto">
          <a:xfrm rot="16200000">
            <a:off x="368558" y="6107522"/>
            <a:ext cx="1115568" cy="837640"/>
          </a:xfrm>
          <a:prstGeom prst="rect">
            <a:avLst/>
          </a:prstGeom>
          <a:ln>
            <a:noFill/>
          </a:ln>
          <a:extLst>
            <a:ext uri="{53640926-AAD7-44D8-BBD7-CCE9431645EC}">
              <a14:shadowObscured xmlns:a14="http://schemas.microsoft.com/office/drawing/2010/main"/>
            </a:ext>
          </a:extLst>
        </p:spPr>
      </p:pic>
      <p:sp>
        <p:nvSpPr>
          <p:cNvPr id="8" name="Rectangle 7"/>
          <p:cNvSpPr/>
          <p:nvPr/>
        </p:nvSpPr>
        <p:spPr>
          <a:xfrm>
            <a:off x="439285" y="2873203"/>
            <a:ext cx="974113" cy="369332"/>
          </a:xfrm>
          <a:prstGeom prst="rect">
            <a:avLst/>
          </a:prstGeom>
        </p:spPr>
        <p:txBody>
          <a:bodyPr wrap="none">
            <a:spAutoFit/>
          </a:bodyPr>
          <a:lstStyle/>
          <a:p>
            <a:r>
              <a:rPr lang="en-US" sz="1800" b="1" dirty="0" smtClean="0">
                <a:solidFill>
                  <a:schemeClr val="dk1"/>
                </a:solidFill>
              </a:rPr>
              <a:t>Ronaldo</a:t>
            </a:r>
            <a:endParaRPr lang="en-GB" sz="1800" dirty="0"/>
          </a:p>
        </p:txBody>
      </p:sp>
      <p:sp>
        <p:nvSpPr>
          <p:cNvPr id="9" name="Rectangle 8"/>
          <p:cNvSpPr/>
          <p:nvPr/>
        </p:nvSpPr>
        <p:spPr>
          <a:xfrm>
            <a:off x="215255" y="1550764"/>
            <a:ext cx="1422172" cy="369332"/>
          </a:xfrm>
          <a:prstGeom prst="rect">
            <a:avLst/>
          </a:prstGeom>
        </p:spPr>
        <p:txBody>
          <a:bodyPr wrap="square">
            <a:spAutoFit/>
          </a:bodyPr>
          <a:lstStyle/>
          <a:p>
            <a:r>
              <a:rPr lang="en-US" sz="1800" b="1" dirty="0" smtClean="0">
                <a:solidFill>
                  <a:schemeClr val="dk1"/>
                </a:solidFill>
              </a:rPr>
              <a:t>Anna Michel</a:t>
            </a:r>
            <a:endParaRPr lang="en-GB" sz="1800" dirty="0"/>
          </a:p>
        </p:txBody>
      </p:sp>
      <p:sp>
        <p:nvSpPr>
          <p:cNvPr id="10" name="Rectangle 9"/>
          <p:cNvSpPr/>
          <p:nvPr/>
        </p:nvSpPr>
        <p:spPr>
          <a:xfrm>
            <a:off x="602569" y="4288278"/>
            <a:ext cx="742593" cy="369332"/>
          </a:xfrm>
          <a:prstGeom prst="rect">
            <a:avLst/>
          </a:prstGeom>
        </p:spPr>
        <p:txBody>
          <a:bodyPr wrap="square">
            <a:spAutoFit/>
          </a:bodyPr>
          <a:lstStyle/>
          <a:p>
            <a:r>
              <a:rPr lang="en-US" sz="1800" b="1" dirty="0" smtClean="0">
                <a:solidFill>
                  <a:schemeClr val="dk1"/>
                </a:solidFill>
              </a:rPr>
              <a:t>Vicky</a:t>
            </a:r>
            <a:endParaRPr lang="en-GB" sz="1800" dirty="0"/>
          </a:p>
        </p:txBody>
      </p:sp>
      <p:sp>
        <p:nvSpPr>
          <p:cNvPr id="11" name="Rectangle 10"/>
          <p:cNvSpPr/>
          <p:nvPr/>
        </p:nvSpPr>
        <p:spPr>
          <a:xfrm>
            <a:off x="602570" y="5693774"/>
            <a:ext cx="742595" cy="369332"/>
          </a:xfrm>
          <a:prstGeom prst="rect">
            <a:avLst/>
          </a:prstGeom>
        </p:spPr>
        <p:txBody>
          <a:bodyPr wrap="square">
            <a:spAutoFit/>
          </a:bodyPr>
          <a:lstStyle/>
          <a:p>
            <a:r>
              <a:rPr lang="en-US" sz="1800" b="1" dirty="0" smtClean="0">
                <a:solidFill>
                  <a:schemeClr val="dk1"/>
                </a:solidFill>
              </a:rPr>
              <a:t>Stella</a:t>
            </a:r>
            <a:endParaRPr lang="en-GB" sz="1800" dirty="0"/>
          </a:p>
        </p:txBody>
      </p:sp>
      <p:pic>
        <p:nvPicPr>
          <p:cNvPr id="12" name="Picture 11" descr="C:\Users\hwheeler\Desktop\Helvi\Helvi PhD 2017\PPS\Workshops\June\29 June 2017\Images\From Phone\IMG_1514.JPG"/>
          <p:cNvPicPr/>
          <p:nvPr/>
        </p:nvPicPr>
        <p:blipFill rotWithShape="1">
          <a:blip r:embed="rId7" cstate="screen">
            <a:extLst>
              <a:ext uri="{28A0092B-C50C-407E-A947-70E740481C1C}">
                <a14:useLocalDpi xmlns:a14="http://schemas.microsoft.com/office/drawing/2010/main"/>
              </a:ext>
            </a:extLst>
          </a:blip>
          <a:srcRect/>
          <a:stretch/>
        </p:blipFill>
        <p:spPr bwMode="auto">
          <a:xfrm rot="5400000">
            <a:off x="2530325" y="1699134"/>
            <a:ext cx="1263787" cy="1248456"/>
          </a:xfrm>
          <a:prstGeom prst="rect">
            <a:avLst/>
          </a:prstGeom>
          <a:noFill/>
          <a:ln>
            <a:noFill/>
          </a:ln>
          <a:extLst>
            <a:ext uri="{53640926-AAD7-44D8-BBD7-CCE9431645EC}">
              <a14:shadowObscured xmlns:a14="http://schemas.microsoft.com/office/drawing/2010/main"/>
            </a:ext>
          </a:extLst>
        </p:spPr>
      </p:pic>
      <p:pic>
        <p:nvPicPr>
          <p:cNvPr id="13" name="Picture 12" descr="C:\Users\hwheeler\Desktop\Helvi\Helvi PhD 2017\PPS\Workshops\June\29 June 2017\Images\From Phone\IMG_1521.JPG"/>
          <p:cNvPicPr/>
          <p:nvPr/>
        </p:nvPicPr>
        <p:blipFill rotWithShape="1">
          <a:blip r:embed="rId8" cstate="hqprint">
            <a:extLst>
              <a:ext uri="{28A0092B-C50C-407E-A947-70E740481C1C}">
                <a14:useLocalDpi xmlns:a14="http://schemas.microsoft.com/office/drawing/2010/main"/>
              </a:ext>
            </a:extLst>
          </a:blip>
          <a:srcRect b="-1290"/>
          <a:stretch/>
        </p:blipFill>
        <p:spPr bwMode="auto">
          <a:xfrm rot="5400000">
            <a:off x="2525766" y="2968023"/>
            <a:ext cx="1272906" cy="1611256"/>
          </a:xfrm>
          <a:prstGeom prst="rect">
            <a:avLst/>
          </a:prstGeom>
          <a:noFill/>
          <a:ln>
            <a:noFill/>
          </a:ln>
          <a:extLst>
            <a:ext uri="{53640926-AAD7-44D8-BBD7-CCE9431645EC}">
              <a14:shadowObscured xmlns:a14="http://schemas.microsoft.com/office/drawing/2010/main"/>
            </a:ext>
          </a:extLst>
        </p:spPr>
      </p:pic>
      <p:pic>
        <p:nvPicPr>
          <p:cNvPr id="14" name="Picture 13" descr="C:\Users\hwheeler\Desktop\Helvi\Helvi PhD 2017\PPS\Workshops\June\29 June 2017\Images\From Phone\IMG_1505.JPG"/>
          <p:cNvPicPr/>
          <p:nvPr/>
        </p:nvPicPr>
        <p:blipFill rotWithShape="1">
          <a:blip r:embed="rId9" cstate="screen">
            <a:extLst>
              <a:ext uri="{28A0092B-C50C-407E-A947-70E740481C1C}">
                <a14:useLocalDpi xmlns:a14="http://schemas.microsoft.com/office/drawing/2010/main"/>
              </a:ext>
            </a:extLst>
          </a:blip>
          <a:srcRect/>
          <a:stretch/>
        </p:blipFill>
        <p:spPr bwMode="auto">
          <a:xfrm rot="5400000">
            <a:off x="2486220" y="4723172"/>
            <a:ext cx="1256122" cy="944998"/>
          </a:xfrm>
          <a:prstGeom prst="rect">
            <a:avLst/>
          </a:prstGeom>
          <a:noFill/>
          <a:ln>
            <a:noFill/>
          </a:ln>
          <a:extLst>
            <a:ext uri="{53640926-AAD7-44D8-BBD7-CCE9431645EC}">
              <a14:shadowObscured xmlns:a14="http://schemas.microsoft.com/office/drawing/2010/main"/>
            </a:ext>
          </a:extLst>
        </p:spPr>
      </p:pic>
      <p:pic>
        <p:nvPicPr>
          <p:cNvPr id="15" name="Picture 14" descr="C:\Users\hwheeler\Desktop\Helvi\Helvi PhD 2017\PPS\Pictures\IMG_2975.JPG"/>
          <p:cNvPicPr/>
          <p:nvPr/>
        </p:nvPicPr>
        <p:blipFill rotWithShape="1">
          <a:blip r:embed="rId10" cstate="email">
            <a:extLst>
              <a:ext uri="{28A0092B-C50C-407E-A947-70E740481C1C}">
                <a14:useLocalDpi xmlns:a14="http://schemas.microsoft.com/office/drawing/2010/main"/>
              </a:ext>
            </a:extLst>
          </a:blip>
          <a:srcRect/>
          <a:stretch/>
        </p:blipFill>
        <p:spPr bwMode="auto">
          <a:xfrm>
            <a:off x="2260715" y="5981239"/>
            <a:ext cx="1707132" cy="1102888"/>
          </a:xfrm>
          <a:prstGeom prst="rect">
            <a:avLst/>
          </a:prstGeom>
          <a:noFill/>
          <a:ln>
            <a:noFill/>
          </a:ln>
          <a:extLst>
            <a:ext uri="{53640926-AAD7-44D8-BBD7-CCE9431645EC}">
              <a14:shadowObscured xmlns:a14="http://schemas.microsoft.com/office/drawing/2010/main"/>
            </a:ext>
          </a:extLst>
        </p:spPr>
      </p:pic>
      <p:pic>
        <p:nvPicPr>
          <p:cNvPr id="16" name="Picture 2" descr="C:\Users\ACER\Documents\Yambeka\Pictures\IMG_3563.JPG"/>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718028" y="5690201"/>
            <a:ext cx="2133600" cy="1393925"/>
          </a:xfrm>
          <a:prstGeom prst="rect">
            <a:avLst/>
          </a:prstGeom>
          <a:noFill/>
        </p:spPr>
      </p:pic>
      <p:pic>
        <p:nvPicPr>
          <p:cNvPr id="17" name="Picture 16" descr="C:\Users\Kaupu\AppData\Local\Microsoft\Windows\INetCache\Content.Word\20170916_150857.jpg"/>
          <p:cNvPicPr/>
          <p:nvPr/>
        </p:nvPicPr>
        <p:blipFill>
          <a:blip r:embed="rId12" cstate="screen">
            <a:extLst>
              <a:ext uri="{28A0092B-C50C-407E-A947-70E740481C1C}">
                <a14:useLocalDpi xmlns:a14="http://schemas.microsoft.com/office/drawing/2010/main"/>
              </a:ext>
            </a:extLst>
          </a:blip>
          <a:srcRect/>
          <a:stretch>
            <a:fillRect/>
          </a:stretch>
        </p:blipFill>
        <p:spPr bwMode="auto">
          <a:xfrm>
            <a:off x="7728857" y="5708277"/>
            <a:ext cx="2105294" cy="1375850"/>
          </a:xfrm>
          <a:prstGeom prst="rect">
            <a:avLst/>
          </a:prstGeom>
          <a:noFill/>
          <a:ln>
            <a:noFill/>
          </a:ln>
        </p:spPr>
      </p:pic>
      <p:pic>
        <p:nvPicPr>
          <p:cNvPr id="18" name="Picture 17"/>
          <p:cNvPicPr>
            <a:picLocks noChangeAspect="1"/>
          </p:cNvPicPr>
          <p:nvPr/>
        </p:nvPicPr>
        <p:blipFill rotWithShape="1">
          <a:blip r:embed="rId13" cstate="hqprint">
            <a:extLst>
              <a:ext uri="{28A0092B-C50C-407E-A947-70E740481C1C}">
                <a14:useLocalDpi xmlns:a14="http://schemas.microsoft.com/office/drawing/2010/main"/>
              </a:ext>
            </a:extLst>
          </a:blip>
          <a:srcRect/>
          <a:stretch/>
        </p:blipFill>
        <p:spPr>
          <a:xfrm>
            <a:off x="7936196" y="3042809"/>
            <a:ext cx="1709059" cy="1509779"/>
          </a:xfrm>
          <a:prstGeom prst="rect">
            <a:avLst/>
          </a:prstGeom>
        </p:spPr>
      </p:pic>
      <p:pic>
        <p:nvPicPr>
          <p:cNvPr id="19" name="Content Placeholder 3"/>
          <p:cNvPicPr>
            <a:picLocks noChangeAspect="1"/>
          </p:cNvPicPr>
          <p:nvPr/>
        </p:nvPicPr>
        <p:blipFill rotWithShape="1">
          <a:blip r:embed="rId14" cstate="print">
            <a:extLst>
              <a:ext uri="{28A0092B-C50C-407E-A947-70E740481C1C}">
                <a14:useLocalDpi xmlns:a14="http://schemas.microsoft.com/office/drawing/2010/main"/>
              </a:ext>
            </a:extLst>
          </a:blip>
          <a:srcRect/>
          <a:stretch/>
        </p:blipFill>
        <p:spPr>
          <a:xfrm>
            <a:off x="4789979" y="1713592"/>
            <a:ext cx="1926455" cy="1272847"/>
          </a:xfrm>
          <a:prstGeom prst="rect">
            <a:avLst/>
          </a:prstGeom>
        </p:spPr>
      </p:pic>
      <p:pic>
        <p:nvPicPr>
          <p:cNvPr id="20" name="Picture 19"/>
          <p:cNvPicPr/>
          <p:nvPr/>
        </p:nvPicPr>
        <p:blipFill rotWithShape="1">
          <a:blip r:embed="rId15">
            <a:extLst>
              <a:ext uri="{28A0092B-C50C-407E-A947-70E740481C1C}">
                <a14:useLocalDpi xmlns:a14="http://schemas.microsoft.com/office/drawing/2010/main"/>
              </a:ext>
            </a:extLst>
          </a:blip>
          <a:srcRect/>
          <a:stretch/>
        </p:blipFill>
        <p:spPr bwMode="auto">
          <a:xfrm>
            <a:off x="4785026" y="3110683"/>
            <a:ext cx="1998345" cy="1374030"/>
          </a:xfrm>
          <a:prstGeom prst="rect">
            <a:avLst/>
          </a:prstGeom>
          <a:ln>
            <a:noFill/>
          </a:ln>
          <a:extLst>
            <a:ext uri="{53640926-AAD7-44D8-BBD7-CCE9431645EC}">
              <a14:shadowObscured xmlns:a14="http://schemas.microsoft.com/office/drawing/2010/main"/>
            </a:ext>
          </a:extLst>
        </p:spPr>
      </p:pic>
      <p:sp>
        <p:nvSpPr>
          <p:cNvPr id="21" name="Right Arrow 20"/>
          <p:cNvSpPr/>
          <p:nvPr/>
        </p:nvSpPr>
        <p:spPr>
          <a:xfrm>
            <a:off x="1450909" y="2171699"/>
            <a:ext cx="704058" cy="359229"/>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2" name="Right Arrow 21"/>
          <p:cNvSpPr/>
          <p:nvPr/>
        </p:nvSpPr>
        <p:spPr>
          <a:xfrm>
            <a:off x="1450909" y="3557801"/>
            <a:ext cx="704058" cy="359229"/>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3" name="Right Arrow 22"/>
          <p:cNvSpPr/>
          <p:nvPr/>
        </p:nvSpPr>
        <p:spPr>
          <a:xfrm>
            <a:off x="1450909" y="4943903"/>
            <a:ext cx="704058" cy="359229"/>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4" name="Right Arrow 23"/>
          <p:cNvSpPr/>
          <p:nvPr/>
        </p:nvSpPr>
        <p:spPr>
          <a:xfrm>
            <a:off x="1450909" y="6330005"/>
            <a:ext cx="704058" cy="359229"/>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pic>
        <p:nvPicPr>
          <p:cNvPr id="25" name="Picture 3" descr="C:\Users\ACER\Desktop\Capture8.PNG"/>
          <p:cNvPicPr>
            <a:picLocks noChangeAspect="1" noChangeArrowheads="1"/>
          </p:cNvPicPr>
          <p:nvPr/>
        </p:nvPicPr>
        <p:blipFill>
          <a:blip r:embed="rId16" cstate="screen">
            <a:extLst>
              <a:ext uri="{28A0092B-C50C-407E-A947-70E740481C1C}">
                <a14:useLocalDpi xmlns:a14="http://schemas.microsoft.com/office/drawing/2010/main"/>
              </a:ext>
            </a:extLst>
          </a:blip>
          <a:srcRect/>
          <a:stretch>
            <a:fillRect/>
          </a:stretch>
        </p:blipFill>
        <p:spPr bwMode="auto">
          <a:xfrm rot="16200000">
            <a:off x="8208354" y="4627676"/>
            <a:ext cx="1164745" cy="1014570"/>
          </a:xfrm>
          <a:prstGeom prst="rect">
            <a:avLst/>
          </a:prstGeom>
          <a:noFill/>
        </p:spPr>
      </p:pic>
      <p:pic>
        <p:nvPicPr>
          <p:cNvPr id="26" name="Picture Placeholder 4"/>
          <p:cNvPicPr>
            <a:picLocks noChangeAspect="1"/>
          </p:cNvPicPr>
          <p:nvPr/>
        </p:nvPicPr>
        <p:blipFill>
          <a:blip r:embed="rId17" cstate="screen">
            <a:extLst>
              <a:ext uri="{28A0092B-C50C-407E-A947-70E740481C1C}">
                <a14:useLocalDpi xmlns:a14="http://schemas.microsoft.com/office/drawing/2010/main"/>
              </a:ext>
            </a:extLst>
          </a:blip>
          <a:srcRect/>
          <a:stretch>
            <a:fillRect/>
          </a:stretch>
        </p:blipFill>
        <p:spPr>
          <a:xfrm>
            <a:off x="7876976" y="1224544"/>
            <a:ext cx="1768279" cy="1648659"/>
          </a:xfrm>
          <a:prstGeom prst="rect">
            <a:avLst/>
          </a:prstGeom>
        </p:spPr>
      </p:pic>
      <p:pic>
        <p:nvPicPr>
          <p:cNvPr id="27" name="Picture 26" descr="C:\Users\ACER\Documents\Yambeka\Pictures\IMG_4046.JPG"/>
          <p:cNvPicPr>
            <a:picLocks noChangeAspect="1" noChangeArrowheads="1"/>
          </p:cNvPicPr>
          <p:nvPr/>
        </p:nvPicPr>
        <p:blipFill>
          <a:blip r:embed="rId18" cstate="screen">
            <a:extLst>
              <a:ext uri="{28A0092B-C50C-407E-A947-70E740481C1C}">
                <a14:useLocalDpi xmlns:a14="http://schemas.microsoft.com/office/drawing/2010/main"/>
              </a:ext>
            </a:extLst>
          </a:blip>
          <a:srcRect/>
          <a:stretch>
            <a:fillRect/>
          </a:stretch>
        </p:blipFill>
        <p:spPr bwMode="auto">
          <a:xfrm>
            <a:off x="4851965" y="4462997"/>
            <a:ext cx="1864469" cy="1244745"/>
          </a:xfrm>
          <a:prstGeom prst="rect">
            <a:avLst/>
          </a:prstGeom>
          <a:noFill/>
        </p:spPr>
      </p:pic>
      <p:sp>
        <p:nvSpPr>
          <p:cNvPr id="28" name="Right Arrow 27"/>
          <p:cNvSpPr/>
          <p:nvPr/>
        </p:nvSpPr>
        <p:spPr>
          <a:xfrm>
            <a:off x="4013970" y="2170400"/>
            <a:ext cx="704058" cy="359229"/>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9" name="Right Arrow 28"/>
          <p:cNvSpPr/>
          <p:nvPr/>
        </p:nvSpPr>
        <p:spPr>
          <a:xfrm>
            <a:off x="4025235" y="3555502"/>
            <a:ext cx="704058" cy="359229"/>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0" name="Right Arrow 29"/>
          <p:cNvSpPr/>
          <p:nvPr/>
        </p:nvSpPr>
        <p:spPr>
          <a:xfrm>
            <a:off x="4013970" y="4970547"/>
            <a:ext cx="704058" cy="359229"/>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1" name="Right Arrow 30"/>
          <p:cNvSpPr/>
          <p:nvPr/>
        </p:nvSpPr>
        <p:spPr>
          <a:xfrm>
            <a:off x="4013970" y="6328121"/>
            <a:ext cx="704058" cy="359229"/>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2" name="Right Arrow 31"/>
          <p:cNvSpPr/>
          <p:nvPr/>
        </p:nvSpPr>
        <p:spPr>
          <a:xfrm>
            <a:off x="6987446" y="3552895"/>
            <a:ext cx="704058" cy="359229"/>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3" name="Right Arrow 32"/>
          <p:cNvSpPr/>
          <p:nvPr/>
        </p:nvSpPr>
        <p:spPr>
          <a:xfrm>
            <a:off x="7022166" y="4970546"/>
            <a:ext cx="704058" cy="359229"/>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4" name="Right Arrow 33"/>
          <p:cNvSpPr/>
          <p:nvPr/>
        </p:nvSpPr>
        <p:spPr>
          <a:xfrm>
            <a:off x="6988681" y="6328121"/>
            <a:ext cx="704058" cy="359229"/>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5" name="Right Arrow 34"/>
          <p:cNvSpPr/>
          <p:nvPr/>
        </p:nvSpPr>
        <p:spPr>
          <a:xfrm>
            <a:off x="6987446" y="2170400"/>
            <a:ext cx="704058" cy="359229"/>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6" name="Content Placeholder 2"/>
          <p:cNvSpPr txBox="1">
            <a:spLocks/>
          </p:cNvSpPr>
          <p:nvPr/>
        </p:nvSpPr>
        <p:spPr>
          <a:xfrm>
            <a:off x="286160" y="7152847"/>
            <a:ext cx="7997281" cy="561376"/>
          </a:xfrm>
          <a:prstGeom prst="rect">
            <a:avLst/>
          </a:prstGeom>
        </p:spPr>
        <p:txBody>
          <a:bodyPr>
            <a:normAutofit fontScale="92500" lnSpcReduction="10000"/>
          </a:bodyPr>
          <a:lstStyle>
            <a:lvl1pPr marL="381133" indent="-381133" algn="l" defTabSz="508178" rtl="0" eaLnBrk="1" latinLnBrk="0" hangingPunct="1">
              <a:spcBef>
                <a:spcPct val="20000"/>
              </a:spcBef>
              <a:buFont typeface="Arial"/>
              <a:buChar char="•"/>
              <a:defRPr sz="3600" kern="1200">
                <a:solidFill>
                  <a:schemeClr val="tx1"/>
                </a:solidFill>
                <a:latin typeface="+mn-lt"/>
                <a:ea typeface="+mn-ea"/>
                <a:cs typeface="+mn-cs"/>
              </a:defRPr>
            </a:lvl1pPr>
            <a:lvl2pPr marL="825789" indent="-317611" algn="l" defTabSz="508178" rtl="0" eaLnBrk="1" latinLnBrk="0" hangingPunct="1">
              <a:spcBef>
                <a:spcPct val="20000"/>
              </a:spcBef>
              <a:buFont typeface="Arial"/>
              <a:buChar char="–"/>
              <a:defRPr sz="3100" kern="1200">
                <a:solidFill>
                  <a:schemeClr val="tx1"/>
                </a:solidFill>
                <a:latin typeface="+mn-lt"/>
                <a:ea typeface="+mn-ea"/>
                <a:cs typeface="+mn-cs"/>
              </a:defRPr>
            </a:lvl2pPr>
            <a:lvl3pPr marL="1270445" indent="-254089" algn="l" defTabSz="508178" rtl="0" eaLnBrk="1" latinLnBrk="0" hangingPunct="1">
              <a:spcBef>
                <a:spcPct val="20000"/>
              </a:spcBef>
              <a:buFont typeface="Arial"/>
              <a:buChar char="•"/>
              <a:defRPr sz="2700" kern="1200">
                <a:solidFill>
                  <a:schemeClr val="tx1"/>
                </a:solidFill>
                <a:latin typeface="+mn-lt"/>
                <a:ea typeface="+mn-ea"/>
                <a:cs typeface="+mn-cs"/>
              </a:defRPr>
            </a:lvl3pPr>
            <a:lvl4pPr marL="1778622" indent="-254089" algn="l" defTabSz="508178" rtl="0" eaLnBrk="1" latinLnBrk="0" hangingPunct="1">
              <a:spcBef>
                <a:spcPct val="20000"/>
              </a:spcBef>
              <a:buFont typeface="Arial"/>
              <a:buChar char="–"/>
              <a:defRPr sz="2200" kern="1200">
                <a:solidFill>
                  <a:schemeClr val="tx1"/>
                </a:solidFill>
                <a:latin typeface="+mn-lt"/>
                <a:ea typeface="+mn-ea"/>
                <a:cs typeface="+mn-cs"/>
              </a:defRPr>
            </a:lvl4pPr>
            <a:lvl5pPr marL="2286800" indent="-254089" algn="l" defTabSz="508178" rtl="0" eaLnBrk="1" latinLnBrk="0" hangingPunct="1">
              <a:spcBef>
                <a:spcPct val="20000"/>
              </a:spcBef>
              <a:buFont typeface="Arial"/>
              <a:buChar char="»"/>
              <a:defRPr sz="2200" kern="1200">
                <a:solidFill>
                  <a:schemeClr val="tx1"/>
                </a:solidFill>
                <a:latin typeface="+mn-lt"/>
                <a:ea typeface="+mn-ea"/>
                <a:cs typeface="+mn-cs"/>
              </a:defRPr>
            </a:lvl5pPr>
            <a:lvl6pPr marL="2794978" indent="-254089" algn="l" defTabSz="508178" rtl="0" eaLnBrk="1" latinLnBrk="0" hangingPunct="1">
              <a:spcBef>
                <a:spcPct val="20000"/>
              </a:spcBef>
              <a:buFont typeface="Arial"/>
              <a:buChar char="•"/>
              <a:defRPr sz="2200" kern="1200">
                <a:solidFill>
                  <a:schemeClr val="tx1"/>
                </a:solidFill>
                <a:latin typeface="+mn-lt"/>
                <a:ea typeface="+mn-ea"/>
                <a:cs typeface="+mn-cs"/>
              </a:defRPr>
            </a:lvl6pPr>
            <a:lvl7pPr marL="3303156" indent="-254089" algn="l" defTabSz="508178" rtl="0" eaLnBrk="1" latinLnBrk="0" hangingPunct="1">
              <a:spcBef>
                <a:spcPct val="20000"/>
              </a:spcBef>
              <a:buFont typeface="Arial"/>
              <a:buChar char="•"/>
              <a:defRPr sz="2200" kern="1200">
                <a:solidFill>
                  <a:schemeClr val="tx1"/>
                </a:solidFill>
                <a:latin typeface="+mn-lt"/>
                <a:ea typeface="+mn-ea"/>
                <a:cs typeface="+mn-cs"/>
              </a:defRPr>
            </a:lvl7pPr>
            <a:lvl8pPr marL="3811334" indent="-254089" algn="l" defTabSz="508178" rtl="0" eaLnBrk="1" latinLnBrk="0" hangingPunct="1">
              <a:spcBef>
                <a:spcPct val="20000"/>
              </a:spcBef>
              <a:buFont typeface="Arial"/>
              <a:buChar char="•"/>
              <a:defRPr sz="2200" kern="1200">
                <a:solidFill>
                  <a:schemeClr val="tx1"/>
                </a:solidFill>
                <a:latin typeface="+mn-lt"/>
                <a:ea typeface="+mn-ea"/>
                <a:cs typeface="+mn-cs"/>
              </a:defRPr>
            </a:lvl8pPr>
            <a:lvl9pPr marL="4319511" indent="-254089" algn="l" defTabSz="508178" rtl="0" eaLnBrk="1" latinLnBrk="0" hangingPunct="1">
              <a:spcBef>
                <a:spcPct val="20000"/>
              </a:spcBef>
              <a:buFont typeface="Arial"/>
              <a:buChar char="•"/>
              <a:defRPr sz="2200" kern="1200">
                <a:solidFill>
                  <a:schemeClr val="tx1"/>
                </a:solidFill>
                <a:latin typeface="+mn-lt"/>
                <a:ea typeface="+mn-ea"/>
                <a:cs typeface="+mn-cs"/>
              </a:defRPr>
            </a:lvl9pPr>
          </a:lstStyle>
          <a:p>
            <a:pPr marL="171450" indent="-171450">
              <a:buFont typeface="Arial"/>
              <a:buNone/>
            </a:pPr>
            <a:r>
              <a:rPr lang="en-US" sz="1200" smtClean="0"/>
              <a:t>Helvi Itenge-Wheeler, Heike Winschiers-Theophilus, Alessandro Soro, Margot Brereton, (2018), Child designers creating personas to diversify design perspectives and concepts for their own technology enhanced library, in Proceedings of the 17th ACM Conference on Interaction Design and Children, 381-388</a:t>
            </a:r>
            <a:endParaRPr lang="en-US" sz="1200" dirty="0"/>
          </a:p>
        </p:txBody>
      </p:sp>
    </p:spTree>
    <p:extLst>
      <p:ext uri="{BB962C8B-B14F-4D97-AF65-F5344CB8AC3E}">
        <p14:creationId xmlns:p14="http://schemas.microsoft.com/office/powerpoint/2010/main" val="249068732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Co-designing with children</a:t>
            </a:r>
            <a:endParaRPr lang="en-US" dirty="0"/>
          </a:p>
        </p:txBody>
      </p:sp>
      <p:sp>
        <p:nvSpPr>
          <p:cNvPr id="3" name="Content Placeholder 2"/>
          <p:cNvSpPr>
            <a:spLocks noGrp="1"/>
          </p:cNvSpPr>
          <p:nvPr>
            <p:ph sz="half" idx="1"/>
          </p:nvPr>
        </p:nvSpPr>
        <p:spPr>
          <a:xfrm>
            <a:off x="563915" y="7033846"/>
            <a:ext cx="7997281" cy="561376"/>
          </a:xfrm>
        </p:spPr>
        <p:txBody>
          <a:bodyPr>
            <a:normAutofit fontScale="92500" lnSpcReduction="10000"/>
          </a:bodyPr>
          <a:lstStyle/>
          <a:p>
            <a:pPr marL="171450" indent="-171450">
              <a:buNone/>
            </a:pPr>
            <a:r>
              <a:rPr lang="en-US" sz="1200" dirty="0" err="1" smtClean="0"/>
              <a:t>Helvi</a:t>
            </a:r>
            <a:r>
              <a:rPr lang="en-US" sz="1200" dirty="0" smtClean="0"/>
              <a:t> </a:t>
            </a:r>
            <a:r>
              <a:rPr lang="en-US" sz="1200" dirty="0" err="1"/>
              <a:t>Itenge</a:t>
            </a:r>
            <a:r>
              <a:rPr lang="en-US" sz="1200" dirty="0"/>
              <a:t>-Wheeler, Heike </a:t>
            </a:r>
            <a:r>
              <a:rPr lang="en-US" sz="1200" dirty="0" err="1"/>
              <a:t>Winschiers-Theophilus</a:t>
            </a:r>
            <a:r>
              <a:rPr lang="en-US" sz="1200" dirty="0"/>
              <a:t>, Alessandro </a:t>
            </a:r>
            <a:r>
              <a:rPr lang="en-US" sz="1200" dirty="0" err="1"/>
              <a:t>Soro</a:t>
            </a:r>
            <a:r>
              <a:rPr lang="en-US" sz="1200" dirty="0"/>
              <a:t>, Margot Brereton, </a:t>
            </a:r>
            <a:r>
              <a:rPr lang="en-US" sz="1200" dirty="0" smtClean="0"/>
              <a:t>(2018), Child </a:t>
            </a:r>
            <a:r>
              <a:rPr lang="en-US" sz="1200" dirty="0"/>
              <a:t>designers creating personas to diversify design perspectives and concepts for their own technology enhanced </a:t>
            </a:r>
            <a:r>
              <a:rPr lang="en-US" sz="1200" dirty="0" smtClean="0"/>
              <a:t>library</a:t>
            </a:r>
            <a:r>
              <a:rPr lang="en-US" sz="1200" dirty="0"/>
              <a:t>, in Proceedings of the 17th ACM Conference on Interaction Design and Children, 381-388</a:t>
            </a:r>
          </a:p>
        </p:txBody>
      </p:sp>
      <p:sp>
        <p:nvSpPr>
          <p:cNvPr id="4" name="Content Placeholder 3"/>
          <p:cNvSpPr>
            <a:spLocks noGrp="1"/>
          </p:cNvSpPr>
          <p:nvPr>
            <p:ph sz="half" idx="2"/>
          </p:nvPr>
        </p:nvSpPr>
        <p:spPr>
          <a:xfrm>
            <a:off x="391887" y="1572068"/>
            <a:ext cx="9350828" cy="5612015"/>
          </a:xfrm>
        </p:spPr>
        <p:txBody>
          <a:bodyPr>
            <a:normAutofit fontScale="92500" lnSpcReduction="10000"/>
          </a:bodyPr>
          <a:lstStyle/>
          <a:p>
            <a:pPr marL="0" indent="0">
              <a:buNone/>
            </a:pPr>
            <a:r>
              <a:rPr lang="en-US" dirty="0" smtClean="0"/>
              <a:t>Findings</a:t>
            </a:r>
          </a:p>
          <a:p>
            <a:pPr marL="0" indent="0">
              <a:buNone/>
            </a:pPr>
            <a:endParaRPr lang="en-US" dirty="0" smtClean="0"/>
          </a:p>
          <a:p>
            <a:pPr marL="0" indent="0">
              <a:buNone/>
            </a:pPr>
            <a:r>
              <a:rPr lang="en-US" dirty="0" smtClean="0">
                <a:sym typeface="Wingdings" panose="05000000000000000000" pitchFamily="2" charset="2"/>
              </a:rPr>
              <a:t></a:t>
            </a:r>
            <a:r>
              <a:rPr lang="en-US" dirty="0" smtClean="0"/>
              <a:t>Children can design for other children</a:t>
            </a:r>
          </a:p>
          <a:p>
            <a:pPr marL="0" indent="0">
              <a:buNone/>
            </a:pPr>
            <a:endParaRPr lang="en-US" dirty="0" smtClean="0"/>
          </a:p>
          <a:p>
            <a:pPr>
              <a:buFont typeface="Wingdings" panose="05000000000000000000" pitchFamily="2" charset="2"/>
              <a:buChar char="à"/>
            </a:pPr>
            <a:r>
              <a:rPr lang="en-US" dirty="0" smtClean="0"/>
              <a:t>Children created Child Personas is a suitable method to create empathy and novel designs</a:t>
            </a:r>
          </a:p>
          <a:p>
            <a:pPr marL="0" indent="0">
              <a:buNone/>
            </a:pPr>
            <a:endParaRPr lang="en-US" dirty="0" smtClean="0"/>
          </a:p>
          <a:p>
            <a:pPr>
              <a:buFont typeface="Wingdings" panose="05000000000000000000" pitchFamily="2" charset="2"/>
              <a:buChar char="à"/>
            </a:pPr>
            <a:r>
              <a:rPr lang="en-US" dirty="0" smtClean="0"/>
              <a:t>Children can directly contribute to technology innovation</a:t>
            </a:r>
          </a:p>
          <a:p>
            <a:pPr marL="0" indent="0">
              <a:buNone/>
            </a:pPr>
            <a:endParaRPr lang="en-US" dirty="0"/>
          </a:p>
        </p:txBody>
      </p:sp>
    </p:spTree>
    <p:extLst>
      <p:ext uri="{BB962C8B-B14F-4D97-AF65-F5344CB8AC3E}">
        <p14:creationId xmlns:p14="http://schemas.microsoft.com/office/powerpoint/2010/main" val="46462617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pic>
        <p:nvPicPr>
          <p:cNvPr id="5" name="Picture 4" descr="DSC00204.JP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80753"/>
            <a:ext cx="10150475" cy="7612856"/>
          </a:xfrm>
          <a:prstGeom prst="rect">
            <a:avLst/>
          </a:prstGeom>
        </p:spPr>
      </p:pic>
      <p:sp>
        <p:nvSpPr>
          <p:cNvPr id="6" name="Rectangle 5"/>
          <p:cNvSpPr/>
          <p:nvPr/>
        </p:nvSpPr>
        <p:spPr>
          <a:xfrm>
            <a:off x="-1" y="6393220"/>
            <a:ext cx="10150475" cy="1405513"/>
          </a:xfrm>
          <a:prstGeom prst="rect">
            <a:avLst/>
          </a:prstGeom>
          <a:solidFill>
            <a:schemeClr val="bg2"/>
          </a:solidFill>
          <a:effectLst>
            <a:outerShdw blurRad="50800" dist="38100" dir="2700000" algn="tl" rotWithShape="0">
              <a:srgbClr val="000000">
                <a:alpha val="43000"/>
              </a:srgbClr>
            </a:outerShdw>
          </a:effectLst>
        </p:spPr>
        <p:txBody>
          <a:bodyPr wrap="square">
            <a:spAutoFit/>
          </a:bodyPr>
          <a:lstStyle/>
          <a:p>
            <a:r>
              <a:rPr lang="en-US" sz="3200" baseline="30000" dirty="0"/>
              <a:t>We are from the same group. I’m </a:t>
            </a:r>
            <a:r>
              <a:rPr lang="en-US" sz="3200" baseline="30000" dirty="0"/>
              <a:t>alone, very very hungry and I have only water to survive. </a:t>
            </a:r>
            <a:r>
              <a:rPr lang="en-US" sz="3200" baseline="30000" dirty="0"/>
              <a:t>I </a:t>
            </a:r>
            <a:r>
              <a:rPr lang="en-US" sz="3200" baseline="30000" dirty="0"/>
              <a:t>am going to the </a:t>
            </a:r>
            <a:r>
              <a:rPr lang="en-US" sz="3200" baseline="30000" dirty="0"/>
              <a:t>river in this direction. </a:t>
            </a:r>
            <a:r>
              <a:rPr lang="en-US" sz="3200" baseline="30000" dirty="0"/>
              <a:t>Follow me and if you </a:t>
            </a:r>
            <a:r>
              <a:rPr lang="en-US" sz="3200" baseline="30000" dirty="0" smtClean="0"/>
              <a:t>have</a:t>
            </a:r>
            <a:r>
              <a:rPr lang="en-US" sz="3200" dirty="0" smtClean="0"/>
              <a:t> </a:t>
            </a:r>
            <a:r>
              <a:rPr lang="en-US" sz="3200" baseline="30000" dirty="0" smtClean="0"/>
              <a:t>anything </a:t>
            </a:r>
            <a:r>
              <a:rPr lang="en-US" sz="3200" baseline="30000" dirty="0"/>
              <a:t>to eat please bring along.</a:t>
            </a:r>
            <a:r>
              <a:rPr lang="en-US" sz="3200" baseline="30000" dirty="0"/>
              <a:t>…</a:t>
            </a:r>
            <a:endParaRPr lang="en-US" sz="3200" dirty="0"/>
          </a:p>
        </p:txBody>
      </p:sp>
      <p:sp>
        <p:nvSpPr>
          <p:cNvPr id="7" name="Title 1"/>
          <p:cNvSpPr txBox="1">
            <a:spLocks/>
          </p:cNvSpPr>
          <p:nvPr/>
        </p:nvSpPr>
        <p:spPr>
          <a:xfrm>
            <a:off x="0" y="305789"/>
            <a:ext cx="9642952" cy="1272646"/>
          </a:xfrm>
          <a:prstGeom prst="rect">
            <a:avLst/>
          </a:prstGeom>
        </p:spPr>
        <p:txBody>
          <a:bodyPr vert="horz" lIns="101636" tIns="50818" rIns="101636" bIns="50818" rtlCol="0" anchor="ctr">
            <a:normAutofit/>
          </a:bodyPr>
          <a:lstStyle>
            <a:lvl1pPr algn="l" defTabSz="508178" rtl="0" eaLnBrk="1" latinLnBrk="0" hangingPunct="1">
              <a:spcBef>
                <a:spcPct val="0"/>
              </a:spcBef>
              <a:buNone/>
              <a:defRPr sz="4400" kern="1200">
                <a:solidFill>
                  <a:schemeClr val="tx1"/>
                </a:solidFill>
                <a:latin typeface="+mj-lt"/>
                <a:ea typeface="+mj-ea"/>
                <a:cs typeface="+mj-cs"/>
              </a:defRPr>
            </a:lvl1pPr>
          </a:lstStyle>
          <a:p>
            <a:r>
              <a:rPr lang="en-US" dirty="0" smtClean="0"/>
              <a:t>Co-design of secret language app</a:t>
            </a:r>
            <a:endParaRPr lang="en-US" dirty="0"/>
          </a:p>
        </p:txBody>
      </p:sp>
    </p:spTree>
    <p:extLst>
      <p:ext uri="{BB962C8B-B14F-4D97-AF65-F5344CB8AC3E}">
        <p14:creationId xmlns:p14="http://schemas.microsoft.com/office/powerpoint/2010/main" val="1613709775"/>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17323" y="3527565"/>
            <a:ext cx="1928027" cy="2301439"/>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99697" y="1147847"/>
            <a:ext cx="1276255" cy="1523435"/>
          </a:xfrm>
          <a:prstGeom prst="rect">
            <a:avLst/>
          </a:prstGeom>
        </p:spPr>
      </p:pic>
      <p:pic>
        <p:nvPicPr>
          <p:cNvPr id="9" name="Picture 8" descr="IMG_5597.JP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800601" y="-12633"/>
            <a:ext cx="5349874" cy="3617536"/>
          </a:xfrm>
          <a:prstGeom prst="rect">
            <a:avLst/>
          </a:prstGeom>
        </p:spPr>
      </p:pic>
      <p:sp>
        <p:nvSpPr>
          <p:cNvPr id="3" name="Title 2"/>
          <p:cNvSpPr>
            <a:spLocks noGrp="1"/>
          </p:cNvSpPr>
          <p:nvPr>
            <p:ph type="title"/>
          </p:nvPr>
        </p:nvSpPr>
        <p:spPr>
          <a:xfrm>
            <a:off x="279421" y="758845"/>
            <a:ext cx="3214893" cy="778004"/>
          </a:xfrm>
        </p:spPr>
        <p:txBody>
          <a:bodyPr>
            <a:normAutofit fontScale="90000"/>
          </a:bodyPr>
          <a:lstStyle/>
          <a:p>
            <a:r>
              <a:rPr lang="en-US" dirty="0"/>
              <a:t>D</a:t>
            </a:r>
            <a:r>
              <a:rPr lang="en-US" dirty="0" smtClean="0"/>
              <a:t>esign of Personas</a:t>
            </a:r>
            <a:endParaRPr lang="en-US" dirty="0"/>
          </a:p>
        </p:txBody>
      </p:sp>
      <p:graphicFrame>
        <p:nvGraphicFramePr>
          <p:cNvPr id="4" name="Object 3"/>
          <p:cNvGraphicFramePr>
            <a:graphicFrameLocks noChangeAspect="1"/>
          </p:cNvGraphicFramePr>
          <p:nvPr>
            <p:extLst>
              <p:ext uri="{D42A27DB-BD31-4B8C-83A1-F6EECF244321}">
                <p14:modId xmlns:p14="http://schemas.microsoft.com/office/powerpoint/2010/main" val="2800613935"/>
              </p:ext>
            </p:extLst>
          </p:nvPr>
        </p:nvGraphicFramePr>
        <p:xfrm>
          <a:off x="0" y="2569289"/>
          <a:ext cx="5910944" cy="4652929"/>
        </p:xfrm>
        <a:graphic>
          <a:graphicData uri="http://schemas.openxmlformats.org/presentationml/2006/ole">
            <mc:AlternateContent xmlns:mc="http://schemas.openxmlformats.org/markup-compatibility/2006">
              <mc:Choice xmlns:v="urn:schemas-microsoft-com:vml" Requires="v">
                <p:oleObj spid="_x0000_s1033" name="Document" r:id="rId5" imgW="4356100" imgH="3429000" progId="Word.Document.12">
                  <p:embed/>
                </p:oleObj>
              </mc:Choice>
              <mc:Fallback>
                <p:oleObj name="Document" r:id="rId5" imgW="4356100" imgH="3429000" progId="Word.Document.12">
                  <p:embed/>
                  <p:pic>
                    <p:nvPicPr>
                      <p:cNvPr id="4" name="Object 3"/>
                      <p:cNvPicPr/>
                      <p:nvPr/>
                    </p:nvPicPr>
                    <p:blipFill>
                      <a:blip r:embed="rId6"/>
                      <a:stretch>
                        <a:fillRect/>
                      </a:stretch>
                    </p:blipFill>
                    <p:spPr>
                      <a:xfrm>
                        <a:off x="0" y="2569289"/>
                        <a:ext cx="5910944" cy="4652929"/>
                      </a:xfrm>
                      <a:prstGeom prst="rect">
                        <a:avLst/>
                      </a:prstGeom>
                    </p:spPr>
                  </p:pic>
                </p:oleObj>
              </mc:Fallback>
            </mc:AlternateContent>
          </a:graphicData>
        </a:graphic>
      </p:graphicFrame>
      <p:sp>
        <p:nvSpPr>
          <p:cNvPr id="6" name="Title 2"/>
          <p:cNvSpPr txBox="1">
            <a:spLocks/>
          </p:cNvSpPr>
          <p:nvPr/>
        </p:nvSpPr>
        <p:spPr>
          <a:xfrm>
            <a:off x="7475538" y="4228143"/>
            <a:ext cx="3214893" cy="2379486"/>
          </a:xfrm>
          <a:prstGeom prst="rect">
            <a:avLst/>
          </a:prstGeom>
        </p:spPr>
        <p:txBody>
          <a:bodyPr vert="horz" lIns="101636" tIns="50818" rIns="101636" bIns="50818" rtlCol="0" anchor="ctr">
            <a:normAutofit fontScale="90000" lnSpcReduction="10000"/>
          </a:bodyPr>
          <a:lstStyle>
            <a:lvl1pPr algn="l" defTabSz="508178" rtl="0" eaLnBrk="1" latinLnBrk="0" hangingPunct="1">
              <a:spcBef>
                <a:spcPct val="0"/>
              </a:spcBef>
              <a:buNone/>
              <a:defRPr sz="4400" kern="1200">
                <a:solidFill>
                  <a:schemeClr val="tx1"/>
                </a:solidFill>
                <a:latin typeface="+mj-lt"/>
                <a:ea typeface="+mj-ea"/>
                <a:cs typeface="+mj-cs"/>
              </a:defRPr>
            </a:lvl1pPr>
          </a:lstStyle>
          <a:p>
            <a:r>
              <a:rPr lang="en-US" dirty="0" smtClean="0"/>
              <a:t>Use of  Personas</a:t>
            </a:r>
          </a:p>
          <a:p>
            <a:r>
              <a:rPr lang="en-US" dirty="0"/>
              <a:t>t</a:t>
            </a:r>
            <a:r>
              <a:rPr lang="en-US" dirty="0" smtClean="0"/>
              <a:t>o create messages</a:t>
            </a:r>
            <a:endParaRPr lang="en-US" dirty="0"/>
          </a:p>
        </p:txBody>
      </p:sp>
      <p:sp>
        <p:nvSpPr>
          <p:cNvPr id="5" name="Rectangle 4"/>
          <p:cNvSpPr/>
          <p:nvPr/>
        </p:nvSpPr>
        <p:spPr>
          <a:xfrm>
            <a:off x="94364" y="7145101"/>
            <a:ext cx="9954532" cy="461665"/>
          </a:xfrm>
          <a:prstGeom prst="rect">
            <a:avLst/>
          </a:prstGeom>
        </p:spPr>
        <p:txBody>
          <a:bodyPr wrap="square">
            <a:spAutoFit/>
          </a:bodyPr>
          <a:lstStyle/>
          <a:p>
            <a:r>
              <a:rPr lang="en-GB" sz="1200" dirty="0" err="1">
                <a:solidFill>
                  <a:srgbClr val="000000"/>
                </a:solidFill>
                <a:latin typeface="Calibri" panose="020F0502020204030204" pitchFamily="34" charset="0"/>
              </a:rPr>
              <a:t>Penan’s</a:t>
            </a:r>
            <a:r>
              <a:rPr lang="en-GB" sz="1200" dirty="0">
                <a:solidFill>
                  <a:srgbClr val="000000"/>
                </a:solidFill>
                <a:latin typeface="Calibri" panose="020F0502020204030204" pitchFamily="34" charset="0"/>
              </a:rPr>
              <a:t> </a:t>
            </a:r>
            <a:r>
              <a:rPr lang="en-GB" sz="1200" dirty="0" err="1">
                <a:solidFill>
                  <a:srgbClr val="000000"/>
                </a:solidFill>
                <a:latin typeface="Calibri" panose="020F0502020204030204" pitchFamily="34" charset="0"/>
              </a:rPr>
              <a:t>Oroo’Short</a:t>
            </a:r>
            <a:r>
              <a:rPr lang="en-GB" sz="1200" dirty="0">
                <a:solidFill>
                  <a:srgbClr val="000000"/>
                </a:solidFill>
                <a:latin typeface="Calibri" panose="020F0502020204030204" pitchFamily="34" charset="0"/>
              </a:rPr>
              <a:t> Message Signs (PO-SMS): co-design of a digital jungle sign language application</a:t>
            </a:r>
            <a:r>
              <a:rPr lang="en-GB" sz="1200" dirty="0" smtClean="0">
                <a:solidFill>
                  <a:srgbClr val="000000"/>
                </a:solidFill>
                <a:latin typeface="Calibri" panose="020F0502020204030204" pitchFamily="34" charset="0"/>
              </a:rPr>
              <a:t>,</a:t>
            </a:r>
          </a:p>
          <a:p>
            <a:r>
              <a:rPr lang="en-GB" sz="1200" dirty="0" smtClean="0">
                <a:solidFill>
                  <a:srgbClr val="000000"/>
                </a:solidFill>
                <a:latin typeface="Calibri" panose="020F0502020204030204" pitchFamily="34" charset="0"/>
              </a:rPr>
              <a:t> </a:t>
            </a:r>
            <a:r>
              <a:rPr lang="en-GB" sz="1200" dirty="0">
                <a:solidFill>
                  <a:srgbClr val="000000"/>
                </a:solidFill>
                <a:latin typeface="Calibri" panose="020F0502020204030204" pitchFamily="34" charset="0"/>
              </a:rPr>
              <a:t>T Zaman, H </a:t>
            </a:r>
            <a:r>
              <a:rPr lang="en-GB" sz="1200" dirty="0" err="1">
                <a:solidFill>
                  <a:srgbClr val="000000"/>
                </a:solidFill>
                <a:latin typeface="Calibri" panose="020F0502020204030204" pitchFamily="34" charset="0"/>
              </a:rPr>
              <a:t>Winschiers-Theophilus</a:t>
            </a:r>
            <a:r>
              <a:rPr lang="en-GB" sz="1200" dirty="0">
                <a:solidFill>
                  <a:srgbClr val="000000"/>
                </a:solidFill>
                <a:latin typeface="Calibri" panose="020F0502020204030204" pitchFamily="34" charset="0"/>
              </a:rPr>
              <a:t>, IFIP Conference on Human-Computer Interaction, </a:t>
            </a:r>
            <a:r>
              <a:rPr lang="en-GB" sz="1200" dirty="0" smtClean="0">
                <a:solidFill>
                  <a:srgbClr val="000000"/>
                </a:solidFill>
                <a:latin typeface="Calibri" panose="020F0502020204030204" pitchFamily="34" charset="0"/>
              </a:rPr>
              <a:t>489-504, 2015</a:t>
            </a:r>
            <a:endParaRPr lang="en-GB" sz="1200" dirty="0"/>
          </a:p>
        </p:txBody>
      </p:sp>
    </p:spTree>
    <p:extLst>
      <p:ext uri="{BB962C8B-B14F-4D97-AF65-F5344CB8AC3E}">
        <p14:creationId xmlns:p14="http://schemas.microsoft.com/office/powerpoint/2010/main" val="335611874"/>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564427" y="140978"/>
            <a:ext cx="7739241" cy="778004"/>
          </a:xfrm>
        </p:spPr>
        <p:txBody>
          <a:bodyPr/>
          <a:lstStyle/>
          <a:p>
            <a:r>
              <a:rPr lang="en-US" dirty="0" smtClean="0"/>
              <a:t>Creation of n</a:t>
            </a:r>
            <a:r>
              <a:rPr lang="en-US" dirty="0" smtClean="0"/>
              <a:t>ew </a:t>
            </a:r>
            <a:r>
              <a:rPr lang="en-US" dirty="0" smtClean="0"/>
              <a:t>Signs</a:t>
            </a:r>
            <a:endParaRPr lang="en-US" dirty="0"/>
          </a:p>
        </p:txBody>
      </p:sp>
      <p:pic>
        <p:nvPicPr>
          <p:cNvPr id="4" name="Picture 3"/>
          <p:cNvPicPr/>
          <p:nvPr/>
        </p:nvPicPr>
        <p:blipFill>
          <a:blip r:embed="rId2" cstate="print">
            <a:extLst>
              <a:ext uri="{28A0092B-C50C-407E-A947-70E740481C1C}">
                <a14:useLocalDpi xmlns:a14="http://schemas.microsoft.com/office/drawing/2010/main" val="0"/>
              </a:ext>
            </a:extLst>
          </a:blip>
          <a:stretch>
            <a:fillRect/>
          </a:stretch>
        </p:blipFill>
        <p:spPr>
          <a:xfrm>
            <a:off x="2710438" y="5583981"/>
            <a:ext cx="2338828" cy="1119074"/>
          </a:xfrm>
          <a:prstGeom prst="rect">
            <a:avLst/>
          </a:prstGeom>
        </p:spPr>
      </p:pic>
      <p:pic>
        <p:nvPicPr>
          <p:cNvPr id="5" name="Picture 4"/>
          <p:cNvPicPr/>
          <p:nvPr/>
        </p:nvPicPr>
        <p:blipFill>
          <a:blip r:embed="rId3" cstate="print">
            <a:extLst>
              <a:ext uri="{28A0092B-C50C-407E-A947-70E740481C1C}">
                <a14:useLocalDpi xmlns:a14="http://schemas.microsoft.com/office/drawing/2010/main" val="0"/>
              </a:ext>
            </a:extLst>
          </a:blip>
          <a:stretch>
            <a:fillRect/>
          </a:stretch>
        </p:blipFill>
        <p:spPr>
          <a:xfrm>
            <a:off x="3509380" y="6578992"/>
            <a:ext cx="2277552" cy="559537"/>
          </a:xfrm>
          <a:prstGeom prst="rect">
            <a:avLst/>
          </a:prstGeom>
        </p:spPr>
      </p:pic>
      <p:pic>
        <p:nvPicPr>
          <p:cNvPr id="6" name="Picture 5"/>
          <p:cNvPicPr/>
          <p:nvPr/>
        </p:nvPicPr>
        <p:blipFill rotWithShape="1">
          <a:blip r:embed="rId4" cstate="email">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a:ext>
            </a:extLst>
          </a:blip>
          <a:srcRect/>
          <a:stretch/>
        </p:blipFill>
        <p:spPr bwMode="auto">
          <a:xfrm>
            <a:off x="5822255" y="5853440"/>
            <a:ext cx="2276117" cy="1039140"/>
          </a:xfrm>
          <a:prstGeom prst="rect">
            <a:avLst/>
          </a:prstGeom>
          <a:ln>
            <a:noFill/>
          </a:ln>
          <a:extLst>
            <a:ext uri="{53640926-AAD7-44D8-BBD7-CCE9431645EC}">
              <a14:shadowObscured xmlns:a14="http://schemas.microsoft.com/office/drawing/2010/main"/>
            </a:ext>
          </a:extLst>
        </p:spPr>
      </p:pic>
      <p:pic>
        <p:nvPicPr>
          <p:cNvPr id="7" name="Picture 6"/>
          <p:cNvPicPr/>
          <p:nvPr/>
        </p:nvPicPr>
        <p:blipFill rotWithShape="1">
          <a:blip r:embed="rId6" cstate="email">
            <a:extLst>
              <a:ext uri="{28A0092B-C50C-407E-A947-70E740481C1C}">
                <a14:useLocalDpi xmlns:a14="http://schemas.microsoft.com/office/drawing/2010/main"/>
              </a:ext>
            </a:extLst>
          </a:blip>
          <a:srcRect/>
          <a:stretch/>
        </p:blipFill>
        <p:spPr bwMode="auto">
          <a:xfrm>
            <a:off x="-4612" y="5776317"/>
            <a:ext cx="2443868" cy="1193386"/>
          </a:xfrm>
          <a:prstGeom prst="rect">
            <a:avLst/>
          </a:prstGeom>
          <a:ln>
            <a:noFill/>
          </a:ln>
          <a:extLst>
            <a:ext uri="{53640926-AAD7-44D8-BBD7-CCE9431645EC}">
              <a14:shadowObscured xmlns:a14="http://schemas.microsoft.com/office/drawing/2010/main"/>
            </a:ext>
          </a:extLst>
        </p:spPr>
      </p:pic>
      <p:pic>
        <p:nvPicPr>
          <p:cNvPr id="10" name="Picture 9"/>
          <p:cNvPicPr/>
          <p:nvPr/>
        </p:nvPicPr>
        <p:blipFill rotWithShape="1">
          <a:blip r:embed="rId7" cstate="email">
            <a:extLst>
              <a:ext uri="{BEBA8EAE-BF5A-486C-A8C5-ECC9F3942E4B}">
                <a14:imgProps xmlns:a14="http://schemas.microsoft.com/office/drawing/2010/main">
                  <a14:imgLayer r:embed="rId8">
                    <a14:imgEffect>
                      <a14:saturation sat="400000"/>
                    </a14:imgEffect>
                  </a14:imgLayer>
                </a14:imgProps>
              </a:ext>
              <a:ext uri="{28A0092B-C50C-407E-A947-70E740481C1C}">
                <a14:useLocalDpi xmlns:a14="http://schemas.microsoft.com/office/drawing/2010/main"/>
              </a:ext>
            </a:extLst>
          </a:blip>
          <a:srcRect/>
          <a:stretch/>
        </p:blipFill>
        <p:spPr bwMode="auto">
          <a:xfrm>
            <a:off x="-4612" y="3498205"/>
            <a:ext cx="1727759" cy="1566805"/>
          </a:xfrm>
          <a:prstGeom prst="rect">
            <a:avLst/>
          </a:prstGeom>
          <a:ln>
            <a:noFill/>
          </a:ln>
          <a:extLst>
            <a:ext uri="{53640926-AAD7-44D8-BBD7-CCE9431645EC}">
              <a14:shadowObscured xmlns:a14="http://schemas.microsoft.com/office/drawing/2010/main"/>
            </a:ext>
          </a:extLst>
        </p:spPr>
      </p:pic>
      <p:pic>
        <p:nvPicPr>
          <p:cNvPr id="11" name="Picture 10"/>
          <p:cNvPicPr/>
          <p:nvPr/>
        </p:nvPicPr>
        <p:blipFill>
          <a:blip r:embed="rId9" cstate="print">
            <a:extLst>
              <a:ext uri="{28A0092B-C50C-407E-A947-70E740481C1C}">
                <a14:useLocalDpi xmlns:a14="http://schemas.microsoft.com/office/drawing/2010/main" val="0"/>
              </a:ext>
            </a:extLst>
          </a:blip>
          <a:stretch>
            <a:fillRect/>
          </a:stretch>
        </p:blipFill>
        <p:spPr>
          <a:xfrm>
            <a:off x="0" y="1569123"/>
            <a:ext cx="1628373" cy="1278941"/>
          </a:xfrm>
          <a:prstGeom prst="rect">
            <a:avLst/>
          </a:prstGeom>
        </p:spPr>
      </p:pic>
      <p:pic>
        <p:nvPicPr>
          <p:cNvPr id="12" name="Picture 11" descr="IMG_5601.JPG"/>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762628" y="1221563"/>
            <a:ext cx="6441394" cy="4192939"/>
          </a:xfrm>
          <a:prstGeom prst="rect">
            <a:avLst/>
          </a:prstGeom>
        </p:spPr>
      </p:pic>
      <p:pic>
        <p:nvPicPr>
          <p:cNvPr id="9" name="Picture 8"/>
          <p:cNvPicPr/>
          <p:nvPr/>
        </p:nvPicPr>
        <p:blipFill rotWithShape="1">
          <a:blip r:embed="rId11" cstate="email">
            <a:extLst>
              <a:ext uri="{28A0092B-C50C-407E-A947-70E740481C1C}">
                <a14:useLocalDpi xmlns:a14="http://schemas.microsoft.com/office/drawing/2010/main"/>
              </a:ext>
            </a:extLst>
          </a:blip>
          <a:srcRect/>
          <a:stretch/>
        </p:blipFill>
        <p:spPr bwMode="auto">
          <a:xfrm>
            <a:off x="7752211" y="4563362"/>
            <a:ext cx="2269081" cy="1481468"/>
          </a:xfrm>
          <a:prstGeom prst="rect">
            <a:avLst/>
          </a:prstGeom>
          <a:ln>
            <a:noFill/>
          </a:ln>
          <a:extLst>
            <a:ext uri="{53640926-AAD7-44D8-BBD7-CCE9431645EC}">
              <a14:shadowObscured xmlns:a14="http://schemas.microsoft.com/office/drawing/2010/main"/>
            </a:ext>
          </a:extLst>
        </p:spPr>
      </p:pic>
      <p:pic>
        <p:nvPicPr>
          <p:cNvPr id="8" name="Picture 7"/>
          <p:cNvPicPr/>
          <p:nvPr/>
        </p:nvPicPr>
        <p:blipFill>
          <a:blip r:embed="rId12" cstate="print">
            <a:extLst>
              <a:ext uri="{28A0092B-C50C-407E-A947-70E740481C1C}">
                <a14:useLocalDpi xmlns:a14="http://schemas.microsoft.com/office/drawing/2010/main" val="0"/>
              </a:ext>
            </a:extLst>
          </a:blip>
          <a:stretch>
            <a:fillRect/>
          </a:stretch>
        </p:blipFill>
        <p:spPr>
          <a:xfrm>
            <a:off x="8118406" y="3187862"/>
            <a:ext cx="1946454" cy="1232144"/>
          </a:xfrm>
          <a:prstGeom prst="rect">
            <a:avLst/>
          </a:prstGeom>
        </p:spPr>
      </p:pic>
      <p:sp>
        <p:nvSpPr>
          <p:cNvPr id="13" name="Rectangle 12"/>
          <p:cNvSpPr/>
          <p:nvPr/>
        </p:nvSpPr>
        <p:spPr>
          <a:xfrm>
            <a:off x="70391" y="7156523"/>
            <a:ext cx="9764486" cy="461665"/>
          </a:xfrm>
          <a:prstGeom prst="rect">
            <a:avLst/>
          </a:prstGeom>
        </p:spPr>
        <p:txBody>
          <a:bodyPr wrap="square">
            <a:spAutoFit/>
          </a:bodyPr>
          <a:lstStyle/>
          <a:p>
            <a:r>
              <a:rPr lang="en-GB" sz="1200" dirty="0" err="1">
                <a:solidFill>
                  <a:srgbClr val="000000"/>
                </a:solidFill>
                <a:latin typeface="Calibri" panose="020F0502020204030204" pitchFamily="34" charset="0"/>
              </a:rPr>
              <a:t>Penan’s</a:t>
            </a:r>
            <a:r>
              <a:rPr lang="en-GB" sz="1200" dirty="0">
                <a:solidFill>
                  <a:srgbClr val="000000"/>
                </a:solidFill>
                <a:latin typeface="Calibri" panose="020F0502020204030204" pitchFamily="34" charset="0"/>
              </a:rPr>
              <a:t> </a:t>
            </a:r>
            <a:r>
              <a:rPr lang="en-GB" sz="1200" dirty="0" err="1">
                <a:solidFill>
                  <a:srgbClr val="000000"/>
                </a:solidFill>
                <a:latin typeface="Calibri" panose="020F0502020204030204" pitchFamily="34" charset="0"/>
              </a:rPr>
              <a:t>Oroo’Short</a:t>
            </a:r>
            <a:r>
              <a:rPr lang="en-GB" sz="1200" dirty="0">
                <a:solidFill>
                  <a:srgbClr val="000000"/>
                </a:solidFill>
                <a:latin typeface="Calibri" panose="020F0502020204030204" pitchFamily="34" charset="0"/>
              </a:rPr>
              <a:t> Message Signs (PO-SMS): co-design of a digital jungle sign language application,</a:t>
            </a:r>
          </a:p>
          <a:p>
            <a:r>
              <a:rPr lang="en-GB" sz="1200" dirty="0">
                <a:solidFill>
                  <a:srgbClr val="000000"/>
                </a:solidFill>
                <a:latin typeface="Calibri" panose="020F0502020204030204" pitchFamily="34" charset="0"/>
              </a:rPr>
              <a:t> T Zaman, H </a:t>
            </a:r>
            <a:r>
              <a:rPr lang="en-GB" sz="1200" dirty="0" err="1">
                <a:solidFill>
                  <a:srgbClr val="000000"/>
                </a:solidFill>
                <a:latin typeface="Calibri" panose="020F0502020204030204" pitchFamily="34" charset="0"/>
              </a:rPr>
              <a:t>Winschiers-Theophilus</a:t>
            </a:r>
            <a:r>
              <a:rPr lang="en-GB" sz="1200" dirty="0">
                <a:solidFill>
                  <a:srgbClr val="000000"/>
                </a:solidFill>
                <a:latin typeface="Calibri" panose="020F0502020204030204" pitchFamily="34" charset="0"/>
              </a:rPr>
              <a:t>, IFIP Conference on Human-Computer Interaction, 489-504, 2015</a:t>
            </a:r>
            <a:endParaRPr lang="en-GB" sz="1200" dirty="0"/>
          </a:p>
        </p:txBody>
      </p:sp>
    </p:spTree>
    <p:extLst>
      <p:ext uri="{BB962C8B-B14F-4D97-AF65-F5344CB8AC3E}">
        <p14:creationId xmlns:p14="http://schemas.microsoft.com/office/powerpoint/2010/main" val="2265575939"/>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338576" y="505725"/>
            <a:ext cx="7739241" cy="778004"/>
          </a:xfrm>
        </p:spPr>
        <p:txBody>
          <a:bodyPr>
            <a:normAutofit fontScale="90000"/>
          </a:bodyPr>
          <a:lstStyle/>
          <a:p>
            <a:r>
              <a:rPr lang="en-US" dirty="0" smtClean="0"/>
              <a:t>PO-SMS: </a:t>
            </a:r>
            <a:r>
              <a:rPr lang="en-US" dirty="0"/>
              <a:t>App Screen Layout </a:t>
            </a:r>
            <a:r>
              <a:rPr lang="en-US" dirty="0" smtClean="0"/>
              <a:t>Design</a:t>
            </a:r>
            <a:endParaRPr lang="en-US" dirty="0"/>
          </a:p>
        </p:txBody>
      </p:sp>
      <p:pic>
        <p:nvPicPr>
          <p:cNvPr id="4" name="Picture 3" descr="Page 1.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391" y="1739656"/>
            <a:ext cx="2207160" cy="4206098"/>
          </a:xfrm>
          <a:prstGeom prst="rect">
            <a:avLst/>
          </a:prstGeom>
        </p:spPr>
      </p:pic>
      <p:pic>
        <p:nvPicPr>
          <p:cNvPr id="5" name="Picture 4" descr="Page 2.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70378" y="1739656"/>
            <a:ext cx="2265057" cy="4316430"/>
          </a:xfrm>
          <a:prstGeom prst="rect">
            <a:avLst/>
          </a:prstGeom>
        </p:spPr>
      </p:pic>
      <p:pic>
        <p:nvPicPr>
          <p:cNvPr id="6" name="Picture 5" descr="Page 3.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08197" y="1739656"/>
            <a:ext cx="2265057" cy="4316430"/>
          </a:xfrm>
          <a:prstGeom prst="rect">
            <a:avLst/>
          </a:prstGeom>
        </p:spPr>
      </p:pic>
      <p:pic>
        <p:nvPicPr>
          <p:cNvPr id="7" name="Picture 6" descr="Page 4.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766081" y="1739657"/>
            <a:ext cx="2265057" cy="4316430"/>
          </a:xfrm>
          <a:prstGeom prst="rect">
            <a:avLst/>
          </a:prstGeom>
        </p:spPr>
      </p:pic>
      <p:sp>
        <p:nvSpPr>
          <p:cNvPr id="8" name="Rectangle 7"/>
          <p:cNvSpPr/>
          <p:nvPr/>
        </p:nvSpPr>
        <p:spPr>
          <a:xfrm>
            <a:off x="70391" y="7006786"/>
            <a:ext cx="9764486" cy="461665"/>
          </a:xfrm>
          <a:prstGeom prst="rect">
            <a:avLst/>
          </a:prstGeom>
        </p:spPr>
        <p:txBody>
          <a:bodyPr wrap="square">
            <a:spAutoFit/>
          </a:bodyPr>
          <a:lstStyle/>
          <a:p>
            <a:r>
              <a:rPr lang="en-GB" sz="1200" dirty="0" err="1">
                <a:solidFill>
                  <a:srgbClr val="000000"/>
                </a:solidFill>
                <a:latin typeface="Calibri" panose="020F0502020204030204" pitchFamily="34" charset="0"/>
              </a:rPr>
              <a:t>Penan’s</a:t>
            </a:r>
            <a:r>
              <a:rPr lang="en-GB" sz="1200" dirty="0">
                <a:solidFill>
                  <a:srgbClr val="000000"/>
                </a:solidFill>
                <a:latin typeface="Calibri" panose="020F0502020204030204" pitchFamily="34" charset="0"/>
              </a:rPr>
              <a:t> </a:t>
            </a:r>
            <a:r>
              <a:rPr lang="en-GB" sz="1200" dirty="0" err="1">
                <a:solidFill>
                  <a:srgbClr val="000000"/>
                </a:solidFill>
                <a:latin typeface="Calibri" panose="020F0502020204030204" pitchFamily="34" charset="0"/>
              </a:rPr>
              <a:t>Oroo’Short</a:t>
            </a:r>
            <a:r>
              <a:rPr lang="en-GB" sz="1200" dirty="0">
                <a:solidFill>
                  <a:srgbClr val="000000"/>
                </a:solidFill>
                <a:latin typeface="Calibri" panose="020F0502020204030204" pitchFamily="34" charset="0"/>
              </a:rPr>
              <a:t> Message Signs (PO-SMS): co-design of a digital jungle sign language application,</a:t>
            </a:r>
          </a:p>
          <a:p>
            <a:r>
              <a:rPr lang="en-GB" sz="1200" dirty="0">
                <a:solidFill>
                  <a:srgbClr val="000000"/>
                </a:solidFill>
                <a:latin typeface="Calibri" panose="020F0502020204030204" pitchFamily="34" charset="0"/>
              </a:rPr>
              <a:t> T Zaman, H </a:t>
            </a:r>
            <a:r>
              <a:rPr lang="en-GB" sz="1200" dirty="0" err="1">
                <a:solidFill>
                  <a:srgbClr val="000000"/>
                </a:solidFill>
                <a:latin typeface="Calibri" panose="020F0502020204030204" pitchFamily="34" charset="0"/>
              </a:rPr>
              <a:t>Winschiers-Theophilus</a:t>
            </a:r>
            <a:r>
              <a:rPr lang="en-GB" sz="1200" dirty="0">
                <a:solidFill>
                  <a:srgbClr val="000000"/>
                </a:solidFill>
                <a:latin typeface="Calibri" panose="020F0502020204030204" pitchFamily="34" charset="0"/>
              </a:rPr>
              <a:t>, IFIP Conference on Human-Computer Interaction, 489-504, 2015</a:t>
            </a:r>
            <a:endParaRPr lang="en-GB" sz="1200" dirty="0"/>
          </a:p>
        </p:txBody>
      </p:sp>
    </p:spTree>
    <p:extLst>
      <p:ext uri="{BB962C8B-B14F-4D97-AF65-F5344CB8AC3E}">
        <p14:creationId xmlns:p14="http://schemas.microsoft.com/office/powerpoint/2010/main" val="1615160062"/>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3" descr="Poster_Persona_Eddy"/>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90466" y="4622862"/>
            <a:ext cx="2849884" cy="1717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466" y="2341302"/>
            <a:ext cx="3008357" cy="2256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Title 2"/>
          <p:cNvSpPr txBox="1">
            <a:spLocks/>
          </p:cNvSpPr>
          <p:nvPr/>
        </p:nvSpPr>
        <p:spPr>
          <a:xfrm>
            <a:off x="1338576" y="278815"/>
            <a:ext cx="7739241" cy="778004"/>
          </a:xfrm>
          <a:prstGeom prst="rect">
            <a:avLst/>
          </a:prstGeom>
        </p:spPr>
        <p:txBody>
          <a:bodyPr vert="horz" lIns="101636" tIns="50818" rIns="101636" bIns="50818" rtlCol="0" anchor="ctr">
            <a:normAutofit fontScale="82500" lnSpcReduction="10000"/>
          </a:bodyPr>
          <a:lstStyle>
            <a:lvl1pPr algn="ctr" defTabSz="508178" rtl="0" eaLnBrk="1" latinLnBrk="0" hangingPunct="1">
              <a:spcBef>
                <a:spcPct val="0"/>
              </a:spcBef>
              <a:buNone/>
              <a:defRPr sz="4900" kern="1200">
                <a:solidFill>
                  <a:schemeClr val="tx1"/>
                </a:solidFill>
                <a:latin typeface="+mj-lt"/>
                <a:ea typeface="+mj-ea"/>
                <a:cs typeface="+mj-cs"/>
              </a:defRPr>
            </a:lvl1pPr>
          </a:lstStyle>
          <a:p>
            <a:r>
              <a:rPr lang="en-US" dirty="0" smtClean="0"/>
              <a:t>User-created Personas in Namibia</a:t>
            </a:r>
            <a:endParaRPr lang="en-US" dirty="0"/>
          </a:p>
        </p:txBody>
      </p:sp>
      <p:sp>
        <p:nvSpPr>
          <p:cNvPr id="2" name="Rectangle 1"/>
          <p:cNvSpPr/>
          <p:nvPr/>
        </p:nvSpPr>
        <p:spPr>
          <a:xfrm>
            <a:off x="8106041" y="1290994"/>
            <a:ext cx="1943552" cy="707886"/>
          </a:xfrm>
          <a:prstGeom prst="rect">
            <a:avLst/>
          </a:prstGeom>
        </p:spPr>
        <p:txBody>
          <a:bodyPr wrap="square">
            <a:spAutoFit/>
          </a:bodyPr>
          <a:lstStyle/>
          <a:p>
            <a:r>
              <a:rPr lang="en-US" dirty="0" smtClean="0"/>
              <a:t>Stereotypical self-description</a:t>
            </a:r>
            <a:endParaRPr lang="en-GB" dirty="0"/>
          </a:p>
        </p:txBody>
      </p:sp>
      <p:sp>
        <p:nvSpPr>
          <p:cNvPr id="22" name="Title 2"/>
          <p:cNvSpPr txBox="1">
            <a:spLocks/>
          </p:cNvSpPr>
          <p:nvPr/>
        </p:nvSpPr>
        <p:spPr>
          <a:xfrm>
            <a:off x="0" y="1034605"/>
            <a:ext cx="2566032" cy="778004"/>
          </a:xfrm>
          <a:prstGeom prst="rect">
            <a:avLst/>
          </a:prstGeom>
        </p:spPr>
        <p:txBody>
          <a:bodyPr vert="horz" lIns="101636" tIns="50818" rIns="101636" bIns="50818" rtlCol="0" anchor="ctr">
            <a:normAutofit fontScale="97500"/>
          </a:bodyPr>
          <a:lstStyle>
            <a:lvl1pPr algn="ctr" defTabSz="508178" rtl="0" eaLnBrk="1" latinLnBrk="0" hangingPunct="1">
              <a:spcBef>
                <a:spcPct val="0"/>
              </a:spcBef>
              <a:buNone/>
              <a:defRPr sz="4900" kern="1200">
                <a:solidFill>
                  <a:schemeClr val="tx1"/>
                </a:solidFill>
                <a:latin typeface="+mj-lt"/>
                <a:ea typeface="+mj-ea"/>
                <a:cs typeface="+mj-cs"/>
              </a:defRPr>
            </a:lvl1pPr>
          </a:lstStyle>
          <a:p>
            <a:r>
              <a:rPr lang="en-US" sz="2800" dirty="0" smtClean="0"/>
              <a:t>Havana youth</a:t>
            </a:r>
            <a:endParaRPr lang="en-US" sz="2800" dirty="0"/>
          </a:p>
        </p:txBody>
      </p:sp>
      <p:sp>
        <p:nvSpPr>
          <p:cNvPr id="24" name="Title 2"/>
          <p:cNvSpPr txBox="1">
            <a:spLocks/>
          </p:cNvSpPr>
          <p:nvPr/>
        </p:nvSpPr>
        <p:spPr>
          <a:xfrm>
            <a:off x="8020906" y="4401783"/>
            <a:ext cx="2028687" cy="778004"/>
          </a:xfrm>
          <a:prstGeom prst="rect">
            <a:avLst/>
          </a:prstGeom>
        </p:spPr>
        <p:txBody>
          <a:bodyPr vert="horz" lIns="101636" tIns="50818" rIns="101636" bIns="50818" rtlCol="0" anchor="ctr">
            <a:normAutofit fontScale="97500"/>
          </a:bodyPr>
          <a:lstStyle>
            <a:lvl1pPr algn="ctr" defTabSz="508178" rtl="0" eaLnBrk="1" latinLnBrk="0" hangingPunct="1">
              <a:spcBef>
                <a:spcPct val="0"/>
              </a:spcBef>
              <a:buNone/>
              <a:defRPr sz="4900" kern="1200">
                <a:solidFill>
                  <a:schemeClr val="tx1"/>
                </a:solidFill>
                <a:latin typeface="+mj-lt"/>
                <a:ea typeface="+mj-ea"/>
                <a:cs typeface="+mj-cs"/>
              </a:defRPr>
            </a:lvl1pPr>
          </a:lstStyle>
          <a:p>
            <a:r>
              <a:rPr lang="en-US" sz="2800" dirty="0" smtClean="0"/>
              <a:t>Rural Elders </a:t>
            </a:r>
            <a:endParaRPr lang="en-US" sz="2800" dirty="0"/>
          </a:p>
        </p:txBody>
      </p:sp>
      <p:pic>
        <p:nvPicPr>
          <p:cNvPr id="2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67071" y="1393713"/>
            <a:ext cx="3811415" cy="2438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 name="Rectangle 25"/>
          <p:cNvSpPr/>
          <p:nvPr/>
        </p:nvSpPr>
        <p:spPr>
          <a:xfrm>
            <a:off x="24116" y="1563298"/>
            <a:ext cx="2588455" cy="707886"/>
          </a:xfrm>
          <a:prstGeom prst="rect">
            <a:avLst/>
          </a:prstGeom>
        </p:spPr>
        <p:txBody>
          <a:bodyPr wrap="square">
            <a:spAutoFit/>
          </a:bodyPr>
          <a:lstStyle/>
          <a:p>
            <a:r>
              <a:rPr lang="en-GB" dirty="0" smtClean="0"/>
              <a:t>Realistic, no details </a:t>
            </a:r>
          </a:p>
          <a:p>
            <a:r>
              <a:rPr lang="en-GB" dirty="0" smtClean="0"/>
              <a:t>but interlinked stories</a:t>
            </a:r>
            <a:endParaRPr lang="en-GB" dirty="0"/>
          </a:p>
        </p:txBody>
      </p:sp>
      <p:sp>
        <p:nvSpPr>
          <p:cNvPr id="27" name="Rectangle 26"/>
          <p:cNvSpPr/>
          <p:nvPr/>
        </p:nvSpPr>
        <p:spPr>
          <a:xfrm>
            <a:off x="3995490" y="995126"/>
            <a:ext cx="3211285" cy="400110"/>
          </a:xfrm>
          <a:prstGeom prst="rect">
            <a:avLst/>
          </a:prstGeom>
        </p:spPr>
        <p:txBody>
          <a:bodyPr wrap="square">
            <a:spAutoFit/>
          </a:bodyPr>
          <a:lstStyle/>
          <a:p>
            <a:r>
              <a:rPr lang="en-US" dirty="0" smtClean="0"/>
              <a:t>Highly </a:t>
            </a:r>
            <a:r>
              <a:rPr lang="en-US" dirty="0" err="1" smtClean="0"/>
              <a:t>contextualised</a:t>
            </a:r>
            <a:endParaRPr lang="en-GB" dirty="0"/>
          </a:p>
        </p:txBody>
      </p:sp>
      <p:sp>
        <p:nvSpPr>
          <p:cNvPr id="33" name="Title 3"/>
          <p:cNvSpPr txBox="1">
            <a:spLocks/>
          </p:cNvSpPr>
          <p:nvPr/>
        </p:nvSpPr>
        <p:spPr>
          <a:xfrm>
            <a:off x="5804268" y="6116718"/>
            <a:ext cx="5481127" cy="699107"/>
          </a:xfrm>
          <a:prstGeom prst="rect">
            <a:avLst/>
          </a:prstGeom>
          <a:noFill/>
          <a:ln>
            <a:solidFill>
              <a:schemeClr val="accent4">
                <a:lumMod val="60000"/>
                <a:lumOff val="40000"/>
              </a:schemeClr>
            </a:solidFill>
          </a:ln>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342900" indent="-342900" algn="l">
              <a:buFont typeface="Wingdings" panose="05000000000000000000" pitchFamily="2" charset="2"/>
              <a:buChar char="à"/>
            </a:pPr>
            <a:r>
              <a:rPr lang="en-US" sz="2400" b="1" dirty="0" smtClean="0">
                <a:sym typeface="Wingdings" panose="05000000000000000000" pitchFamily="2" charset="2"/>
              </a:rPr>
              <a:t>Not universal in description </a:t>
            </a:r>
          </a:p>
          <a:p>
            <a:pPr marL="342900" indent="-342900" algn="l">
              <a:buFont typeface="Wingdings" panose="05000000000000000000" pitchFamily="2" charset="2"/>
              <a:buChar char="à"/>
            </a:pPr>
            <a:r>
              <a:rPr lang="en-US" sz="2400" b="1" dirty="0" smtClean="0">
                <a:sym typeface="Wingdings" panose="05000000000000000000" pitchFamily="2" charset="2"/>
              </a:rPr>
              <a:t>not valid across cultures</a:t>
            </a:r>
          </a:p>
        </p:txBody>
      </p:sp>
      <p:pic>
        <p:nvPicPr>
          <p:cNvPr id="15"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H="1">
            <a:off x="8170890" y="1996242"/>
            <a:ext cx="1656184" cy="25367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132249" y="6931917"/>
            <a:ext cx="9456959" cy="769441"/>
          </a:xfrm>
          <a:prstGeom prst="rect">
            <a:avLst/>
          </a:prstGeom>
        </p:spPr>
        <p:txBody>
          <a:bodyPr wrap="square">
            <a:spAutoFit/>
          </a:bodyPr>
          <a:lstStyle/>
          <a:p>
            <a:r>
              <a:rPr lang="en-US" sz="1200" dirty="0"/>
              <a:t>DG </a:t>
            </a:r>
            <a:r>
              <a:rPr lang="en-US" sz="1200" dirty="0" err="1"/>
              <a:t>Cabrero</a:t>
            </a:r>
            <a:r>
              <a:rPr lang="en-US" sz="1200" dirty="0"/>
              <a:t>, H </a:t>
            </a:r>
            <a:r>
              <a:rPr lang="en-US" sz="1200" dirty="0" err="1"/>
              <a:t>Winschiers-Theophilus</a:t>
            </a:r>
            <a:r>
              <a:rPr lang="en-US" sz="1200" dirty="0"/>
              <a:t>, J </a:t>
            </a:r>
            <a:r>
              <a:rPr lang="en-US" sz="1200" dirty="0" err="1" smtClean="0"/>
              <a:t>Abdelnour-Nocera</a:t>
            </a:r>
            <a:r>
              <a:rPr lang="en-US" sz="1200" dirty="0" smtClean="0"/>
              <a:t> (2016) A </a:t>
            </a:r>
            <a:r>
              <a:rPr lang="en-US" sz="1200" dirty="0"/>
              <a:t>Critique of Personas as representations of" the other" in Cross-Cultural Technology </a:t>
            </a:r>
            <a:r>
              <a:rPr lang="en-US" sz="1200" dirty="0" smtClean="0"/>
              <a:t>Design, in Proceedings </a:t>
            </a:r>
            <a:r>
              <a:rPr lang="en-US" sz="1200" dirty="0"/>
              <a:t>of the First African Conference on Human Computer </a:t>
            </a:r>
            <a:r>
              <a:rPr lang="en-US" sz="1200" dirty="0" smtClean="0"/>
              <a:t>Interaction, Kenya</a:t>
            </a:r>
            <a:r>
              <a:rPr lang="en-US" sz="1200" dirty="0"/>
              <a:t> </a:t>
            </a:r>
          </a:p>
          <a:p>
            <a:endParaRPr lang="en-GB" dirty="0"/>
          </a:p>
        </p:txBody>
      </p:sp>
      <p:pic>
        <p:nvPicPr>
          <p:cNvPr id="34" name="Picture 2"/>
          <p:cNvPicPr>
            <a:picLocks noChangeAspect="1" noChangeArrowheads="1"/>
          </p:cNvPicPr>
          <p:nvPr/>
        </p:nvPicPr>
        <p:blipFill rotWithShape="1">
          <a:blip r:embed="rId6">
            <a:extLst>
              <a:ext uri="{28A0092B-C50C-407E-A947-70E740481C1C}">
                <a14:useLocalDpi xmlns:a14="http://schemas.microsoft.com/office/drawing/2010/main" val="0"/>
              </a:ext>
            </a:extLst>
          </a:blip>
          <a:srcRect r="28413" b="20915"/>
          <a:stretch/>
        </p:blipFill>
        <p:spPr bwMode="auto">
          <a:xfrm>
            <a:off x="3588276" y="4309900"/>
            <a:ext cx="3998235" cy="1643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5" name="Title 2"/>
          <p:cNvSpPr txBox="1">
            <a:spLocks/>
          </p:cNvSpPr>
          <p:nvPr/>
        </p:nvSpPr>
        <p:spPr>
          <a:xfrm>
            <a:off x="3248807" y="3620072"/>
            <a:ext cx="4704653" cy="1058782"/>
          </a:xfrm>
          <a:prstGeom prst="rect">
            <a:avLst/>
          </a:prstGeom>
        </p:spPr>
        <p:txBody>
          <a:bodyPr vert="horz" lIns="101636" tIns="50818" rIns="101636" bIns="50818" rtlCol="0" anchor="ctr">
            <a:normAutofit fontScale="97500"/>
          </a:bodyPr>
          <a:lstStyle>
            <a:lvl1pPr algn="ctr" defTabSz="508178" rtl="0" eaLnBrk="1" latinLnBrk="0" hangingPunct="1">
              <a:spcBef>
                <a:spcPct val="0"/>
              </a:spcBef>
              <a:buNone/>
              <a:defRPr sz="4900" kern="1200">
                <a:solidFill>
                  <a:schemeClr val="tx1"/>
                </a:solidFill>
                <a:latin typeface="+mj-lt"/>
                <a:ea typeface="+mj-ea"/>
                <a:cs typeface="+mj-cs"/>
              </a:defRPr>
            </a:lvl1pPr>
          </a:lstStyle>
          <a:p>
            <a:r>
              <a:rPr lang="en-US" sz="2800" dirty="0" err="1" smtClean="0"/>
              <a:t>OvaHimba</a:t>
            </a:r>
            <a:r>
              <a:rPr lang="en-US" sz="2800" dirty="0"/>
              <a:t> </a:t>
            </a:r>
            <a:r>
              <a:rPr lang="en-US" sz="2800" dirty="0" smtClean="0"/>
              <a:t>– collective personas</a:t>
            </a:r>
            <a:endParaRPr lang="en-US" sz="2800" dirty="0"/>
          </a:p>
        </p:txBody>
      </p:sp>
    </p:spTree>
    <p:extLst>
      <p:ext uri="{BB962C8B-B14F-4D97-AF65-F5344CB8AC3E}">
        <p14:creationId xmlns:p14="http://schemas.microsoft.com/office/powerpoint/2010/main" val="179027371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Conclusion</a:t>
            </a:r>
            <a:endParaRPr lang="en-GB" dirty="0"/>
          </a:p>
        </p:txBody>
      </p:sp>
      <p:sp>
        <p:nvSpPr>
          <p:cNvPr id="3" name="Content Placeholder 2"/>
          <p:cNvSpPr>
            <a:spLocks noGrp="1"/>
          </p:cNvSpPr>
          <p:nvPr>
            <p:ph idx="1"/>
          </p:nvPr>
        </p:nvSpPr>
        <p:spPr>
          <a:xfrm>
            <a:off x="508020" y="2474588"/>
            <a:ext cx="9134436" cy="5161287"/>
          </a:xfrm>
        </p:spPr>
        <p:txBody>
          <a:bodyPr/>
          <a:lstStyle/>
          <a:p>
            <a:r>
              <a:rPr lang="en-US" dirty="0" smtClean="0"/>
              <a:t>Personas are an effective design tool</a:t>
            </a:r>
          </a:p>
          <a:p>
            <a:r>
              <a:rPr lang="en-US" dirty="0" smtClean="0"/>
              <a:t>Personas are easy to create and use</a:t>
            </a:r>
          </a:p>
          <a:p>
            <a:r>
              <a:rPr lang="en-US" dirty="0" smtClean="0"/>
              <a:t>Personas are not always well understood</a:t>
            </a:r>
            <a:endParaRPr lang="en-GB" dirty="0"/>
          </a:p>
        </p:txBody>
      </p:sp>
    </p:spTree>
    <p:extLst>
      <p:ext uri="{BB962C8B-B14F-4D97-AF65-F5344CB8AC3E}">
        <p14:creationId xmlns:p14="http://schemas.microsoft.com/office/powerpoint/2010/main" val="185215964"/>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6338</TotalTime>
  <Words>751</Words>
  <Application>Microsoft Office PowerPoint</Application>
  <PresentationFormat>Custom</PresentationFormat>
  <Paragraphs>102</Paragraphs>
  <Slides>16</Slides>
  <Notes>1</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16</vt:i4>
      </vt:variant>
    </vt:vector>
  </HeadingPairs>
  <TitlesOfParts>
    <vt:vector size="25" baseType="lpstr">
      <vt:lpstr>MS PGothic</vt:lpstr>
      <vt:lpstr>Arial</vt:lpstr>
      <vt:lpstr>Calibri</vt:lpstr>
      <vt:lpstr>Ropa Soft Pro</vt:lpstr>
      <vt:lpstr>RopaSoftPro-Regular</vt:lpstr>
      <vt:lpstr>Times New Roman</vt:lpstr>
      <vt:lpstr>Wingdings</vt:lpstr>
      <vt:lpstr>Office Theme</vt:lpstr>
      <vt:lpstr>Document</vt:lpstr>
      <vt:lpstr>PowerPoint Presentation</vt:lpstr>
      <vt:lpstr>Content</vt:lpstr>
      <vt:lpstr>Persona definitions</vt:lpstr>
      <vt:lpstr>Purpose of Personas</vt:lpstr>
      <vt:lpstr>Persona descriptions</vt:lpstr>
      <vt:lpstr>How to create personas</vt:lpstr>
      <vt:lpstr>Co-designing with children</vt:lpstr>
      <vt:lpstr>Child-created Child personas</vt:lpstr>
      <vt:lpstr>PowerPoint Presentation</vt:lpstr>
      <vt:lpstr>Co-designing with children</vt:lpstr>
      <vt:lpstr>PowerPoint Presentation</vt:lpstr>
      <vt:lpstr>Design of Personas</vt:lpstr>
      <vt:lpstr>Creation of new Signs</vt:lpstr>
      <vt:lpstr>PO-SMS: App Screen Layout Design</vt:lpstr>
      <vt:lpstr>PowerPoint Presentation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CDP</dc:creator>
  <cp:lastModifiedBy>Heike</cp:lastModifiedBy>
  <cp:revision>403</cp:revision>
  <cp:lastPrinted>2016-03-04T07:54:31Z</cp:lastPrinted>
  <dcterms:created xsi:type="dcterms:W3CDTF">2015-11-09T03:14:54Z</dcterms:created>
  <dcterms:modified xsi:type="dcterms:W3CDTF">2020-05-12T14:06:12Z</dcterms:modified>
</cp:coreProperties>
</file>