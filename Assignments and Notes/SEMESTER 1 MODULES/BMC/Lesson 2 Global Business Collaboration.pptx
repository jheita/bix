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61" r:id="rId7"/>
    <p:sldId id="275" r:id="rId8"/>
    <p:sldId id="262" r:id="rId9"/>
    <p:sldId id="276" r:id="rId10"/>
    <p:sldId id="263" r:id="rId11"/>
    <p:sldId id="277" r:id="rId12"/>
    <p:sldId id="278" r:id="rId13"/>
    <p:sldId id="280" r:id="rId14"/>
    <p:sldId id="279" r:id="rId15"/>
    <p:sldId id="281" r:id="rId16"/>
    <p:sldId id="282" r:id="rId17"/>
    <p:sldId id="285" r:id="rId18"/>
    <p:sldId id="283" r:id="rId19"/>
    <p:sldId id="284" r:id="rId20"/>
    <p:sldId id="286" r:id="rId21"/>
    <p:sldId id="287" r:id="rId22"/>
    <p:sldId id="288" r:id="rId23"/>
    <p:sldId id="289" r:id="rId24"/>
    <p:sldId id="290" r:id="rId25"/>
    <p:sldId id="291" r:id="rId26"/>
  </p:sldIdLst>
  <p:sldSz cx="10150475" cy="7635875"/>
  <p:notesSz cx="6858000" cy="9144000"/>
  <p:defaultText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2">
          <p15:clr>
            <a:srgbClr val="A4A3A4"/>
          </p15:clr>
        </p15:guide>
        <p15:guide id="2" pos="42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1A3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1428" y="72"/>
      </p:cViewPr>
      <p:guideLst>
        <p:guide orient="horz" pos="462"/>
        <p:guide pos="42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b="49802"/>
          <a:stretch/>
        </p:blipFill>
        <p:spPr>
          <a:xfrm>
            <a:off x="0" y="-1"/>
            <a:ext cx="10150475" cy="3821545"/>
          </a:xfrm>
          <a:prstGeom prst="rect">
            <a:avLst/>
          </a:prstGeom>
        </p:spPr>
      </p:pic>
    </p:spTree>
    <p:extLst>
      <p:ext uri="{BB962C8B-B14F-4D97-AF65-F5344CB8AC3E}">
        <p14:creationId xmlns:p14="http://schemas.microsoft.com/office/powerpoint/2010/main" val="4013120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b="-301"/>
          <a:stretch/>
        </p:blipFill>
        <p:spPr>
          <a:xfrm>
            <a:off x="0" y="0"/>
            <a:ext cx="10150475" cy="7635875"/>
          </a:xfrm>
          <a:prstGeom prst="rect">
            <a:avLst/>
          </a:prstGeom>
        </p:spPr>
      </p:pic>
    </p:spTree>
    <p:extLst>
      <p:ext uri="{BB962C8B-B14F-4D97-AF65-F5344CB8AC3E}">
        <p14:creationId xmlns:p14="http://schemas.microsoft.com/office/powerpoint/2010/main" val="1639071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9" name="Picture 8" descr="NUST Marketing Brand Mark.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6302" y="296078"/>
            <a:ext cx="4140200" cy="1295400"/>
          </a:xfrm>
          <a:prstGeom prst="rect">
            <a:avLst/>
          </a:prstGeom>
        </p:spPr>
      </p:pic>
      <p:sp>
        <p:nvSpPr>
          <p:cNvPr id="4" name="TextBox 3"/>
          <p:cNvSpPr txBox="1"/>
          <p:nvPr userDrawn="1"/>
        </p:nvSpPr>
        <p:spPr>
          <a:xfrm>
            <a:off x="1438871" y="1406916"/>
            <a:ext cx="4453268" cy="400110"/>
          </a:xfrm>
          <a:prstGeom prst="rect">
            <a:avLst/>
          </a:prstGeom>
          <a:noFill/>
        </p:spPr>
        <p:txBody>
          <a:bodyPr wrap="square" rtlCol="0">
            <a:spAutoFit/>
          </a:bodyPr>
          <a:lstStyle/>
          <a:p>
            <a:pPr marR="0" algn="l" rtl="0"/>
            <a:r>
              <a:rPr lang="en-US" sz="2000" b="1" i="0" u="none" strike="noStrike" baseline="0" dirty="0" smtClean="0">
                <a:solidFill>
                  <a:srgbClr val="141A37"/>
                </a:solidFill>
                <a:latin typeface="RopaSoftPro-Regular"/>
              </a:rPr>
              <a:t>Faculty of Computing and Informatics</a:t>
            </a:r>
          </a:p>
        </p:txBody>
      </p:sp>
    </p:spTree>
    <p:extLst>
      <p:ext uri="{BB962C8B-B14F-4D97-AF65-F5344CB8AC3E}">
        <p14:creationId xmlns:p14="http://schemas.microsoft.com/office/powerpoint/2010/main" val="3661053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D9619E1-8D7B-8148-82B0-908DBEC4CE4D}" type="datetimeFigureOut">
              <a:rPr lang="en-US" smtClean="0"/>
              <a:t>2/19/2023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623159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63915" y="1983207"/>
            <a:ext cx="4985364" cy="561201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718454" y="1983207"/>
            <a:ext cx="4985363" cy="561201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D9619E1-8D7B-8148-82B0-908DBEC4CE4D}" type="datetimeFigureOut">
              <a:rPr lang="en-US" smtClean="0"/>
              <a:t>2/19/2023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522035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7524" y="305789"/>
            <a:ext cx="9135428" cy="1272646"/>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07524" y="1709234"/>
            <a:ext cx="4484889" cy="712328"/>
          </a:xfrm>
        </p:spPr>
        <p:txBody>
          <a:bodyPr anchor="b"/>
          <a:lstStyle>
            <a:lvl1pPr marL="0" indent="0">
              <a:buNone/>
              <a:defRPr sz="2700" b="1"/>
            </a:lvl1pPr>
            <a:lvl2pPr marL="508178" indent="0">
              <a:buNone/>
              <a:defRPr sz="2200" b="1"/>
            </a:lvl2pPr>
            <a:lvl3pPr marL="1016356" indent="0">
              <a:buNone/>
              <a:defRPr sz="2000" b="1"/>
            </a:lvl3pPr>
            <a:lvl4pPr marL="1524533" indent="0">
              <a:buNone/>
              <a:defRPr sz="1800" b="1"/>
            </a:lvl4pPr>
            <a:lvl5pPr marL="2032711" indent="0">
              <a:buNone/>
              <a:defRPr sz="1800" b="1"/>
            </a:lvl5pPr>
            <a:lvl6pPr marL="2540889" indent="0">
              <a:buNone/>
              <a:defRPr sz="1800" b="1"/>
            </a:lvl6pPr>
            <a:lvl7pPr marL="3049067" indent="0">
              <a:buNone/>
              <a:defRPr sz="1800" b="1"/>
            </a:lvl7pPr>
            <a:lvl8pPr marL="3557245" indent="0">
              <a:buNone/>
              <a:defRPr sz="1800" b="1"/>
            </a:lvl8pPr>
            <a:lvl9pPr marL="4065422"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507524" y="2421562"/>
            <a:ext cx="4484889" cy="4399467"/>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56301" y="1709234"/>
            <a:ext cx="4486651" cy="712328"/>
          </a:xfrm>
        </p:spPr>
        <p:txBody>
          <a:bodyPr anchor="b"/>
          <a:lstStyle>
            <a:lvl1pPr marL="0" indent="0">
              <a:buNone/>
              <a:defRPr sz="2700" b="1"/>
            </a:lvl1pPr>
            <a:lvl2pPr marL="508178" indent="0">
              <a:buNone/>
              <a:defRPr sz="2200" b="1"/>
            </a:lvl2pPr>
            <a:lvl3pPr marL="1016356" indent="0">
              <a:buNone/>
              <a:defRPr sz="2000" b="1"/>
            </a:lvl3pPr>
            <a:lvl4pPr marL="1524533" indent="0">
              <a:buNone/>
              <a:defRPr sz="1800" b="1"/>
            </a:lvl4pPr>
            <a:lvl5pPr marL="2032711" indent="0">
              <a:buNone/>
              <a:defRPr sz="1800" b="1"/>
            </a:lvl5pPr>
            <a:lvl6pPr marL="2540889" indent="0">
              <a:buNone/>
              <a:defRPr sz="1800" b="1"/>
            </a:lvl6pPr>
            <a:lvl7pPr marL="3049067" indent="0">
              <a:buNone/>
              <a:defRPr sz="1800" b="1"/>
            </a:lvl7pPr>
            <a:lvl8pPr marL="3557245" indent="0">
              <a:buNone/>
              <a:defRPr sz="1800" b="1"/>
            </a:lvl8pPr>
            <a:lvl9pPr marL="4065422"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5156301" y="2421562"/>
            <a:ext cx="4486651" cy="4399467"/>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D9619E1-8D7B-8148-82B0-908DBEC4CE4D}" type="datetimeFigureOut">
              <a:rPr lang="en-US" smtClean="0"/>
              <a:t>2/19/2023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957713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D9619E1-8D7B-8148-82B0-908DBEC4CE4D}" type="datetimeFigureOut">
              <a:rPr lang="en-US" smtClean="0"/>
              <a:t>2/19/2023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1550457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9619E1-8D7B-8148-82B0-908DBEC4CE4D}" type="datetimeFigureOut">
              <a:rPr lang="en-US" smtClean="0"/>
              <a:t>2/19/2023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419076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7524" y="304021"/>
            <a:ext cx="3339436" cy="1293857"/>
          </a:xfrm>
        </p:spPr>
        <p:txBody>
          <a:bodyPr anchor="b"/>
          <a:lstStyle>
            <a:lvl1pPr algn="l">
              <a:defRPr sz="2200" b="1"/>
            </a:lvl1pPr>
          </a:lstStyle>
          <a:p>
            <a:r>
              <a:rPr lang="en-US" smtClean="0"/>
              <a:t>Click to edit Master title style</a:t>
            </a:r>
            <a:endParaRPr lang="en-US"/>
          </a:p>
        </p:txBody>
      </p:sp>
      <p:sp>
        <p:nvSpPr>
          <p:cNvPr id="3" name="Content Placeholder 2"/>
          <p:cNvSpPr>
            <a:spLocks noGrp="1"/>
          </p:cNvSpPr>
          <p:nvPr>
            <p:ph idx="1"/>
          </p:nvPr>
        </p:nvSpPr>
        <p:spPr>
          <a:xfrm>
            <a:off x="3968554" y="304021"/>
            <a:ext cx="5674397" cy="6517008"/>
          </a:xfrm>
        </p:spPr>
        <p:txBody>
          <a:bodyPr/>
          <a:lstStyle>
            <a:lvl1pPr>
              <a:defRPr sz="3600"/>
            </a:lvl1pPr>
            <a:lvl2pPr>
              <a:defRPr sz="3100"/>
            </a:lvl2pPr>
            <a:lvl3pPr>
              <a:defRPr sz="270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07524" y="1597878"/>
            <a:ext cx="3339436" cy="5223151"/>
          </a:xfrm>
        </p:spPr>
        <p:txBody>
          <a:bodyPr/>
          <a:lstStyle>
            <a:lvl1pPr marL="0" indent="0">
              <a:buNone/>
              <a:defRPr sz="1600"/>
            </a:lvl1pPr>
            <a:lvl2pPr marL="508178" indent="0">
              <a:buNone/>
              <a:defRPr sz="1300"/>
            </a:lvl2pPr>
            <a:lvl3pPr marL="1016356" indent="0">
              <a:buNone/>
              <a:defRPr sz="1100"/>
            </a:lvl3pPr>
            <a:lvl4pPr marL="1524533" indent="0">
              <a:buNone/>
              <a:defRPr sz="1000"/>
            </a:lvl4pPr>
            <a:lvl5pPr marL="2032711" indent="0">
              <a:buNone/>
              <a:defRPr sz="1000"/>
            </a:lvl5pPr>
            <a:lvl6pPr marL="2540889" indent="0">
              <a:buNone/>
              <a:defRPr sz="1000"/>
            </a:lvl6pPr>
            <a:lvl7pPr marL="3049067" indent="0">
              <a:buNone/>
              <a:defRPr sz="1000"/>
            </a:lvl7pPr>
            <a:lvl8pPr marL="3557245" indent="0">
              <a:buNone/>
              <a:defRPr sz="1000"/>
            </a:lvl8pPr>
            <a:lvl9pPr marL="4065422"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9619E1-8D7B-8148-82B0-908DBEC4CE4D}" type="datetimeFigureOut">
              <a:rPr lang="en-US" smtClean="0"/>
              <a:t>2/19/2023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543931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9564" y="5345112"/>
            <a:ext cx="6090285" cy="631021"/>
          </a:xfrm>
        </p:spPr>
        <p:txBody>
          <a:bodyPr anchor="b"/>
          <a:lstStyle>
            <a:lvl1pPr algn="l">
              <a:defRPr sz="2200" b="1"/>
            </a:lvl1pPr>
          </a:lstStyle>
          <a:p>
            <a:r>
              <a:rPr lang="en-US" smtClean="0"/>
              <a:t>Click to edit Master title style</a:t>
            </a:r>
            <a:endParaRPr lang="en-US"/>
          </a:p>
        </p:txBody>
      </p:sp>
      <p:sp>
        <p:nvSpPr>
          <p:cNvPr id="3" name="Picture Placeholder 2"/>
          <p:cNvSpPr>
            <a:spLocks noGrp="1"/>
          </p:cNvSpPr>
          <p:nvPr>
            <p:ph type="pic" idx="1"/>
          </p:nvPr>
        </p:nvSpPr>
        <p:spPr>
          <a:xfrm>
            <a:off x="1989564" y="682280"/>
            <a:ext cx="6090285" cy="4581525"/>
          </a:xfrm>
        </p:spPr>
        <p:txBody>
          <a:bodyPr/>
          <a:lstStyle>
            <a:lvl1pPr marL="0" indent="0">
              <a:buNone/>
              <a:defRPr sz="3600"/>
            </a:lvl1pPr>
            <a:lvl2pPr marL="508178" indent="0">
              <a:buNone/>
              <a:defRPr sz="3100"/>
            </a:lvl2pPr>
            <a:lvl3pPr marL="1016356" indent="0">
              <a:buNone/>
              <a:defRPr sz="2700"/>
            </a:lvl3pPr>
            <a:lvl4pPr marL="1524533" indent="0">
              <a:buNone/>
              <a:defRPr sz="2200"/>
            </a:lvl4pPr>
            <a:lvl5pPr marL="2032711" indent="0">
              <a:buNone/>
              <a:defRPr sz="2200"/>
            </a:lvl5pPr>
            <a:lvl6pPr marL="2540889" indent="0">
              <a:buNone/>
              <a:defRPr sz="2200"/>
            </a:lvl6pPr>
            <a:lvl7pPr marL="3049067" indent="0">
              <a:buNone/>
              <a:defRPr sz="2200"/>
            </a:lvl7pPr>
            <a:lvl8pPr marL="3557245" indent="0">
              <a:buNone/>
              <a:defRPr sz="2200"/>
            </a:lvl8pPr>
            <a:lvl9pPr marL="4065422" indent="0">
              <a:buNone/>
              <a:defRPr sz="2200"/>
            </a:lvl9pPr>
          </a:lstStyle>
          <a:p>
            <a:endParaRPr lang="en-US"/>
          </a:p>
        </p:txBody>
      </p:sp>
      <p:sp>
        <p:nvSpPr>
          <p:cNvPr id="4" name="Text Placeholder 3"/>
          <p:cNvSpPr>
            <a:spLocks noGrp="1"/>
          </p:cNvSpPr>
          <p:nvPr>
            <p:ph type="body" sz="half" idx="2"/>
          </p:nvPr>
        </p:nvSpPr>
        <p:spPr>
          <a:xfrm>
            <a:off x="1989564" y="5976133"/>
            <a:ext cx="6090285" cy="896154"/>
          </a:xfrm>
        </p:spPr>
        <p:txBody>
          <a:bodyPr/>
          <a:lstStyle>
            <a:lvl1pPr marL="0" indent="0">
              <a:buNone/>
              <a:defRPr sz="1600"/>
            </a:lvl1pPr>
            <a:lvl2pPr marL="508178" indent="0">
              <a:buNone/>
              <a:defRPr sz="1300"/>
            </a:lvl2pPr>
            <a:lvl3pPr marL="1016356" indent="0">
              <a:buNone/>
              <a:defRPr sz="1100"/>
            </a:lvl3pPr>
            <a:lvl4pPr marL="1524533" indent="0">
              <a:buNone/>
              <a:defRPr sz="1000"/>
            </a:lvl4pPr>
            <a:lvl5pPr marL="2032711" indent="0">
              <a:buNone/>
              <a:defRPr sz="1000"/>
            </a:lvl5pPr>
            <a:lvl6pPr marL="2540889" indent="0">
              <a:buNone/>
              <a:defRPr sz="1000"/>
            </a:lvl6pPr>
            <a:lvl7pPr marL="3049067" indent="0">
              <a:buNone/>
              <a:defRPr sz="1000"/>
            </a:lvl7pPr>
            <a:lvl8pPr marL="3557245" indent="0">
              <a:buNone/>
              <a:defRPr sz="1000"/>
            </a:lvl8pPr>
            <a:lvl9pPr marL="4065422"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9619E1-8D7B-8148-82B0-908DBEC4CE4D}" type="datetimeFigureOut">
              <a:rPr lang="en-US" smtClean="0"/>
              <a:t>2/19/2023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367840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9619E1-8D7B-8148-82B0-908DBEC4CE4D}" type="datetimeFigureOut">
              <a:rPr lang="en-US" smtClean="0"/>
              <a:t>2/19/2023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422407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69723" y="341140"/>
            <a:ext cx="2534094" cy="725408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63915" y="341140"/>
            <a:ext cx="7436633" cy="725408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9619E1-8D7B-8148-82B0-908DBEC4CE4D}" type="datetimeFigureOut">
              <a:rPr lang="en-US" smtClean="0"/>
              <a:t>2/19/2023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2534938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7524" y="305789"/>
            <a:ext cx="9135428" cy="1272646"/>
          </a:xfrm>
          <a:prstGeom prst="rect">
            <a:avLst/>
          </a:prstGeom>
        </p:spPr>
        <p:txBody>
          <a:bodyPr vert="horz" lIns="101636" tIns="50818" rIns="101636" bIns="50818"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07524" y="1781704"/>
            <a:ext cx="9135428" cy="5039325"/>
          </a:xfrm>
          <a:prstGeom prst="rect">
            <a:avLst/>
          </a:prstGeom>
        </p:spPr>
        <p:txBody>
          <a:bodyPr vert="horz" lIns="101636" tIns="50818" rIns="101636" bIns="5081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07524" y="7077325"/>
            <a:ext cx="2368444" cy="406540"/>
          </a:xfrm>
          <a:prstGeom prst="rect">
            <a:avLst/>
          </a:prstGeom>
        </p:spPr>
        <p:txBody>
          <a:bodyPr vert="horz" lIns="101636" tIns="50818" rIns="101636" bIns="50818" rtlCol="0" anchor="ctr"/>
          <a:lstStyle>
            <a:lvl1pPr algn="l">
              <a:defRPr sz="1300">
                <a:solidFill>
                  <a:schemeClr val="tx1">
                    <a:tint val="75000"/>
                  </a:schemeClr>
                </a:solidFill>
              </a:defRPr>
            </a:lvl1pPr>
          </a:lstStyle>
          <a:p>
            <a:fld id="{7D9619E1-8D7B-8148-82B0-908DBEC4CE4D}" type="datetimeFigureOut">
              <a:rPr lang="en-US" smtClean="0"/>
              <a:t>2/19/2023</a:t>
            </a:fld>
            <a:endParaRPr lang="en-US"/>
          </a:p>
        </p:txBody>
      </p:sp>
      <p:sp>
        <p:nvSpPr>
          <p:cNvPr id="5" name="Footer Placeholder 4"/>
          <p:cNvSpPr>
            <a:spLocks noGrp="1"/>
          </p:cNvSpPr>
          <p:nvPr>
            <p:ph type="ftr" sz="quarter" idx="3"/>
          </p:nvPr>
        </p:nvSpPr>
        <p:spPr>
          <a:xfrm>
            <a:off x="3468079" y="7077325"/>
            <a:ext cx="3214317" cy="406540"/>
          </a:xfrm>
          <a:prstGeom prst="rect">
            <a:avLst/>
          </a:prstGeom>
        </p:spPr>
        <p:txBody>
          <a:bodyPr vert="horz" lIns="101636" tIns="50818" rIns="101636" bIns="50818" rtlCol="0" anchor="ctr"/>
          <a:lstStyle>
            <a:lvl1pPr algn="ctr">
              <a:defRPr sz="13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74507" y="7077325"/>
            <a:ext cx="2368444" cy="406540"/>
          </a:xfrm>
          <a:prstGeom prst="rect">
            <a:avLst/>
          </a:prstGeom>
        </p:spPr>
        <p:txBody>
          <a:bodyPr vert="horz" lIns="101636" tIns="50818" rIns="101636" bIns="50818" rtlCol="0" anchor="ctr"/>
          <a:lstStyle>
            <a:lvl1pPr algn="r">
              <a:defRPr sz="1300">
                <a:solidFill>
                  <a:schemeClr val="tx1">
                    <a:tint val="75000"/>
                  </a:schemeClr>
                </a:solidFill>
              </a:defRPr>
            </a:lvl1pPr>
          </a:lstStyle>
          <a:p>
            <a:fld id="{B56E6150-8108-4B44-B0B0-BFDC52A01023}" type="slidenum">
              <a:rPr lang="en-US" smtClean="0"/>
              <a:t>‹#›</a:t>
            </a:fld>
            <a:endParaRPr lang="en-US"/>
          </a:p>
        </p:txBody>
      </p:sp>
    </p:spTree>
    <p:extLst>
      <p:ext uri="{BB962C8B-B14F-4D97-AF65-F5344CB8AC3E}">
        <p14:creationId xmlns:p14="http://schemas.microsoft.com/office/powerpoint/2010/main" val="2759222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508178" rtl="0" eaLnBrk="1" latinLnBrk="0" hangingPunct="1">
        <a:spcBef>
          <a:spcPct val="0"/>
        </a:spcBef>
        <a:buNone/>
        <a:defRPr sz="4900" kern="1200">
          <a:solidFill>
            <a:schemeClr val="tx1"/>
          </a:solidFill>
          <a:latin typeface="+mj-lt"/>
          <a:ea typeface="+mj-ea"/>
          <a:cs typeface="+mj-cs"/>
        </a:defRPr>
      </a:lvl1pPr>
    </p:titleStyle>
    <p:body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SC_0063 (2).JPG"/>
          <p:cNvPicPr>
            <a:picLocks noChangeAspect="1"/>
          </p:cNvPicPr>
          <p:nvPr/>
        </p:nvPicPr>
        <p:blipFill rotWithShape="1">
          <a:blip r:embed="rId2">
            <a:extLst>
              <a:ext uri="{28A0092B-C50C-407E-A947-70E740481C1C}">
                <a14:useLocalDpi xmlns:a14="http://schemas.microsoft.com/office/drawing/2010/main" val="0"/>
              </a:ext>
            </a:extLst>
          </a:blip>
          <a:srcRect t="12540" r="15370" b="39874"/>
          <a:stretch/>
        </p:blipFill>
        <p:spPr>
          <a:xfrm>
            <a:off x="-17876" y="3824187"/>
            <a:ext cx="10168350" cy="3811687"/>
          </a:xfrm>
          <a:prstGeom prst="rect">
            <a:avLst/>
          </a:prstGeom>
        </p:spPr>
      </p:pic>
      <p:sp>
        <p:nvSpPr>
          <p:cNvPr id="7" name="TextBox 6"/>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b="1" dirty="0" smtClean="0">
                <a:solidFill>
                  <a:srgbClr val="FFFFFF"/>
                </a:solidFill>
                <a:latin typeface="RopaSoftPro-Regular"/>
              </a:rPr>
              <a:t> of Computing and Informatics</a:t>
            </a:r>
            <a:endParaRPr lang="en-US" sz="2000" b="1" i="0" u="none" strike="noStrike" baseline="0" dirty="0" smtClean="0">
              <a:solidFill>
                <a:srgbClr val="FFFFFF"/>
              </a:solidFill>
              <a:latin typeface="RopaSoftPro-Regular"/>
            </a:endParaRPr>
          </a:p>
        </p:txBody>
      </p:sp>
      <p:sp>
        <p:nvSpPr>
          <p:cNvPr id="11" name="TextBox 10"/>
          <p:cNvSpPr txBox="1"/>
          <p:nvPr/>
        </p:nvSpPr>
        <p:spPr>
          <a:xfrm>
            <a:off x="802805" y="1834601"/>
            <a:ext cx="7488787" cy="1938992"/>
          </a:xfrm>
          <a:prstGeom prst="rect">
            <a:avLst/>
          </a:prstGeom>
          <a:noFill/>
        </p:spPr>
        <p:txBody>
          <a:bodyPr wrap="square" rtlCol="0">
            <a:spAutoFit/>
          </a:bodyPr>
          <a:lstStyle/>
          <a:p>
            <a:pPr algn="ctr"/>
            <a:r>
              <a:rPr lang="en-US" sz="3000" dirty="0" smtClean="0">
                <a:solidFill>
                  <a:schemeClr val="bg1"/>
                </a:solidFill>
              </a:rPr>
              <a:t>Business Management Information Systems –BMC511S</a:t>
            </a:r>
          </a:p>
          <a:p>
            <a:r>
              <a:rPr lang="en-US" sz="3000" dirty="0" smtClean="0">
                <a:solidFill>
                  <a:schemeClr val="bg1"/>
                </a:solidFill>
              </a:rPr>
              <a:t>Lesson 2 – </a:t>
            </a:r>
            <a:r>
              <a:rPr lang="en-US" sz="2800" b="1" dirty="0">
                <a:solidFill>
                  <a:schemeClr val="bg1"/>
                </a:solidFill>
              </a:rPr>
              <a:t>Global Business and Collaboration</a:t>
            </a:r>
            <a:r>
              <a:rPr lang="en-GB" sz="2800" dirty="0">
                <a:solidFill>
                  <a:schemeClr val="bg1"/>
                </a:solidFill>
              </a:rPr>
              <a:t> </a:t>
            </a:r>
          </a:p>
          <a:p>
            <a:endParaRPr lang="en-US" sz="3000" dirty="0" smtClean="0">
              <a:solidFill>
                <a:schemeClr val="bg1"/>
              </a:solidFill>
            </a:endParaRPr>
          </a:p>
        </p:txBody>
      </p:sp>
      <p:pic>
        <p:nvPicPr>
          <p:cNvPr id="9" name="Picture 8"/>
          <p:cNvPicPr>
            <a:picLocks noChangeAspect="1"/>
          </p:cNvPicPr>
          <p:nvPr/>
        </p:nvPicPr>
        <p:blipFill>
          <a:blip r:embed="rId3"/>
          <a:stretch>
            <a:fillRect/>
          </a:stretch>
        </p:blipFill>
        <p:spPr>
          <a:xfrm>
            <a:off x="7880777" y="4294900"/>
            <a:ext cx="2387600" cy="2933700"/>
          </a:xfrm>
          <a:prstGeom prst="rect">
            <a:avLst/>
          </a:prstGeom>
        </p:spPr>
      </p:pic>
    </p:spTree>
    <p:extLst>
      <p:ext uri="{BB962C8B-B14F-4D97-AF65-F5344CB8AC3E}">
        <p14:creationId xmlns:p14="http://schemas.microsoft.com/office/powerpoint/2010/main" val="974233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27976" y="2091527"/>
            <a:ext cx="9144635" cy="553998"/>
          </a:xfrm>
          <a:prstGeom prst="rect">
            <a:avLst/>
          </a:prstGeom>
          <a:noFill/>
        </p:spPr>
        <p:txBody>
          <a:bodyPr wrap="square" rtlCol="0">
            <a:spAutoFit/>
          </a:bodyPr>
          <a:lstStyle/>
          <a:p>
            <a:r>
              <a:rPr lang="en-US" sz="3000" dirty="0" smtClean="0">
                <a:solidFill>
                  <a:srgbClr val="FFFFFF"/>
                </a:solidFill>
              </a:rPr>
              <a:t>Business Processes</a:t>
            </a:r>
            <a:endParaRPr lang="en-US" sz="3000" dirty="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6" name="Text Placeholder 2"/>
          <p:cNvSpPr txBox="1">
            <a:spLocks/>
          </p:cNvSpPr>
          <p:nvPr/>
        </p:nvSpPr>
        <p:spPr>
          <a:xfrm>
            <a:off x="527976" y="2956920"/>
            <a:ext cx="8229600"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a:defRPr/>
            </a:pPr>
            <a:r>
              <a:rPr lang="en-US" sz="2400" smtClean="0">
                <a:solidFill>
                  <a:schemeClr val="bg1"/>
                </a:solidFill>
                <a:cs typeface="ＭＳ Ｐゴシック" charset="0"/>
              </a:rPr>
              <a:t>Business processes</a:t>
            </a:r>
          </a:p>
          <a:p>
            <a:pPr lvl="1">
              <a:defRPr/>
            </a:pPr>
            <a:r>
              <a:rPr lang="en-US" sz="2400" smtClean="0">
                <a:solidFill>
                  <a:schemeClr val="bg1"/>
                </a:solidFill>
              </a:rPr>
              <a:t>Flows of material, information, knowledge</a:t>
            </a:r>
          </a:p>
          <a:p>
            <a:pPr lvl="1">
              <a:defRPr/>
            </a:pPr>
            <a:r>
              <a:rPr lang="en-US" sz="2400" smtClean="0">
                <a:solidFill>
                  <a:schemeClr val="bg1"/>
                </a:solidFill>
              </a:rPr>
              <a:t>Sets of activities, steps</a:t>
            </a:r>
          </a:p>
          <a:p>
            <a:pPr lvl="1">
              <a:defRPr/>
            </a:pPr>
            <a:r>
              <a:rPr lang="en-US" sz="2400" smtClean="0">
                <a:solidFill>
                  <a:schemeClr val="bg1"/>
                </a:solidFill>
              </a:rPr>
              <a:t>May be tied to functional area or be cross-functional</a:t>
            </a:r>
          </a:p>
          <a:p>
            <a:pPr>
              <a:defRPr/>
            </a:pPr>
            <a:r>
              <a:rPr lang="en-US" sz="2400" smtClean="0">
                <a:solidFill>
                  <a:schemeClr val="bg1"/>
                </a:solidFill>
                <a:cs typeface="ＭＳ Ｐゴシック" charset="0"/>
              </a:rPr>
              <a:t>Businesses: Can be seen as collection of business processes</a:t>
            </a:r>
          </a:p>
          <a:p>
            <a:pPr>
              <a:defRPr/>
            </a:pPr>
            <a:r>
              <a:rPr lang="en-US" sz="2400" smtClean="0">
                <a:solidFill>
                  <a:schemeClr val="bg1"/>
                </a:solidFill>
                <a:cs typeface="ＭＳ Ｐゴシック" charset="0"/>
              </a:rPr>
              <a:t>Business processes may be assets or liabilitiess</a:t>
            </a:r>
            <a:endParaRPr lang="en-US" altLang="en-US" sz="2400" dirty="0">
              <a:solidFill>
                <a:schemeClr val="bg1"/>
              </a:solidFill>
            </a:endParaRPr>
          </a:p>
        </p:txBody>
      </p:sp>
    </p:spTree>
    <p:extLst>
      <p:ext uri="{BB962C8B-B14F-4D97-AF65-F5344CB8AC3E}">
        <p14:creationId xmlns:p14="http://schemas.microsoft.com/office/powerpoint/2010/main" val="3174822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6" name="Text Placeholder 2"/>
          <p:cNvSpPr txBox="1">
            <a:spLocks/>
          </p:cNvSpPr>
          <p:nvPr/>
        </p:nvSpPr>
        <p:spPr>
          <a:xfrm>
            <a:off x="457200" y="2592091"/>
            <a:ext cx="8229600"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a:defRPr/>
            </a:pPr>
            <a:r>
              <a:rPr lang="en-US" sz="2400" smtClean="0">
                <a:solidFill>
                  <a:schemeClr val="bg1"/>
                </a:solidFill>
                <a:cs typeface="ＭＳ Ｐゴシック" charset="0"/>
              </a:rPr>
              <a:t>Examples of functional business processes</a:t>
            </a:r>
          </a:p>
          <a:p>
            <a:pPr lvl="1">
              <a:defRPr/>
            </a:pPr>
            <a:r>
              <a:rPr lang="en-US" sz="2400" smtClean="0">
                <a:solidFill>
                  <a:schemeClr val="bg1"/>
                </a:solidFill>
              </a:rPr>
              <a:t>Manufacturing and production</a:t>
            </a:r>
          </a:p>
          <a:p>
            <a:pPr lvl="2">
              <a:defRPr/>
            </a:pPr>
            <a:r>
              <a:rPr lang="en-US" sz="2400" smtClean="0">
                <a:solidFill>
                  <a:schemeClr val="bg1"/>
                </a:solidFill>
              </a:rPr>
              <a:t>Assembling the product</a:t>
            </a:r>
          </a:p>
          <a:p>
            <a:pPr lvl="1">
              <a:defRPr/>
            </a:pPr>
            <a:r>
              <a:rPr lang="en-US" sz="2400" smtClean="0">
                <a:solidFill>
                  <a:schemeClr val="bg1"/>
                </a:solidFill>
              </a:rPr>
              <a:t>Sales and marketing</a:t>
            </a:r>
          </a:p>
          <a:p>
            <a:pPr lvl="2">
              <a:defRPr/>
            </a:pPr>
            <a:r>
              <a:rPr lang="en-US" sz="2400" smtClean="0">
                <a:solidFill>
                  <a:schemeClr val="bg1"/>
                </a:solidFill>
              </a:rPr>
              <a:t>Identifying customers</a:t>
            </a:r>
          </a:p>
          <a:p>
            <a:pPr lvl="1">
              <a:defRPr/>
            </a:pPr>
            <a:r>
              <a:rPr lang="en-US" sz="2400" smtClean="0">
                <a:solidFill>
                  <a:schemeClr val="bg1"/>
                </a:solidFill>
              </a:rPr>
              <a:t>Finance and accounting</a:t>
            </a:r>
          </a:p>
          <a:p>
            <a:pPr lvl="2">
              <a:defRPr/>
            </a:pPr>
            <a:r>
              <a:rPr lang="en-US" sz="2400" smtClean="0">
                <a:solidFill>
                  <a:schemeClr val="bg1"/>
                </a:solidFill>
              </a:rPr>
              <a:t>Creating financial statements</a:t>
            </a:r>
          </a:p>
          <a:p>
            <a:pPr lvl="1">
              <a:defRPr/>
            </a:pPr>
            <a:r>
              <a:rPr lang="en-US" sz="2400" smtClean="0">
                <a:solidFill>
                  <a:schemeClr val="bg1"/>
                </a:solidFill>
              </a:rPr>
              <a:t>Human resources</a:t>
            </a:r>
          </a:p>
          <a:p>
            <a:pPr lvl="2">
              <a:defRPr/>
            </a:pPr>
            <a:r>
              <a:rPr lang="en-US" sz="2400" smtClean="0">
                <a:solidFill>
                  <a:schemeClr val="bg1"/>
                </a:solidFill>
              </a:rPr>
              <a:t>Hiring employees</a:t>
            </a:r>
            <a:endParaRPr lang="en-US" sz="2400" dirty="0">
              <a:solidFill>
                <a:schemeClr val="bg1"/>
              </a:solidFill>
            </a:endParaRPr>
          </a:p>
        </p:txBody>
      </p:sp>
      <p:sp>
        <p:nvSpPr>
          <p:cNvPr id="7" name="TextBox 6"/>
          <p:cNvSpPr txBox="1"/>
          <p:nvPr/>
        </p:nvSpPr>
        <p:spPr>
          <a:xfrm>
            <a:off x="457200" y="2038093"/>
            <a:ext cx="9144635" cy="553998"/>
          </a:xfrm>
          <a:prstGeom prst="rect">
            <a:avLst/>
          </a:prstGeom>
          <a:noFill/>
        </p:spPr>
        <p:txBody>
          <a:bodyPr wrap="square" rtlCol="0">
            <a:spAutoFit/>
          </a:bodyPr>
          <a:lstStyle/>
          <a:p>
            <a:r>
              <a:rPr lang="en-US" sz="3000" dirty="0" smtClean="0">
                <a:solidFill>
                  <a:srgbClr val="FFFFFF"/>
                </a:solidFill>
              </a:rPr>
              <a:t>Business Processes</a:t>
            </a:r>
            <a:endParaRPr lang="en-US" sz="3000" dirty="0">
              <a:solidFill>
                <a:srgbClr val="FFFFFF"/>
              </a:solidFill>
            </a:endParaRPr>
          </a:p>
        </p:txBody>
      </p:sp>
    </p:spTree>
    <p:extLst>
      <p:ext uri="{BB962C8B-B14F-4D97-AF65-F5344CB8AC3E}">
        <p14:creationId xmlns:p14="http://schemas.microsoft.com/office/powerpoint/2010/main" val="703255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pic>
        <p:nvPicPr>
          <p:cNvPr id="14" name="Picture 13" descr="A diagram depicts the steps on three different levels that are involved in an order fulfillment process. The first level is labeled, Sales, and the following items are listed. Generate order, Submit order. The next level is labeled, Accounting, and the following items are listed. Check credit, Approve credit, Generate invoice. From the, Approve credit, step of, Accounting, the process also proceeds to the Manufacturing and Production level, under which the following items are listed. Assemble product, Ship produ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8467" y="2969287"/>
            <a:ext cx="6196734" cy="3622035"/>
          </a:xfrm>
          <a:prstGeom prst="rect">
            <a:avLst/>
          </a:prstGeom>
        </p:spPr>
      </p:pic>
      <p:sp>
        <p:nvSpPr>
          <p:cNvPr id="15" name="Title 1"/>
          <p:cNvSpPr txBox="1">
            <a:spLocks/>
          </p:cNvSpPr>
          <p:nvPr/>
        </p:nvSpPr>
        <p:spPr>
          <a:xfrm>
            <a:off x="-333214" y="2031980"/>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2800" smtClean="0">
                <a:solidFill>
                  <a:schemeClr val="bg1"/>
                </a:solidFill>
              </a:rPr>
              <a:t>Figure 2.1 The Order Fulfillment Process</a:t>
            </a:r>
            <a:endParaRPr lang="en-US" sz="2800" dirty="0">
              <a:solidFill>
                <a:schemeClr val="bg1"/>
              </a:solidFill>
            </a:endParaRPr>
          </a:p>
        </p:txBody>
      </p:sp>
    </p:spTree>
    <p:extLst>
      <p:ext uri="{BB962C8B-B14F-4D97-AF65-F5344CB8AC3E}">
        <p14:creationId xmlns:p14="http://schemas.microsoft.com/office/powerpoint/2010/main" val="1261823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6" name="Text Placeholder 2"/>
          <p:cNvSpPr txBox="1">
            <a:spLocks/>
          </p:cNvSpPr>
          <p:nvPr/>
        </p:nvSpPr>
        <p:spPr>
          <a:xfrm>
            <a:off x="767166" y="3367007"/>
            <a:ext cx="8229600"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a:defRPr/>
            </a:pPr>
            <a:r>
              <a:rPr lang="en-US" sz="2400" dirty="0" smtClean="0">
                <a:solidFill>
                  <a:schemeClr val="bg1"/>
                </a:solidFill>
              </a:rPr>
              <a:t>Increasing efficiency of existing processes</a:t>
            </a:r>
          </a:p>
          <a:p>
            <a:pPr lvl="1">
              <a:defRPr/>
            </a:pPr>
            <a:r>
              <a:rPr lang="en-US" sz="2400" dirty="0" smtClean="0">
                <a:solidFill>
                  <a:schemeClr val="bg1"/>
                </a:solidFill>
              </a:rPr>
              <a:t>Automating steps that were manual</a:t>
            </a:r>
          </a:p>
          <a:p>
            <a:pPr>
              <a:defRPr/>
            </a:pPr>
            <a:r>
              <a:rPr lang="en-US" sz="2400" dirty="0" smtClean="0">
                <a:solidFill>
                  <a:schemeClr val="bg1"/>
                </a:solidFill>
              </a:rPr>
              <a:t>Enabling entirely new processes</a:t>
            </a:r>
          </a:p>
          <a:p>
            <a:pPr lvl="1">
              <a:defRPr/>
            </a:pPr>
            <a:r>
              <a:rPr lang="en-US" sz="2400" dirty="0" smtClean="0">
                <a:solidFill>
                  <a:schemeClr val="bg1"/>
                </a:solidFill>
              </a:rPr>
              <a:t>Changing flow of information</a:t>
            </a:r>
          </a:p>
          <a:p>
            <a:pPr lvl="1">
              <a:defRPr/>
            </a:pPr>
            <a:r>
              <a:rPr lang="en-US" sz="2400" dirty="0" smtClean="0">
                <a:solidFill>
                  <a:schemeClr val="bg1"/>
                </a:solidFill>
              </a:rPr>
              <a:t>Replacing sequential steps with parallel steps</a:t>
            </a:r>
          </a:p>
          <a:p>
            <a:pPr lvl="1">
              <a:defRPr/>
            </a:pPr>
            <a:r>
              <a:rPr lang="en-US" sz="2400" dirty="0" smtClean="0">
                <a:solidFill>
                  <a:schemeClr val="bg1"/>
                </a:solidFill>
              </a:rPr>
              <a:t>Eliminating delays in decision making</a:t>
            </a:r>
          </a:p>
          <a:p>
            <a:pPr lvl="1">
              <a:defRPr/>
            </a:pPr>
            <a:r>
              <a:rPr lang="en-US" sz="2400" dirty="0" smtClean="0">
                <a:solidFill>
                  <a:schemeClr val="bg1"/>
                </a:solidFill>
              </a:rPr>
              <a:t>Supporting new business models</a:t>
            </a:r>
            <a:endParaRPr lang="en-US" sz="2400" dirty="0">
              <a:solidFill>
                <a:schemeClr val="bg1"/>
              </a:solidFill>
            </a:endParaRPr>
          </a:p>
        </p:txBody>
      </p:sp>
      <p:sp>
        <p:nvSpPr>
          <p:cNvPr id="7" name="Title 1"/>
          <p:cNvSpPr txBox="1">
            <a:spLocks/>
          </p:cNvSpPr>
          <p:nvPr/>
        </p:nvSpPr>
        <p:spPr>
          <a:xfrm>
            <a:off x="612182" y="2026867"/>
            <a:ext cx="8384583"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3200" smtClean="0">
                <a:solidFill>
                  <a:schemeClr val="bg1"/>
                </a:solidFill>
              </a:rPr>
              <a:t>How Information Technology Improves Business Processes</a:t>
            </a:r>
            <a:endParaRPr lang="en-US" sz="3200" dirty="0">
              <a:solidFill>
                <a:schemeClr val="bg1"/>
              </a:solidFill>
            </a:endParaRPr>
          </a:p>
        </p:txBody>
      </p:sp>
    </p:spTree>
    <p:extLst>
      <p:ext uri="{BB962C8B-B14F-4D97-AF65-F5344CB8AC3E}">
        <p14:creationId xmlns:p14="http://schemas.microsoft.com/office/powerpoint/2010/main" val="482717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6" name="Text Placeholder 2"/>
          <p:cNvSpPr txBox="1">
            <a:spLocks/>
          </p:cNvSpPr>
          <p:nvPr/>
        </p:nvSpPr>
        <p:spPr>
          <a:xfrm>
            <a:off x="550190" y="2282126"/>
            <a:ext cx="8229600"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r>
              <a:rPr lang="en-US" b="1" dirty="0" smtClean="0">
                <a:solidFill>
                  <a:schemeClr val="bg1"/>
                </a:solidFill>
              </a:rPr>
              <a:t>Transaction processing systems</a:t>
            </a:r>
          </a:p>
          <a:p>
            <a:pPr lvl="1"/>
            <a:r>
              <a:rPr lang="en-US" sz="2400" dirty="0" smtClean="0">
                <a:solidFill>
                  <a:schemeClr val="bg1"/>
                </a:solidFill>
              </a:rPr>
              <a:t>Serve operational managers and staff</a:t>
            </a:r>
          </a:p>
          <a:p>
            <a:pPr lvl="1"/>
            <a:r>
              <a:rPr lang="en-US" sz="2400" dirty="0" smtClean="0">
                <a:solidFill>
                  <a:schemeClr val="bg1"/>
                </a:solidFill>
              </a:rPr>
              <a:t>Perform and record daily routine transactions necessary to conduct business</a:t>
            </a:r>
          </a:p>
          <a:p>
            <a:pPr lvl="2"/>
            <a:r>
              <a:rPr lang="en-US" sz="2400" dirty="0" smtClean="0">
                <a:solidFill>
                  <a:schemeClr val="bg1"/>
                </a:solidFill>
              </a:rPr>
              <a:t>Examples: sales order entry, payroll, shipping</a:t>
            </a:r>
          </a:p>
          <a:p>
            <a:pPr lvl="1"/>
            <a:r>
              <a:rPr lang="en-US" sz="2400" dirty="0" smtClean="0">
                <a:solidFill>
                  <a:schemeClr val="bg1"/>
                </a:solidFill>
              </a:rPr>
              <a:t>Allow managers to monitor status of operations and relations with external environment</a:t>
            </a:r>
          </a:p>
          <a:p>
            <a:pPr lvl="1"/>
            <a:r>
              <a:rPr lang="en-US" sz="2400" dirty="0" smtClean="0">
                <a:solidFill>
                  <a:schemeClr val="bg1"/>
                </a:solidFill>
              </a:rPr>
              <a:t>Serve predefined, structured goals and decision making</a:t>
            </a:r>
            <a:endParaRPr lang="en-US" sz="2400" dirty="0">
              <a:solidFill>
                <a:schemeClr val="bg1"/>
              </a:solidFill>
            </a:endParaRPr>
          </a:p>
        </p:txBody>
      </p:sp>
    </p:spTree>
    <p:extLst>
      <p:ext uri="{BB962C8B-B14F-4D97-AF65-F5344CB8AC3E}">
        <p14:creationId xmlns:p14="http://schemas.microsoft.com/office/powerpoint/2010/main" val="1248587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pic>
        <p:nvPicPr>
          <p:cNvPr id="6" name="Picture 5" descr="A diagram depicts the inputs and outputs of a transaction processing system for payroll. At the center is the Payroll System. A main input to this system is employee data. The payroll system receives input from the employee file database as well as provides updates to this database. The system also has a reciprocal relationship with users and online queries. Payroll data in a master file, or database, would include, for example, the following items. Employee Number. Name. Address. Pay rate. Gross pay. Federal tax. F I C A. Medicare. State tax. Net pay. Earnings, Y T D. Data from the payroll system would then create output in the following various forms. To General Ledger. Management reports. To government agencies. Employee paycheck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0074" y="2639928"/>
            <a:ext cx="5690144" cy="4441644"/>
          </a:xfrm>
          <a:prstGeom prst="rect">
            <a:avLst/>
          </a:prstGeom>
        </p:spPr>
      </p:pic>
      <p:sp>
        <p:nvSpPr>
          <p:cNvPr id="7" name="Title 1"/>
          <p:cNvSpPr txBox="1">
            <a:spLocks/>
          </p:cNvSpPr>
          <p:nvPr/>
        </p:nvSpPr>
        <p:spPr>
          <a:xfrm>
            <a:off x="-906651" y="1804515"/>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3600" smtClean="0">
                <a:solidFill>
                  <a:schemeClr val="bg1"/>
                </a:solidFill>
              </a:rPr>
              <a:t>Figure 2.2 A Payroll T</a:t>
            </a:r>
            <a:r>
              <a:rPr lang="en-US" sz="100" smtClean="0">
                <a:solidFill>
                  <a:schemeClr val="bg1"/>
                </a:solidFill>
              </a:rPr>
              <a:t> </a:t>
            </a:r>
            <a:r>
              <a:rPr lang="en-US" sz="3600" smtClean="0">
                <a:solidFill>
                  <a:schemeClr val="bg1"/>
                </a:solidFill>
              </a:rPr>
              <a:t>P</a:t>
            </a:r>
            <a:r>
              <a:rPr lang="en-US" sz="100" smtClean="0">
                <a:solidFill>
                  <a:schemeClr val="bg1"/>
                </a:solidFill>
              </a:rPr>
              <a:t> </a:t>
            </a:r>
            <a:r>
              <a:rPr lang="en-US" sz="3600" smtClean="0">
                <a:solidFill>
                  <a:schemeClr val="bg1"/>
                </a:solidFill>
              </a:rPr>
              <a:t>S</a:t>
            </a:r>
            <a:endParaRPr lang="en-US" sz="3600" dirty="0">
              <a:solidFill>
                <a:schemeClr val="bg1"/>
              </a:solidFill>
            </a:endParaRPr>
          </a:p>
        </p:txBody>
      </p:sp>
    </p:spTree>
    <p:extLst>
      <p:ext uri="{BB962C8B-B14F-4D97-AF65-F5344CB8AC3E}">
        <p14:creationId xmlns:p14="http://schemas.microsoft.com/office/powerpoint/2010/main" val="1255572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6" name="Title 1"/>
          <p:cNvSpPr txBox="1">
            <a:spLocks/>
          </p:cNvSpPr>
          <p:nvPr/>
        </p:nvSpPr>
        <p:spPr>
          <a:xfrm>
            <a:off x="457199" y="2199154"/>
            <a:ext cx="9120753"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pPr algn="l"/>
            <a:r>
              <a:rPr lang="en-US" sz="3600" b="1" dirty="0" smtClean="0">
                <a:solidFill>
                  <a:schemeClr val="bg1"/>
                </a:solidFill>
                <a:latin typeface="+mn-lt"/>
              </a:rPr>
              <a:t>Management Information Systems</a:t>
            </a:r>
            <a:endParaRPr lang="en-US" sz="3600" b="1" dirty="0">
              <a:solidFill>
                <a:schemeClr val="bg1"/>
              </a:solidFill>
              <a:latin typeface="+mn-lt"/>
            </a:endParaRPr>
          </a:p>
        </p:txBody>
      </p:sp>
      <p:sp>
        <p:nvSpPr>
          <p:cNvPr id="7" name="Text Placeholder 2"/>
          <p:cNvSpPr txBox="1">
            <a:spLocks/>
          </p:cNvSpPr>
          <p:nvPr/>
        </p:nvSpPr>
        <p:spPr>
          <a:xfrm>
            <a:off x="457199" y="3109912"/>
            <a:ext cx="8229600"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r>
              <a:rPr lang="en-US" altLang="en-US" sz="2400" smtClean="0">
                <a:solidFill>
                  <a:schemeClr val="bg1"/>
                </a:solidFill>
              </a:rPr>
              <a:t>Serve middle management</a:t>
            </a:r>
          </a:p>
          <a:p>
            <a:r>
              <a:rPr lang="en-US" altLang="en-US" sz="2400" smtClean="0">
                <a:solidFill>
                  <a:schemeClr val="bg1"/>
                </a:solidFill>
              </a:rPr>
              <a:t>Provide reports on firm</a:t>
            </a:r>
            <a:r>
              <a:rPr lang="en-US" altLang="ja-JP" sz="2400" smtClean="0">
                <a:solidFill>
                  <a:schemeClr val="bg1"/>
                </a:solidFill>
              </a:rPr>
              <a:t>’s current performance, based on data from T</a:t>
            </a:r>
            <a:r>
              <a:rPr lang="en-US" altLang="ja-JP" sz="100" smtClean="0">
                <a:solidFill>
                  <a:schemeClr val="bg1"/>
                </a:solidFill>
              </a:rPr>
              <a:t> </a:t>
            </a:r>
            <a:r>
              <a:rPr lang="en-US" altLang="ja-JP" sz="2400" smtClean="0">
                <a:solidFill>
                  <a:schemeClr val="bg1"/>
                </a:solidFill>
              </a:rPr>
              <a:t>P</a:t>
            </a:r>
            <a:r>
              <a:rPr lang="en-US" altLang="ja-JP" sz="100" smtClean="0">
                <a:solidFill>
                  <a:schemeClr val="bg1"/>
                </a:solidFill>
              </a:rPr>
              <a:t> </a:t>
            </a:r>
            <a:r>
              <a:rPr lang="en-US" altLang="ja-JP" sz="2400" smtClean="0">
                <a:solidFill>
                  <a:schemeClr val="bg1"/>
                </a:solidFill>
              </a:rPr>
              <a:t>S</a:t>
            </a:r>
          </a:p>
          <a:p>
            <a:r>
              <a:rPr lang="en-US" altLang="en-US" sz="2400" smtClean="0">
                <a:solidFill>
                  <a:schemeClr val="bg1"/>
                </a:solidFill>
              </a:rPr>
              <a:t>Provide answers to routine questions with predefined procedure for answering them</a:t>
            </a:r>
          </a:p>
          <a:p>
            <a:r>
              <a:rPr lang="en-US" altLang="en-US" sz="2400" smtClean="0">
                <a:solidFill>
                  <a:schemeClr val="bg1"/>
                </a:solidFill>
              </a:rPr>
              <a:t>Typically have little analytic capability</a:t>
            </a:r>
            <a:endParaRPr lang="en-US" sz="2400" dirty="0">
              <a:solidFill>
                <a:schemeClr val="bg1"/>
              </a:solidFill>
            </a:endParaRPr>
          </a:p>
        </p:txBody>
      </p:sp>
    </p:spTree>
    <p:extLst>
      <p:ext uri="{BB962C8B-B14F-4D97-AF65-F5344CB8AC3E}">
        <p14:creationId xmlns:p14="http://schemas.microsoft.com/office/powerpoint/2010/main" val="3003957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depicts the data outputs from an organization’s transaction processing system. On the left side of the diagram are the transaction processing systems, labeled as follows. Order processing system, which receives and transmits data to order files. Materials resource planning system, which receives and transmits data to production master file. General ledger system, which receives and transmits data to accounting files. On the right side of the diagram are the management information systems, listed as follows. Sales data are received from the order processing system. Unit product cost data and product change data are received from the materials resource planning system. Expense data are received from the general ledger system. These outputs of the M I S systems form the reports, often in the form of online displays and dashboards, to manager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0024" y="3123413"/>
            <a:ext cx="7850894" cy="3591740"/>
          </a:xfrm>
          <a:prstGeom prst="rect">
            <a:avLst/>
          </a:prstGeom>
        </p:spPr>
      </p:pic>
      <p:sp>
        <p:nvSpPr>
          <p:cNvPr id="3" name="Title 1"/>
          <p:cNvSpPr txBox="1">
            <a:spLocks/>
          </p:cNvSpPr>
          <p:nvPr/>
        </p:nvSpPr>
        <p:spPr>
          <a:xfrm>
            <a:off x="317715" y="1749704"/>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2800" smtClean="0">
                <a:solidFill>
                  <a:schemeClr val="bg1"/>
                </a:solidFill>
              </a:rPr>
              <a:t>Figure 2.3 How Management Information Systems Obtain Their Data from the Organization’s T</a:t>
            </a:r>
            <a:r>
              <a:rPr lang="en-US" sz="100" smtClean="0">
                <a:solidFill>
                  <a:schemeClr val="bg1"/>
                </a:solidFill>
              </a:rPr>
              <a:t> </a:t>
            </a:r>
            <a:r>
              <a:rPr lang="en-US" sz="2800" smtClean="0">
                <a:solidFill>
                  <a:schemeClr val="bg1"/>
                </a:solidFill>
              </a:rPr>
              <a:t>P</a:t>
            </a:r>
            <a:r>
              <a:rPr lang="en-US" sz="100" smtClean="0">
                <a:solidFill>
                  <a:schemeClr val="bg1"/>
                </a:solidFill>
              </a:rPr>
              <a:t> </a:t>
            </a:r>
            <a:r>
              <a:rPr lang="en-US" sz="2800" smtClean="0">
                <a:solidFill>
                  <a:schemeClr val="bg1"/>
                </a:solidFill>
              </a:rPr>
              <a:t>S</a:t>
            </a:r>
            <a:endParaRPr lang="en-US" sz="2800" dirty="0">
              <a:solidFill>
                <a:schemeClr val="bg1"/>
              </a:solidFill>
            </a:endParaRPr>
          </a:p>
        </p:txBody>
      </p:sp>
    </p:spTree>
    <p:extLst>
      <p:ext uri="{BB962C8B-B14F-4D97-AF65-F5344CB8AC3E}">
        <p14:creationId xmlns:p14="http://schemas.microsoft.com/office/powerpoint/2010/main" val="2155055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852406" y="1504828"/>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altLang="en-US" sz="3600" b="1" dirty="0" smtClean="0">
                <a:solidFill>
                  <a:schemeClr val="bg1"/>
                </a:solidFill>
                <a:latin typeface="+mn-lt"/>
              </a:rPr>
              <a:t>Decision Support Systems</a:t>
            </a:r>
            <a:endParaRPr lang="en-US" sz="3600" b="1" dirty="0">
              <a:solidFill>
                <a:schemeClr val="bg1"/>
              </a:solidFill>
              <a:latin typeface="+mn-lt"/>
            </a:endParaRPr>
          </a:p>
        </p:txBody>
      </p:sp>
      <p:sp>
        <p:nvSpPr>
          <p:cNvPr id="3" name="Text Placeholder 2"/>
          <p:cNvSpPr txBox="1">
            <a:spLocks/>
          </p:cNvSpPr>
          <p:nvPr/>
        </p:nvSpPr>
        <p:spPr>
          <a:xfrm>
            <a:off x="844658" y="2762573"/>
            <a:ext cx="8229600"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a:spcBef>
                <a:spcPct val="0"/>
              </a:spcBef>
            </a:pPr>
            <a:r>
              <a:rPr lang="en-US" altLang="en-US" sz="2400" dirty="0" smtClean="0">
                <a:solidFill>
                  <a:schemeClr val="bg1"/>
                </a:solidFill>
              </a:rPr>
              <a:t>Serve middle management</a:t>
            </a:r>
          </a:p>
          <a:p>
            <a:pPr>
              <a:spcBef>
                <a:spcPct val="0"/>
              </a:spcBef>
            </a:pPr>
            <a:r>
              <a:rPr lang="en-US" altLang="en-US" sz="2400" dirty="0" smtClean="0">
                <a:solidFill>
                  <a:schemeClr val="bg1"/>
                </a:solidFill>
              </a:rPr>
              <a:t>Support </a:t>
            </a:r>
            <a:r>
              <a:rPr lang="en-US" altLang="en-US" sz="2400" dirty="0" err="1" smtClean="0">
                <a:solidFill>
                  <a:schemeClr val="bg1"/>
                </a:solidFill>
              </a:rPr>
              <a:t>nonroutine</a:t>
            </a:r>
            <a:r>
              <a:rPr lang="en-US" altLang="en-US" sz="2400" dirty="0" smtClean="0">
                <a:solidFill>
                  <a:schemeClr val="bg1"/>
                </a:solidFill>
              </a:rPr>
              <a:t> decision making</a:t>
            </a:r>
          </a:p>
          <a:p>
            <a:pPr lvl="1">
              <a:spcBef>
                <a:spcPct val="0"/>
              </a:spcBef>
            </a:pPr>
            <a:r>
              <a:rPr lang="en-US" altLang="en-US" sz="2400" dirty="0" smtClean="0">
                <a:solidFill>
                  <a:schemeClr val="bg1"/>
                </a:solidFill>
              </a:rPr>
              <a:t>Example: What is the impact on production schedule if December sales doubled?</a:t>
            </a:r>
          </a:p>
          <a:p>
            <a:pPr>
              <a:spcBef>
                <a:spcPct val="0"/>
              </a:spcBef>
            </a:pPr>
            <a:r>
              <a:rPr lang="en-US" altLang="en-US" sz="2400" dirty="0" smtClean="0">
                <a:solidFill>
                  <a:schemeClr val="bg1"/>
                </a:solidFill>
              </a:rPr>
              <a:t>May use external information as well T</a:t>
            </a:r>
            <a:r>
              <a:rPr lang="en-US" altLang="en-US" sz="100" dirty="0" smtClean="0">
                <a:solidFill>
                  <a:schemeClr val="bg1"/>
                </a:solidFill>
              </a:rPr>
              <a:t> </a:t>
            </a:r>
            <a:r>
              <a:rPr lang="en-US" altLang="en-US" sz="2400" dirty="0" smtClean="0">
                <a:solidFill>
                  <a:schemeClr val="bg1"/>
                </a:solidFill>
              </a:rPr>
              <a:t>P</a:t>
            </a:r>
            <a:r>
              <a:rPr lang="en-US" altLang="en-US" sz="100" dirty="0" smtClean="0">
                <a:solidFill>
                  <a:schemeClr val="bg1"/>
                </a:solidFill>
              </a:rPr>
              <a:t> </a:t>
            </a:r>
            <a:r>
              <a:rPr lang="en-US" altLang="en-US" sz="2400" dirty="0" smtClean="0">
                <a:solidFill>
                  <a:schemeClr val="bg1"/>
                </a:solidFill>
              </a:rPr>
              <a:t>S / M</a:t>
            </a:r>
            <a:r>
              <a:rPr lang="en-US" altLang="en-US" sz="100" dirty="0" smtClean="0">
                <a:solidFill>
                  <a:schemeClr val="bg1"/>
                </a:solidFill>
              </a:rPr>
              <a:t> </a:t>
            </a:r>
            <a:r>
              <a:rPr lang="en-US" altLang="en-US" sz="2400" dirty="0" smtClean="0">
                <a:solidFill>
                  <a:schemeClr val="bg1"/>
                </a:solidFill>
              </a:rPr>
              <a:t>I</a:t>
            </a:r>
            <a:r>
              <a:rPr lang="en-US" altLang="en-US" sz="100" dirty="0" smtClean="0">
                <a:solidFill>
                  <a:schemeClr val="bg1"/>
                </a:solidFill>
              </a:rPr>
              <a:t> </a:t>
            </a:r>
            <a:r>
              <a:rPr lang="en-US" altLang="en-US" sz="2400" dirty="0" smtClean="0">
                <a:solidFill>
                  <a:schemeClr val="bg1"/>
                </a:solidFill>
              </a:rPr>
              <a:t>S data</a:t>
            </a:r>
          </a:p>
          <a:p>
            <a:pPr>
              <a:spcBef>
                <a:spcPct val="0"/>
              </a:spcBef>
            </a:pPr>
            <a:r>
              <a:rPr lang="en-US" altLang="en-US" sz="2400" dirty="0" smtClean="0">
                <a:solidFill>
                  <a:schemeClr val="bg1"/>
                </a:solidFill>
              </a:rPr>
              <a:t>Model driven D</a:t>
            </a:r>
            <a:r>
              <a:rPr lang="en-US" altLang="en-US" sz="100" dirty="0" smtClean="0">
                <a:solidFill>
                  <a:schemeClr val="bg1"/>
                </a:solidFill>
              </a:rPr>
              <a:t> </a:t>
            </a:r>
            <a:r>
              <a:rPr lang="en-US" altLang="en-US" sz="2400" dirty="0" smtClean="0">
                <a:solidFill>
                  <a:schemeClr val="bg1"/>
                </a:solidFill>
              </a:rPr>
              <a:t>S</a:t>
            </a:r>
            <a:r>
              <a:rPr lang="en-US" altLang="en-US" sz="100" dirty="0" smtClean="0">
                <a:solidFill>
                  <a:schemeClr val="bg1"/>
                </a:solidFill>
              </a:rPr>
              <a:t> </a:t>
            </a:r>
            <a:r>
              <a:rPr lang="en-US" altLang="en-US" sz="2400" dirty="0" err="1" smtClean="0">
                <a:solidFill>
                  <a:schemeClr val="bg1"/>
                </a:solidFill>
              </a:rPr>
              <a:t>S</a:t>
            </a:r>
            <a:endParaRPr lang="en-US" altLang="en-US" sz="2400" dirty="0" smtClean="0">
              <a:solidFill>
                <a:schemeClr val="bg1"/>
              </a:solidFill>
            </a:endParaRPr>
          </a:p>
          <a:p>
            <a:pPr lvl="1">
              <a:spcBef>
                <a:spcPct val="0"/>
              </a:spcBef>
            </a:pPr>
            <a:r>
              <a:rPr lang="en-US" altLang="en-US" sz="2400" dirty="0" smtClean="0">
                <a:solidFill>
                  <a:schemeClr val="bg1"/>
                </a:solidFill>
              </a:rPr>
              <a:t>Voyage-estimating systems</a:t>
            </a:r>
          </a:p>
          <a:p>
            <a:pPr>
              <a:spcBef>
                <a:spcPct val="0"/>
              </a:spcBef>
            </a:pPr>
            <a:r>
              <a:rPr lang="en-US" altLang="en-US" sz="2400" dirty="0" smtClean="0">
                <a:solidFill>
                  <a:schemeClr val="bg1"/>
                </a:solidFill>
              </a:rPr>
              <a:t>Data driven D</a:t>
            </a:r>
            <a:r>
              <a:rPr lang="en-US" altLang="en-US" sz="100" dirty="0" smtClean="0">
                <a:solidFill>
                  <a:schemeClr val="bg1"/>
                </a:solidFill>
              </a:rPr>
              <a:t> </a:t>
            </a:r>
            <a:r>
              <a:rPr lang="en-US" altLang="en-US" sz="2400" dirty="0" smtClean="0">
                <a:solidFill>
                  <a:schemeClr val="bg1"/>
                </a:solidFill>
              </a:rPr>
              <a:t>S</a:t>
            </a:r>
            <a:r>
              <a:rPr lang="en-US" altLang="en-US" sz="100" dirty="0" smtClean="0">
                <a:solidFill>
                  <a:schemeClr val="bg1"/>
                </a:solidFill>
              </a:rPr>
              <a:t> </a:t>
            </a:r>
            <a:r>
              <a:rPr lang="en-US" altLang="en-US" sz="2400" dirty="0" err="1" smtClean="0">
                <a:solidFill>
                  <a:schemeClr val="bg1"/>
                </a:solidFill>
              </a:rPr>
              <a:t>S</a:t>
            </a:r>
            <a:endParaRPr lang="en-US" altLang="en-US" sz="2400" dirty="0" smtClean="0">
              <a:solidFill>
                <a:schemeClr val="bg1"/>
              </a:solidFill>
            </a:endParaRPr>
          </a:p>
          <a:p>
            <a:pPr lvl="1">
              <a:spcBef>
                <a:spcPct val="0"/>
              </a:spcBef>
            </a:pPr>
            <a:r>
              <a:rPr lang="en-US" altLang="en-US" sz="2400" dirty="0" smtClean="0">
                <a:solidFill>
                  <a:schemeClr val="bg1"/>
                </a:solidFill>
              </a:rPr>
              <a:t>Intrawest</a:t>
            </a:r>
            <a:r>
              <a:rPr lang="en-US" altLang="ja-JP" sz="2400" dirty="0" smtClean="0">
                <a:solidFill>
                  <a:schemeClr val="bg1"/>
                </a:solidFill>
              </a:rPr>
              <a:t>’s marketing analysis systems</a:t>
            </a:r>
            <a:endParaRPr lang="en-US" altLang="en-US" sz="2400" dirty="0">
              <a:solidFill>
                <a:schemeClr val="bg1"/>
              </a:solidFill>
            </a:endParaRPr>
          </a:p>
        </p:txBody>
      </p:sp>
    </p:spTree>
    <p:extLst>
      <p:ext uri="{BB962C8B-B14F-4D97-AF65-F5344CB8AC3E}">
        <p14:creationId xmlns:p14="http://schemas.microsoft.com/office/powerpoint/2010/main" val="332042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n the diagram, the inputs to the analytical models database are as follows. Ship file, such as speed or capacity. Port distance restrictions file. Fuel consumption cost file. Ship charter hire history cost file. Port expense file. This database is available via P C's and allows for entry of or obtaining informatio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733" y="2486555"/>
            <a:ext cx="7212458" cy="4572000"/>
          </a:xfrm>
          <a:prstGeom prst="rect">
            <a:avLst/>
          </a:prstGeom>
        </p:spPr>
      </p:pic>
      <p:sp>
        <p:nvSpPr>
          <p:cNvPr id="3" name="Title 1"/>
          <p:cNvSpPr txBox="1">
            <a:spLocks/>
          </p:cNvSpPr>
          <p:nvPr/>
        </p:nvSpPr>
        <p:spPr>
          <a:xfrm>
            <a:off x="457200" y="1311045"/>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3600" b="1" smtClean="0">
                <a:solidFill>
                  <a:schemeClr val="bg1"/>
                </a:solidFill>
                <a:latin typeface="+mn-lt"/>
              </a:rPr>
              <a:t>Figure 2.5 Voyage-Estimating Decision-Support System</a:t>
            </a:r>
            <a:endParaRPr lang="en-US" sz="3600" b="1" dirty="0">
              <a:solidFill>
                <a:schemeClr val="bg1"/>
              </a:solidFill>
              <a:latin typeface="+mn-lt"/>
            </a:endParaRPr>
          </a:p>
        </p:txBody>
      </p:sp>
    </p:spTree>
    <p:extLst>
      <p:ext uri="{BB962C8B-B14F-4D97-AF65-F5344CB8AC3E}">
        <p14:creationId xmlns:p14="http://schemas.microsoft.com/office/powerpoint/2010/main" val="3759566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1600200"/>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altLang="en-US" sz="3600" b="1" dirty="0" smtClean="0">
                <a:solidFill>
                  <a:schemeClr val="bg1"/>
                </a:solidFill>
              </a:rPr>
              <a:t>Executive Support Systems</a:t>
            </a:r>
            <a:endParaRPr lang="en-US" sz="3600" b="1" dirty="0">
              <a:solidFill>
                <a:schemeClr val="bg1"/>
              </a:solidFill>
            </a:endParaRPr>
          </a:p>
        </p:txBody>
      </p:sp>
      <p:sp>
        <p:nvSpPr>
          <p:cNvPr id="3" name="Text Placeholder 2"/>
          <p:cNvSpPr txBox="1">
            <a:spLocks/>
          </p:cNvSpPr>
          <p:nvPr/>
        </p:nvSpPr>
        <p:spPr>
          <a:xfrm>
            <a:off x="457200" y="2985029"/>
            <a:ext cx="8229600"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r>
              <a:rPr lang="en-US" altLang="en-US" sz="2400" smtClean="0">
                <a:solidFill>
                  <a:schemeClr val="bg1"/>
                </a:solidFill>
              </a:rPr>
              <a:t>Support senior management</a:t>
            </a:r>
          </a:p>
          <a:p>
            <a:r>
              <a:rPr lang="en-US" altLang="en-US" sz="2400" smtClean="0">
                <a:solidFill>
                  <a:schemeClr val="bg1"/>
                </a:solidFill>
              </a:rPr>
              <a:t>Address nonroutine decisions</a:t>
            </a:r>
          </a:p>
          <a:p>
            <a:pPr lvl="1"/>
            <a:r>
              <a:rPr lang="en-US" altLang="en-US" sz="2400" smtClean="0">
                <a:solidFill>
                  <a:schemeClr val="bg1"/>
                </a:solidFill>
              </a:rPr>
              <a:t>Requiring judgment, evaluation, and insight</a:t>
            </a:r>
          </a:p>
          <a:p>
            <a:r>
              <a:rPr lang="en-US" altLang="en-US" sz="2400" smtClean="0">
                <a:solidFill>
                  <a:schemeClr val="bg1"/>
                </a:solidFill>
              </a:rPr>
              <a:t>Incorporate data about external events (e.g., new tax laws or competitors) as well as summarized information from internal M</a:t>
            </a:r>
            <a:r>
              <a:rPr lang="en-US" altLang="en-US" sz="100" smtClean="0">
                <a:solidFill>
                  <a:schemeClr val="bg1"/>
                </a:solidFill>
              </a:rPr>
              <a:t> </a:t>
            </a:r>
            <a:r>
              <a:rPr lang="en-US" altLang="en-US" sz="2400" smtClean="0">
                <a:solidFill>
                  <a:schemeClr val="bg1"/>
                </a:solidFill>
              </a:rPr>
              <a:t>I</a:t>
            </a:r>
            <a:r>
              <a:rPr lang="en-US" altLang="en-US" sz="100" smtClean="0">
                <a:solidFill>
                  <a:schemeClr val="bg1"/>
                </a:solidFill>
              </a:rPr>
              <a:t> </a:t>
            </a:r>
            <a:r>
              <a:rPr lang="en-US" altLang="en-US" sz="2400" smtClean="0">
                <a:solidFill>
                  <a:schemeClr val="bg1"/>
                </a:solidFill>
              </a:rPr>
              <a:t>S and D</a:t>
            </a:r>
            <a:r>
              <a:rPr lang="en-US" altLang="en-US" sz="100" smtClean="0">
                <a:solidFill>
                  <a:schemeClr val="bg1"/>
                </a:solidFill>
              </a:rPr>
              <a:t> </a:t>
            </a:r>
            <a:r>
              <a:rPr lang="en-US" altLang="en-US" sz="2400" smtClean="0">
                <a:solidFill>
                  <a:schemeClr val="bg1"/>
                </a:solidFill>
              </a:rPr>
              <a:t>S</a:t>
            </a:r>
            <a:r>
              <a:rPr lang="en-US" altLang="en-US" sz="100" smtClean="0">
                <a:solidFill>
                  <a:schemeClr val="bg1"/>
                </a:solidFill>
              </a:rPr>
              <a:t> </a:t>
            </a:r>
            <a:r>
              <a:rPr lang="en-US" altLang="en-US" sz="2400" smtClean="0">
                <a:solidFill>
                  <a:schemeClr val="bg1"/>
                </a:solidFill>
              </a:rPr>
              <a:t>S</a:t>
            </a:r>
          </a:p>
          <a:p>
            <a:r>
              <a:rPr lang="en-US" altLang="en-US" sz="2400" smtClean="0">
                <a:solidFill>
                  <a:schemeClr val="bg1"/>
                </a:solidFill>
              </a:rPr>
              <a:t>Example: Digital dashboard with real-time view of firm</a:t>
            </a:r>
            <a:r>
              <a:rPr lang="en-US" altLang="ja-JP" sz="2400" smtClean="0">
                <a:solidFill>
                  <a:schemeClr val="bg1"/>
                </a:solidFill>
              </a:rPr>
              <a:t>’s financial performance</a:t>
            </a:r>
            <a:endParaRPr lang="en-US" altLang="en-US" sz="2400" dirty="0">
              <a:solidFill>
                <a:schemeClr val="bg1"/>
              </a:solidFill>
            </a:endParaRPr>
          </a:p>
        </p:txBody>
      </p:sp>
    </p:spTree>
    <p:extLst>
      <p:ext uri="{BB962C8B-B14F-4D97-AF65-F5344CB8AC3E}">
        <p14:creationId xmlns:p14="http://schemas.microsoft.com/office/powerpoint/2010/main" val="677652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565688" y="1312650"/>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mtClean="0">
                <a:solidFill>
                  <a:schemeClr val="bg1"/>
                </a:solidFill>
              </a:rPr>
              <a:t>Enterprise Applications</a:t>
            </a:r>
            <a:endParaRPr lang="en-US" dirty="0">
              <a:solidFill>
                <a:schemeClr val="bg1"/>
              </a:solidFill>
            </a:endParaRPr>
          </a:p>
        </p:txBody>
      </p:sp>
      <p:sp>
        <p:nvSpPr>
          <p:cNvPr id="3" name="Text Placeholder 2"/>
          <p:cNvSpPr txBox="1">
            <a:spLocks/>
          </p:cNvSpPr>
          <p:nvPr/>
        </p:nvSpPr>
        <p:spPr>
          <a:xfrm>
            <a:off x="565688" y="2697479"/>
            <a:ext cx="8229600"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a:defRPr/>
            </a:pPr>
            <a:r>
              <a:rPr lang="en-US" sz="2400" smtClean="0">
                <a:solidFill>
                  <a:schemeClr val="bg1"/>
                </a:solidFill>
              </a:rPr>
              <a:t>Systems for linking the enterprise</a:t>
            </a:r>
          </a:p>
          <a:p>
            <a:pPr>
              <a:defRPr/>
            </a:pPr>
            <a:r>
              <a:rPr lang="en-US" sz="2400" smtClean="0">
                <a:solidFill>
                  <a:schemeClr val="bg1"/>
                </a:solidFill>
              </a:rPr>
              <a:t>Span functional areas</a:t>
            </a:r>
          </a:p>
          <a:p>
            <a:pPr>
              <a:defRPr/>
            </a:pPr>
            <a:r>
              <a:rPr lang="en-US" sz="2400" smtClean="0">
                <a:solidFill>
                  <a:schemeClr val="bg1"/>
                </a:solidFill>
              </a:rPr>
              <a:t>Execute business processes across the firm</a:t>
            </a:r>
          </a:p>
          <a:p>
            <a:pPr>
              <a:defRPr/>
            </a:pPr>
            <a:r>
              <a:rPr lang="en-US" sz="2400" smtClean="0">
                <a:solidFill>
                  <a:schemeClr val="bg1"/>
                </a:solidFill>
              </a:rPr>
              <a:t>Include all levels of management</a:t>
            </a:r>
          </a:p>
          <a:p>
            <a:pPr>
              <a:defRPr/>
            </a:pPr>
            <a:r>
              <a:rPr lang="en-US" sz="2400" smtClean="0">
                <a:solidFill>
                  <a:schemeClr val="bg1"/>
                </a:solidFill>
              </a:rPr>
              <a:t>Four major applications</a:t>
            </a:r>
          </a:p>
          <a:p>
            <a:pPr lvl="1">
              <a:defRPr/>
            </a:pPr>
            <a:r>
              <a:rPr lang="en-US" sz="2400" smtClean="0">
                <a:solidFill>
                  <a:schemeClr val="bg1"/>
                </a:solidFill>
              </a:rPr>
              <a:t>Enterprise systems</a:t>
            </a:r>
          </a:p>
          <a:p>
            <a:pPr lvl="1">
              <a:defRPr/>
            </a:pPr>
            <a:r>
              <a:rPr lang="en-US" sz="2400" smtClean="0">
                <a:solidFill>
                  <a:schemeClr val="bg1"/>
                </a:solidFill>
              </a:rPr>
              <a:t>Supply chain management systems</a:t>
            </a:r>
          </a:p>
          <a:p>
            <a:pPr lvl="1">
              <a:defRPr/>
            </a:pPr>
            <a:r>
              <a:rPr lang="en-US" sz="2400" smtClean="0">
                <a:solidFill>
                  <a:schemeClr val="bg1"/>
                </a:solidFill>
              </a:rPr>
              <a:t>Customer relationship management systems</a:t>
            </a:r>
          </a:p>
          <a:p>
            <a:pPr lvl="1">
              <a:defRPr/>
            </a:pPr>
            <a:r>
              <a:rPr lang="en-US" sz="2400" smtClean="0">
                <a:solidFill>
                  <a:schemeClr val="bg1"/>
                </a:solidFill>
              </a:rPr>
              <a:t>Knowledge management systems</a:t>
            </a:r>
            <a:endParaRPr lang="en-US" sz="2400" dirty="0">
              <a:solidFill>
                <a:schemeClr val="bg1"/>
              </a:solidFill>
            </a:endParaRPr>
          </a:p>
        </p:txBody>
      </p:sp>
    </p:spTree>
    <p:extLst>
      <p:ext uri="{BB962C8B-B14F-4D97-AF65-F5344CB8AC3E}">
        <p14:creationId xmlns:p14="http://schemas.microsoft.com/office/powerpoint/2010/main" val="2163886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80447" y="1083276"/>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dirty="0" smtClean="0">
                <a:solidFill>
                  <a:schemeClr val="bg1"/>
                </a:solidFill>
                <a:latin typeface="+mn-lt"/>
              </a:rPr>
              <a:t>Figure 2.6 </a:t>
            </a:r>
            <a:r>
              <a:rPr lang="en-US" sz="4000" dirty="0" smtClean="0">
                <a:solidFill>
                  <a:schemeClr val="bg1"/>
                </a:solidFill>
                <a:latin typeface="+mn-lt"/>
              </a:rPr>
              <a:t>Enterprise</a:t>
            </a:r>
            <a:r>
              <a:rPr lang="en-US" dirty="0" smtClean="0">
                <a:solidFill>
                  <a:schemeClr val="bg1"/>
                </a:solidFill>
                <a:latin typeface="+mn-lt"/>
              </a:rPr>
              <a:t> </a:t>
            </a:r>
            <a:r>
              <a:rPr lang="en-US" sz="4000" dirty="0" smtClean="0">
                <a:solidFill>
                  <a:schemeClr val="bg1"/>
                </a:solidFill>
                <a:latin typeface="+mn-lt"/>
              </a:rPr>
              <a:t>Application </a:t>
            </a:r>
            <a:r>
              <a:rPr lang="en-US" sz="2800" dirty="0" smtClean="0">
                <a:solidFill>
                  <a:schemeClr val="bg1"/>
                </a:solidFill>
                <a:latin typeface="+mn-lt"/>
              </a:rPr>
              <a:t>Architecture</a:t>
            </a:r>
            <a:endParaRPr lang="en-US" sz="4000" dirty="0">
              <a:solidFill>
                <a:schemeClr val="bg1"/>
              </a:solidFill>
              <a:latin typeface="+mn-lt"/>
            </a:endParaRPr>
          </a:p>
        </p:txBody>
      </p:sp>
      <p:pic>
        <p:nvPicPr>
          <p:cNvPr id="3" name="Picture 2" descr="In the diagram, a triangle representing enterprise applications is divided vertically into four functional areas, Labeled respectively as follows. Sales and marketing. Manufacturing and production. Finance and accounting. Human resources. A vertical oval encompasses most of the manufacturing and production and finance accounting areas contains the Knowledge Management Systems and the Enterprise Systems. A horizontal oval that overlaps the center of the vertical oval contains the central processes of all four functional areas. Within that oval are the Supply Chain Management Systems, which pertain to suppliers and business partners, and the Customer Relationship Management Systems, which pertain to customers and distributor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3776" y="2336128"/>
            <a:ext cx="5004868" cy="4881292"/>
          </a:xfrm>
          <a:prstGeom prst="rect">
            <a:avLst/>
          </a:prstGeom>
        </p:spPr>
      </p:pic>
    </p:spTree>
    <p:extLst>
      <p:ext uri="{BB962C8B-B14F-4D97-AF65-F5344CB8AC3E}">
        <p14:creationId xmlns:p14="http://schemas.microsoft.com/office/powerpoint/2010/main" val="2123267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751668" y="1191764"/>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mtClean="0">
                <a:solidFill>
                  <a:schemeClr val="bg1"/>
                </a:solidFill>
              </a:rPr>
              <a:t>Enterprise Systems</a:t>
            </a:r>
            <a:endParaRPr lang="en-US" dirty="0">
              <a:solidFill>
                <a:schemeClr val="bg1"/>
              </a:solidFill>
            </a:endParaRPr>
          </a:p>
        </p:txBody>
      </p:sp>
      <p:sp>
        <p:nvSpPr>
          <p:cNvPr id="3" name="Text Placeholder 2"/>
          <p:cNvSpPr txBox="1">
            <a:spLocks/>
          </p:cNvSpPr>
          <p:nvPr/>
        </p:nvSpPr>
        <p:spPr>
          <a:xfrm>
            <a:off x="751668" y="2576593"/>
            <a:ext cx="8229600"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a:defRPr/>
            </a:pPr>
            <a:r>
              <a:rPr lang="en-US" sz="2400" smtClean="0">
                <a:solidFill>
                  <a:schemeClr val="bg1"/>
                </a:solidFill>
              </a:rPr>
              <a:t>Collect data from different firm functions and store data in single central data repository</a:t>
            </a:r>
          </a:p>
          <a:p>
            <a:pPr>
              <a:defRPr/>
            </a:pPr>
            <a:r>
              <a:rPr lang="en-US" sz="2400" smtClean="0">
                <a:solidFill>
                  <a:schemeClr val="bg1"/>
                </a:solidFill>
              </a:rPr>
              <a:t>Resolve problems of fragmented data</a:t>
            </a:r>
          </a:p>
          <a:p>
            <a:pPr>
              <a:defRPr/>
            </a:pPr>
            <a:r>
              <a:rPr lang="en-US" sz="2400" smtClean="0">
                <a:solidFill>
                  <a:schemeClr val="bg1"/>
                </a:solidFill>
              </a:rPr>
              <a:t>Enable:</a:t>
            </a:r>
          </a:p>
          <a:p>
            <a:pPr lvl="1">
              <a:defRPr/>
            </a:pPr>
            <a:r>
              <a:rPr lang="en-US" sz="2400" smtClean="0">
                <a:solidFill>
                  <a:schemeClr val="bg1"/>
                </a:solidFill>
              </a:rPr>
              <a:t>Coordination of daily activities</a:t>
            </a:r>
          </a:p>
          <a:p>
            <a:pPr lvl="1">
              <a:defRPr/>
            </a:pPr>
            <a:r>
              <a:rPr lang="en-US" sz="2400" smtClean="0">
                <a:solidFill>
                  <a:schemeClr val="bg1"/>
                </a:solidFill>
              </a:rPr>
              <a:t>Efficient response to customer orders (production, inventory)</a:t>
            </a:r>
          </a:p>
          <a:p>
            <a:pPr lvl="1">
              <a:defRPr/>
            </a:pPr>
            <a:r>
              <a:rPr lang="en-US" sz="2400" smtClean="0">
                <a:solidFill>
                  <a:schemeClr val="bg1"/>
                </a:solidFill>
              </a:rPr>
              <a:t>Decision making by managers about daily operations and longer-term planning</a:t>
            </a:r>
            <a:endParaRPr lang="en-US" sz="2400" dirty="0">
              <a:solidFill>
                <a:schemeClr val="bg1"/>
              </a:solidFill>
            </a:endParaRPr>
          </a:p>
        </p:txBody>
      </p:sp>
    </p:spTree>
    <p:extLst>
      <p:ext uri="{BB962C8B-B14F-4D97-AF65-F5344CB8AC3E}">
        <p14:creationId xmlns:p14="http://schemas.microsoft.com/office/powerpoint/2010/main" val="641243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705173" y="1312650"/>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3600" b="1" dirty="0" smtClean="0">
                <a:solidFill>
                  <a:schemeClr val="bg1"/>
                </a:solidFill>
              </a:rPr>
              <a:t>Supply Chain Management (S</a:t>
            </a:r>
            <a:r>
              <a:rPr lang="en-US" sz="100" b="1" dirty="0" smtClean="0">
                <a:solidFill>
                  <a:schemeClr val="bg1"/>
                </a:solidFill>
              </a:rPr>
              <a:t> </a:t>
            </a:r>
            <a:r>
              <a:rPr lang="en-US" sz="3600" b="1" dirty="0" smtClean="0">
                <a:solidFill>
                  <a:schemeClr val="bg1"/>
                </a:solidFill>
              </a:rPr>
              <a:t>C</a:t>
            </a:r>
            <a:r>
              <a:rPr lang="en-US" sz="100" b="1" dirty="0" smtClean="0">
                <a:solidFill>
                  <a:schemeClr val="bg1"/>
                </a:solidFill>
              </a:rPr>
              <a:t> </a:t>
            </a:r>
            <a:r>
              <a:rPr lang="en-US" sz="3600" b="1" dirty="0" smtClean="0">
                <a:solidFill>
                  <a:schemeClr val="bg1"/>
                </a:solidFill>
              </a:rPr>
              <a:t>M) Systems</a:t>
            </a:r>
            <a:endParaRPr lang="en-US" sz="3600" b="1" dirty="0">
              <a:solidFill>
                <a:schemeClr val="bg1"/>
              </a:solidFill>
            </a:endParaRPr>
          </a:p>
        </p:txBody>
      </p:sp>
      <p:sp>
        <p:nvSpPr>
          <p:cNvPr id="3" name="Text Placeholder 2"/>
          <p:cNvSpPr txBox="1">
            <a:spLocks/>
          </p:cNvSpPr>
          <p:nvPr/>
        </p:nvSpPr>
        <p:spPr>
          <a:xfrm>
            <a:off x="705173" y="2697479"/>
            <a:ext cx="8229600"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r>
              <a:rPr lang="en-US" altLang="en-US" sz="2400" dirty="0" smtClean="0">
                <a:solidFill>
                  <a:schemeClr val="bg1"/>
                </a:solidFill>
              </a:rPr>
              <a:t>Manage firm</a:t>
            </a:r>
            <a:r>
              <a:rPr lang="en-US" altLang="ja-JP" sz="2400" dirty="0" smtClean="0">
                <a:solidFill>
                  <a:schemeClr val="bg1"/>
                </a:solidFill>
              </a:rPr>
              <a:t>’s relationships with suppliers</a:t>
            </a:r>
          </a:p>
          <a:p>
            <a:r>
              <a:rPr lang="en-US" altLang="en-US" sz="2400" dirty="0" smtClean="0">
                <a:solidFill>
                  <a:schemeClr val="bg1"/>
                </a:solidFill>
              </a:rPr>
              <a:t>Share information about:</a:t>
            </a:r>
          </a:p>
          <a:p>
            <a:pPr lvl="1"/>
            <a:r>
              <a:rPr lang="en-US" altLang="en-US" sz="2400" dirty="0" smtClean="0">
                <a:solidFill>
                  <a:schemeClr val="bg1"/>
                </a:solidFill>
              </a:rPr>
              <a:t>Orders, production, inventory levels, delivery of products and services</a:t>
            </a:r>
          </a:p>
          <a:p>
            <a:r>
              <a:rPr lang="en-US" altLang="en-US" sz="2400" dirty="0" smtClean="0">
                <a:solidFill>
                  <a:schemeClr val="bg1"/>
                </a:solidFill>
              </a:rPr>
              <a:t>Goal:</a:t>
            </a:r>
          </a:p>
          <a:p>
            <a:pPr lvl="1"/>
            <a:r>
              <a:rPr lang="en-US" altLang="en-US" sz="2400" dirty="0" smtClean="0">
                <a:solidFill>
                  <a:schemeClr val="bg1"/>
                </a:solidFill>
              </a:rPr>
              <a:t>Right amount of products to destination with least amount of time and lowest cost</a:t>
            </a:r>
            <a:endParaRPr lang="en-US" sz="2400" dirty="0">
              <a:solidFill>
                <a:schemeClr val="bg1"/>
              </a:solidFill>
            </a:endParaRPr>
          </a:p>
        </p:txBody>
      </p:sp>
    </p:spTree>
    <p:extLst>
      <p:ext uri="{BB962C8B-B14F-4D97-AF65-F5344CB8AC3E}">
        <p14:creationId xmlns:p14="http://schemas.microsoft.com/office/powerpoint/2010/main" val="3624891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27681" y="1295546"/>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dirty="0" smtClean="0">
                <a:solidFill>
                  <a:schemeClr val="bg1"/>
                </a:solidFill>
              </a:rPr>
              <a:t>What is Collaboration?</a:t>
            </a:r>
            <a:endParaRPr lang="en-US" dirty="0">
              <a:solidFill>
                <a:schemeClr val="bg1"/>
              </a:solidFill>
            </a:endParaRPr>
          </a:p>
        </p:txBody>
      </p:sp>
      <p:sp>
        <p:nvSpPr>
          <p:cNvPr id="3" name="Text Placeholder 2"/>
          <p:cNvSpPr txBox="1">
            <a:spLocks/>
          </p:cNvSpPr>
          <p:nvPr/>
        </p:nvSpPr>
        <p:spPr>
          <a:xfrm>
            <a:off x="395206" y="2392825"/>
            <a:ext cx="9058760"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r>
              <a:rPr lang="en-US" altLang="en-US" sz="2400" dirty="0" smtClean="0">
                <a:solidFill>
                  <a:schemeClr val="bg1"/>
                </a:solidFill>
              </a:rPr>
              <a:t>Collaboration</a:t>
            </a:r>
          </a:p>
          <a:p>
            <a:pPr lvl="1"/>
            <a:r>
              <a:rPr lang="en-US" altLang="en-US" sz="2400" dirty="0" smtClean="0">
                <a:solidFill>
                  <a:schemeClr val="bg1"/>
                </a:solidFill>
              </a:rPr>
              <a:t>Short lived or long term</a:t>
            </a:r>
          </a:p>
          <a:p>
            <a:pPr lvl="1"/>
            <a:r>
              <a:rPr lang="en-US" altLang="en-US" sz="2400" dirty="0" smtClean="0">
                <a:solidFill>
                  <a:schemeClr val="bg1"/>
                </a:solidFill>
              </a:rPr>
              <a:t>Informal or formal (teams)</a:t>
            </a:r>
          </a:p>
          <a:p>
            <a:r>
              <a:rPr lang="en-US" altLang="en-US" sz="2400" dirty="0" smtClean="0">
                <a:solidFill>
                  <a:schemeClr val="bg1"/>
                </a:solidFill>
              </a:rPr>
              <a:t>Growing importance of collaboration</a:t>
            </a:r>
          </a:p>
          <a:p>
            <a:pPr lvl="1"/>
            <a:r>
              <a:rPr lang="en-US" altLang="en-US" sz="2400" dirty="0" smtClean="0">
                <a:solidFill>
                  <a:schemeClr val="bg1"/>
                </a:solidFill>
              </a:rPr>
              <a:t>Changing nature of work – </a:t>
            </a:r>
            <a:r>
              <a:rPr lang="en-US" altLang="en-US" sz="2000" dirty="0" smtClean="0">
                <a:solidFill>
                  <a:schemeClr val="bg1"/>
                </a:solidFill>
              </a:rPr>
              <a:t>more interaction between employees, </a:t>
            </a:r>
            <a:r>
              <a:rPr lang="en-US" altLang="en-US" sz="2000" dirty="0" err="1" smtClean="0">
                <a:solidFill>
                  <a:schemeClr val="bg1"/>
                </a:solidFill>
              </a:rPr>
              <a:t>customers,suppliers</a:t>
            </a:r>
            <a:endParaRPr lang="en-US" altLang="en-US" sz="2000" dirty="0" smtClean="0">
              <a:solidFill>
                <a:schemeClr val="bg1"/>
              </a:solidFill>
            </a:endParaRPr>
          </a:p>
          <a:p>
            <a:pPr lvl="1"/>
            <a:r>
              <a:rPr lang="en-US" altLang="en-US" sz="2400" dirty="0" smtClean="0">
                <a:solidFill>
                  <a:schemeClr val="bg1"/>
                </a:solidFill>
              </a:rPr>
              <a:t>Growth of professional work—</a:t>
            </a:r>
            <a:r>
              <a:rPr lang="ja-JP" altLang="en-US" sz="2400" dirty="0" smtClean="0">
                <a:solidFill>
                  <a:schemeClr val="bg1"/>
                </a:solidFill>
              </a:rPr>
              <a:t>“</a:t>
            </a:r>
            <a:r>
              <a:rPr lang="en-US" altLang="ja-JP" sz="2400" dirty="0" smtClean="0">
                <a:solidFill>
                  <a:schemeClr val="bg1"/>
                </a:solidFill>
              </a:rPr>
              <a:t>interaction jobs, professionals</a:t>
            </a:r>
            <a:r>
              <a:rPr lang="ja-JP" altLang="en-US" sz="2400" dirty="0" smtClean="0">
                <a:solidFill>
                  <a:schemeClr val="bg1"/>
                </a:solidFill>
              </a:rPr>
              <a:t>”</a:t>
            </a:r>
            <a:endParaRPr lang="en-US" altLang="ja-JP" sz="2400" dirty="0" smtClean="0">
              <a:solidFill>
                <a:schemeClr val="bg1"/>
              </a:solidFill>
            </a:endParaRPr>
          </a:p>
          <a:p>
            <a:pPr lvl="1"/>
            <a:r>
              <a:rPr lang="en-US" altLang="en-US" sz="2400" dirty="0" smtClean="0">
                <a:solidFill>
                  <a:schemeClr val="bg1"/>
                </a:solidFill>
              </a:rPr>
              <a:t>Changing organization of the firm – </a:t>
            </a:r>
            <a:r>
              <a:rPr lang="en-US" altLang="en-US" sz="2000" dirty="0" smtClean="0">
                <a:solidFill>
                  <a:schemeClr val="bg1"/>
                </a:solidFill>
              </a:rPr>
              <a:t>flattened no more </a:t>
            </a:r>
            <a:r>
              <a:rPr lang="en-US" altLang="en-US" sz="2400" dirty="0" smtClean="0">
                <a:solidFill>
                  <a:schemeClr val="bg1"/>
                </a:solidFill>
              </a:rPr>
              <a:t>hierarchical</a:t>
            </a:r>
          </a:p>
          <a:p>
            <a:pPr lvl="1"/>
            <a:r>
              <a:rPr lang="en-US" altLang="en-US" sz="2400" dirty="0" smtClean="0">
                <a:solidFill>
                  <a:schemeClr val="bg1"/>
                </a:solidFill>
              </a:rPr>
              <a:t>Changing scope of the firm –</a:t>
            </a:r>
            <a:r>
              <a:rPr lang="en-US" altLang="en-US" sz="2000" dirty="0" smtClean="0">
                <a:solidFill>
                  <a:schemeClr val="bg1"/>
                </a:solidFill>
              </a:rPr>
              <a:t>globalization – but close coordination</a:t>
            </a:r>
          </a:p>
          <a:p>
            <a:pPr lvl="1"/>
            <a:r>
              <a:rPr lang="en-US" altLang="en-US" sz="2400" dirty="0" smtClean="0">
                <a:solidFill>
                  <a:schemeClr val="bg1"/>
                </a:solidFill>
              </a:rPr>
              <a:t>Emphasis on innovation – </a:t>
            </a:r>
            <a:r>
              <a:rPr lang="en-US" altLang="en-US" sz="2000" dirty="0" smtClean="0">
                <a:solidFill>
                  <a:schemeClr val="bg1"/>
                </a:solidFill>
              </a:rPr>
              <a:t>comes more from team work</a:t>
            </a:r>
            <a:endParaRPr lang="en-US" altLang="en-US" sz="2400" dirty="0" smtClean="0">
              <a:solidFill>
                <a:schemeClr val="bg1"/>
              </a:solidFill>
            </a:endParaRPr>
          </a:p>
          <a:p>
            <a:pPr lvl="1"/>
            <a:r>
              <a:rPr lang="en-US" altLang="en-US" sz="2400" dirty="0" smtClean="0">
                <a:solidFill>
                  <a:schemeClr val="bg1"/>
                </a:solidFill>
              </a:rPr>
              <a:t>Changing culture of work – diverse teams better than individuals</a:t>
            </a:r>
            <a:endParaRPr lang="en-US" sz="2400" dirty="0">
              <a:solidFill>
                <a:schemeClr val="bg1"/>
              </a:solidFill>
            </a:endParaRPr>
          </a:p>
        </p:txBody>
      </p:sp>
    </p:spTree>
    <p:extLst>
      <p:ext uri="{BB962C8B-B14F-4D97-AF65-F5344CB8AC3E}">
        <p14:creationId xmlns:p14="http://schemas.microsoft.com/office/powerpoint/2010/main" val="1655892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74176" y="1336785"/>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3200" b="1" dirty="0" smtClean="0">
                <a:solidFill>
                  <a:schemeClr val="bg1"/>
                </a:solidFill>
              </a:rPr>
              <a:t>Tools and Technologies for Collaboration and Social Business</a:t>
            </a:r>
            <a:endParaRPr lang="en-US" sz="3200" b="1" dirty="0">
              <a:solidFill>
                <a:schemeClr val="bg1"/>
              </a:solidFill>
            </a:endParaRPr>
          </a:p>
        </p:txBody>
      </p:sp>
      <p:sp>
        <p:nvSpPr>
          <p:cNvPr id="3" name="Text Placeholder 2"/>
          <p:cNvSpPr txBox="1">
            <a:spLocks/>
          </p:cNvSpPr>
          <p:nvPr/>
        </p:nvSpPr>
        <p:spPr>
          <a:xfrm>
            <a:off x="674176" y="2436389"/>
            <a:ext cx="8229600"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a:defRPr/>
            </a:pPr>
            <a:r>
              <a:rPr lang="en-US" sz="2400" dirty="0" smtClean="0">
                <a:solidFill>
                  <a:schemeClr val="bg1"/>
                </a:solidFill>
              </a:rPr>
              <a:t>E-mail and instant messaging (I</a:t>
            </a:r>
            <a:r>
              <a:rPr lang="en-US" sz="100" dirty="0" smtClean="0">
                <a:solidFill>
                  <a:schemeClr val="bg1"/>
                </a:solidFill>
              </a:rPr>
              <a:t> </a:t>
            </a:r>
            <a:r>
              <a:rPr lang="en-US" sz="2400" dirty="0" smtClean="0">
                <a:solidFill>
                  <a:schemeClr val="bg1"/>
                </a:solidFill>
              </a:rPr>
              <a:t>M)</a:t>
            </a:r>
          </a:p>
          <a:p>
            <a:pPr>
              <a:defRPr/>
            </a:pPr>
            <a:r>
              <a:rPr lang="en-US" sz="2400" dirty="0" smtClean="0">
                <a:solidFill>
                  <a:schemeClr val="bg1"/>
                </a:solidFill>
              </a:rPr>
              <a:t>Wikis</a:t>
            </a:r>
          </a:p>
          <a:p>
            <a:pPr>
              <a:defRPr/>
            </a:pPr>
            <a:r>
              <a:rPr lang="en-US" sz="2400" dirty="0" smtClean="0">
                <a:solidFill>
                  <a:schemeClr val="bg1"/>
                </a:solidFill>
              </a:rPr>
              <a:t>Virtual worlds .e.g. meetings on Teams</a:t>
            </a:r>
          </a:p>
          <a:p>
            <a:pPr>
              <a:defRPr/>
            </a:pPr>
            <a:r>
              <a:rPr lang="en-US" sz="2400" dirty="0" smtClean="0">
                <a:solidFill>
                  <a:schemeClr val="bg1"/>
                </a:solidFill>
              </a:rPr>
              <a:t>Collaboration and social business platforms</a:t>
            </a:r>
          </a:p>
          <a:p>
            <a:pPr lvl="1">
              <a:defRPr/>
            </a:pPr>
            <a:r>
              <a:rPr lang="en-US" sz="2400" dirty="0" smtClean="0">
                <a:solidFill>
                  <a:schemeClr val="bg1"/>
                </a:solidFill>
              </a:rPr>
              <a:t>Virtual meeting systems (telepresence)</a:t>
            </a:r>
          </a:p>
          <a:p>
            <a:pPr lvl="1">
              <a:defRPr/>
            </a:pPr>
            <a:r>
              <a:rPr lang="en-US" sz="2400" dirty="0" smtClean="0">
                <a:solidFill>
                  <a:schemeClr val="bg1"/>
                </a:solidFill>
              </a:rPr>
              <a:t>Cloud collaboration services (Google Drive, Google Docs, etc.)</a:t>
            </a:r>
          </a:p>
          <a:p>
            <a:pPr lvl="1">
              <a:defRPr/>
            </a:pPr>
            <a:r>
              <a:rPr lang="en-US" sz="2400" dirty="0" smtClean="0">
                <a:solidFill>
                  <a:schemeClr val="bg1"/>
                </a:solidFill>
              </a:rPr>
              <a:t>Microsoft SharePoint and I</a:t>
            </a:r>
            <a:r>
              <a:rPr lang="en-US" sz="100" dirty="0" smtClean="0">
                <a:solidFill>
                  <a:schemeClr val="bg1"/>
                </a:solidFill>
              </a:rPr>
              <a:t> </a:t>
            </a:r>
            <a:r>
              <a:rPr lang="en-US" sz="2400" dirty="0" smtClean="0">
                <a:solidFill>
                  <a:schemeClr val="bg1"/>
                </a:solidFill>
              </a:rPr>
              <a:t>B</a:t>
            </a:r>
            <a:r>
              <a:rPr lang="en-US" sz="100" dirty="0" smtClean="0">
                <a:solidFill>
                  <a:schemeClr val="bg1"/>
                </a:solidFill>
              </a:rPr>
              <a:t> </a:t>
            </a:r>
            <a:r>
              <a:rPr lang="en-US" sz="2400" dirty="0" smtClean="0">
                <a:solidFill>
                  <a:schemeClr val="bg1"/>
                </a:solidFill>
              </a:rPr>
              <a:t>M Notes</a:t>
            </a:r>
          </a:p>
          <a:p>
            <a:pPr lvl="1">
              <a:defRPr/>
            </a:pPr>
            <a:r>
              <a:rPr lang="en-US" sz="2400" dirty="0" smtClean="0">
                <a:solidFill>
                  <a:schemeClr val="bg1"/>
                </a:solidFill>
              </a:rPr>
              <a:t>Enterprise social networking tools</a:t>
            </a:r>
            <a:endParaRPr lang="en-US" sz="2400" dirty="0">
              <a:solidFill>
                <a:schemeClr val="bg1"/>
              </a:solidFill>
            </a:endParaRPr>
          </a:p>
        </p:txBody>
      </p:sp>
    </p:spTree>
    <p:extLst>
      <p:ext uri="{BB962C8B-B14F-4D97-AF65-F5344CB8AC3E}">
        <p14:creationId xmlns:p14="http://schemas.microsoft.com/office/powerpoint/2010/main" val="3775303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1153850"/>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3200" b="1" dirty="0" smtClean="0">
                <a:solidFill>
                  <a:schemeClr val="bg1"/>
                </a:solidFill>
                <a:cs typeface="ＭＳ Ｐゴシック" charset="0"/>
              </a:rPr>
              <a:t>Business Benefits of Collaboration and Teamwork</a:t>
            </a:r>
            <a:endParaRPr lang="en-US" sz="3200" b="1" dirty="0">
              <a:solidFill>
                <a:schemeClr val="bg1"/>
              </a:solidFill>
            </a:endParaRPr>
          </a:p>
        </p:txBody>
      </p:sp>
      <p:sp>
        <p:nvSpPr>
          <p:cNvPr id="3" name="Text Placeholder 2"/>
          <p:cNvSpPr txBox="1">
            <a:spLocks/>
          </p:cNvSpPr>
          <p:nvPr/>
        </p:nvSpPr>
        <p:spPr>
          <a:xfrm>
            <a:off x="674176" y="2251129"/>
            <a:ext cx="8229600"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a:defRPr/>
            </a:pPr>
            <a:r>
              <a:rPr lang="en-US" sz="2400" dirty="0" smtClean="0">
                <a:solidFill>
                  <a:schemeClr val="bg1"/>
                </a:solidFill>
              </a:rPr>
              <a:t>Investments in collaboration technology can bring organization improvements, returning high R</a:t>
            </a:r>
            <a:r>
              <a:rPr lang="en-US" sz="100" dirty="0" smtClean="0">
                <a:solidFill>
                  <a:schemeClr val="bg1"/>
                </a:solidFill>
              </a:rPr>
              <a:t> </a:t>
            </a:r>
            <a:r>
              <a:rPr lang="en-US" sz="2400" dirty="0" smtClean="0">
                <a:solidFill>
                  <a:schemeClr val="bg1"/>
                </a:solidFill>
              </a:rPr>
              <a:t>O</a:t>
            </a:r>
            <a:r>
              <a:rPr lang="en-US" sz="100" dirty="0" smtClean="0">
                <a:solidFill>
                  <a:schemeClr val="bg1"/>
                </a:solidFill>
              </a:rPr>
              <a:t> </a:t>
            </a:r>
            <a:r>
              <a:rPr lang="en-US" sz="2400" dirty="0" smtClean="0">
                <a:solidFill>
                  <a:schemeClr val="bg1"/>
                </a:solidFill>
              </a:rPr>
              <a:t>I</a:t>
            </a:r>
          </a:p>
          <a:p>
            <a:pPr>
              <a:defRPr/>
            </a:pPr>
            <a:r>
              <a:rPr lang="en-US" sz="2400" dirty="0" smtClean="0">
                <a:solidFill>
                  <a:schemeClr val="bg1"/>
                </a:solidFill>
              </a:rPr>
              <a:t>Benefits</a:t>
            </a:r>
          </a:p>
          <a:p>
            <a:pPr lvl="1">
              <a:defRPr/>
            </a:pPr>
            <a:r>
              <a:rPr lang="en-US" sz="2400" dirty="0" smtClean="0">
                <a:solidFill>
                  <a:schemeClr val="bg1"/>
                </a:solidFill>
              </a:rPr>
              <a:t>Productivity</a:t>
            </a:r>
          </a:p>
          <a:p>
            <a:pPr lvl="1">
              <a:defRPr/>
            </a:pPr>
            <a:r>
              <a:rPr lang="en-US" sz="2400" dirty="0" smtClean="0">
                <a:solidFill>
                  <a:schemeClr val="bg1"/>
                </a:solidFill>
              </a:rPr>
              <a:t>Quality</a:t>
            </a:r>
          </a:p>
          <a:p>
            <a:pPr lvl="1">
              <a:defRPr/>
            </a:pPr>
            <a:r>
              <a:rPr lang="en-US" sz="2400" dirty="0" smtClean="0">
                <a:solidFill>
                  <a:schemeClr val="bg1"/>
                </a:solidFill>
              </a:rPr>
              <a:t>Innovation</a:t>
            </a:r>
          </a:p>
          <a:p>
            <a:pPr lvl="1">
              <a:defRPr/>
            </a:pPr>
            <a:r>
              <a:rPr lang="en-US" sz="2400" dirty="0" smtClean="0">
                <a:solidFill>
                  <a:schemeClr val="bg1"/>
                </a:solidFill>
              </a:rPr>
              <a:t>Customer service</a:t>
            </a:r>
          </a:p>
          <a:p>
            <a:pPr lvl="1">
              <a:defRPr/>
            </a:pPr>
            <a:r>
              <a:rPr lang="en-US" sz="2400" dirty="0" smtClean="0">
                <a:solidFill>
                  <a:schemeClr val="bg1"/>
                </a:solidFill>
              </a:rPr>
              <a:t>Financial performance</a:t>
            </a:r>
          </a:p>
          <a:p>
            <a:pPr lvl="2">
              <a:defRPr/>
            </a:pPr>
            <a:r>
              <a:rPr lang="en-US" sz="2400" dirty="0" smtClean="0">
                <a:solidFill>
                  <a:schemeClr val="bg1"/>
                </a:solidFill>
              </a:rPr>
              <a:t>Profitability, sales, sales growth</a:t>
            </a:r>
            <a:endParaRPr lang="en-US" sz="2400" dirty="0">
              <a:solidFill>
                <a:schemeClr val="bg1"/>
              </a:solidFill>
            </a:endParaRPr>
          </a:p>
        </p:txBody>
      </p:sp>
    </p:spTree>
    <p:extLst>
      <p:ext uri="{BB962C8B-B14F-4D97-AF65-F5344CB8AC3E}">
        <p14:creationId xmlns:p14="http://schemas.microsoft.com/office/powerpoint/2010/main" val="941809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1312650"/>
            <a:ext cx="8810786"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4000" b="1" dirty="0" smtClean="0">
                <a:solidFill>
                  <a:schemeClr val="bg1"/>
                </a:solidFill>
              </a:rPr>
              <a:t>The Information Systems Department</a:t>
            </a:r>
            <a:endParaRPr lang="en-US" sz="4000" b="1" dirty="0">
              <a:solidFill>
                <a:schemeClr val="bg1"/>
              </a:solidFill>
            </a:endParaRPr>
          </a:p>
        </p:txBody>
      </p:sp>
      <p:sp>
        <p:nvSpPr>
          <p:cNvPr id="3" name="Text Placeholder 2"/>
          <p:cNvSpPr txBox="1">
            <a:spLocks/>
          </p:cNvSpPr>
          <p:nvPr/>
        </p:nvSpPr>
        <p:spPr>
          <a:xfrm>
            <a:off x="457200" y="2697479"/>
            <a:ext cx="8082643"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r>
              <a:rPr lang="en-US" sz="2400" smtClean="0">
                <a:solidFill>
                  <a:schemeClr val="bg1"/>
                </a:solidFill>
              </a:rPr>
              <a:t>Often headed by chief information officer (C</a:t>
            </a:r>
            <a:r>
              <a:rPr lang="en-US" sz="100" smtClean="0">
                <a:solidFill>
                  <a:schemeClr val="bg1"/>
                </a:solidFill>
              </a:rPr>
              <a:t> </a:t>
            </a:r>
            <a:r>
              <a:rPr lang="en-US" sz="2400" smtClean="0">
                <a:solidFill>
                  <a:schemeClr val="bg1"/>
                </a:solidFill>
              </a:rPr>
              <a:t>I</a:t>
            </a:r>
            <a:r>
              <a:rPr lang="en-US" sz="100" smtClean="0">
                <a:solidFill>
                  <a:schemeClr val="bg1"/>
                </a:solidFill>
              </a:rPr>
              <a:t> </a:t>
            </a:r>
            <a:r>
              <a:rPr lang="en-US" sz="2400" smtClean="0">
                <a:solidFill>
                  <a:schemeClr val="bg1"/>
                </a:solidFill>
              </a:rPr>
              <a:t>O)</a:t>
            </a:r>
          </a:p>
          <a:p>
            <a:pPr lvl="1"/>
            <a:r>
              <a:rPr lang="en-US" sz="2400" smtClean="0">
                <a:solidFill>
                  <a:schemeClr val="bg1"/>
                </a:solidFill>
              </a:rPr>
              <a:t>Other senior positions include chief security officer (C</a:t>
            </a:r>
            <a:r>
              <a:rPr lang="en-US" sz="100" smtClean="0">
                <a:solidFill>
                  <a:schemeClr val="bg1"/>
                </a:solidFill>
              </a:rPr>
              <a:t> </a:t>
            </a:r>
            <a:r>
              <a:rPr lang="en-US" sz="2400" smtClean="0">
                <a:solidFill>
                  <a:schemeClr val="bg1"/>
                </a:solidFill>
              </a:rPr>
              <a:t>S</a:t>
            </a:r>
            <a:r>
              <a:rPr lang="en-US" sz="100" smtClean="0">
                <a:solidFill>
                  <a:schemeClr val="bg1"/>
                </a:solidFill>
              </a:rPr>
              <a:t> </a:t>
            </a:r>
            <a:r>
              <a:rPr lang="en-US" sz="2400" smtClean="0">
                <a:solidFill>
                  <a:schemeClr val="bg1"/>
                </a:solidFill>
              </a:rPr>
              <a:t>O), chief knowledge officer (C</a:t>
            </a:r>
            <a:r>
              <a:rPr lang="en-US" sz="100" smtClean="0">
                <a:solidFill>
                  <a:schemeClr val="bg1"/>
                </a:solidFill>
              </a:rPr>
              <a:t> </a:t>
            </a:r>
            <a:r>
              <a:rPr lang="en-US" sz="2400" smtClean="0">
                <a:solidFill>
                  <a:schemeClr val="bg1"/>
                </a:solidFill>
              </a:rPr>
              <a:t>K</a:t>
            </a:r>
            <a:r>
              <a:rPr lang="en-US" sz="100" smtClean="0">
                <a:solidFill>
                  <a:schemeClr val="bg1"/>
                </a:solidFill>
              </a:rPr>
              <a:t> </a:t>
            </a:r>
            <a:r>
              <a:rPr lang="en-US" sz="2400" smtClean="0">
                <a:solidFill>
                  <a:schemeClr val="bg1"/>
                </a:solidFill>
              </a:rPr>
              <a:t>O), chief privacy officer (C</a:t>
            </a:r>
            <a:r>
              <a:rPr lang="en-US" sz="100" smtClean="0">
                <a:solidFill>
                  <a:schemeClr val="bg1"/>
                </a:solidFill>
              </a:rPr>
              <a:t> </a:t>
            </a:r>
            <a:r>
              <a:rPr lang="en-US" sz="2400" smtClean="0">
                <a:solidFill>
                  <a:schemeClr val="bg1"/>
                </a:solidFill>
              </a:rPr>
              <a:t>P</a:t>
            </a:r>
            <a:r>
              <a:rPr lang="en-US" sz="100" smtClean="0">
                <a:solidFill>
                  <a:schemeClr val="bg1"/>
                </a:solidFill>
              </a:rPr>
              <a:t> </a:t>
            </a:r>
            <a:r>
              <a:rPr lang="en-US" sz="2400" smtClean="0">
                <a:solidFill>
                  <a:schemeClr val="bg1"/>
                </a:solidFill>
              </a:rPr>
              <a:t>O), chief data officer (C</a:t>
            </a:r>
            <a:r>
              <a:rPr lang="en-US" sz="100" smtClean="0">
                <a:solidFill>
                  <a:schemeClr val="bg1"/>
                </a:solidFill>
              </a:rPr>
              <a:t> </a:t>
            </a:r>
            <a:r>
              <a:rPr lang="en-US" sz="2400" smtClean="0">
                <a:solidFill>
                  <a:schemeClr val="bg1"/>
                </a:solidFill>
              </a:rPr>
              <a:t>D</a:t>
            </a:r>
            <a:r>
              <a:rPr lang="en-US" sz="100" smtClean="0">
                <a:solidFill>
                  <a:schemeClr val="bg1"/>
                </a:solidFill>
              </a:rPr>
              <a:t> </a:t>
            </a:r>
            <a:r>
              <a:rPr lang="en-US" sz="2400" smtClean="0">
                <a:solidFill>
                  <a:schemeClr val="bg1"/>
                </a:solidFill>
              </a:rPr>
              <a:t>O)</a:t>
            </a:r>
          </a:p>
          <a:p>
            <a:r>
              <a:rPr lang="en-US" sz="2400" smtClean="0">
                <a:solidFill>
                  <a:schemeClr val="bg1"/>
                </a:solidFill>
              </a:rPr>
              <a:t>Programmers</a:t>
            </a:r>
          </a:p>
          <a:p>
            <a:r>
              <a:rPr lang="en-US" sz="2400" smtClean="0">
                <a:solidFill>
                  <a:schemeClr val="bg1"/>
                </a:solidFill>
              </a:rPr>
              <a:t>Systems analysts</a:t>
            </a:r>
          </a:p>
          <a:p>
            <a:r>
              <a:rPr lang="en-US" sz="2400" smtClean="0">
                <a:solidFill>
                  <a:schemeClr val="bg1"/>
                </a:solidFill>
              </a:rPr>
              <a:t>Information systems managers</a:t>
            </a:r>
          </a:p>
          <a:p>
            <a:r>
              <a:rPr lang="en-US" sz="2400" smtClean="0">
                <a:solidFill>
                  <a:schemeClr val="bg1"/>
                </a:solidFill>
              </a:rPr>
              <a:t>End users</a:t>
            </a:r>
            <a:endParaRPr lang="en-US" sz="2400" dirty="0">
              <a:solidFill>
                <a:schemeClr val="bg1"/>
              </a:solidFill>
            </a:endParaRPr>
          </a:p>
        </p:txBody>
      </p:sp>
    </p:spTree>
    <p:extLst>
      <p:ext uri="{BB962C8B-B14F-4D97-AF65-F5344CB8AC3E}">
        <p14:creationId xmlns:p14="http://schemas.microsoft.com/office/powerpoint/2010/main" val="2777781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1455235"/>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4000" b="1" dirty="0" smtClean="0">
                <a:solidFill>
                  <a:schemeClr val="bg1"/>
                </a:solidFill>
              </a:rPr>
              <a:t>Organizing the Information Systems Function</a:t>
            </a:r>
            <a:endParaRPr lang="en-US" sz="4000" b="1" dirty="0">
              <a:solidFill>
                <a:schemeClr val="bg1"/>
              </a:solidFill>
            </a:endParaRPr>
          </a:p>
        </p:txBody>
      </p:sp>
      <p:sp>
        <p:nvSpPr>
          <p:cNvPr id="3" name="Text Placeholder 2"/>
          <p:cNvSpPr txBox="1">
            <a:spLocks/>
          </p:cNvSpPr>
          <p:nvPr/>
        </p:nvSpPr>
        <p:spPr>
          <a:xfrm>
            <a:off x="457200" y="2840064"/>
            <a:ext cx="8229600"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r>
              <a:rPr lang="en-US" sz="2400" dirty="0" smtClean="0">
                <a:solidFill>
                  <a:schemeClr val="bg1"/>
                </a:solidFill>
              </a:rPr>
              <a:t>I</a:t>
            </a:r>
            <a:r>
              <a:rPr lang="en-US" sz="100" dirty="0" smtClean="0">
                <a:solidFill>
                  <a:schemeClr val="bg1"/>
                </a:solidFill>
              </a:rPr>
              <a:t> </a:t>
            </a:r>
            <a:r>
              <a:rPr lang="en-US" sz="2400" dirty="0" smtClean="0">
                <a:solidFill>
                  <a:schemeClr val="bg1"/>
                </a:solidFill>
              </a:rPr>
              <a:t>T governance</a:t>
            </a:r>
          </a:p>
          <a:p>
            <a:pPr lvl="1"/>
            <a:r>
              <a:rPr lang="en-US" sz="2400" dirty="0" smtClean="0">
                <a:solidFill>
                  <a:schemeClr val="bg1"/>
                </a:solidFill>
              </a:rPr>
              <a:t>Strategies and policies for using I</a:t>
            </a:r>
            <a:r>
              <a:rPr lang="en-US" sz="100" dirty="0" smtClean="0">
                <a:solidFill>
                  <a:schemeClr val="bg1"/>
                </a:solidFill>
              </a:rPr>
              <a:t> </a:t>
            </a:r>
            <a:r>
              <a:rPr lang="en-US" sz="2400" dirty="0" smtClean="0">
                <a:solidFill>
                  <a:schemeClr val="bg1"/>
                </a:solidFill>
              </a:rPr>
              <a:t>T in the organization</a:t>
            </a:r>
          </a:p>
          <a:p>
            <a:pPr lvl="1"/>
            <a:r>
              <a:rPr lang="en-US" sz="2400" dirty="0" smtClean="0">
                <a:solidFill>
                  <a:schemeClr val="bg1"/>
                </a:solidFill>
              </a:rPr>
              <a:t>Decision rights</a:t>
            </a:r>
          </a:p>
          <a:p>
            <a:pPr lvl="1"/>
            <a:r>
              <a:rPr lang="en-US" sz="2400" dirty="0" smtClean="0">
                <a:solidFill>
                  <a:schemeClr val="bg1"/>
                </a:solidFill>
              </a:rPr>
              <a:t>Accountability</a:t>
            </a:r>
          </a:p>
          <a:p>
            <a:pPr lvl="1"/>
            <a:r>
              <a:rPr lang="en-US" sz="2400" dirty="0" smtClean="0">
                <a:solidFill>
                  <a:schemeClr val="bg1"/>
                </a:solidFill>
              </a:rPr>
              <a:t>Organization of information systems function</a:t>
            </a:r>
          </a:p>
          <a:p>
            <a:pPr lvl="2"/>
            <a:r>
              <a:rPr lang="en-US" sz="2400" dirty="0" smtClean="0">
                <a:solidFill>
                  <a:schemeClr val="bg1"/>
                </a:solidFill>
              </a:rPr>
              <a:t>Centralized, decentralized, and so on</a:t>
            </a:r>
            <a:endParaRPr lang="en-US" sz="2400" dirty="0">
              <a:solidFill>
                <a:schemeClr val="bg1"/>
              </a:solidFill>
            </a:endParaRPr>
          </a:p>
        </p:txBody>
      </p:sp>
    </p:spTree>
    <p:extLst>
      <p:ext uri="{BB962C8B-B14F-4D97-AF65-F5344CB8AC3E}">
        <p14:creationId xmlns:p14="http://schemas.microsoft.com/office/powerpoint/2010/main" val="1264823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48712" y="3082557"/>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4000" b="1" dirty="0" smtClean="0">
                <a:solidFill>
                  <a:schemeClr val="bg1"/>
                </a:solidFill>
              </a:rPr>
              <a:t>Thank you </a:t>
            </a:r>
            <a:endParaRPr lang="en-US" sz="4000" b="1" dirty="0">
              <a:solidFill>
                <a:schemeClr val="bg1"/>
              </a:solidFill>
            </a:endParaRPr>
          </a:p>
        </p:txBody>
      </p:sp>
    </p:spTree>
    <p:extLst>
      <p:ext uri="{BB962C8B-B14F-4D97-AF65-F5344CB8AC3E}">
        <p14:creationId xmlns:p14="http://schemas.microsoft.com/office/powerpoint/2010/main" val="2238268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513B53D5EC04F4DAACC2E3DC49C4E82" ma:contentTypeVersion="15" ma:contentTypeDescription="Create a new document." ma:contentTypeScope="" ma:versionID="f2a70e75471bf28343e4ddfce8289ade">
  <xsd:schema xmlns:xsd="http://www.w3.org/2001/XMLSchema" xmlns:xs="http://www.w3.org/2001/XMLSchema" xmlns:p="http://schemas.microsoft.com/office/2006/metadata/properties" xmlns:ns3="ff360b5c-1491-4de7-9038-42ebdf865dbe" xmlns:ns4="95e470c5-d555-45ea-b7d4-7b5e2c49540b" targetNamespace="http://schemas.microsoft.com/office/2006/metadata/properties" ma:root="true" ma:fieldsID="b4a17d1288e1fcff8b9ca522a72fcd2b" ns3:_="" ns4:_="">
    <xsd:import namespace="ff360b5c-1491-4de7-9038-42ebdf865dbe"/>
    <xsd:import namespace="95e470c5-d555-45ea-b7d4-7b5e2c49540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DateTaken" minOccurs="0"/>
                <xsd:element ref="ns4:MediaServiceOCR" minOccurs="0"/>
                <xsd:element ref="ns4:MediaServiceAutoKeyPoints" minOccurs="0"/>
                <xsd:element ref="ns4:MediaServiceKeyPoints" minOccurs="0"/>
                <xsd:element ref="ns4:MediaServiceLocation" minOccurs="0"/>
                <xsd:element ref="ns4:MediaLengthInSecond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360b5c-1491-4de7-9038-42ebdf865db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e470c5-d555-45ea-b7d4-7b5e2c49540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84DE11-2501-40D9-925B-A00F27C186ED}">
  <ds:schemaRefs>
    <ds:schemaRef ds:uri="http://schemas.microsoft.com/sharepoint/v3/contenttype/forms"/>
  </ds:schemaRefs>
</ds:datastoreItem>
</file>

<file path=customXml/itemProps2.xml><?xml version="1.0" encoding="utf-8"?>
<ds:datastoreItem xmlns:ds="http://schemas.openxmlformats.org/officeDocument/2006/customXml" ds:itemID="{683ACAB1-E0A9-4CA5-834B-EF062ACCF74F}">
  <ds:schemaRefs>
    <ds:schemaRef ds:uri="http://www.w3.org/XML/1998/namespace"/>
    <ds:schemaRef ds:uri="http://schemas.microsoft.com/office/infopath/2007/PartnerControls"/>
    <ds:schemaRef ds:uri="http://schemas.openxmlformats.org/package/2006/metadata/core-properties"/>
    <ds:schemaRef ds:uri="http://purl.org/dc/elements/1.1/"/>
    <ds:schemaRef ds:uri="http://purl.org/dc/terms/"/>
    <ds:schemaRef ds:uri="http://schemas.microsoft.com/office/2006/documentManagement/types"/>
    <ds:schemaRef ds:uri="ff360b5c-1491-4de7-9038-42ebdf865dbe"/>
    <ds:schemaRef ds:uri="http://schemas.microsoft.com/office/2006/metadata/properties"/>
    <ds:schemaRef ds:uri="95e470c5-d555-45ea-b7d4-7b5e2c49540b"/>
    <ds:schemaRef ds:uri="http://purl.org/dc/dcmitype/"/>
  </ds:schemaRefs>
</ds:datastoreItem>
</file>

<file path=customXml/itemProps3.xml><?xml version="1.0" encoding="utf-8"?>
<ds:datastoreItem xmlns:ds="http://schemas.openxmlformats.org/officeDocument/2006/customXml" ds:itemID="{FDB3DE86-E095-4651-B9F6-DDD2C3B58A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360b5c-1491-4de7-9038-42ebdf865dbe"/>
    <ds:schemaRef ds:uri="95e470c5-d555-45ea-b7d4-7b5e2c4954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2571</TotalTime>
  <Words>792</Words>
  <Application>Microsoft Office PowerPoint</Application>
  <PresentationFormat>Custom</PresentationFormat>
  <Paragraphs>133</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ＭＳ Ｐゴシック</vt:lpstr>
      <vt:lpstr>Arial</vt:lpstr>
      <vt:lpstr>Calibri</vt:lpstr>
      <vt:lpstr>RopaSoftPro-Regular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CDP</dc:creator>
  <cp:lastModifiedBy>Mthembo, Nkululeko</cp:lastModifiedBy>
  <cp:revision>151</cp:revision>
  <dcterms:created xsi:type="dcterms:W3CDTF">2015-11-09T03:14:54Z</dcterms:created>
  <dcterms:modified xsi:type="dcterms:W3CDTF">2023-02-19T16:43:08Z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0x010100E513B53D5EC04F4DAACC2E3DC49C4E82</vt:lpwstr>
  </property>
</Properties>
</file>