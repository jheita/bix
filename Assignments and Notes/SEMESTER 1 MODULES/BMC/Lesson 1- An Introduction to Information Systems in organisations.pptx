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sldIdLst>
    <p:sldId id="256" r:id="rId5"/>
    <p:sldId id="257" r:id="rId6"/>
    <p:sldId id="275" r:id="rId7"/>
    <p:sldId id="276" r:id="rId8"/>
    <p:sldId id="277" r:id="rId9"/>
    <p:sldId id="261" r:id="rId10"/>
    <p:sldId id="278" r:id="rId11"/>
    <p:sldId id="262" r:id="rId12"/>
    <p:sldId id="263" r:id="rId13"/>
    <p:sldId id="269" r:id="rId14"/>
    <p:sldId id="265" r:id="rId15"/>
    <p:sldId id="264" r:id="rId16"/>
    <p:sldId id="270" r:id="rId17"/>
    <p:sldId id="266" r:id="rId18"/>
    <p:sldId id="267" r:id="rId19"/>
    <p:sldId id="268" r:id="rId20"/>
    <p:sldId id="271" r:id="rId21"/>
    <p:sldId id="272" r:id="rId22"/>
    <p:sldId id="273" r:id="rId23"/>
    <p:sldId id="274" r:id="rId24"/>
    <p:sldId id="259" r:id="rId25"/>
  </p:sldIdLst>
  <p:sldSz cx="10150475" cy="7635875"/>
  <p:notesSz cx="6858000" cy="9144000"/>
  <p:defaultText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462">
          <p15:clr>
            <a:srgbClr val="A4A3A4"/>
          </p15:clr>
        </p15:guide>
        <p15:guide id="2" pos="42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1A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8" d="100"/>
          <a:sy n="98" d="100"/>
        </p:scale>
        <p:origin x="1668" y="72"/>
      </p:cViewPr>
      <p:guideLst>
        <p:guide orient="horz" pos="462"/>
        <p:guide pos="42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p:cNvPicPr>
            <a:picLocks noChangeAspect="1"/>
          </p:cNvPicPr>
          <p:nvPr userDrawn="1"/>
        </p:nvPicPr>
        <p:blipFill rotWithShape="1">
          <a:blip r:embed="rId2"/>
          <a:srcRect b="49802"/>
          <a:stretch/>
        </p:blipFill>
        <p:spPr>
          <a:xfrm>
            <a:off x="0" y="-1"/>
            <a:ext cx="10150475" cy="3821545"/>
          </a:xfrm>
          <a:prstGeom prst="rect">
            <a:avLst/>
          </a:prstGeom>
        </p:spPr>
      </p:pic>
    </p:spTree>
    <p:extLst>
      <p:ext uri="{BB962C8B-B14F-4D97-AF65-F5344CB8AC3E}">
        <p14:creationId xmlns:p14="http://schemas.microsoft.com/office/powerpoint/2010/main" val="40131206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2"/>
          <a:srcRect b="-301"/>
          <a:stretch/>
        </p:blipFill>
        <p:spPr>
          <a:xfrm>
            <a:off x="0" y="0"/>
            <a:ext cx="10150475" cy="7635875"/>
          </a:xfrm>
          <a:prstGeom prst="rect">
            <a:avLst/>
          </a:prstGeom>
        </p:spPr>
      </p:pic>
    </p:spTree>
    <p:extLst>
      <p:ext uri="{BB962C8B-B14F-4D97-AF65-F5344CB8AC3E}">
        <p14:creationId xmlns:p14="http://schemas.microsoft.com/office/powerpoint/2010/main" val="16390714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9" name="Picture 8" descr="NUST Marketing Brand Mark.ai"/>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96302" y="296078"/>
            <a:ext cx="4140200" cy="1295400"/>
          </a:xfrm>
          <a:prstGeom prst="rect">
            <a:avLst/>
          </a:prstGeom>
        </p:spPr>
      </p:pic>
      <p:sp>
        <p:nvSpPr>
          <p:cNvPr id="4" name="TextBox 3"/>
          <p:cNvSpPr txBox="1"/>
          <p:nvPr userDrawn="1"/>
        </p:nvSpPr>
        <p:spPr>
          <a:xfrm>
            <a:off x="1438871" y="1406916"/>
            <a:ext cx="4453268" cy="400110"/>
          </a:xfrm>
          <a:prstGeom prst="rect">
            <a:avLst/>
          </a:prstGeom>
          <a:noFill/>
        </p:spPr>
        <p:txBody>
          <a:bodyPr wrap="square" rtlCol="0">
            <a:spAutoFit/>
          </a:bodyPr>
          <a:lstStyle/>
          <a:p>
            <a:pPr marR="0" algn="l" rtl="0"/>
            <a:r>
              <a:rPr lang="en-US" sz="2000" b="1" i="0" u="none" strike="noStrike" baseline="0" dirty="0" smtClean="0">
                <a:solidFill>
                  <a:srgbClr val="141A37"/>
                </a:solidFill>
                <a:latin typeface="RopaSoftPro-Regular"/>
              </a:rPr>
              <a:t>Faculty of Computing and Informatics</a:t>
            </a:r>
          </a:p>
        </p:txBody>
      </p:sp>
    </p:spTree>
    <p:extLst>
      <p:ext uri="{BB962C8B-B14F-4D97-AF65-F5344CB8AC3E}">
        <p14:creationId xmlns:p14="http://schemas.microsoft.com/office/powerpoint/2010/main" val="36610538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6231596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63915" y="1983207"/>
            <a:ext cx="4985364"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718454" y="1983207"/>
            <a:ext cx="4985363" cy="5612015"/>
          </a:xfrm>
        </p:spPr>
        <p:txBody>
          <a:bodyPr/>
          <a:lstStyle>
            <a:lvl1pPr>
              <a:defRPr sz="3100"/>
            </a:lvl1pPr>
            <a:lvl2pPr>
              <a:defRPr sz="2700"/>
            </a:lvl2pPr>
            <a:lvl3pPr>
              <a:defRPr sz="22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D9619E1-8D7B-8148-82B0-908DBEC4CE4D}"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522035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5789"/>
            <a:ext cx="9135428" cy="1272646"/>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507524" y="1709234"/>
            <a:ext cx="4484889"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4" name="Content Placeholder 3"/>
          <p:cNvSpPr>
            <a:spLocks noGrp="1"/>
          </p:cNvSpPr>
          <p:nvPr>
            <p:ph sz="half" idx="2"/>
          </p:nvPr>
        </p:nvSpPr>
        <p:spPr>
          <a:xfrm>
            <a:off x="507524" y="2421562"/>
            <a:ext cx="4484889"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5156301" y="1709234"/>
            <a:ext cx="4486651" cy="712328"/>
          </a:xfrm>
        </p:spPr>
        <p:txBody>
          <a:bodyPr anchor="b"/>
          <a:lstStyle>
            <a:lvl1pPr marL="0" indent="0">
              <a:buNone/>
              <a:defRPr sz="2700" b="1"/>
            </a:lvl1pPr>
            <a:lvl2pPr marL="508178" indent="0">
              <a:buNone/>
              <a:defRPr sz="2200" b="1"/>
            </a:lvl2pPr>
            <a:lvl3pPr marL="1016356" indent="0">
              <a:buNone/>
              <a:defRPr sz="2000" b="1"/>
            </a:lvl3pPr>
            <a:lvl4pPr marL="1524533" indent="0">
              <a:buNone/>
              <a:defRPr sz="1800" b="1"/>
            </a:lvl4pPr>
            <a:lvl5pPr marL="2032711" indent="0">
              <a:buNone/>
              <a:defRPr sz="1800" b="1"/>
            </a:lvl5pPr>
            <a:lvl6pPr marL="2540889" indent="0">
              <a:buNone/>
              <a:defRPr sz="1800" b="1"/>
            </a:lvl6pPr>
            <a:lvl7pPr marL="3049067" indent="0">
              <a:buNone/>
              <a:defRPr sz="1800" b="1"/>
            </a:lvl7pPr>
            <a:lvl8pPr marL="3557245" indent="0">
              <a:buNone/>
              <a:defRPr sz="1800" b="1"/>
            </a:lvl8pPr>
            <a:lvl9pPr marL="4065422" indent="0">
              <a:buNone/>
              <a:defRPr sz="1800" b="1"/>
            </a:lvl9pPr>
          </a:lstStyle>
          <a:p>
            <a:pPr lvl="0"/>
            <a:r>
              <a:rPr lang="en-US" smtClean="0"/>
              <a:t>Click to edit Master text styles</a:t>
            </a:r>
          </a:p>
        </p:txBody>
      </p:sp>
      <p:sp>
        <p:nvSpPr>
          <p:cNvPr id="6" name="Content Placeholder 5"/>
          <p:cNvSpPr>
            <a:spLocks noGrp="1"/>
          </p:cNvSpPr>
          <p:nvPr>
            <p:ph sz="quarter" idx="4"/>
          </p:nvPr>
        </p:nvSpPr>
        <p:spPr>
          <a:xfrm>
            <a:off x="5156301" y="2421562"/>
            <a:ext cx="4486651" cy="4399467"/>
          </a:xfrm>
        </p:spPr>
        <p:txBody>
          <a:bodyPr/>
          <a:lstStyle>
            <a:lvl1pPr>
              <a:defRPr sz="2700"/>
            </a:lvl1pPr>
            <a:lvl2pPr>
              <a:defRPr sz="22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D9619E1-8D7B-8148-82B0-908DBEC4CE4D}" type="datetimeFigureOut">
              <a:rPr lang="en-US" smtClean="0"/>
              <a:t>2/16/2025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957713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D9619E1-8D7B-8148-82B0-908DBEC4CE4D}" type="datetimeFigureOut">
              <a:rPr lang="en-US" smtClean="0"/>
              <a:t>2/16/2025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15504573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9619E1-8D7B-8148-82B0-908DBEC4CE4D}" type="datetimeFigureOut">
              <a:rPr lang="en-US" smtClean="0"/>
              <a:t>2/16/2025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190769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07524" y="304021"/>
            <a:ext cx="3339436" cy="1293857"/>
          </a:xfrm>
        </p:spPr>
        <p:txBody>
          <a:bodyPr anchor="b"/>
          <a:lstStyle>
            <a:lvl1pPr algn="l">
              <a:defRPr sz="2200" b="1"/>
            </a:lvl1pPr>
          </a:lstStyle>
          <a:p>
            <a:r>
              <a:rPr lang="en-US" smtClean="0"/>
              <a:t>Click to edit Master title style</a:t>
            </a:r>
            <a:endParaRPr lang="en-US"/>
          </a:p>
        </p:txBody>
      </p:sp>
      <p:sp>
        <p:nvSpPr>
          <p:cNvPr id="3" name="Content Placeholder 2"/>
          <p:cNvSpPr>
            <a:spLocks noGrp="1"/>
          </p:cNvSpPr>
          <p:nvPr>
            <p:ph idx="1"/>
          </p:nvPr>
        </p:nvSpPr>
        <p:spPr>
          <a:xfrm>
            <a:off x="3968554" y="304021"/>
            <a:ext cx="5674397" cy="6517008"/>
          </a:xfrm>
        </p:spPr>
        <p:txBody>
          <a:bodyPr/>
          <a:lstStyle>
            <a:lvl1pPr>
              <a:defRPr sz="3600"/>
            </a:lvl1pPr>
            <a:lvl2pPr>
              <a:defRPr sz="3100"/>
            </a:lvl2pPr>
            <a:lvl3pPr>
              <a:defRPr sz="2700"/>
            </a:lvl3pPr>
            <a:lvl4pPr>
              <a:defRPr sz="2200"/>
            </a:lvl4pPr>
            <a:lvl5pPr>
              <a:defRPr sz="2200"/>
            </a:lvl5pPr>
            <a:lvl6pPr>
              <a:defRPr sz="2200"/>
            </a:lvl6pPr>
            <a:lvl7pPr>
              <a:defRPr sz="2200"/>
            </a:lvl7pPr>
            <a:lvl8pPr>
              <a:defRPr sz="2200"/>
            </a:lvl8pPr>
            <a:lvl9pPr>
              <a:defRPr sz="2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507524" y="1597878"/>
            <a:ext cx="3339436" cy="5223151"/>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5439314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989564" y="5345112"/>
            <a:ext cx="6090285" cy="631021"/>
          </a:xfrm>
        </p:spPr>
        <p:txBody>
          <a:bodyPr anchor="b"/>
          <a:lstStyle>
            <a:lvl1pPr algn="l">
              <a:defRPr sz="2200" b="1"/>
            </a:lvl1pPr>
          </a:lstStyle>
          <a:p>
            <a:r>
              <a:rPr lang="en-US" smtClean="0"/>
              <a:t>Click to edit Master title style</a:t>
            </a:r>
            <a:endParaRPr lang="en-US"/>
          </a:p>
        </p:txBody>
      </p:sp>
      <p:sp>
        <p:nvSpPr>
          <p:cNvPr id="3" name="Picture Placeholder 2"/>
          <p:cNvSpPr>
            <a:spLocks noGrp="1"/>
          </p:cNvSpPr>
          <p:nvPr>
            <p:ph type="pic" idx="1"/>
          </p:nvPr>
        </p:nvSpPr>
        <p:spPr>
          <a:xfrm>
            <a:off x="1989564" y="682280"/>
            <a:ext cx="6090285" cy="4581525"/>
          </a:xfrm>
        </p:spPr>
        <p:txBody>
          <a:bodyPr/>
          <a:lstStyle>
            <a:lvl1pPr marL="0" indent="0">
              <a:buNone/>
              <a:defRPr sz="3600"/>
            </a:lvl1pPr>
            <a:lvl2pPr marL="508178" indent="0">
              <a:buNone/>
              <a:defRPr sz="3100"/>
            </a:lvl2pPr>
            <a:lvl3pPr marL="1016356" indent="0">
              <a:buNone/>
              <a:defRPr sz="2700"/>
            </a:lvl3pPr>
            <a:lvl4pPr marL="1524533" indent="0">
              <a:buNone/>
              <a:defRPr sz="2200"/>
            </a:lvl4pPr>
            <a:lvl5pPr marL="2032711" indent="0">
              <a:buNone/>
              <a:defRPr sz="2200"/>
            </a:lvl5pPr>
            <a:lvl6pPr marL="2540889" indent="0">
              <a:buNone/>
              <a:defRPr sz="2200"/>
            </a:lvl6pPr>
            <a:lvl7pPr marL="3049067" indent="0">
              <a:buNone/>
              <a:defRPr sz="2200"/>
            </a:lvl7pPr>
            <a:lvl8pPr marL="3557245" indent="0">
              <a:buNone/>
              <a:defRPr sz="2200"/>
            </a:lvl8pPr>
            <a:lvl9pPr marL="4065422" indent="0">
              <a:buNone/>
              <a:defRPr sz="2200"/>
            </a:lvl9pPr>
          </a:lstStyle>
          <a:p>
            <a:endParaRPr lang="en-US"/>
          </a:p>
        </p:txBody>
      </p:sp>
      <p:sp>
        <p:nvSpPr>
          <p:cNvPr id="4" name="Text Placeholder 3"/>
          <p:cNvSpPr>
            <a:spLocks noGrp="1"/>
          </p:cNvSpPr>
          <p:nvPr>
            <p:ph type="body" sz="half" idx="2"/>
          </p:nvPr>
        </p:nvSpPr>
        <p:spPr>
          <a:xfrm>
            <a:off x="1989564" y="5976133"/>
            <a:ext cx="6090285" cy="896154"/>
          </a:xfrm>
        </p:spPr>
        <p:txBody>
          <a:bodyPr/>
          <a:lstStyle>
            <a:lvl1pPr marL="0" indent="0">
              <a:buNone/>
              <a:defRPr sz="1600"/>
            </a:lvl1pPr>
            <a:lvl2pPr marL="508178" indent="0">
              <a:buNone/>
              <a:defRPr sz="1300"/>
            </a:lvl2pPr>
            <a:lvl3pPr marL="1016356" indent="0">
              <a:buNone/>
              <a:defRPr sz="1100"/>
            </a:lvl3pPr>
            <a:lvl4pPr marL="1524533" indent="0">
              <a:buNone/>
              <a:defRPr sz="1000"/>
            </a:lvl4pPr>
            <a:lvl5pPr marL="2032711" indent="0">
              <a:buNone/>
              <a:defRPr sz="1000"/>
            </a:lvl5pPr>
            <a:lvl6pPr marL="2540889" indent="0">
              <a:buNone/>
              <a:defRPr sz="1000"/>
            </a:lvl6pPr>
            <a:lvl7pPr marL="3049067" indent="0">
              <a:buNone/>
              <a:defRPr sz="1000"/>
            </a:lvl7pPr>
            <a:lvl8pPr marL="3557245" indent="0">
              <a:buNone/>
              <a:defRPr sz="1000"/>
            </a:lvl8pPr>
            <a:lvl9pPr marL="4065422"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D9619E1-8D7B-8148-82B0-908DBEC4CE4D}" type="datetimeFigureOut">
              <a:rPr lang="en-US" smtClean="0"/>
              <a:t>2/16/2025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367840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34224077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69723" y="341140"/>
            <a:ext cx="2534094" cy="7254081"/>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63915" y="341140"/>
            <a:ext cx="7436633" cy="725408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D9619E1-8D7B-8148-82B0-908DBEC4CE4D}" type="datetimeFigureOut">
              <a:rPr lang="en-US" smtClean="0"/>
              <a:t>2/16/2025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56E6150-8108-4B44-B0B0-BFDC52A01023}" type="slidenum">
              <a:rPr lang="en-US" smtClean="0"/>
              <a:t>‹#›</a:t>
            </a:fld>
            <a:endParaRPr lang="en-US"/>
          </a:p>
        </p:txBody>
      </p:sp>
    </p:spTree>
    <p:extLst>
      <p:ext uri="{BB962C8B-B14F-4D97-AF65-F5344CB8AC3E}">
        <p14:creationId xmlns:p14="http://schemas.microsoft.com/office/powerpoint/2010/main" val="2534938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07524" y="305789"/>
            <a:ext cx="9135428" cy="1272646"/>
          </a:xfrm>
          <a:prstGeom prst="rect">
            <a:avLst/>
          </a:prstGeom>
        </p:spPr>
        <p:txBody>
          <a:bodyPr vert="horz" lIns="101636" tIns="50818" rIns="101636" bIns="50818"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507524" y="1781704"/>
            <a:ext cx="9135428" cy="5039325"/>
          </a:xfrm>
          <a:prstGeom prst="rect">
            <a:avLst/>
          </a:prstGeom>
        </p:spPr>
        <p:txBody>
          <a:bodyPr vert="horz" lIns="101636" tIns="50818" rIns="101636" bIns="50818"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507524" y="7077325"/>
            <a:ext cx="2368444" cy="406540"/>
          </a:xfrm>
          <a:prstGeom prst="rect">
            <a:avLst/>
          </a:prstGeom>
        </p:spPr>
        <p:txBody>
          <a:bodyPr vert="horz" lIns="101636" tIns="50818" rIns="101636" bIns="50818" rtlCol="0" anchor="ctr"/>
          <a:lstStyle>
            <a:lvl1pPr algn="l">
              <a:defRPr sz="1300">
                <a:solidFill>
                  <a:schemeClr val="tx1">
                    <a:tint val="75000"/>
                  </a:schemeClr>
                </a:solidFill>
              </a:defRPr>
            </a:lvl1pPr>
          </a:lstStyle>
          <a:p>
            <a:fld id="{7D9619E1-8D7B-8148-82B0-908DBEC4CE4D}" type="datetimeFigureOut">
              <a:rPr lang="en-US" smtClean="0"/>
              <a:t>2/16/2025</a:t>
            </a:fld>
            <a:endParaRPr lang="en-US"/>
          </a:p>
        </p:txBody>
      </p:sp>
      <p:sp>
        <p:nvSpPr>
          <p:cNvPr id="5" name="Footer Placeholder 4"/>
          <p:cNvSpPr>
            <a:spLocks noGrp="1"/>
          </p:cNvSpPr>
          <p:nvPr>
            <p:ph type="ftr" sz="quarter" idx="3"/>
          </p:nvPr>
        </p:nvSpPr>
        <p:spPr>
          <a:xfrm>
            <a:off x="3468079" y="7077325"/>
            <a:ext cx="3214317" cy="406540"/>
          </a:xfrm>
          <a:prstGeom prst="rect">
            <a:avLst/>
          </a:prstGeom>
        </p:spPr>
        <p:txBody>
          <a:bodyPr vert="horz" lIns="101636" tIns="50818" rIns="101636" bIns="50818" rtlCol="0" anchor="ctr"/>
          <a:lstStyle>
            <a:lvl1pPr algn="ctr">
              <a:defRPr sz="13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274507" y="7077325"/>
            <a:ext cx="2368444" cy="406540"/>
          </a:xfrm>
          <a:prstGeom prst="rect">
            <a:avLst/>
          </a:prstGeom>
        </p:spPr>
        <p:txBody>
          <a:bodyPr vert="horz" lIns="101636" tIns="50818" rIns="101636" bIns="50818" rtlCol="0" anchor="ctr"/>
          <a:lstStyle>
            <a:lvl1pPr algn="r">
              <a:defRPr sz="1300">
                <a:solidFill>
                  <a:schemeClr val="tx1">
                    <a:tint val="75000"/>
                  </a:schemeClr>
                </a:solidFill>
              </a:defRPr>
            </a:lvl1pPr>
          </a:lstStyle>
          <a:p>
            <a:fld id="{B56E6150-8108-4B44-B0B0-BFDC52A01023}" type="slidenum">
              <a:rPr lang="en-US" smtClean="0"/>
              <a:t>‹#›</a:t>
            </a:fld>
            <a:endParaRPr lang="en-US"/>
          </a:p>
        </p:txBody>
      </p:sp>
    </p:spTree>
    <p:extLst>
      <p:ext uri="{BB962C8B-B14F-4D97-AF65-F5344CB8AC3E}">
        <p14:creationId xmlns:p14="http://schemas.microsoft.com/office/powerpoint/2010/main" val="27592225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0"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508178" rtl="0" eaLnBrk="1" latinLnBrk="0" hangingPunct="1">
        <a:spcBef>
          <a:spcPct val="0"/>
        </a:spcBef>
        <a:buNone/>
        <a:defRPr sz="4900" kern="1200">
          <a:solidFill>
            <a:schemeClr val="tx1"/>
          </a:solidFill>
          <a:latin typeface="+mj-lt"/>
          <a:ea typeface="+mj-ea"/>
          <a:cs typeface="+mj-cs"/>
        </a:defRPr>
      </a:lvl1pPr>
    </p:titleStyle>
    <p:body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p:bodyStyle>
    <p:otherStyle>
      <a:defPPr>
        <a:defRPr lang="en-US"/>
      </a:defPPr>
      <a:lvl1pPr marL="0" algn="l" defTabSz="508178" rtl="0" eaLnBrk="1" latinLnBrk="0" hangingPunct="1">
        <a:defRPr sz="2000" kern="1200">
          <a:solidFill>
            <a:schemeClr val="tx1"/>
          </a:solidFill>
          <a:latin typeface="+mn-lt"/>
          <a:ea typeface="+mn-ea"/>
          <a:cs typeface="+mn-cs"/>
        </a:defRPr>
      </a:lvl1pPr>
      <a:lvl2pPr marL="508178" algn="l" defTabSz="508178" rtl="0" eaLnBrk="1" latinLnBrk="0" hangingPunct="1">
        <a:defRPr sz="2000" kern="1200">
          <a:solidFill>
            <a:schemeClr val="tx1"/>
          </a:solidFill>
          <a:latin typeface="+mn-lt"/>
          <a:ea typeface="+mn-ea"/>
          <a:cs typeface="+mn-cs"/>
        </a:defRPr>
      </a:lvl2pPr>
      <a:lvl3pPr marL="1016356" algn="l" defTabSz="508178" rtl="0" eaLnBrk="1" latinLnBrk="0" hangingPunct="1">
        <a:defRPr sz="2000" kern="1200">
          <a:solidFill>
            <a:schemeClr val="tx1"/>
          </a:solidFill>
          <a:latin typeface="+mn-lt"/>
          <a:ea typeface="+mn-ea"/>
          <a:cs typeface="+mn-cs"/>
        </a:defRPr>
      </a:lvl3pPr>
      <a:lvl4pPr marL="1524533" algn="l" defTabSz="508178" rtl="0" eaLnBrk="1" latinLnBrk="0" hangingPunct="1">
        <a:defRPr sz="2000" kern="1200">
          <a:solidFill>
            <a:schemeClr val="tx1"/>
          </a:solidFill>
          <a:latin typeface="+mn-lt"/>
          <a:ea typeface="+mn-ea"/>
          <a:cs typeface="+mn-cs"/>
        </a:defRPr>
      </a:lvl4pPr>
      <a:lvl5pPr marL="2032711" algn="l" defTabSz="508178" rtl="0" eaLnBrk="1" latinLnBrk="0" hangingPunct="1">
        <a:defRPr sz="2000" kern="1200">
          <a:solidFill>
            <a:schemeClr val="tx1"/>
          </a:solidFill>
          <a:latin typeface="+mn-lt"/>
          <a:ea typeface="+mn-ea"/>
          <a:cs typeface="+mn-cs"/>
        </a:defRPr>
      </a:lvl5pPr>
      <a:lvl6pPr marL="2540889" algn="l" defTabSz="508178" rtl="0" eaLnBrk="1" latinLnBrk="0" hangingPunct="1">
        <a:defRPr sz="2000" kern="1200">
          <a:solidFill>
            <a:schemeClr val="tx1"/>
          </a:solidFill>
          <a:latin typeface="+mn-lt"/>
          <a:ea typeface="+mn-ea"/>
          <a:cs typeface="+mn-cs"/>
        </a:defRPr>
      </a:lvl6pPr>
      <a:lvl7pPr marL="3049067" algn="l" defTabSz="508178" rtl="0" eaLnBrk="1" latinLnBrk="0" hangingPunct="1">
        <a:defRPr sz="2000" kern="1200">
          <a:solidFill>
            <a:schemeClr val="tx1"/>
          </a:solidFill>
          <a:latin typeface="+mn-lt"/>
          <a:ea typeface="+mn-ea"/>
          <a:cs typeface="+mn-cs"/>
        </a:defRPr>
      </a:lvl7pPr>
      <a:lvl8pPr marL="3557245" algn="l" defTabSz="508178" rtl="0" eaLnBrk="1" latinLnBrk="0" hangingPunct="1">
        <a:defRPr sz="2000" kern="1200">
          <a:solidFill>
            <a:schemeClr val="tx1"/>
          </a:solidFill>
          <a:latin typeface="+mn-lt"/>
          <a:ea typeface="+mn-ea"/>
          <a:cs typeface="+mn-cs"/>
        </a:defRPr>
      </a:lvl8pPr>
      <a:lvl9pPr marL="4065422" algn="l" defTabSz="508178"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DSC_0063 (2).JPG"/>
          <p:cNvPicPr>
            <a:picLocks noChangeAspect="1"/>
          </p:cNvPicPr>
          <p:nvPr/>
        </p:nvPicPr>
        <p:blipFill rotWithShape="1">
          <a:blip r:embed="rId2">
            <a:extLst>
              <a:ext uri="{28A0092B-C50C-407E-A947-70E740481C1C}">
                <a14:useLocalDpi xmlns:a14="http://schemas.microsoft.com/office/drawing/2010/main" val="0"/>
              </a:ext>
            </a:extLst>
          </a:blip>
          <a:srcRect t="12540" r="15370" b="39874"/>
          <a:stretch/>
        </p:blipFill>
        <p:spPr>
          <a:xfrm>
            <a:off x="-17876" y="3786801"/>
            <a:ext cx="10168350" cy="3811687"/>
          </a:xfrm>
          <a:prstGeom prst="rect">
            <a:avLst/>
          </a:prstGeom>
        </p:spPr>
      </p:pic>
      <p:sp>
        <p:nvSpPr>
          <p:cNvPr id="7" name="TextBox 6"/>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b="1" dirty="0" smtClean="0">
                <a:solidFill>
                  <a:srgbClr val="FFFFFF"/>
                </a:solidFill>
                <a:latin typeface="RopaSoftPro-Regular"/>
              </a:rPr>
              <a:t> of Computing and Informatics</a:t>
            </a:r>
            <a:endParaRPr lang="en-US" sz="2000" b="1" i="0" u="none" strike="noStrike" baseline="0" dirty="0" smtClean="0">
              <a:solidFill>
                <a:srgbClr val="FFFFFF"/>
              </a:solidFill>
              <a:latin typeface="RopaSoftPro-Regular"/>
            </a:endParaRPr>
          </a:p>
        </p:txBody>
      </p:sp>
      <p:sp>
        <p:nvSpPr>
          <p:cNvPr id="11" name="TextBox 10"/>
          <p:cNvSpPr txBox="1"/>
          <p:nvPr/>
        </p:nvSpPr>
        <p:spPr>
          <a:xfrm>
            <a:off x="369710" y="1784007"/>
            <a:ext cx="9005731" cy="1938992"/>
          </a:xfrm>
          <a:prstGeom prst="rect">
            <a:avLst/>
          </a:prstGeom>
          <a:noFill/>
        </p:spPr>
        <p:txBody>
          <a:bodyPr wrap="square" rtlCol="0">
            <a:spAutoFit/>
          </a:bodyPr>
          <a:lstStyle/>
          <a:p>
            <a:r>
              <a:rPr lang="en-US" sz="3000" dirty="0" smtClean="0">
                <a:solidFill>
                  <a:schemeClr val="bg1"/>
                </a:solidFill>
              </a:rPr>
              <a:t>Business Management Information Systems – BMC511S</a:t>
            </a:r>
          </a:p>
          <a:p>
            <a:endParaRPr lang="en-US" sz="3000" dirty="0" smtClean="0">
              <a:solidFill>
                <a:schemeClr val="bg1"/>
              </a:solidFill>
            </a:endParaRPr>
          </a:p>
          <a:p>
            <a:pPr algn="ctr"/>
            <a:r>
              <a:rPr lang="en-US" sz="3000" dirty="0" smtClean="0">
                <a:solidFill>
                  <a:schemeClr val="bg1"/>
                </a:solidFill>
              </a:rPr>
              <a:t>Lesson 1 – An introduction to information systems in organizations</a:t>
            </a:r>
          </a:p>
        </p:txBody>
      </p:sp>
      <p:pic>
        <p:nvPicPr>
          <p:cNvPr id="9" name="Picture 8"/>
          <p:cNvPicPr>
            <a:picLocks noChangeAspect="1"/>
          </p:cNvPicPr>
          <p:nvPr/>
        </p:nvPicPr>
        <p:blipFill>
          <a:blip r:embed="rId3"/>
          <a:stretch>
            <a:fillRect/>
          </a:stretch>
        </p:blipFill>
        <p:spPr>
          <a:xfrm>
            <a:off x="7880777" y="4294900"/>
            <a:ext cx="2387600" cy="2933700"/>
          </a:xfrm>
          <a:prstGeom prst="rect">
            <a:avLst/>
          </a:prstGeom>
        </p:spPr>
      </p:pic>
    </p:spTree>
    <p:extLst>
      <p:ext uri="{BB962C8B-B14F-4D97-AF65-F5344CB8AC3E}">
        <p14:creationId xmlns:p14="http://schemas.microsoft.com/office/powerpoint/2010/main" val="9742330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Introduction to information systems (IS)  in organisations</a:t>
            </a:r>
            <a:endParaRPr lang="en-US" sz="3000" dirty="0">
              <a:solidFill>
                <a:srgbClr val="FFFFFF"/>
              </a:solidFill>
            </a:endParaRPr>
          </a:p>
        </p:txBody>
      </p:sp>
      <p:sp>
        <p:nvSpPr>
          <p:cNvPr id="4" name="TextBox 3"/>
          <p:cNvSpPr txBox="1"/>
          <p:nvPr/>
        </p:nvSpPr>
        <p:spPr>
          <a:xfrm>
            <a:off x="1349153" y="2801693"/>
            <a:ext cx="8801322" cy="3970318"/>
          </a:xfrm>
          <a:prstGeom prst="rect">
            <a:avLst/>
          </a:prstGeom>
          <a:noFill/>
        </p:spPr>
        <p:txBody>
          <a:bodyPr wrap="square" rtlCol="0">
            <a:spAutoFit/>
          </a:bodyPr>
          <a:lstStyle/>
          <a:p>
            <a:pPr marL="457200" indent="-457200">
              <a:lnSpc>
                <a:spcPct val="140000"/>
              </a:lnSpc>
              <a:buFont typeface="+mj-lt"/>
              <a:buAutoNum type="arabicPeriod"/>
            </a:pPr>
            <a:r>
              <a:rPr lang="en-US" dirty="0" smtClean="0">
                <a:solidFill>
                  <a:srgbClr val="FFFFFF"/>
                </a:solidFill>
              </a:rPr>
              <a:t>An introduction to information systems</a:t>
            </a:r>
          </a:p>
          <a:p>
            <a:pPr marL="457200" indent="-457200">
              <a:lnSpc>
                <a:spcPct val="140000"/>
              </a:lnSpc>
              <a:buFont typeface="+mj-lt"/>
              <a:buAutoNum type="arabicPeriod"/>
            </a:pPr>
            <a:r>
              <a:rPr lang="en-US" dirty="0" smtClean="0">
                <a:solidFill>
                  <a:srgbClr val="FFFFFF"/>
                </a:solidFill>
              </a:rPr>
              <a:t>Components of information systems</a:t>
            </a:r>
          </a:p>
          <a:p>
            <a:pPr marL="457200" indent="-457200">
              <a:lnSpc>
                <a:spcPct val="140000"/>
              </a:lnSpc>
              <a:buFont typeface="+mj-lt"/>
              <a:buAutoNum type="arabicPeriod"/>
            </a:pPr>
            <a:r>
              <a:rPr lang="en-US" dirty="0" smtClean="0">
                <a:solidFill>
                  <a:srgbClr val="FFFFFF"/>
                </a:solidFill>
              </a:rPr>
              <a:t>Functions of an information system</a:t>
            </a:r>
          </a:p>
          <a:p>
            <a:pPr marL="457200" indent="-457200">
              <a:lnSpc>
                <a:spcPct val="140000"/>
              </a:lnSpc>
              <a:buFont typeface="+mj-lt"/>
              <a:buAutoNum type="arabicPeriod"/>
            </a:pPr>
            <a:r>
              <a:rPr lang="en-US" dirty="0" smtClean="0">
                <a:solidFill>
                  <a:srgbClr val="FFFFFF"/>
                </a:solidFill>
              </a:rPr>
              <a:t>Different types of information systems</a:t>
            </a:r>
          </a:p>
          <a:p>
            <a:pPr marL="457200" indent="-457200">
              <a:lnSpc>
                <a:spcPct val="140000"/>
              </a:lnSpc>
              <a:buFont typeface="+mj-lt"/>
              <a:buAutoNum type="arabicPeriod"/>
            </a:pPr>
            <a:r>
              <a:rPr lang="en-US" dirty="0" smtClean="0">
                <a:solidFill>
                  <a:srgbClr val="FFFFFF"/>
                </a:solidFill>
              </a:rPr>
              <a:t>Strategic business objectives of information systems</a:t>
            </a:r>
          </a:p>
          <a:p>
            <a:pPr marL="457200" indent="-457200">
              <a:lnSpc>
                <a:spcPct val="140000"/>
              </a:lnSpc>
              <a:buFont typeface="+mj-lt"/>
              <a:buAutoNum type="arabicPeriod"/>
            </a:pPr>
            <a:r>
              <a:rPr lang="en-US" dirty="0" smtClean="0">
                <a:solidFill>
                  <a:srgbClr val="FFFFFF"/>
                </a:solidFill>
              </a:rPr>
              <a:t>Business functions of information systems</a:t>
            </a:r>
          </a:p>
          <a:p>
            <a:pPr marL="457200" indent="-457200">
              <a:lnSpc>
                <a:spcPct val="140000"/>
              </a:lnSpc>
              <a:buFont typeface="+mj-lt"/>
              <a:buAutoNum type="arabicPeriod"/>
            </a:pPr>
            <a:r>
              <a:rPr lang="en-US" dirty="0" smtClean="0">
                <a:solidFill>
                  <a:srgbClr val="FFFFFF"/>
                </a:solidFill>
              </a:rPr>
              <a:t>Organisational dimensions of information systems</a:t>
            </a:r>
          </a:p>
          <a:p>
            <a:pPr marL="457200" indent="-457200">
              <a:lnSpc>
                <a:spcPct val="140000"/>
              </a:lnSpc>
              <a:buFont typeface="+mj-lt"/>
              <a:buAutoNum type="arabicPeriod"/>
            </a:pPr>
            <a:r>
              <a:rPr lang="en-US" dirty="0" smtClean="0">
                <a:solidFill>
                  <a:srgbClr val="FFFFFF"/>
                </a:solidFill>
              </a:rPr>
              <a:t>Management dimensions of information systems</a:t>
            </a:r>
          </a:p>
          <a:p>
            <a:pPr marL="457200" indent="-457200">
              <a:lnSpc>
                <a:spcPct val="140000"/>
              </a:lnSpc>
              <a:buFont typeface="+mj-lt"/>
              <a:buAutoNum type="arabicPeriod"/>
            </a:pPr>
            <a:r>
              <a:rPr lang="en-US" dirty="0" smtClean="0">
                <a:solidFill>
                  <a:srgbClr val="FFFFFF"/>
                </a:solidFill>
              </a:rPr>
              <a:t>Technology dimensions of information systems</a:t>
            </a:r>
            <a:endParaRPr lang="en-US"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174822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54566" y="1429092"/>
            <a:ext cx="8762913" cy="523220"/>
          </a:xfrm>
          <a:prstGeom prst="rect">
            <a:avLst/>
          </a:prstGeom>
        </p:spPr>
        <p:txBody>
          <a:bodyPr wrap="square">
            <a:spAutoFit/>
          </a:bodyPr>
          <a:lstStyle/>
          <a:p>
            <a:r>
              <a:rPr lang="en-IN" altLang="en-US" sz="2800" b="1" dirty="0">
                <a:solidFill>
                  <a:schemeClr val="bg1"/>
                </a:solidFill>
              </a:rPr>
              <a:t>How Information Systems Are Transforming Business </a:t>
            </a:r>
            <a:endParaRPr lang="en-GB" sz="2800" b="1" dirty="0">
              <a:solidFill>
                <a:schemeClr val="bg1"/>
              </a:solidFill>
            </a:endParaRPr>
          </a:p>
        </p:txBody>
      </p:sp>
      <p:sp>
        <p:nvSpPr>
          <p:cNvPr id="3" name="Rectangle 2"/>
          <p:cNvSpPr/>
          <p:nvPr/>
        </p:nvSpPr>
        <p:spPr>
          <a:xfrm>
            <a:off x="1207880" y="2678128"/>
            <a:ext cx="8357730" cy="3108543"/>
          </a:xfrm>
          <a:prstGeom prst="rect">
            <a:avLst/>
          </a:prstGeom>
        </p:spPr>
        <p:txBody>
          <a:bodyPr wrap="square">
            <a:spAutoFit/>
          </a:bodyPr>
          <a:lstStyle/>
          <a:p>
            <a:pPr marL="342900" indent="-342900">
              <a:buFont typeface="Arial" panose="020B0604020202020204" pitchFamily="34" charset="0"/>
              <a:buChar char="•"/>
            </a:pPr>
            <a:r>
              <a:rPr lang="en-US" sz="2800" dirty="0">
                <a:solidFill>
                  <a:schemeClr val="bg1"/>
                </a:solidFill>
              </a:rPr>
              <a:t>Global spending on information technology (IT) and IT services: nearly $3.8 trillion in 2019; $160 billion spent on management consulting and </a:t>
            </a:r>
            <a:r>
              <a:rPr lang="en-US" sz="2800" dirty="0" smtClean="0">
                <a:solidFill>
                  <a:schemeClr val="bg1"/>
                </a:solidFill>
              </a:rPr>
              <a:t>services</a:t>
            </a:r>
          </a:p>
          <a:p>
            <a:endParaRPr lang="en-US" sz="2800" dirty="0">
              <a:solidFill>
                <a:schemeClr val="bg1"/>
              </a:solidFill>
            </a:endParaRPr>
          </a:p>
          <a:p>
            <a:pPr marL="342900" indent="-342900">
              <a:buFont typeface="Arial" panose="020B0604020202020204" pitchFamily="34" charset="0"/>
              <a:buChar char="•"/>
            </a:pPr>
            <a:r>
              <a:rPr lang="en-US" sz="2800" dirty="0">
                <a:solidFill>
                  <a:schemeClr val="bg1"/>
                </a:solidFill>
              </a:rPr>
              <a:t>Organizational, management, and cultural changes are often required for firms to derive full business value from IT investments</a:t>
            </a:r>
          </a:p>
        </p:txBody>
      </p:sp>
    </p:spTree>
    <p:extLst>
      <p:ext uri="{BB962C8B-B14F-4D97-AF65-F5344CB8AC3E}">
        <p14:creationId xmlns:p14="http://schemas.microsoft.com/office/powerpoint/2010/main" val="41796694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p:cNvSpPr txBox="1">
            <a:spLocks/>
          </p:cNvSpPr>
          <p:nvPr/>
        </p:nvSpPr>
        <p:spPr>
          <a:xfrm>
            <a:off x="955466" y="1850299"/>
            <a:ext cx="8648472" cy="4376583"/>
          </a:xfrm>
          <a:prstGeom prst="rect">
            <a:avLst/>
          </a:prstGeom>
        </p:spPr>
        <p:txBody>
          <a:bodyPr wrap="square">
            <a:spAutoFit/>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pPr indent="-255600"/>
            <a:r>
              <a:rPr lang="en-IN" dirty="0" smtClean="0">
                <a:solidFill>
                  <a:schemeClr val="bg1"/>
                </a:solidFill>
              </a:rPr>
              <a:t>In a fully digital firm:</a:t>
            </a:r>
          </a:p>
          <a:p>
            <a:pPr lvl="1" indent="-255600"/>
            <a:r>
              <a:rPr lang="en-IN" sz="2400" dirty="0" smtClean="0">
                <a:solidFill>
                  <a:schemeClr val="bg1"/>
                </a:solidFill>
              </a:rPr>
              <a:t>Significant business relationships are digitally enabled and mediated</a:t>
            </a:r>
          </a:p>
          <a:p>
            <a:pPr lvl="1" indent="-255600"/>
            <a:r>
              <a:rPr lang="en-IN" sz="2400" dirty="0" smtClean="0">
                <a:solidFill>
                  <a:schemeClr val="bg1"/>
                </a:solidFill>
              </a:rPr>
              <a:t>Core business processes are accomplished through digital networks</a:t>
            </a:r>
          </a:p>
          <a:p>
            <a:pPr lvl="1" indent="-255600"/>
            <a:r>
              <a:rPr lang="en-IN" sz="2400" dirty="0" smtClean="0">
                <a:solidFill>
                  <a:schemeClr val="bg1"/>
                </a:solidFill>
              </a:rPr>
              <a:t>Key corporate assets are managed digitally</a:t>
            </a:r>
          </a:p>
          <a:p>
            <a:pPr indent="-255600"/>
            <a:r>
              <a:rPr lang="en-IN" dirty="0" smtClean="0">
                <a:solidFill>
                  <a:schemeClr val="bg1"/>
                </a:solidFill>
              </a:rPr>
              <a:t>Digital firms offer greater flexibility in organization and management</a:t>
            </a:r>
          </a:p>
          <a:p>
            <a:pPr lvl="1" indent="-255600"/>
            <a:r>
              <a:rPr lang="en-IN" sz="2400" dirty="0" smtClean="0">
                <a:solidFill>
                  <a:schemeClr val="bg1"/>
                </a:solidFill>
              </a:rPr>
              <a:t>Time shifting, space shifting</a:t>
            </a:r>
            <a:endParaRPr lang="en-IN" sz="2400" dirty="0">
              <a:solidFill>
                <a:schemeClr val="bg1"/>
              </a:solidFill>
            </a:endParaRPr>
          </a:p>
        </p:txBody>
      </p:sp>
    </p:spTree>
    <p:extLst>
      <p:ext uri="{BB962C8B-B14F-4D97-AF65-F5344CB8AC3E}">
        <p14:creationId xmlns:p14="http://schemas.microsoft.com/office/powerpoint/2010/main" val="4147212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p:cNvSpPr txBox="1">
            <a:spLocks/>
          </p:cNvSpPr>
          <p:nvPr/>
        </p:nvSpPr>
        <p:spPr>
          <a:xfrm>
            <a:off x="457200" y="1346586"/>
            <a:ext cx="8229600" cy="1902059"/>
          </a:xfrm>
          <a:prstGeom prst="rect">
            <a:avLst/>
          </a:prstGeom>
        </p:spPr>
        <p:txBody>
          <a:bodyPr>
            <a:spAutoFit/>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smtClean="0">
                <a:solidFill>
                  <a:schemeClr val="bg1"/>
                </a:solidFill>
              </a:rPr>
              <a:t>Growing interdependence between:</a:t>
            </a:r>
          </a:p>
          <a:p>
            <a:pPr lvl="1"/>
            <a:r>
              <a:rPr lang="en-US" sz="2400" smtClean="0">
                <a:solidFill>
                  <a:schemeClr val="bg1"/>
                </a:solidFill>
              </a:rPr>
              <a:t>Ability to use information technology</a:t>
            </a:r>
          </a:p>
          <a:p>
            <a:pPr lvl="1"/>
            <a:r>
              <a:rPr lang="en-US" sz="2400" smtClean="0">
                <a:solidFill>
                  <a:schemeClr val="bg1"/>
                </a:solidFill>
              </a:rPr>
              <a:t>Ability to implement corporate strategies and achieve corporate goals</a:t>
            </a:r>
            <a:endParaRPr lang="en-US" sz="2400" dirty="0">
              <a:solidFill>
                <a:schemeClr val="bg1"/>
              </a:solidFill>
            </a:endParaRPr>
          </a:p>
        </p:txBody>
      </p:sp>
      <p:pic>
        <p:nvPicPr>
          <p:cNvPr id="3" name="Picture 2" descr="A flow diagram shows the interdependence between organizations and information systems. For a full description, see Notes. Press F6."/>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024960" y="3388755"/>
            <a:ext cx="6661840" cy="3525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06272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An introduction to information systems</a:t>
            </a:r>
            <a:endParaRPr lang="en-US" sz="3000" dirty="0">
              <a:solidFill>
                <a:srgbClr val="FFFFFF"/>
              </a:solidFill>
            </a:endParaRPr>
          </a:p>
        </p:txBody>
      </p:sp>
      <p:sp>
        <p:nvSpPr>
          <p:cNvPr id="4" name="TextBox 3"/>
          <p:cNvSpPr txBox="1"/>
          <p:nvPr/>
        </p:nvSpPr>
        <p:spPr>
          <a:xfrm>
            <a:off x="853440" y="2801693"/>
            <a:ext cx="9297035" cy="3970318"/>
          </a:xfrm>
          <a:prstGeom prst="rect">
            <a:avLst/>
          </a:prstGeom>
          <a:noFill/>
        </p:spPr>
        <p:txBody>
          <a:bodyPr wrap="square" rtlCol="0">
            <a:spAutoFit/>
          </a:bodyPr>
          <a:lstStyle/>
          <a:p>
            <a:pPr>
              <a:lnSpc>
                <a:spcPct val="140000"/>
              </a:lnSpc>
            </a:pPr>
            <a:r>
              <a:rPr lang="en-US" dirty="0" smtClean="0">
                <a:solidFill>
                  <a:srgbClr val="FFFFFF"/>
                </a:solidFill>
              </a:rPr>
              <a:t>- An information system (IS) is any organized network of people, organisations, and infrastructure for the collection, organisation, storage and communication of information</a:t>
            </a:r>
          </a:p>
          <a:p>
            <a:pPr>
              <a:lnSpc>
                <a:spcPct val="140000"/>
              </a:lnSpc>
            </a:pPr>
            <a:r>
              <a:rPr lang="en-US" dirty="0" smtClean="0">
                <a:solidFill>
                  <a:srgbClr val="FFFFFF"/>
                </a:solidFill>
              </a:rPr>
              <a:t> - An information system (IS) is a combination of hardware, software, infrastructure and people organized to facilitate planning, control, coordination and decision-making in an organisation.</a:t>
            </a:r>
          </a:p>
          <a:p>
            <a:pPr>
              <a:lnSpc>
                <a:spcPct val="140000"/>
              </a:lnSpc>
            </a:pPr>
            <a:r>
              <a:rPr lang="en-US" dirty="0" smtClean="0">
                <a:solidFill>
                  <a:srgbClr val="FFFFFF"/>
                </a:solidFill>
              </a:rPr>
              <a:t>- An information system is a collection of technical and human resources that provide storage, computing, distribution and communication of information required by all or some part of an enterprise</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703255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4"/>
          <p:cNvSpPr txBox="1">
            <a:spLocks/>
          </p:cNvSpPr>
          <p:nvPr/>
        </p:nvSpPr>
        <p:spPr>
          <a:xfrm>
            <a:off x="720022" y="1723022"/>
            <a:ext cx="8229600" cy="4745915"/>
          </a:xfrm>
          <a:prstGeom prst="rect">
            <a:avLst/>
          </a:prstGeom>
        </p:spPr>
        <p:txBody>
          <a:bodyPr>
            <a:spAutoFit/>
          </a:bodyPr>
          <a:lstStyle>
            <a:lvl1pPr marL="381133" indent="-381133" algn="l" defTabSz="508178" rtl="0" eaLnBrk="1" latinLnBrk="0" hangingPunct="1">
              <a:spcBef>
                <a:spcPct val="20000"/>
              </a:spcBef>
              <a:buFont typeface="Arial"/>
              <a:buChar char="•"/>
              <a:defRPr sz="3600" kern="1200">
                <a:solidFill>
                  <a:schemeClr val="tx1"/>
                </a:solidFill>
                <a:latin typeface="+mn-lt"/>
                <a:ea typeface="+mn-ea"/>
                <a:cs typeface="+mn-cs"/>
              </a:defRPr>
            </a:lvl1pPr>
            <a:lvl2pPr marL="825789" indent="-317611" algn="l" defTabSz="508178" rtl="0" eaLnBrk="1" latinLnBrk="0" hangingPunct="1">
              <a:spcBef>
                <a:spcPct val="20000"/>
              </a:spcBef>
              <a:buFont typeface="Arial"/>
              <a:buChar char="–"/>
              <a:defRPr sz="3100" kern="1200">
                <a:solidFill>
                  <a:schemeClr val="tx1"/>
                </a:solidFill>
                <a:latin typeface="+mn-lt"/>
                <a:ea typeface="+mn-ea"/>
                <a:cs typeface="+mn-cs"/>
              </a:defRPr>
            </a:lvl2pPr>
            <a:lvl3pPr marL="1270445" indent="-254089" algn="l" defTabSz="508178" rtl="0" eaLnBrk="1" latinLnBrk="0" hangingPunct="1">
              <a:spcBef>
                <a:spcPct val="20000"/>
              </a:spcBef>
              <a:buFont typeface="Arial"/>
              <a:buChar char="•"/>
              <a:defRPr sz="2700" kern="1200">
                <a:solidFill>
                  <a:schemeClr val="tx1"/>
                </a:solidFill>
                <a:latin typeface="+mn-lt"/>
                <a:ea typeface="+mn-ea"/>
                <a:cs typeface="+mn-cs"/>
              </a:defRPr>
            </a:lvl3pPr>
            <a:lvl4pPr marL="1778622" indent="-254089" algn="l" defTabSz="508178" rtl="0" eaLnBrk="1" latinLnBrk="0" hangingPunct="1">
              <a:spcBef>
                <a:spcPct val="20000"/>
              </a:spcBef>
              <a:buFont typeface="Arial"/>
              <a:buChar char="–"/>
              <a:defRPr sz="2200" kern="1200">
                <a:solidFill>
                  <a:schemeClr val="tx1"/>
                </a:solidFill>
                <a:latin typeface="+mn-lt"/>
                <a:ea typeface="+mn-ea"/>
                <a:cs typeface="+mn-cs"/>
              </a:defRPr>
            </a:lvl4pPr>
            <a:lvl5pPr marL="2286800" indent="-254089" algn="l" defTabSz="508178" rtl="0" eaLnBrk="1" latinLnBrk="0" hangingPunct="1">
              <a:spcBef>
                <a:spcPct val="20000"/>
              </a:spcBef>
              <a:buFont typeface="Arial"/>
              <a:buChar char="»"/>
              <a:defRPr sz="2200" kern="1200">
                <a:solidFill>
                  <a:schemeClr val="tx1"/>
                </a:solidFill>
                <a:latin typeface="+mn-lt"/>
                <a:ea typeface="+mn-ea"/>
                <a:cs typeface="+mn-cs"/>
              </a:defRPr>
            </a:lvl5pPr>
            <a:lvl6pPr marL="2794978" indent="-254089" algn="l" defTabSz="508178" rtl="0" eaLnBrk="1" latinLnBrk="0" hangingPunct="1">
              <a:spcBef>
                <a:spcPct val="20000"/>
              </a:spcBef>
              <a:buFont typeface="Arial"/>
              <a:buChar char="•"/>
              <a:defRPr sz="2200" kern="1200">
                <a:solidFill>
                  <a:schemeClr val="tx1"/>
                </a:solidFill>
                <a:latin typeface="+mn-lt"/>
                <a:ea typeface="+mn-ea"/>
                <a:cs typeface="+mn-cs"/>
              </a:defRPr>
            </a:lvl6pPr>
            <a:lvl7pPr marL="3303156" indent="-254089" algn="l" defTabSz="508178" rtl="0" eaLnBrk="1" latinLnBrk="0" hangingPunct="1">
              <a:spcBef>
                <a:spcPct val="20000"/>
              </a:spcBef>
              <a:buFont typeface="Arial"/>
              <a:buChar char="•"/>
              <a:defRPr sz="2200" kern="1200">
                <a:solidFill>
                  <a:schemeClr val="tx1"/>
                </a:solidFill>
                <a:latin typeface="+mn-lt"/>
                <a:ea typeface="+mn-ea"/>
                <a:cs typeface="+mn-cs"/>
              </a:defRPr>
            </a:lvl7pPr>
            <a:lvl8pPr marL="3811334" indent="-254089" algn="l" defTabSz="508178" rtl="0" eaLnBrk="1" latinLnBrk="0" hangingPunct="1">
              <a:spcBef>
                <a:spcPct val="20000"/>
              </a:spcBef>
              <a:buFont typeface="Arial"/>
              <a:buChar char="•"/>
              <a:defRPr sz="2200" kern="1200">
                <a:solidFill>
                  <a:schemeClr val="tx1"/>
                </a:solidFill>
                <a:latin typeface="+mn-lt"/>
                <a:ea typeface="+mn-ea"/>
                <a:cs typeface="+mn-cs"/>
              </a:defRPr>
            </a:lvl8pPr>
            <a:lvl9pPr marL="4319511" indent="-254089" algn="l" defTabSz="508178" rtl="0" eaLnBrk="1" latinLnBrk="0" hangingPunct="1">
              <a:spcBef>
                <a:spcPct val="20000"/>
              </a:spcBef>
              <a:buFont typeface="Arial"/>
              <a:buChar char="•"/>
              <a:defRPr sz="2200" kern="1200">
                <a:solidFill>
                  <a:schemeClr val="tx1"/>
                </a:solidFill>
                <a:latin typeface="+mn-lt"/>
                <a:ea typeface="+mn-ea"/>
                <a:cs typeface="+mn-cs"/>
              </a:defRPr>
            </a:lvl9pPr>
          </a:lstStyle>
          <a:p>
            <a:r>
              <a:rPr lang="en-US" smtClean="0">
                <a:solidFill>
                  <a:schemeClr val="bg1"/>
                </a:solidFill>
              </a:rPr>
              <a:t>Activities in an information system that produce information:</a:t>
            </a:r>
          </a:p>
          <a:p>
            <a:pPr lvl="1"/>
            <a:r>
              <a:rPr lang="en-US" sz="2400" smtClean="0">
                <a:solidFill>
                  <a:schemeClr val="bg1"/>
                </a:solidFill>
              </a:rPr>
              <a:t>Input</a:t>
            </a:r>
          </a:p>
          <a:p>
            <a:pPr lvl="1"/>
            <a:r>
              <a:rPr lang="en-US" sz="2400" smtClean="0">
                <a:solidFill>
                  <a:schemeClr val="bg1"/>
                </a:solidFill>
              </a:rPr>
              <a:t>Processing</a:t>
            </a:r>
          </a:p>
          <a:p>
            <a:pPr lvl="1"/>
            <a:r>
              <a:rPr lang="en-US" sz="2400" smtClean="0">
                <a:solidFill>
                  <a:schemeClr val="bg1"/>
                </a:solidFill>
              </a:rPr>
              <a:t>Output</a:t>
            </a:r>
          </a:p>
          <a:p>
            <a:pPr lvl="1"/>
            <a:r>
              <a:rPr lang="en-US" sz="2400" smtClean="0">
                <a:solidFill>
                  <a:schemeClr val="bg1"/>
                </a:solidFill>
              </a:rPr>
              <a:t>Feedback</a:t>
            </a:r>
          </a:p>
          <a:p>
            <a:r>
              <a:rPr lang="en-US" smtClean="0">
                <a:solidFill>
                  <a:schemeClr val="bg1"/>
                </a:solidFill>
              </a:rPr>
              <a:t>Sharp distinction between computer or computer program versus information system</a:t>
            </a:r>
            <a:endParaRPr lang="en-US" dirty="0">
              <a:solidFill>
                <a:schemeClr val="bg1"/>
              </a:solidFill>
            </a:endParaRPr>
          </a:p>
        </p:txBody>
      </p:sp>
    </p:spTree>
    <p:extLst>
      <p:ext uri="{BB962C8B-B14F-4D97-AF65-F5344CB8AC3E}">
        <p14:creationId xmlns:p14="http://schemas.microsoft.com/office/powerpoint/2010/main" val="10694836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98664" y="1784007"/>
            <a:ext cx="9144635" cy="553998"/>
          </a:xfrm>
          <a:prstGeom prst="rect">
            <a:avLst/>
          </a:prstGeom>
          <a:noFill/>
        </p:spPr>
        <p:txBody>
          <a:bodyPr wrap="square" rtlCol="0">
            <a:spAutoFit/>
          </a:bodyPr>
          <a:lstStyle/>
          <a:p>
            <a:r>
              <a:rPr lang="en-US" sz="3000" dirty="0" smtClean="0">
                <a:solidFill>
                  <a:srgbClr val="FFFFFF"/>
                </a:solidFill>
              </a:rPr>
              <a:t>An introduction to information systems  </a:t>
            </a:r>
            <a:endParaRPr lang="en-US" sz="3000" dirty="0">
              <a:solidFill>
                <a:srgbClr val="FFFFFF"/>
              </a:solidFill>
            </a:endParaRPr>
          </a:p>
        </p:txBody>
      </p:sp>
      <p:sp>
        <p:nvSpPr>
          <p:cNvPr id="4" name="TextBox 3"/>
          <p:cNvSpPr txBox="1"/>
          <p:nvPr/>
        </p:nvSpPr>
        <p:spPr>
          <a:xfrm>
            <a:off x="853440" y="2338005"/>
            <a:ext cx="9297035" cy="2677656"/>
          </a:xfrm>
          <a:prstGeom prst="rect">
            <a:avLst/>
          </a:prstGeom>
          <a:noFill/>
        </p:spPr>
        <p:txBody>
          <a:bodyPr wrap="square" rtlCol="0">
            <a:spAutoFit/>
          </a:bodyPr>
          <a:lstStyle/>
          <a:p>
            <a:pPr>
              <a:lnSpc>
                <a:spcPct val="140000"/>
              </a:lnSpc>
            </a:pPr>
            <a:r>
              <a:rPr lang="en-US" dirty="0" smtClean="0">
                <a:solidFill>
                  <a:srgbClr val="FFFFFF"/>
                </a:solidFill>
              </a:rPr>
              <a:t>- Data are basic values or facts</a:t>
            </a:r>
          </a:p>
          <a:p>
            <a:pPr>
              <a:lnSpc>
                <a:spcPct val="140000"/>
              </a:lnSpc>
            </a:pPr>
            <a:r>
              <a:rPr lang="en-US" dirty="0" smtClean="0">
                <a:solidFill>
                  <a:srgbClr val="FFFFFF"/>
                </a:solidFill>
              </a:rPr>
              <a:t> - Information is data that has been processed to provide answers to questions</a:t>
            </a:r>
          </a:p>
          <a:p>
            <a:pPr marL="342900" indent="-342900">
              <a:lnSpc>
                <a:spcPct val="140000"/>
              </a:lnSpc>
              <a:buFontTx/>
              <a:buChar char="-"/>
            </a:pPr>
            <a:r>
              <a:rPr lang="en-US" dirty="0" smtClean="0">
                <a:solidFill>
                  <a:srgbClr val="FFFFFF"/>
                </a:solidFill>
              </a:rPr>
              <a:t>An information system turns raw data into useful information that can be used for decision-making.</a:t>
            </a:r>
          </a:p>
          <a:p>
            <a:pPr marL="342900" indent="-342900">
              <a:lnSpc>
                <a:spcPct val="140000"/>
              </a:lnSpc>
              <a:buFontTx/>
              <a:buChar char="-"/>
            </a:pPr>
            <a:endParaRPr lang="en-US" dirty="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pic>
        <p:nvPicPr>
          <p:cNvPr id="6" name="Picture 5" descr="The diagram depicts the input to information systems. Data shown here that flow into information systems include item number, item description, and item price at a supermarket checkout. These data are organized into meaningful information such as item units sold, year-to-date sales, and location of sale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4216" y="4194483"/>
            <a:ext cx="7737310" cy="3146925"/>
          </a:xfrm>
          <a:prstGeom prst="rect">
            <a:avLst/>
          </a:prstGeom>
        </p:spPr>
      </p:pic>
    </p:spTree>
    <p:extLst>
      <p:ext uri="{BB962C8B-B14F-4D97-AF65-F5344CB8AC3E}">
        <p14:creationId xmlns:p14="http://schemas.microsoft.com/office/powerpoint/2010/main" val="482717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Components of an information system</a:t>
            </a:r>
            <a:endParaRPr lang="en-US" sz="3000" dirty="0">
              <a:solidFill>
                <a:srgbClr val="FFFFFF"/>
              </a:solidFill>
            </a:endParaRPr>
          </a:p>
        </p:txBody>
      </p:sp>
      <p:sp>
        <p:nvSpPr>
          <p:cNvPr id="4" name="TextBox 3"/>
          <p:cNvSpPr txBox="1"/>
          <p:nvPr/>
        </p:nvSpPr>
        <p:spPr>
          <a:xfrm>
            <a:off x="853440" y="2801692"/>
            <a:ext cx="9144635" cy="2677656"/>
          </a:xfrm>
          <a:prstGeom prst="rect">
            <a:avLst/>
          </a:prstGeom>
          <a:noFill/>
        </p:spPr>
        <p:txBody>
          <a:bodyPr wrap="square" rtlCol="0">
            <a:spAutoFit/>
          </a:bodyPr>
          <a:lstStyle/>
          <a:p>
            <a:pPr>
              <a:lnSpc>
                <a:spcPct val="140000"/>
              </a:lnSpc>
            </a:pPr>
            <a:r>
              <a:rPr lang="en-US" dirty="0" smtClean="0">
                <a:solidFill>
                  <a:srgbClr val="FFFFFF"/>
                </a:solidFill>
              </a:rPr>
              <a:t>- Hardware – the physical artefacts e.g. cellphone, computer</a:t>
            </a:r>
          </a:p>
          <a:p>
            <a:pPr>
              <a:lnSpc>
                <a:spcPct val="140000"/>
              </a:lnSpc>
            </a:pPr>
            <a:r>
              <a:rPr lang="en-US" dirty="0" smtClean="0">
                <a:solidFill>
                  <a:srgbClr val="FFFFFF"/>
                </a:solidFill>
              </a:rPr>
              <a:t> - Software – programs to organize, process and </a:t>
            </a:r>
            <a:r>
              <a:rPr lang="en-US" dirty="0" err="1" smtClean="0">
                <a:solidFill>
                  <a:srgbClr val="FFFFFF"/>
                </a:solidFill>
              </a:rPr>
              <a:t>analyse</a:t>
            </a:r>
            <a:r>
              <a:rPr lang="en-US" dirty="0" smtClean="0">
                <a:solidFill>
                  <a:srgbClr val="FFFFFF"/>
                </a:solidFill>
              </a:rPr>
              <a:t> data</a:t>
            </a:r>
          </a:p>
          <a:p>
            <a:pPr marL="342900" indent="-342900">
              <a:lnSpc>
                <a:spcPct val="140000"/>
              </a:lnSpc>
              <a:buFontTx/>
              <a:buChar char="-"/>
            </a:pPr>
            <a:r>
              <a:rPr lang="en-US" dirty="0" smtClean="0">
                <a:solidFill>
                  <a:srgbClr val="FFFFFF"/>
                </a:solidFill>
              </a:rPr>
              <a:t>Databases – data organized into tables and files</a:t>
            </a:r>
          </a:p>
          <a:p>
            <a:pPr marL="342900" indent="-342900">
              <a:lnSpc>
                <a:spcPct val="140000"/>
              </a:lnSpc>
              <a:buFontTx/>
              <a:buChar char="-"/>
            </a:pPr>
            <a:r>
              <a:rPr lang="en-US" dirty="0" smtClean="0">
                <a:solidFill>
                  <a:srgbClr val="FFFFFF"/>
                </a:solidFill>
              </a:rPr>
              <a:t>Network – different elements connected to each other</a:t>
            </a:r>
          </a:p>
          <a:p>
            <a:pPr marL="342900" indent="-342900">
              <a:lnSpc>
                <a:spcPct val="140000"/>
              </a:lnSpc>
              <a:buFontTx/>
              <a:buChar char="-"/>
            </a:pPr>
            <a:r>
              <a:rPr lang="en-US" dirty="0" smtClean="0">
                <a:solidFill>
                  <a:srgbClr val="FFFFFF"/>
                </a:solidFill>
              </a:rPr>
              <a:t>Procedures/processes – how data is processed and </a:t>
            </a:r>
            <a:r>
              <a:rPr lang="en-US" dirty="0" err="1" smtClean="0">
                <a:solidFill>
                  <a:srgbClr val="FFFFFF"/>
                </a:solidFill>
              </a:rPr>
              <a:t>analysed</a:t>
            </a:r>
            <a:r>
              <a:rPr lang="en-US" dirty="0" smtClean="0">
                <a:solidFill>
                  <a:srgbClr val="FFFFFF"/>
                </a:solidFill>
              </a:rPr>
              <a:t> to get answers</a:t>
            </a:r>
          </a:p>
          <a:p>
            <a:pPr marL="342900" indent="-342900">
              <a:lnSpc>
                <a:spcPct val="140000"/>
              </a:lnSpc>
              <a:buFontTx/>
              <a:buChar char="-"/>
            </a:pPr>
            <a:r>
              <a:rPr lang="en-US" dirty="0" smtClean="0">
                <a:solidFill>
                  <a:srgbClr val="FFFFFF"/>
                </a:solidFill>
              </a:rPr>
              <a:t>People – the users</a:t>
            </a: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Rectangle 1"/>
          <p:cNvSpPr/>
          <p:nvPr/>
        </p:nvSpPr>
        <p:spPr>
          <a:xfrm>
            <a:off x="853440" y="6012642"/>
            <a:ext cx="8152285" cy="707886"/>
          </a:xfrm>
          <a:prstGeom prst="rect">
            <a:avLst/>
          </a:prstGeom>
        </p:spPr>
        <p:txBody>
          <a:bodyPr wrap="square">
            <a:spAutoFit/>
          </a:bodyPr>
          <a:lstStyle/>
          <a:p>
            <a:pPr algn="ctr" defTabSz="457200">
              <a:defRPr/>
            </a:pPr>
            <a:r>
              <a:rPr lang="en-US" altLang="ja-JP" b="1" u="sng" dirty="0">
                <a:solidFill>
                  <a:schemeClr val="bg1"/>
                </a:solidFill>
              </a:rPr>
              <a:t>Systems need to be designed to fit the firms and the humans who work with the systems.</a:t>
            </a:r>
            <a:endParaRPr lang="en-US" altLang="en-US" b="1" u="sng" dirty="0">
              <a:solidFill>
                <a:schemeClr val="bg1"/>
              </a:solidFill>
            </a:endParaRPr>
          </a:p>
        </p:txBody>
      </p:sp>
    </p:spTree>
    <p:extLst>
      <p:ext uri="{BB962C8B-B14F-4D97-AF65-F5344CB8AC3E}">
        <p14:creationId xmlns:p14="http://schemas.microsoft.com/office/powerpoint/2010/main" val="12555723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58990" y="1664175"/>
            <a:ext cx="9144635" cy="400110"/>
          </a:xfrm>
          <a:prstGeom prst="rect">
            <a:avLst/>
          </a:prstGeom>
          <a:noFill/>
        </p:spPr>
        <p:txBody>
          <a:bodyPr wrap="square" rtlCol="0">
            <a:spAutoFit/>
          </a:bodyPr>
          <a:lstStyle/>
          <a:p>
            <a:r>
              <a:rPr lang="en-US" dirty="0" smtClean="0">
                <a:solidFill>
                  <a:srgbClr val="FFFFFF"/>
                </a:solidFill>
              </a:rPr>
              <a:t>Functions of an information system</a:t>
            </a:r>
            <a:endParaRPr lang="en-US" dirty="0">
              <a:solidFill>
                <a:srgbClr val="FFFFFF"/>
              </a:solidFill>
            </a:endParaRPr>
          </a:p>
        </p:txBody>
      </p:sp>
      <p:sp>
        <p:nvSpPr>
          <p:cNvPr id="4" name="TextBox 3"/>
          <p:cNvSpPr txBox="1"/>
          <p:nvPr/>
        </p:nvSpPr>
        <p:spPr>
          <a:xfrm>
            <a:off x="268548" y="2080375"/>
            <a:ext cx="8925521" cy="6814173"/>
          </a:xfrm>
          <a:prstGeom prst="rect">
            <a:avLst/>
          </a:prstGeom>
          <a:noFill/>
        </p:spPr>
        <p:txBody>
          <a:bodyPr wrap="square" rtlCol="0">
            <a:spAutoFit/>
          </a:bodyPr>
          <a:lstStyle/>
          <a:p>
            <a:pPr>
              <a:lnSpc>
                <a:spcPct val="140000"/>
              </a:lnSpc>
            </a:pPr>
            <a:endParaRPr lang="en-US" dirty="0" smtClean="0">
              <a:solidFill>
                <a:srgbClr val="FFFFFF"/>
              </a:solidFill>
            </a:endParaRPr>
          </a:p>
          <a:p>
            <a:pPr>
              <a:lnSpc>
                <a:spcPct val="140000"/>
              </a:lnSpc>
            </a:pPr>
            <a:endParaRPr lang="en-US" dirty="0">
              <a:solidFill>
                <a:srgbClr val="FFFFFF"/>
              </a:solidFill>
            </a:endParaRPr>
          </a:p>
          <a:p>
            <a:pPr>
              <a:lnSpc>
                <a:spcPct val="140000"/>
              </a:lnSpc>
            </a:pPr>
            <a:endParaRPr lang="en-US" dirty="0" smtClean="0">
              <a:solidFill>
                <a:srgbClr val="FFFFFF"/>
              </a:solidFill>
            </a:endParaRPr>
          </a:p>
          <a:p>
            <a:pPr>
              <a:lnSpc>
                <a:spcPct val="140000"/>
              </a:lnSpc>
            </a:pPr>
            <a:endParaRPr lang="en-US" dirty="0">
              <a:solidFill>
                <a:srgbClr val="FFFFFF"/>
              </a:solidFill>
            </a:endParaRPr>
          </a:p>
          <a:p>
            <a:pPr>
              <a:lnSpc>
                <a:spcPct val="140000"/>
              </a:lnSpc>
            </a:pPr>
            <a:endParaRPr lang="en-US" dirty="0" smtClean="0">
              <a:solidFill>
                <a:srgbClr val="FFFFFF"/>
              </a:solidFill>
            </a:endParaRPr>
          </a:p>
          <a:p>
            <a:pPr>
              <a:lnSpc>
                <a:spcPct val="140000"/>
              </a:lnSpc>
            </a:pPr>
            <a:endParaRPr lang="en-US" dirty="0" smtClean="0">
              <a:solidFill>
                <a:srgbClr val="FFFFFF"/>
              </a:solidFill>
            </a:endParaRPr>
          </a:p>
          <a:p>
            <a:pPr>
              <a:lnSpc>
                <a:spcPct val="140000"/>
              </a:lnSpc>
            </a:pPr>
            <a:endParaRPr lang="en-US" dirty="0" smtClean="0">
              <a:solidFill>
                <a:srgbClr val="FFFFFF"/>
              </a:solidFill>
            </a:endParaRPr>
          </a:p>
          <a:p>
            <a:pPr>
              <a:lnSpc>
                <a:spcPct val="140000"/>
              </a:lnSpc>
            </a:pPr>
            <a:endParaRPr lang="en-US" dirty="0" smtClean="0">
              <a:solidFill>
                <a:srgbClr val="FFFFFF"/>
              </a:solidFill>
            </a:endParaRPr>
          </a:p>
          <a:p>
            <a:pPr>
              <a:lnSpc>
                <a:spcPct val="140000"/>
              </a:lnSpc>
            </a:pPr>
            <a:endParaRPr lang="en-US" dirty="0">
              <a:solidFill>
                <a:srgbClr val="FFFFFF"/>
              </a:solidFill>
            </a:endParaRPr>
          </a:p>
          <a:p>
            <a:pPr>
              <a:lnSpc>
                <a:spcPct val="140000"/>
              </a:lnSpc>
            </a:pPr>
            <a:r>
              <a:rPr lang="en-US" dirty="0" smtClean="0">
                <a:solidFill>
                  <a:srgbClr val="FFFFFF"/>
                </a:solidFill>
              </a:rPr>
              <a:t>-  </a:t>
            </a:r>
            <a:r>
              <a:rPr lang="en-US" sz="1800" dirty="0" smtClean="0">
                <a:solidFill>
                  <a:srgbClr val="FFFFFF"/>
                </a:solidFill>
              </a:rPr>
              <a:t>Input, process, output – produce the information organisations need</a:t>
            </a:r>
          </a:p>
          <a:p>
            <a:pPr marL="342900" indent="-342900">
              <a:lnSpc>
                <a:spcPct val="140000"/>
              </a:lnSpc>
              <a:buFontTx/>
              <a:buChar char="-"/>
            </a:pPr>
            <a:r>
              <a:rPr lang="en-US" sz="1800" dirty="0" smtClean="0">
                <a:solidFill>
                  <a:srgbClr val="FFFFFF"/>
                </a:solidFill>
              </a:rPr>
              <a:t>Feedback – output returned to appropriate people/activities in the organisation to evaluate and refine input</a:t>
            </a:r>
          </a:p>
          <a:p>
            <a:pPr marL="342900" indent="-342900">
              <a:lnSpc>
                <a:spcPct val="140000"/>
              </a:lnSpc>
              <a:buFontTx/>
              <a:buChar char="-"/>
            </a:pPr>
            <a:r>
              <a:rPr lang="en-US" sz="1800" dirty="0" smtClean="0">
                <a:solidFill>
                  <a:srgbClr val="FFFFFF"/>
                </a:solidFill>
              </a:rPr>
              <a:t>Environmental actors – customers, suppliers, competitors, regulatory agencies</a:t>
            </a:r>
          </a:p>
          <a:p>
            <a:pPr marL="342900" indent="-342900">
              <a:lnSpc>
                <a:spcPct val="140000"/>
              </a:lnSpc>
              <a:buFontTx/>
              <a:buChar char="-"/>
            </a:pPr>
            <a:endParaRPr lang="en-US" sz="1800" dirty="0" smtClean="0">
              <a:solidFill>
                <a:srgbClr val="FFFFFF"/>
              </a:solidFill>
            </a:endParaRPr>
          </a:p>
          <a:p>
            <a:pPr marL="342900" indent="-342900">
              <a:lnSpc>
                <a:spcPct val="140000"/>
              </a:lnSpc>
              <a:buFontTx/>
              <a:buChar char="-"/>
            </a:pPr>
            <a:r>
              <a:rPr lang="en-US" dirty="0" smtClean="0">
                <a:solidFill>
                  <a:srgbClr val="FFFFFF"/>
                </a:solidFill>
              </a:rPr>
              <a:t>Environmental actors – customers, suppliers, competitors, regulatory agencies</a:t>
            </a:r>
          </a:p>
          <a:p>
            <a:pPr>
              <a:lnSpc>
                <a:spcPct val="140000"/>
              </a:lnSpc>
            </a:pPr>
            <a:endParaRPr lang="en-US" dirty="0" smtClean="0">
              <a:solidFill>
                <a:srgbClr val="FFFFFF"/>
              </a:solidFill>
            </a:endParaRPr>
          </a:p>
        </p:txBody>
      </p:sp>
      <p:sp>
        <p:nvSpPr>
          <p:cNvPr id="5" name="TextBox 4"/>
          <p:cNvSpPr txBox="1"/>
          <p:nvPr/>
        </p:nvSpPr>
        <p:spPr>
          <a:xfrm>
            <a:off x="1366524" y="1283425"/>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5427" y="2237362"/>
            <a:ext cx="4927184" cy="34920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405592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Different types of information systems</a:t>
            </a:r>
            <a:endParaRPr lang="en-US" sz="3000" dirty="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2" name="Isosceles Triangle 1"/>
          <p:cNvSpPr/>
          <p:nvPr/>
        </p:nvSpPr>
        <p:spPr>
          <a:xfrm>
            <a:off x="2087880" y="3017520"/>
            <a:ext cx="6019800" cy="3947160"/>
          </a:xfrm>
          <a:prstGeom prst="triangle">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p>
        </p:txBody>
      </p:sp>
      <p:cxnSp>
        <p:nvCxnSpPr>
          <p:cNvPr id="7" name="Straight Connector 6"/>
          <p:cNvCxnSpPr/>
          <p:nvPr/>
        </p:nvCxnSpPr>
        <p:spPr>
          <a:xfrm flipV="1">
            <a:off x="4572000" y="3825240"/>
            <a:ext cx="1082040" cy="1524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V="1">
            <a:off x="3733800" y="4892040"/>
            <a:ext cx="2682240" cy="6096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a:off x="2956560" y="5958066"/>
            <a:ext cx="4282440" cy="0"/>
          </a:xfrm>
          <a:prstGeom prst="line">
            <a:avLst/>
          </a:prstGeom>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4038917" y="3117354"/>
            <a:ext cx="2773680" cy="707886"/>
          </a:xfrm>
          <a:prstGeom prst="rect">
            <a:avLst/>
          </a:prstGeom>
          <a:noFill/>
        </p:spPr>
        <p:txBody>
          <a:bodyPr wrap="square" rtlCol="0">
            <a:spAutoFit/>
          </a:bodyPr>
          <a:lstStyle/>
          <a:p>
            <a:r>
              <a:rPr lang="en-US" dirty="0" smtClean="0"/>
              <a:t>Executive information systems</a:t>
            </a:r>
            <a:endParaRPr lang="en-US" dirty="0"/>
          </a:p>
        </p:txBody>
      </p:sp>
      <p:sp>
        <p:nvSpPr>
          <p:cNvPr id="13" name="TextBox 12"/>
          <p:cNvSpPr txBox="1"/>
          <p:nvPr/>
        </p:nvSpPr>
        <p:spPr>
          <a:xfrm>
            <a:off x="4328160" y="4267200"/>
            <a:ext cx="2087880" cy="707886"/>
          </a:xfrm>
          <a:prstGeom prst="rect">
            <a:avLst/>
          </a:prstGeom>
          <a:noFill/>
        </p:spPr>
        <p:txBody>
          <a:bodyPr wrap="square" rtlCol="0">
            <a:spAutoFit/>
          </a:bodyPr>
          <a:lstStyle/>
          <a:p>
            <a:r>
              <a:rPr lang="en-US" dirty="0" smtClean="0"/>
              <a:t>Decision support systems</a:t>
            </a:r>
            <a:endParaRPr lang="en-US" dirty="0"/>
          </a:p>
        </p:txBody>
      </p:sp>
      <p:sp>
        <p:nvSpPr>
          <p:cNvPr id="15" name="TextBox 14"/>
          <p:cNvSpPr txBox="1"/>
          <p:nvPr/>
        </p:nvSpPr>
        <p:spPr>
          <a:xfrm>
            <a:off x="3733800" y="5318760"/>
            <a:ext cx="2834640" cy="707886"/>
          </a:xfrm>
          <a:prstGeom prst="rect">
            <a:avLst/>
          </a:prstGeom>
          <a:noFill/>
        </p:spPr>
        <p:txBody>
          <a:bodyPr wrap="square" rtlCol="0">
            <a:spAutoFit/>
          </a:bodyPr>
          <a:lstStyle/>
          <a:p>
            <a:r>
              <a:rPr lang="en-US" dirty="0" smtClean="0"/>
              <a:t>Management information systems</a:t>
            </a:r>
            <a:endParaRPr lang="en-US" dirty="0"/>
          </a:p>
        </p:txBody>
      </p:sp>
      <p:sp>
        <p:nvSpPr>
          <p:cNvPr id="16" name="TextBox 15"/>
          <p:cNvSpPr txBox="1"/>
          <p:nvPr/>
        </p:nvSpPr>
        <p:spPr>
          <a:xfrm>
            <a:off x="3185160" y="6321941"/>
            <a:ext cx="4282440" cy="400110"/>
          </a:xfrm>
          <a:prstGeom prst="rect">
            <a:avLst/>
          </a:prstGeom>
          <a:noFill/>
        </p:spPr>
        <p:txBody>
          <a:bodyPr wrap="square" rtlCol="0">
            <a:spAutoFit/>
          </a:bodyPr>
          <a:lstStyle/>
          <a:p>
            <a:r>
              <a:rPr lang="en-US" dirty="0" smtClean="0"/>
              <a:t>Transaction processing systems</a:t>
            </a:r>
            <a:endParaRPr lang="en-US" dirty="0"/>
          </a:p>
        </p:txBody>
      </p:sp>
      <p:sp>
        <p:nvSpPr>
          <p:cNvPr id="17" name="TextBox 16"/>
          <p:cNvSpPr txBox="1"/>
          <p:nvPr/>
        </p:nvSpPr>
        <p:spPr>
          <a:xfrm>
            <a:off x="1173480" y="3246273"/>
            <a:ext cx="2362200" cy="400110"/>
          </a:xfrm>
          <a:prstGeom prst="rect">
            <a:avLst/>
          </a:prstGeom>
          <a:noFill/>
        </p:spPr>
        <p:txBody>
          <a:bodyPr wrap="square" rtlCol="0">
            <a:spAutoFit/>
          </a:bodyPr>
          <a:lstStyle/>
          <a:p>
            <a:r>
              <a:rPr lang="en-US" dirty="0" smtClean="0"/>
              <a:t>Executives</a:t>
            </a:r>
            <a:endParaRPr lang="en-US" dirty="0"/>
          </a:p>
        </p:txBody>
      </p:sp>
      <p:sp>
        <p:nvSpPr>
          <p:cNvPr id="18" name="TextBox 17"/>
          <p:cNvSpPr txBox="1"/>
          <p:nvPr/>
        </p:nvSpPr>
        <p:spPr>
          <a:xfrm>
            <a:off x="1173480" y="4105801"/>
            <a:ext cx="2362200" cy="400110"/>
          </a:xfrm>
          <a:prstGeom prst="rect">
            <a:avLst/>
          </a:prstGeom>
          <a:noFill/>
        </p:spPr>
        <p:txBody>
          <a:bodyPr wrap="square" rtlCol="0">
            <a:spAutoFit/>
          </a:bodyPr>
          <a:lstStyle/>
          <a:p>
            <a:r>
              <a:rPr lang="en-US" dirty="0" smtClean="0"/>
              <a:t>Senior managers</a:t>
            </a:r>
            <a:endParaRPr lang="en-US" dirty="0"/>
          </a:p>
        </p:txBody>
      </p:sp>
      <p:sp>
        <p:nvSpPr>
          <p:cNvPr id="19" name="TextBox 18"/>
          <p:cNvSpPr txBox="1"/>
          <p:nvPr/>
        </p:nvSpPr>
        <p:spPr>
          <a:xfrm>
            <a:off x="1066800" y="5255478"/>
            <a:ext cx="2118360" cy="400110"/>
          </a:xfrm>
          <a:prstGeom prst="rect">
            <a:avLst/>
          </a:prstGeom>
          <a:noFill/>
        </p:spPr>
        <p:txBody>
          <a:bodyPr wrap="square" rtlCol="0">
            <a:spAutoFit/>
          </a:bodyPr>
          <a:lstStyle/>
          <a:p>
            <a:r>
              <a:rPr lang="en-US" dirty="0" smtClean="0"/>
              <a:t>Middle managers</a:t>
            </a:r>
            <a:endParaRPr lang="en-US" dirty="0"/>
          </a:p>
        </p:txBody>
      </p:sp>
      <p:sp>
        <p:nvSpPr>
          <p:cNvPr id="20" name="TextBox 19"/>
          <p:cNvSpPr txBox="1"/>
          <p:nvPr/>
        </p:nvSpPr>
        <p:spPr>
          <a:xfrm>
            <a:off x="594360" y="6321941"/>
            <a:ext cx="1760220" cy="400110"/>
          </a:xfrm>
          <a:prstGeom prst="rect">
            <a:avLst/>
          </a:prstGeom>
          <a:noFill/>
        </p:spPr>
        <p:txBody>
          <a:bodyPr wrap="square" rtlCol="0">
            <a:spAutoFit/>
          </a:bodyPr>
          <a:lstStyle/>
          <a:p>
            <a:r>
              <a:rPr lang="en-US" dirty="0" smtClean="0"/>
              <a:t>Workers</a:t>
            </a:r>
            <a:endParaRPr lang="en-US" dirty="0"/>
          </a:p>
        </p:txBody>
      </p:sp>
    </p:spTree>
    <p:extLst>
      <p:ext uri="{BB962C8B-B14F-4D97-AF65-F5344CB8AC3E}">
        <p14:creationId xmlns:p14="http://schemas.microsoft.com/office/powerpoint/2010/main" val="72735630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12378"/>
            <a:ext cx="9144635" cy="553998"/>
          </a:xfrm>
          <a:prstGeom prst="rect">
            <a:avLst/>
          </a:prstGeom>
          <a:noFill/>
        </p:spPr>
        <p:txBody>
          <a:bodyPr wrap="square" rtlCol="0">
            <a:spAutoFit/>
          </a:bodyPr>
          <a:lstStyle/>
          <a:p>
            <a:r>
              <a:rPr lang="en-US" sz="3000" dirty="0" smtClean="0">
                <a:solidFill>
                  <a:srgbClr val="FFFFFF"/>
                </a:solidFill>
              </a:rPr>
              <a:t>Different types of information systems</a:t>
            </a:r>
            <a:endParaRPr lang="en-US" sz="3000" dirty="0">
              <a:solidFill>
                <a:srgbClr val="FFFFFF"/>
              </a:solidFill>
            </a:endParaRPr>
          </a:p>
        </p:txBody>
      </p:sp>
      <p:sp>
        <p:nvSpPr>
          <p:cNvPr id="4" name="TextBox 3"/>
          <p:cNvSpPr txBox="1"/>
          <p:nvPr/>
        </p:nvSpPr>
        <p:spPr>
          <a:xfrm>
            <a:off x="798664" y="2566376"/>
            <a:ext cx="9144635" cy="6555641"/>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Executive information systems  (EIS) also known as Executive Support (ES) is a type of information system that facilitates and supports senior executive information and decision-making needs</a:t>
            </a:r>
          </a:p>
          <a:p>
            <a:pPr marL="342900" indent="-342900">
              <a:lnSpc>
                <a:spcPct val="140000"/>
              </a:lnSpc>
              <a:buFontTx/>
              <a:buChar char="-"/>
            </a:pPr>
            <a:r>
              <a:rPr lang="en-US" dirty="0" smtClean="0">
                <a:solidFill>
                  <a:srgbClr val="FFFFFF"/>
                </a:solidFill>
              </a:rPr>
              <a:t>Decision support systems (DSS) is a software-based interactive system intended to help decision-makers compile useful information from a combination of raw data, documents and personal knowledge or business models to identify and solve problems</a:t>
            </a:r>
          </a:p>
          <a:p>
            <a:pPr marL="342900" indent="-342900">
              <a:lnSpc>
                <a:spcPct val="140000"/>
              </a:lnSpc>
              <a:buFontTx/>
              <a:buChar char="-"/>
            </a:pPr>
            <a:r>
              <a:rPr lang="en-US" dirty="0" smtClean="0">
                <a:solidFill>
                  <a:srgbClr val="FFFFFF"/>
                </a:solidFill>
              </a:rPr>
              <a:t>Management information system – a computer-based system that provides managers with tools to organize, evaluate and efficiently manage departments within an organisations</a:t>
            </a:r>
          </a:p>
          <a:p>
            <a:pPr marL="342900" indent="-342900">
              <a:lnSpc>
                <a:spcPct val="140000"/>
              </a:lnSpc>
              <a:buFontTx/>
              <a:buChar char="-"/>
            </a:pPr>
            <a:r>
              <a:rPr lang="en-US" dirty="0" smtClean="0">
                <a:solidFill>
                  <a:srgbClr val="FFFFFF"/>
                </a:solidFill>
              </a:rPr>
              <a:t>A transaction processing system is an information processing system for business transactions involving the collection, modification and retrieval of all transaction data</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19278423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Business functions of information systems</a:t>
            </a:r>
            <a:endParaRPr lang="en-US" sz="3000" dirty="0">
              <a:solidFill>
                <a:srgbClr val="FFFFFF"/>
              </a:solidFill>
            </a:endParaRPr>
          </a:p>
        </p:txBody>
      </p:sp>
      <p:sp>
        <p:nvSpPr>
          <p:cNvPr id="4" name="TextBox 3"/>
          <p:cNvSpPr txBox="1"/>
          <p:nvPr/>
        </p:nvSpPr>
        <p:spPr>
          <a:xfrm>
            <a:off x="853440" y="2801692"/>
            <a:ext cx="9144635" cy="4573560"/>
          </a:xfrm>
          <a:prstGeom prst="rect">
            <a:avLst/>
          </a:prstGeom>
          <a:noFill/>
        </p:spPr>
        <p:txBody>
          <a:bodyPr wrap="square" rtlCol="0">
            <a:spAutoFit/>
          </a:bodyPr>
          <a:lstStyle/>
          <a:p>
            <a:pPr marL="342900" indent="-342900">
              <a:lnSpc>
                <a:spcPct val="140000"/>
              </a:lnSpc>
              <a:buFontTx/>
              <a:buChar char="-"/>
            </a:pPr>
            <a:r>
              <a:rPr lang="en-US" sz="2400" dirty="0" smtClean="0">
                <a:solidFill>
                  <a:srgbClr val="FFFFFF"/>
                </a:solidFill>
              </a:rPr>
              <a:t>Sales and marketing – selling the </a:t>
            </a:r>
            <a:r>
              <a:rPr lang="en-US" sz="2400" dirty="0" err="1" smtClean="0">
                <a:solidFill>
                  <a:srgbClr val="FFFFFF"/>
                </a:solidFill>
              </a:rPr>
              <a:t>organisation’s</a:t>
            </a:r>
            <a:r>
              <a:rPr lang="en-US" sz="2400" dirty="0" smtClean="0">
                <a:solidFill>
                  <a:srgbClr val="FFFFFF"/>
                </a:solidFill>
              </a:rPr>
              <a:t> products and services</a:t>
            </a:r>
          </a:p>
          <a:p>
            <a:pPr marL="342900" indent="-342900">
              <a:lnSpc>
                <a:spcPct val="140000"/>
              </a:lnSpc>
              <a:buFontTx/>
              <a:buChar char="-"/>
            </a:pPr>
            <a:r>
              <a:rPr lang="en-US" sz="2400" dirty="0" smtClean="0">
                <a:solidFill>
                  <a:srgbClr val="FFFFFF"/>
                </a:solidFill>
              </a:rPr>
              <a:t>Manufacturing and production – producing and delivering products and services</a:t>
            </a:r>
          </a:p>
          <a:p>
            <a:pPr marL="342900" indent="-342900">
              <a:lnSpc>
                <a:spcPct val="140000"/>
              </a:lnSpc>
              <a:buFontTx/>
              <a:buChar char="-"/>
            </a:pPr>
            <a:r>
              <a:rPr lang="en-US" sz="2400" dirty="0" smtClean="0">
                <a:solidFill>
                  <a:srgbClr val="FFFFFF"/>
                </a:solidFill>
              </a:rPr>
              <a:t>Finance and accounting – managing the </a:t>
            </a:r>
            <a:r>
              <a:rPr lang="en-US" sz="2400" dirty="0" err="1" smtClean="0">
                <a:solidFill>
                  <a:srgbClr val="FFFFFF"/>
                </a:solidFill>
              </a:rPr>
              <a:t>organisation’s</a:t>
            </a:r>
            <a:r>
              <a:rPr lang="en-US" sz="2400" dirty="0" smtClean="0">
                <a:solidFill>
                  <a:srgbClr val="FFFFFF"/>
                </a:solidFill>
              </a:rPr>
              <a:t> financial assets and maintaining the </a:t>
            </a:r>
            <a:r>
              <a:rPr lang="en-US" sz="2400" dirty="0" err="1" smtClean="0">
                <a:solidFill>
                  <a:srgbClr val="FFFFFF"/>
                </a:solidFill>
              </a:rPr>
              <a:t>organisation’s</a:t>
            </a:r>
            <a:r>
              <a:rPr lang="en-US" sz="2400" dirty="0" smtClean="0">
                <a:solidFill>
                  <a:srgbClr val="FFFFFF"/>
                </a:solidFill>
              </a:rPr>
              <a:t> financial records</a:t>
            </a:r>
          </a:p>
          <a:p>
            <a:pPr marL="342900" indent="-342900">
              <a:lnSpc>
                <a:spcPct val="140000"/>
              </a:lnSpc>
              <a:buFontTx/>
              <a:buChar char="-"/>
            </a:pPr>
            <a:r>
              <a:rPr lang="en-US" sz="2400" dirty="0" smtClean="0">
                <a:solidFill>
                  <a:srgbClr val="FFFFFF"/>
                </a:solidFill>
              </a:rPr>
              <a:t>Human resources – attracting, developing and maintaining the </a:t>
            </a:r>
            <a:r>
              <a:rPr lang="en-US" sz="2400" dirty="0" err="1" smtClean="0">
                <a:solidFill>
                  <a:srgbClr val="FFFFFF"/>
                </a:solidFill>
              </a:rPr>
              <a:t>organisation’s</a:t>
            </a:r>
            <a:r>
              <a:rPr lang="en-US" sz="2400" dirty="0" smtClean="0">
                <a:solidFill>
                  <a:srgbClr val="FFFFFF"/>
                </a:solidFill>
              </a:rPr>
              <a:t> </a:t>
            </a:r>
            <a:r>
              <a:rPr lang="en-US" sz="2400" dirty="0" err="1" smtClean="0">
                <a:solidFill>
                  <a:srgbClr val="FFFFFF"/>
                </a:solidFill>
              </a:rPr>
              <a:t>labour</a:t>
            </a:r>
            <a:r>
              <a:rPr lang="en-US" sz="2400" dirty="0" smtClean="0">
                <a:solidFill>
                  <a:srgbClr val="FFFFFF"/>
                </a:solidFill>
              </a:rPr>
              <a:t> force, maintaining employee records</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4244974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005840" y="1999212"/>
            <a:ext cx="9144635" cy="461665"/>
          </a:xfrm>
          <a:prstGeom prst="rect">
            <a:avLst/>
          </a:prstGeom>
          <a:noFill/>
        </p:spPr>
        <p:txBody>
          <a:bodyPr wrap="square" rtlCol="0">
            <a:spAutoFit/>
          </a:bodyPr>
          <a:lstStyle/>
          <a:p>
            <a:r>
              <a:rPr lang="en-US" sz="2400" dirty="0" smtClean="0">
                <a:solidFill>
                  <a:srgbClr val="FFFFFF"/>
                </a:solidFill>
              </a:rPr>
              <a:t>Interdependence between organisations and information systems</a:t>
            </a:r>
            <a:endParaRPr lang="en-US" sz="2400" dirty="0">
              <a:solidFill>
                <a:srgbClr val="FFFFFF"/>
              </a:solidFill>
            </a:endParaRPr>
          </a:p>
        </p:txBody>
      </p:sp>
      <p:sp>
        <p:nvSpPr>
          <p:cNvPr id="4" name="TextBox 3"/>
          <p:cNvSpPr txBox="1"/>
          <p:nvPr/>
        </p:nvSpPr>
        <p:spPr>
          <a:xfrm>
            <a:off x="853440" y="2561313"/>
            <a:ext cx="9144635" cy="954107"/>
          </a:xfrm>
          <a:prstGeom prst="rect">
            <a:avLst/>
          </a:prstGeom>
          <a:noFill/>
        </p:spPr>
        <p:txBody>
          <a:bodyPr wrap="square" rtlCol="0">
            <a:spAutoFit/>
          </a:bodyPr>
          <a:lstStyle/>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18054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
        <p:nvSpPr>
          <p:cNvPr id="36" name="TextBox 35"/>
          <p:cNvSpPr txBox="1"/>
          <p:nvPr/>
        </p:nvSpPr>
        <p:spPr>
          <a:xfrm>
            <a:off x="1028099" y="7003939"/>
            <a:ext cx="9141327" cy="400110"/>
          </a:xfrm>
          <a:prstGeom prst="rect">
            <a:avLst/>
          </a:prstGeom>
          <a:noFill/>
        </p:spPr>
        <p:txBody>
          <a:bodyPr wrap="square" rtlCol="0">
            <a:spAutoFit/>
          </a:bodyPr>
          <a:lstStyle/>
          <a:p>
            <a:r>
              <a:rPr lang="en-US" dirty="0" smtClean="0">
                <a:solidFill>
                  <a:schemeClr val="bg1"/>
                </a:solidFill>
              </a:rPr>
              <a:t>Business and strategic objectives feed into the information system</a:t>
            </a:r>
            <a:endParaRPr lang="en-US" dirty="0">
              <a:solidFill>
                <a:schemeClr val="bg1"/>
              </a:solidFill>
            </a:endParaRPr>
          </a:p>
        </p:txBody>
      </p:sp>
      <p:pic>
        <p:nvPicPr>
          <p:cNvPr id="21" name="Picture 20" descr="In the diagram, a business firm with its business strategic objectives and business processes are shown listed on the left. On the right is the software of the information system. Between the business firm and the information system is a vertical line dividing the two parts. A vertical line with bidirectional arrows crosses this vertical line and connects the business strategic objectives and processes of the firm with the software of the information system. To the right of the software are the hardware, data management, and telecommunications of the information system."/>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8099" y="2641929"/>
            <a:ext cx="7558303" cy="4180958"/>
          </a:xfrm>
          <a:prstGeom prst="rect">
            <a:avLst/>
          </a:prstGeom>
        </p:spPr>
      </p:pic>
    </p:spTree>
    <p:extLst>
      <p:ext uri="{BB962C8B-B14F-4D97-AF65-F5344CB8AC3E}">
        <p14:creationId xmlns:p14="http://schemas.microsoft.com/office/powerpoint/2010/main" val="34073139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Strategic business objectives of information systems</a:t>
            </a:r>
            <a:endParaRPr lang="en-US" sz="3000" dirty="0">
              <a:solidFill>
                <a:srgbClr val="FFFFFF"/>
              </a:solidFill>
            </a:endParaRPr>
          </a:p>
        </p:txBody>
      </p:sp>
      <p:sp>
        <p:nvSpPr>
          <p:cNvPr id="4" name="TextBox 3"/>
          <p:cNvSpPr txBox="1"/>
          <p:nvPr/>
        </p:nvSpPr>
        <p:spPr>
          <a:xfrm>
            <a:off x="853440" y="2801692"/>
            <a:ext cx="9144635" cy="5262979"/>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Businesses continuously seek to improve the efficiency of their operations in order to improve profitability</a:t>
            </a:r>
          </a:p>
          <a:p>
            <a:pPr marL="342900" indent="-342900">
              <a:lnSpc>
                <a:spcPct val="140000"/>
              </a:lnSpc>
              <a:buFontTx/>
              <a:buChar char="-"/>
            </a:pPr>
            <a:r>
              <a:rPr lang="en-US" dirty="0" smtClean="0">
                <a:solidFill>
                  <a:srgbClr val="FFFFFF"/>
                </a:solidFill>
              </a:rPr>
              <a:t>Changes in strategy, rules,  and business processes requires a change in hardware, software, databases and telecommunications</a:t>
            </a:r>
          </a:p>
          <a:p>
            <a:pPr marL="342900" indent="-342900">
              <a:lnSpc>
                <a:spcPct val="140000"/>
              </a:lnSpc>
              <a:buFontTx/>
              <a:buChar char="-"/>
            </a:pPr>
            <a:r>
              <a:rPr lang="en-US" dirty="0" smtClean="0">
                <a:solidFill>
                  <a:srgbClr val="FFFFFF"/>
                </a:solidFill>
              </a:rPr>
              <a:t>The strategic business objectives include:</a:t>
            </a:r>
          </a:p>
          <a:p>
            <a:pPr marL="851078" lvl="1" indent="-342900">
              <a:lnSpc>
                <a:spcPct val="140000"/>
              </a:lnSpc>
              <a:buFontTx/>
              <a:buChar char="-"/>
            </a:pPr>
            <a:r>
              <a:rPr lang="en-US" dirty="0" smtClean="0">
                <a:solidFill>
                  <a:srgbClr val="FFFFFF"/>
                </a:solidFill>
              </a:rPr>
              <a:t>New products and services</a:t>
            </a:r>
          </a:p>
          <a:p>
            <a:pPr marL="851078" lvl="1" indent="-342900">
              <a:lnSpc>
                <a:spcPct val="140000"/>
              </a:lnSpc>
              <a:buFontTx/>
              <a:buChar char="-"/>
            </a:pPr>
            <a:r>
              <a:rPr lang="en-US" dirty="0" smtClean="0">
                <a:solidFill>
                  <a:srgbClr val="FFFFFF"/>
                </a:solidFill>
              </a:rPr>
              <a:t>New business models – how a company produces, delivers and sells a product or service to create wealth, e.g. music moved from CDs into online</a:t>
            </a:r>
          </a:p>
          <a:p>
            <a:pPr marL="851078" lvl="1" indent="-342900">
              <a:lnSpc>
                <a:spcPct val="140000"/>
              </a:lnSpc>
              <a:buFontTx/>
              <a:buChar char="-"/>
            </a:pPr>
            <a:r>
              <a:rPr lang="en-US" dirty="0" smtClean="0">
                <a:solidFill>
                  <a:srgbClr val="FFFFFF"/>
                </a:solidFill>
              </a:rPr>
              <a:t>Customer and supplier intimacy  - know your customer, e.g. </a:t>
            </a:r>
            <a:r>
              <a:rPr lang="en-US" dirty="0" err="1" smtClean="0">
                <a:solidFill>
                  <a:srgbClr val="FFFFFF"/>
                </a:solidFill>
              </a:rPr>
              <a:t>Wifi</a:t>
            </a:r>
            <a:r>
              <a:rPr lang="en-US" dirty="0" smtClean="0">
                <a:solidFill>
                  <a:srgbClr val="FFFFFF"/>
                </a:solidFill>
              </a:rPr>
              <a:t> in your hotels for the business customer</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2199255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Strategic business objectives of information systems </a:t>
            </a:r>
            <a:r>
              <a:rPr lang="en-US" sz="3000" dirty="0" err="1" smtClean="0">
                <a:solidFill>
                  <a:srgbClr val="FFFFFF"/>
                </a:solidFill>
              </a:rPr>
              <a:t>cnt’d</a:t>
            </a:r>
            <a:endParaRPr lang="en-US" sz="3000" dirty="0">
              <a:solidFill>
                <a:srgbClr val="FFFFFF"/>
              </a:solidFill>
            </a:endParaRPr>
          </a:p>
        </p:txBody>
      </p:sp>
      <p:sp>
        <p:nvSpPr>
          <p:cNvPr id="4" name="TextBox 3"/>
          <p:cNvSpPr txBox="1"/>
          <p:nvPr/>
        </p:nvSpPr>
        <p:spPr>
          <a:xfrm>
            <a:off x="853440" y="2801692"/>
            <a:ext cx="9144635" cy="4401205"/>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The strategic business objectives include:</a:t>
            </a:r>
          </a:p>
          <a:p>
            <a:pPr marL="851078" lvl="1" indent="-342900">
              <a:lnSpc>
                <a:spcPct val="140000"/>
              </a:lnSpc>
              <a:buFontTx/>
              <a:buChar char="-"/>
            </a:pPr>
            <a:r>
              <a:rPr lang="en-US" dirty="0" smtClean="0">
                <a:solidFill>
                  <a:srgbClr val="FFFFFF"/>
                </a:solidFill>
              </a:rPr>
              <a:t>Improved decision-making – the right information made available to make the right decisions e.g. forecasting demand for goods and services</a:t>
            </a:r>
          </a:p>
          <a:p>
            <a:pPr marL="851078" lvl="1" indent="-342900">
              <a:lnSpc>
                <a:spcPct val="140000"/>
              </a:lnSpc>
              <a:buFontTx/>
              <a:buChar char="-"/>
            </a:pPr>
            <a:r>
              <a:rPr lang="en-US" dirty="0" smtClean="0">
                <a:solidFill>
                  <a:srgbClr val="FFFFFF"/>
                </a:solidFill>
              </a:rPr>
              <a:t>Competitive advantage – operational excellence, new products, services and business models, supplier intimacy gives a competitive advantage</a:t>
            </a:r>
          </a:p>
          <a:p>
            <a:pPr marL="851078" lvl="1" indent="-342900">
              <a:lnSpc>
                <a:spcPct val="140000"/>
              </a:lnSpc>
              <a:buFontTx/>
              <a:buChar char="-"/>
            </a:pPr>
            <a:r>
              <a:rPr lang="en-US" dirty="0" smtClean="0">
                <a:solidFill>
                  <a:srgbClr val="FFFFFF"/>
                </a:solidFill>
              </a:rPr>
              <a:t>Customer and supplier intimacy  - know your customer, e.g. </a:t>
            </a:r>
            <a:r>
              <a:rPr lang="en-US" dirty="0" err="1" smtClean="0">
                <a:solidFill>
                  <a:srgbClr val="FFFFFF"/>
                </a:solidFill>
              </a:rPr>
              <a:t>Wifi</a:t>
            </a:r>
            <a:r>
              <a:rPr lang="en-US" dirty="0" smtClean="0">
                <a:solidFill>
                  <a:srgbClr val="FFFFFF"/>
                </a:solidFill>
              </a:rPr>
              <a:t> in your hotels for the business customer</a:t>
            </a:r>
          </a:p>
          <a:p>
            <a:pPr marL="851078" lvl="1" indent="-342900">
              <a:lnSpc>
                <a:spcPct val="140000"/>
              </a:lnSpc>
              <a:buFontTx/>
              <a:buChar char="-"/>
            </a:pPr>
            <a:r>
              <a:rPr lang="en-US" dirty="0" smtClean="0">
                <a:solidFill>
                  <a:srgbClr val="FFFFFF"/>
                </a:solidFill>
              </a:rPr>
              <a:t>Survival – information systems are necessities of doing business, e.g. ATMs</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22580283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717252" y="2275228"/>
            <a:ext cx="9144635" cy="553998"/>
          </a:xfrm>
          <a:prstGeom prst="rect">
            <a:avLst/>
          </a:prstGeom>
          <a:noFill/>
        </p:spPr>
        <p:txBody>
          <a:bodyPr wrap="square" rtlCol="0">
            <a:spAutoFit/>
          </a:bodyPr>
          <a:lstStyle/>
          <a:p>
            <a:r>
              <a:rPr lang="en-US" sz="3000" dirty="0" smtClean="0">
                <a:solidFill>
                  <a:srgbClr val="FFFFFF"/>
                </a:solidFill>
              </a:rPr>
              <a:t>Organisational dimensions of information systems</a:t>
            </a:r>
            <a:endParaRPr lang="en-US" sz="3000" dirty="0">
              <a:solidFill>
                <a:srgbClr val="FFFFFF"/>
              </a:solidFill>
            </a:endParaRPr>
          </a:p>
        </p:txBody>
      </p:sp>
      <p:sp>
        <p:nvSpPr>
          <p:cNvPr id="4" name="TextBox 3"/>
          <p:cNvSpPr txBox="1"/>
          <p:nvPr/>
        </p:nvSpPr>
        <p:spPr>
          <a:xfrm>
            <a:off x="853440" y="2801692"/>
            <a:ext cx="9144635" cy="5262979"/>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Organisations have structures with a clear cut division of </a:t>
            </a:r>
            <a:r>
              <a:rPr lang="en-US" dirty="0" err="1" smtClean="0">
                <a:solidFill>
                  <a:srgbClr val="FFFFFF"/>
                </a:solidFill>
              </a:rPr>
              <a:t>labour</a:t>
            </a:r>
            <a:endParaRPr lang="en-US" dirty="0" smtClean="0">
              <a:solidFill>
                <a:srgbClr val="FFFFFF"/>
              </a:solidFill>
            </a:endParaRPr>
          </a:p>
          <a:p>
            <a:pPr marL="342900" indent="-342900">
              <a:lnSpc>
                <a:spcPct val="140000"/>
              </a:lnSpc>
              <a:buFontTx/>
              <a:buChar char="-"/>
            </a:pPr>
            <a:r>
              <a:rPr lang="en-US" dirty="0" smtClean="0">
                <a:solidFill>
                  <a:srgbClr val="FFFFFF"/>
                </a:solidFill>
              </a:rPr>
              <a:t>At the upper levels of the structure are managerial, professional and technological staff</a:t>
            </a:r>
          </a:p>
          <a:p>
            <a:pPr marL="342900" indent="-342900">
              <a:lnSpc>
                <a:spcPct val="140000"/>
              </a:lnSpc>
              <a:buFontTx/>
              <a:buChar char="-"/>
            </a:pPr>
            <a:r>
              <a:rPr lang="en-US" dirty="0" smtClean="0">
                <a:solidFill>
                  <a:srgbClr val="FFFFFF"/>
                </a:solidFill>
              </a:rPr>
              <a:t>At the lower levels are operational personnel</a:t>
            </a:r>
          </a:p>
          <a:p>
            <a:pPr marL="342900" indent="-342900">
              <a:lnSpc>
                <a:spcPct val="140000"/>
              </a:lnSpc>
              <a:buFontTx/>
              <a:buChar char="-"/>
            </a:pPr>
            <a:r>
              <a:rPr lang="en-US" dirty="0" smtClean="0">
                <a:solidFill>
                  <a:srgbClr val="FFFFFF"/>
                </a:solidFill>
              </a:rPr>
              <a:t>At the management level:</a:t>
            </a:r>
          </a:p>
          <a:p>
            <a:pPr marL="851078" lvl="1" indent="-342900">
              <a:lnSpc>
                <a:spcPct val="140000"/>
              </a:lnSpc>
              <a:buFontTx/>
              <a:buChar char="-"/>
            </a:pPr>
            <a:r>
              <a:rPr lang="en-US" dirty="0" smtClean="0">
                <a:solidFill>
                  <a:srgbClr val="FFFFFF"/>
                </a:solidFill>
              </a:rPr>
              <a:t>Senior management – is responsible for long term strategic decisions, products and services and financial performance</a:t>
            </a:r>
          </a:p>
          <a:p>
            <a:pPr marL="851078" lvl="1" indent="-342900">
              <a:lnSpc>
                <a:spcPct val="140000"/>
              </a:lnSpc>
              <a:buFontTx/>
              <a:buChar char="-"/>
            </a:pPr>
            <a:r>
              <a:rPr lang="en-US" dirty="0" smtClean="0">
                <a:solidFill>
                  <a:srgbClr val="FFFFFF"/>
                </a:solidFill>
              </a:rPr>
              <a:t>Middle management – carries out the programs and plans of senior management</a:t>
            </a:r>
          </a:p>
          <a:p>
            <a:pPr marL="851078" lvl="1" indent="-342900">
              <a:lnSpc>
                <a:spcPct val="140000"/>
              </a:lnSpc>
              <a:buFontTx/>
              <a:buChar char="-"/>
            </a:pPr>
            <a:r>
              <a:rPr lang="en-US" dirty="0" smtClean="0">
                <a:solidFill>
                  <a:srgbClr val="FFFFFF"/>
                </a:solidFill>
              </a:rPr>
              <a:t>Operational management – monitor the daily activities of the business</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pic>
        <p:nvPicPr>
          <p:cNvPr id="6" name="Picture 2" descr="A figure shows the three dimensions of information systems, which include organizations, management, and technology."/>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7500000" y="338678"/>
            <a:ext cx="2498075" cy="20379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06567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Organisational dimensions of information systems</a:t>
            </a:r>
            <a:endParaRPr lang="en-US" sz="3000" dirty="0">
              <a:solidFill>
                <a:srgbClr val="FFFFFF"/>
              </a:solidFill>
            </a:endParaRPr>
          </a:p>
        </p:txBody>
      </p:sp>
      <p:sp>
        <p:nvSpPr>
          <p:cNvPr id="4" name="TextBox 3"/>
          <p:cNvSpPr txBox="1"/>
          <p:nvPr/>
        </p:nvSpPr>
        <p:spPr>
          <a:xfrm>
            <a:off x="853440" y="2801692"/>
            <a:ext cx="9144635" cy="3108543"/>
          </a:xfrm>
          <a:prstGeom prst="rect">
            <a:avLst/>
          </a:prstGeom>
          <a:noFill/>
        </p:spPr>
        <p:txBody>
          <a:bodyPr wrap="square" rtlCol="0">
            <a:spAutoFit/>
          </a:bodyPr>
          <a:lstStyle/>
          <a:p>
            <a:pPr marL="342900" indent="-342900">
              <a:lnSpc>
                <a:spcPct val="140000"/>
              </a:lnSpc>
              <a:buFontTx/>
              <a:buChar char="-"/>
            </a:pPr>
            <a:r>
              <a:rPr lang="en-US" dirty="0" smtClean="0">
                <a:solidFill>
                  <a:srgbClr val="FFFFFF"/>
                </a:solidFill>
              </a:rPr>
              <a:t>At the worker level we have two different types of workers:</a:t>
            </a:r>
          </a:p>
          <a:p>
            <a:pPr marL="851078" lvl="1" indent="-342900">
              <a:lnSpc>
                <a:spcPct val="140000"/>
              </a:lnSpc>
              <a:buFontTx/>
              <a:buChar char="-"/>
            </a:pPr>
            <a:r>
              <a:rPr lang="en-US" dirty="0" smtClean="0">
                <a:solidFill>
                  <a:srgbClr val="FFFFFF"/>
                </a:solidFill>
              </a:rPr>
              <a:t>Knowledge workers, e.g. engineers, scientists and architects. All design new products and services and create new knowledge for the firm</a:t>
            </a:r>
          </a:p>
          <a:p>
            <a:pPr marL="851078" lvl="1" indent="-342900">
              <a:lnSpc>
                <a:spcPct val="140000"/>
              </a:lnSpc>
              <a:buFontTx/>
              <a:buChar char="-"/>
            </a:pPr>
            <a:r>
              <a:rPr lang="en-US" dirty="0" smtClean="0">
                <a:solidFill>
                  <a:srgbClr val="FFFFFF"/>
                </a:solidFill>
              </a:rPr>
              <a:t>Data workers, e.g. secretaries, clerks. They assist with scheduling and communication at all levels of the firm</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756581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Organisational dimensions of information systems</a:t>
            </a:r>
            <a:endParaRPr lang="en-US" sz="3000" dirty="0">
              <a:solidFill>
                <a:srgbClr val="FFFFFF"/>
              </a:solidFill>
            </a:endParaRPr>
          </a:p>
        </p:txBody>
      </p:sp>
      <p:sp>
        <p:nvSpPr>
          <p:cNvPr id="4" name="TextBox 3"/>
          <p:cNvSpPr txBox="1"/>
          <p:nvPr/>
        </p:nvSpPr>
        <p:spPr>
          <a:xfrm>
            <a:off x="853440" y="2801692"/>
            <a:ext cx="9144635" cy="5262979"/>
          </a:xfrm>
          <a:prstGeom prst="rect">
            <a:avLst/>
          </a:prstGeom>
          <a:noFill/>
        </p:spPr>
        <p:txBody>
          <a:bodyPr wrap="square" rtlCol="0">
            <a:spAutoFit/>
          </a:bodyPr>
          <a:lstStyle/>
          <a:p>
            <a:pPr>
              <a:lnSpc>
                <a:spcPct val="140000"/>
              </a:lnSpc>
            </a:pPr>
            <a:r>
              <a:rPr lang="en-US" dirty="0" smtClean="0">
                <a:solidFill>
                  <a:srgbClr val="FFFFFF"/>
                </a:solidFill>
              </a:rPr>
              <a:t>At the technology level:</a:t>
            </a:r>
          </a:p>
          <a:p>
            <a:pPr marL="342900" indent="-342900">
              <a:lnSpc>
                <a:spcPct val="140000"/>
              </a:lnSpc>
              <a:buFontTx/>
              <a:buChar char="-"/>
            </a:pPr>
            <a:r>
              <a:rPr lang="en-US" dirty="0" smtClean="0">
                <a:solidFill>
                  <a:srgbClr val="FFFFFF"/>
                </a:solidFill>
              </a:rPr>
              <a:t>Computer hardware – physical components used for input, processing and output activities in an information system, e.g. telecommunications devices, input/output and storage devices</a:t>
            </a:r>
          </a:p>
          <a:p>
            <a:pPr marL="342900" indent="-342900">
              <a:lnSpc>
                <a:spcPct val="140000"/>
              </a:lnSpc>
              <a:buFontTx/>
              <a:buChar char="-"/>
            </a:pPr>
            <a:r>
              <a:rPr lang="en-US" dirty="0" smtClean="0">
                <a:solidFill>
                  <a:srgbClr val="FFFFFF"/>
                </a:solidFill>
              </a:rPr>
              <a:t>Computer software – instructions that control and coordinate computer hardware components</a:t>
            </a:r>
          </a:p>
          <a:p>
            <a:pPr marL="342900" indent="-342900">
              <a:lnSpc>
                <a:spcPct val="140000"/>
              </a:lnSpc>
              <a:buFontTx/>
              <a:buChar char="-"/>
            </a:pPr>
            <a:r>
              <a:rPr lang="en-US" dirty="0" smtClean="0">
                <a:solidFill>
                  <a:srgbClr val="FFFFFF"/>
                </a:solidFill>
              </a:rPr>
              <a:t>Data management technology – software governing the organisation of data on physical storage media</a:t>
            </a:r>
          </a:p>
          <a:p>
            <a:pPr marL="342900" indent="-342900">
              <a:lnSpc>
                <a:spcPct val="140000"/>
              </a:lnSpc>
              <a:buFontTx/>
              <a:buChar char="-"/>
            </a:pPr>
            <a:r>
              <a:rPr lang="en-US" dirty="0" smtClean="0">
                <a:solidFill>
                  <a:srgbClr val="FFFFFF"/>
                </a:solidFill>
              </a:rPr>
              <a:t>Networking and telecommunications technology – physical devices and software, linking hardware and transfer from one physical location to another.</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2397887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53440" y="2099648"/>
            <a:ext cx="9144635" cy="553998"/>
          </a:xfrm>
          <a:prstGeom prst="rect">
            <a:avLst/>
          </a:prstGeom>
          <a:noFill/>
        </p:spPr>
        <p:txBody>
          <a:bodyPr wrap="square" rtlCol="0">
            <a:spAutoFit/>
          </a:bodyPr>
          <a:lstStyle/>
          <a:p>
            <a:r>
              <a:rPr lang="en-US" sz="3000" dirty="0" smtClean="0">
                <a:solidFill>
                  <a:srgbClr val="FFFFFF"/>
                </a:solidFill>
              </a:rPr>
              <a:t>Organisational dimensions of information systems</a:t>
            </a:r>
            <a:endParaRPr lang="en-US" sz="3000" dirty="0">
              <a:solidFill>
                <a:srgbClr val="FFFFFF"/>
              </a:solidFill>
            </a:endParaRPr>
          </a:p>
        </p:txBody>
      </p:sp>
      <p:sp>
        <p:nvSpPr>
          <p:cNvPr id="4" name="TextBox 3"/>
          <p:cNvSpPr txBox="1"/>
          <p:nvPr/>
        </p:nvSpPr>
        <p:spPr>
          <a:xfrm>
            <a:off x="853440" y="2801692"/>
            <a:ext cx="9144635" cy="3970318"/>
          </a:xfrm>
          <a:prstGeom prst="rect">
            <a:avLst/>
          </a:prstGeom>
          <a:noFill/>
        </p:spPr>
        <p:txBody>
          <a:bodyPr wrap="square" rtlCol="0">
            <a:spAutoFit/>
          </a:bodyPr>
          <a:lstStyle/>
          <a:p>
            <a:pPr>
              <a:lnSpc>
                <a:spcPct val="140000"/>
              </a:lnSpc>
            </a:pPr>
            <a:r>
              <a:rPr lang="en-US" dirty="0" smtClean="0">
                <a:solidFill>
                  <a:srgbClr val="FFFFFF"/>
                </a:solidFill>
              </a:rPr>
              <a:t>At technology level:</a:t>
            </a:r>
          </a:p>
          <a:p>
            <a:pPr marL="342900" indent="-342900">
              <a:lnSpc>
                <a:spcPct val="140000"/>
              </a:lnSpc>
              <a:buFontTx/>
              <a:buChar char="-"/>
            </a:pPr>
            <a:r>
              <a:rPr lang="en-US" dirty="0" smtClean="0">
                <a:solidFill>
                  <a:srgbClr val="FFFFFF"/>
                </a:solidFill>
              </a:rPr>
              <a:t>Networks – links two or more computers to share data or resources such as printers and computers</a:t>
            </a:r>
          </a:p>
          <a:p>
            <a:pPr marL="342900" indent="-342900">
              <a:lnSpc>
                <a:spcPct val="140000"/>
              </a:lnSpc>
              <a:buFontTx/>
              <a:buChar char="-"/>
            </a:pPr>
            <a:r>
              <a:rPr lang="en-US" dirty="0" smtClean="0">
                <a:solidFill>
                  <a:srgbClr val="FFFFFF"/>
                </a:solidFill>
              </a:rPr>
              <a:t>Internet – global ‘network of networks”</a:t>
            </a:r>
          </a:p>
          <a:p>
            <a:pPr marL="342900" indent="-342900">
              <a:lnSpc>
                <a:spcPct val="140000"/>
              </a:lnSpc>
              <a:buFontTx/>
              <a:buChar char="-"/>
            </a:pPr>
            <a:r>
              <a:rPr lang="en-US" dirty="0" smtClean="0">
                <a:solidFill>
                  <a:srgbClr val="FFFFFF"/>
                </a:solidFill>
              </a:rPr>
              <a:t>Intranet – internal corporate network</a:t>
            </a:r>
          </a:p>
          <a:p>
            <a:pPr marL="342900" indent="-342900">
              <a:lnSpc>
                <a:spcPct val="140000"/>
              </a:lnSpc>
              <a:buFontTx/>
              <a:buChar char="-"/>
            </a:pPr>
            <a:r>
              <a:rPr lang="en-US" dirty="0" smtClean="0">
                <a:solidFill>
                  <a:srgbClr val="FFFFFF"/>
                </a:solidFill>
              </a:rPr>
              <a:t>Extranets – private intranets extended to authorized uses outside organisations</a:t>
            </a:r>
          </a:p>
          <a:p>
            <a:pPr marL="342900" indent="-342900">
              <a:lnSpc>
                <a:spcPct val="140000"/>
              </a:lnSpc>
              <a:buFontTx/>
              <a:buChar char="-"/>
            </a:pPr>
            <a:r>
              <a:rPr lang="en-US" dirty="0" smtClean="0">
                <a:solidFill>
                  <a:srgbClr val="FFFFFF"/>
                </a:solidFill>
              </a:rPr>
              <a:t>World wide web – service provided by the internet that </a:t>
            </a:r>
            <a:r>
              <a:rPr lang="en-US" dirty="0" err="1" smtClean="0">
                <a:solidFill>
                  <a:srgbClr val="FFFFFF"/>
                </a:solidFill>
              </a:rPr>
              <a:t>linkes</a:t>
            </a:r>
            <a:r>
              <a:rPr lang="en-US" dirty="0" smtClean="0">
                <a:solidFill>
                  <a:srgbClr val="FFFFFF"/>
                </a:solidFill>
              </a:rPr>
              <a:t> web pages</a:t>
            </a:r>
          </a:p>
          <a:p>
            <a:pPr marL="342900" indent="-342900">
              <a:lnSpc>
                <a:spcPct val="140000"/>
              </a:lnSpc>
              <a:buFontTx/>
              <a:buChar char="-"/>
            </a:pPr>
            <a:endParaRPr lang="en-US" dirty="0" smtClean="0">
              <a:solidFill>
                <a:srgbClr val="FFFFFF"/>
              </a:solidFill>
            </a:endParaRPr>
          </a:p>
          <a:p>
            <a:pPr marL="342900" indent="-342900">
              <a:lnSpc>
                <a:spcPct val="140000"/>
              </a:lnSpc>
              <a:buFontTx/>
              <a:buChar char="-"/>
            </a:pPr>
            <a:endParaRPr lang="en-US" dirty="0" smtClean="0">
              <a:solidFill>
                <a:srgbClr val="FFFFFF"/>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a:t>
            </a:r>
            <a:r>
              <a:rPr lang="en-US" sz="2000" b="1" i="0" u="none" strike="noStrike" dirty="0" smtClean="0">
                <a:solidFill>
                  <a:srgbClr val="FFFFFF"/>
                </a:solidFill>
                <a:latin typeface="RopaSoftPro-Regular"/>
              </a:rPr>
              <a:t> of </a:t>
            </a:r>
            <a:r>
              <a:rPr lang="en-US" b="1" dirty="0">
                <a:solidFill>
                  <a:srgbClr val="FFFFFF"/>
                </a:solidFill>
                <a:latin typeface="RopaSoftPro-Regular"/>
              </a:rPr>
              <a:t> </a:t>
            </a:r>
            <a:r>
              <a:rPr lang="en-US" b="1" dirty="0" smtClean="0">
                <a:solidFill>
                  <a:srgbClr val="FFFFFF"/>
                </a:solidFill>
                <a:latin typeface="RopaSoftPro-Regular"/>
              </a:rPr>
              <a:t>Computing and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22689878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69925" y="2938793"/>
            <a:ext cx="8980182" cy="923330"/>
          </a:xfrm>
          <a:prstGeom prst="rect">
            <a:avLst/>
          </a:prstGeom>
          <a:noFill/>
        </p:spPr>
        <p:txBody>
          <a:bodyPr wrap="square" rtlCol="0">
            <a:spAutoFit/>
          </a:bodyPr>
          <a:lstStyle/>
          <a:p>
            <a:pPr algn="ctr"/>
            <a:r>
              <a:rPr lang="en-US" sz="5400" dirty="0" smtClean="0">
                <a:solidFill>
                  <a:srgbClr val="FFFFFF"/>
                </a:solidFill>
              </a:rPr>
              <a:t>Thank You.</a:t>
            </a:r>
            <a:endParaRPr lang="en-US" sz="5400" dirty="0">
              <a:solidFill>
                <a:srgbClr val="FFFFFF"/>
              </a:solidFill>
            </a:endParaRPr>
          </a:p>
        </p:txBody>
      </p:sp>
      <p:sp>
        <p:nvSpPr>
          <p:cNvPr id="4" name="TextBox 3"/>
          <p:cNvSpPr txBox="1"/>
          <p:nvPr/>
        </p:nvSpPr>
        <p:spPr>
          <a:xfrm>
            <a:off x="7205026" y="583405"/>
            <a:ext cx="2002081" cy="646331"/>
          </a:xfrm>
          <a:prstGeom prst="rect">
            <a:avLst/>
          </a:prstGeom>
          <a:noFill/>
        </p:spPr>
        <p:txBody>
          <a:bodyPr wrap="square" rtlCol="0">
            <a:spAutoFit/>
          </a:bodyPr>
          <a:lstStyle/>
          <a:p>
            <a:r>
              <a:rPr lang="en-US" sz="900" dirty="0">
                <a:solidFill>
                  <a:schemeClr val="bg1"/>
                </a:solidFill>
              </a:rPr>
              <a:t>13 </a:t>
            </a:r>
            <a:r>
              <a:rPr lang="en-US" sz="900" dirty="0" err="1">
                <a:solidFill>
                  <a:schemeClr val="bg1"/>
                </a:solidFill>
              </a:rPr>
              <a:t>Storch</a:t>
            </a:r>
            <a:r>
              <a:rPr lang="en-US" sz="900" dirty="0">
                <a:solidFill>
                  <a:schemeClr val="bg1"/>
                </a:solidFill>
              </a:rPr>
              <a:t> Street </a:t>
            </a:r>
          </a:p>
          <a:p>
            <a:r>
              <a:rPr lang="it-IT" sz="900" dirty="0" smtClean="0">
                <a:solidFill>
                  <a:schemeClr val="bg1"/>
                </a:solidFill>
              </a:rPr>
              <a:t>Private </a:t>
            </a:r>
            <a:r>
              <a:rPr lang="it-IT" sz="900" dirty="0" err="1">
                <a:solidFill>
                  <a:schemeClr val="bg1"/>
                </a:solidFill>
              </a:rPr>
              <a:t>Bag</a:t>
            </a:r>
            <a:r>
              <a:rPr lang="it-IT" sz="900" dirty="0">
                <a:solidFill>
                  <a:schemeClr val="bg1"/>
                </a:solidFill>
              </a:rPr>
              <a:t> 13388 </a:t>
            </a:r>
          </a:p>
          <a:p>
            <a:r>
              <a:rPr lang="nl-NL" sz="900" dirty="0" smtClean="0">
                <a:solidFill>
                  <a:schemeClr val="bg1"/>
                </a:solidFill>
              </a:rPr>
              <a:t>Windhoek</a:t>
            </a:r>
            <a:endParaRPr lang="nl-NL" sz="900" dirty="0">
              <a:solidFill>
                <a:schemeClr val="bg1"/>
              </a:solidFill>
            </a:endParaRPr>
          </a:p>
          <a:p>
            <a:r>
              <a:rPr lang="nl-NL" sz="900" dirty="0" smtClean="0">
                <a:solidFill>
                  <a:schemeClr val="bg1"/>
                </a:solidFill>
              </a:rPr>
              <a:t>NAMIBIA</a:t>
            </a:r>
            <a:endParaRPr lang="en-US" sz="900" dirty="0">
              <a:solidFill>
                <a:schemeClr val="bg1"/>
              </a:solidFill>
            </a:endParaRPr>
          </a:p>
        </p:txBody>
      </p:sp>
      <p:sp>
        <p:nvSpPr>
          <p:cNvPr id="6" name="TextBox 5"/>
          <p:cNvSpPr txBox="1"/>
          <p:nvPr/>
        </p:nvSpPr>
        <p:spPr>
          <a:xfrm>
            <a:off x="8552699" y="583405"/>
            <a:ext cx="1580744" cy="646331"/>
          </a:xfrm>
          <a:prstGeom prst="rect">
            <a:avLst/>
          </a:prstGeom>
          <a:noFill/>
        </p:spPr>
        <p:txBody>
          <a:bodyPr wrap="square" rtlCol="0">
            <a:spAutoFit/>
          </a:bodyPr>
          <a:lstStyle/>
          <a:p>
            <a:pPr marL="173038" indent="-173038"/>
            <a:r>
              <a:rPr lang="fi-FI" sz="900" dirty="0" smtClean="0">
                <a:solidFill>
                  <a:schemeClr val="bg1"/>
                </a:solidFill>
              </a:rPr>
              <a:t>T:	+264 61 207 2258</a:t>
            </a:r>
          </a:p>
          <a:p>
            <a:pPr marL="173038" indent="-173038"/>
            <a:r>
              <a:rPr lang="fi-FI" sz="900" dirty="0" smtClean="0">
                <a:solidFill>
                  <a:schemeClr val="bg1"/>
                </a:solidFill>
              </a:rPr>
              <a:t>F:	+264 61 207 9258</a:t>
            </a:r>
          </a:p>
          <a:p>
            <a:pPr marL="173038" indent="-173038"/>
            <a:r>
              <a:rPr lang="fi-FI" sz="900" dirty="0" smtClean="0">
                <a:solidFill>
                  <a:schemeClr val="bg1"/>
                </a:solidFill>
              </a:rPr>
              <a:t>E:	</a:t>
            </a:r>
            <a:r>
              <a:rPr lang="fi-FI" sz="900" dirty="0" err="1" smtClean="0">
                <a:solidFill>
                  <a:schemeClr val="bg1"/>
                </a:solidFill>
              </a:rPr>
              <a:t>fci@nust.na</a:t>
            </a:r>
            <a:endParaRPr lang="fi-FI" sz="900" dirty="0" smtClean="0">
              <a:solidFill>
                <a:schemeClr val="bg1"/>
              </a:solidFill>
            </a:endParaRPr>
          </a:p>
          <a:p>
            <a:pPr marL="173038" indent="-173038"/>
            <a:r>
              <a:rPr lang="fi-FI" sz="900" dirty="0">
                <a:solidFill>
                  <a:schemeClr val="bg1"/>
                </a:solidFill>
              </a:rPr>
              <a:t>W</a:t>
            </a:r>
            <a:r>
              <a:rPr lang="fi-FI" sz="900" dirty="0" smtClean="0">
                <a:solidFill>
                  <a:schemeClr val="bg1"/>
                </a:solidFill>
              </a:rPr>
              <a:t>:	</a:t>
            </a:r>
            <a:r>
              <a:rPr lang="fi-FI" sz="900" dirty="0" err="1" smtClean="0">
                <a:solidFill>
                  <a:schemeClr val="bg1"/>
                </a:solidFill>
              </a:rPr>
              <a:t>www.nust.na</a:t>
            </a:r>
            <a:endParaRPr lang="en-US" sz="900" dirty="0">
              <a:solidFill>
                <a:schemeClr val="bg1"/>
              </a:solidFill>
            </a:endParaRPr>
          </a:p>
        </p:txBody>
      </p:sp>
      <p:sp>
        <p:nvSpPr>
          <p:cNvPr id="5" name="TextBox 4"/>
          <p:cNvSpPr txBox="1"/>
          <p:nvPr/>
        </p:nvSpPr>
        <p:spPr>
          <a:xfrm>
            <a:off x="1366524" y="1383897"/>
            <a:ext cx="8008917" cy="400110"/>
          </a:xfrm>
          <a:prstGeom prst="rect">
            <a:avLst/>
          </a:prstGeom>
          <a:noFill/>
        </p:spPr>
        <p:txBody>
          <a:bodyPr wrap="square" rtlCol="0">
            <a:spAutoFit/>
          </a:bodyPr>
          <a:lstStyle/>
          <a:p>
            <a:pPr marR="0" algn="l" rtl="0"/>
            <a:r>
              <a:rPr lang="en-US" sz="2000" b="1" i="0" u="none" strike="noStrike" baseline="0" dirty="0" smtClean="0">
                <a:solidFill>
                  <a:srgbClr val="FFFFFF"/>
                </a:solidFill>
                <a:latin typeface="RopaSoftPro-Regular"/>
              </a:rPr>
              <a:t>Faculty of Computing and </a:t>
            </a:r>
            <a:r>
              <a:rPr lang="en-US" sz="2000" b="1" i="0" u="none" strike="noStrike" dirty="0" smtClean="0">
                <a:solidFill>
                  <a:srgbClr val="FFFFFF"/>
                </a:solidFill>
                <a:latin typeface="RopaSoftPro-Regular"/>
              </a:rPr>
              <a:t> Informatics</a:t>
            </a:r>
            <a:endParaRPr lang="en-US" sz="2000" b="1" i="0" u="none" strike="noStrike" baseline="0" dirty="0" smtClean="0">
              <a:solidFill>
                <a:srgbClr val="FFFFFF"/>
              </a:solidFill>
              <a:latin typeface="RopaSoftPro-Regular"/>
            </a:endParaRPr>
          </a:p>
        </p:txBody>
      </p:sp>
    </p:spTree>
    <p:extLst>
      <p:ext uri="{BB962C8B-B14F-4D97-AF65-F5344CB8AC3E}">
        <p14:creationId xmlns:p14="http://schemas.microsoft.com/office/powerpoint/2010/main" val="30282698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3B53D5EC04F4DAACC2E3DC49C4E82" ma:contentTypeVersion="18" ma:contentTypeDescription="Create a new document." ma:contentTypeScope="" ma:versionID="21911832b787847409b0ac9e8c5077f9">
  <xsd:schema xmlns:xsd="http://www.w3.org/2001/XMLSchema" xmlns:xs="http://www.w3.org/2001/XMLSchema" xmlns:p="http://schemas.microsoft.com/office/2006/metadata/properties" xmlns:ns3="ff360b5c-1491-4de7-9038-42ebdf865dbe" xmlns:ns4="95e470c5-d555-45ea-b7d4-7b5e2c49540b" targetNamespace="http://schemas.microsoft.com/office/2006/metadata/properties" ma:root="true" ma:fieldsID="fc16b2e396cdb2c77510577f0a609466" ns3:_="" ns4:_="">
    <xsd:import namespace="ff360b5c-1491-4de7-9038-42ebdf865dbe"/>
    <xsd:import namespace="95e470c5-d555-45ea-b7d4-7b5e2c49540b"/>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GenerationTime" minOccurs="0"/>
                <xsd:element ref="ns4:MediaServiceEventHashCode" minOccurs="0"/>
                <xsd:element ref="ns4:MediaServiceDateTaken" minOccurs="0"/>
                <xsd:element ref="ns4:MediaServiceOCR" minOccurs="0"/>
                <xsd:element ref="ns4:MediaServiceAutoKeyPoints" minOccurs="0"/>
                <xsd:element ref="ns4:MediaServiceKeyPoints" minOccurs="0"/>
                <xsd:element ref="ns4:MediaServiceLocation" minOccurs="0"/>
                <xsd:element ref="ns4:MediaLengthInSeconds" minOccurs="0"/>
                <xsd:element ref="ns4:MediaServiceSearchProperties" minOccurs="0"/>
                <xsd:element ref="ns4:_activity" minOccurs="0"/>
                <xsd:element ref="ns4:MediaServiceObjectDetectorVersions" minOccurs="0"/>
                <xsd:element ref="ns4: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360b5c-1491-4de7-9038-42ebdf865db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5e470c5-d555-45ea-b7d4-7b5e2c49540b"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ServiceLocation" ma:index="20" nillable="true" ma:displayName="Location" ma:internalName="MediaServiceLocation" ma:readOnly="true">
      <xsd:simpleType>
        <xsd:restriction base="dms:Text"/>
      </xsd:simpleType>
    </xsd:element>
    <xsd:element name="MediaLengthInSeconds" ma:index="21" nillable="true" ma:displayName="MediaLengthInSeconds" ma:hidden="true" ma:internalName="MediaLengthInSeconds" ma:readOnly="true">
      <xsd:simpleType>
        <xsd:restriction base="dms:Unknown"/>
      </xsd:simpleType>
    </xsd:element>
    <xsd:element name="MediaServiceSearchProperties" ma:index="22" nillable="true" ma:displayName="MediaServiceSearchProperties" ma:hidden="true" ma:internalName="MediaServiceSearchProperties" ma:readOnly="true">
      <xsd:simpleType>
        <xsd:restriction base="dms:Note"/>
      </xsd:simpleType>
    </xsd:element>
    <xsd:element name="_activity" ma:index="23" nillable="true" ma:displayName="_activity" ma:hidden="true" ma:internalName="_activity">
      <xsd:simpleType>
        <xsd:restriction base="dms:Note"/>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ystemTags" ma:index="25" nillable="true" ma:displayName="MediaServiceSystemTags" ma:hidden="true" ma:internalName="MediaServiceSystemTag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activity xmlns="95e470c5-d555-45ea-b7d4-7b5e2c49540b" xsi:nil="true"/>
  </documentManagement>
</p:properties>
</file>

<file path=customXml/itemProps1.xml><?xml version="1.0" encoding="utf-8"?>
<ds:datastoreItem xmlns:ds="http://schemas.openxmlformats.org/officeDocument/2006/customXml" ds:itemID="{E1C396CB-1209-40C3-AD9F-FEF142E9203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360b5c-1491-4de7-9038-42ebdf865dbe"/>
    <ds:schemaRef ds:uri="95e470c5-d555-45ea-b7d4-7b5e2c49540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AA50A1FE-50AD-40B1-9739-66DF2EDD5548}">
  <ds:schemaRefs>
    <ds:schemaRef ds:uri="http://schemas.microsoft.com/sharepoint/v3/contenttype/forms"/>
  </ds:schemaRefs>
</ds:datastoreItem>
</file>

<file path=customXml/itemProps3.xml><?xml version="1.0" encoding="utf-8"?>
<ds:datastoreItem xmlns:ds="http://schemas.openxmlformats.org/officeDocument/2006/customXml" ds:itemID="{85FBC1E9-E01C-4A62-9FF8-135015CE90D4}">
  <ds:schemaRefs>
    <ds:schemaRef ds:uri="http://schemas.microsoft.com/office/2006/documentManagement/types"/>
    <ds:schemaRef ds:uri="ff360b5c-1491-4de7-9038-42ebdf865db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95e470c5-d555-45ea-b7d4-7b5e2c49540b"/>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otalTime>2316</TotalTime>
  <Words>1260</Words>
  <Application>Microsoft Office PowerPoint</Application>
  <PresentationFormat>Custom</PresentationFormat>
  <Paragraphs>148</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ＭＳ Ｐゴシック</vt:lpstr>
      <vt:lpstr>Arial</vt:lpstr>
      <vt:lpstr>Calibri</vt:lpstr>
      <vt:lpstr>RopaSoftPro-Regular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CDP</dc:creator>
  <cp:lastModifiedBy>Mthembo, Nkululeko</cp:lastModifiedBy>
  <cp:revision>104</cp:revision>
  <dcterms:created xsi:type="dcterms:W3CDTF">2015-11-09T03:14:54Z</dcterms:created>
  <dcterms:modified xsi:type="dcterms:W3CDTF">2025-02-16T16:13:32Z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0x010100E513B53D5EC04F4DAACC2E3DC49C4E82</vt:lpwstr>
  </property>
</Properties>
</file>