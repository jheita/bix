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88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84" r:id="rId16"/>
    <p:sldId id="269" r:id="rId17"/>
    <p:sldId id="270" r:id="rId18"/>
    <p:sldId id="279" r:id="rId19"/>
    <p:sldId id="283" r:id="rId20"/>
    <p:sldId id="280" r:id="rId21"/>
    <p:sldId id="281" r:id="rId22"/>
    <p:sldId id="282" r:id="rId23"/>
    <p:sldId id="271" r:id="rId24"/>
    <p:sldId id="272" r:id="rId25"/>
    <p:sldId id="273" r:id="rId26"/>
    <p:sldId id="274" r:id="rId27"/>
    <p:sldId id="286" r:id="rId28"/>
    <p:sldId id="275" r:id="rId29"/>
    <p:sldId id="276" r:id="rId30"/>
    <p:sldId id="287" r:id="rId31"/>
    <p:sldId id="277" r:id="rId32"/>
    <p:sldId id="278" r:id="rId33"/>
  </p:sldIdLst>
  <p:sldSz cx="10150475" cy="7635875"/>
  <p:notesSz cx="6858000" cy="9144000"/>
  <p:defaultTextStyle>
    <a:defPPr>
      <a:defRPr lang="en-US"/>
    </a:defPPr>
    <a:lvl1pPr marL="0" algn="l" defTabSz="50817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8178" algn="l" defTabSz="50817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6356" algn="l" defTabSz="50817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4533" algn="l" defTabSz="50817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2711" algn="l" defTabSz="50817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0889" algn="l" defTabSz="50817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49067" algn="l" defTabSz="50817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57245" algn="l" defTabSz="50817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65422" algn="l" defTabSz="508178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2">
          <p15:clr>
            <a:srgbClr val="A4A3A4"/>
          </p15:clr>
        </p15:guide>
        <p15:guide id="2" pos="42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668" y="96"/>
      </p:cViewPr>
      <p:guideLst>
        <p:guide orient="horz" pos="462"/>
        <p:guide pos="42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/>
          <a:srcRect b="49802"/>
          <a:stretch/>
        </p:blipFill>
        <p:spPr>
          <a:xfrm>
            <a:off x="0" y="-1"/>
            <a:ext cx="10150475" cy="382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120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/>
          <a:srcRect b="-301"/>
          <a:stretch/>
        </p:blipFill>
        <p:spPr>
          <a:xfrm>
            <a:off x="0" y="0"/>
            <a:ext cx="10150475" cy="763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071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UST Marketing Brand Mark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02" y="296078"/>
            <a:ext cx="4140200" cy="129540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438871" y="1406916"/>
            <a:ext cx="445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141A37"/>
                </a:solidFill>
                <a:latin typeface="RopaSoftPro-Regular"/>
              </a:rPr>
              <a:t>Faculty of Computing and Informatics</a:t>
            </a:r>
          </a:p>
        </p:txBody>
      </p:sp>
    </p:spTree>
    <p:extLst>
      <p:ext uri="{BB962C8B-B14F-4D97-AF65-F5344CB8AC3E}">
        <p14:creationId xmlns:p14="http://schemas.microsoft.com/office/powerpoint/2010/main" val="3661053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19E1-8D7B-8148-82B0-908DBEC4CE4D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59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3915" y="1983207"/>
            <a:ext cx="4985364" cy="5612015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8454" y="1983207"/>
            <a:ext cx="4985363" cy="5612015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19E1-8D7B-8148-82B0-908DBEC4CE4D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35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524" y="305789"/>
            <a:ext cx="9135428" cy="1272646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524" y="1709234"/>
            <a:ext cx="4484889" cy="712328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8178" indent="0">
              <a:buNone/>
              <a:defRPr sz="2200" b="1"/>
            </a:lvl2pPr>
            <a:lvl3pPr marL="1016356" indent="0">
              <a:buNone/>
              <a:defRPr sz="2000" b="1"/>
            </a:lvl3pPr>
            <a:lvl4pPr marL="1524533" indent="0">
              <a:buNone/>
              <a:defRPr sz="1800" b="1"/>
            </a:lvl4pPr>
            <a:lvl5pPr marL="2032711" indent="0">
              <a:buNone/>
              <a:defRPr sz="1800" b="1"/>
            </a:lvl5pPr>
            <a:lvl6pPr marL="2540889" indent="0">
              <a:buNone/>
              <a:defRPr sz="1800" b="1"/>
            </a:lvl6pPr>
            <a:lvl7pPr marL="3049067" indent="0">
              <a:buNone/>
              <a:defRPr sz="1800" b="1"/>
            </a:lvl7pPr>
            <a:lvl8pPr marL="3557245" indent="0">
              <a:buNone/>
              <a:defRPr sz="1800" b="1"/>
            </a:lvl8pPr>
            <a:lvl9pPr marL="4065422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524" y="2421562"/>
            <a:ext cx="4484889" cy="4399467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56301" y="1709234"/>
            <a:ext cx="4486651" cy="712328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8178" indent="0">
              <a:buNone/>
              <a:defRPr sz="2200" b="1"/>
            </a:lvl2pPr>
            <a:lvl3pPr marL="1016356" indent="0">
              <a:buNone/>
              <a:defRPr sz="2000" b="1"/>
            </a:lvl3pPr>
            <a:lvl4pPr marL="1524533" indent="0">
              <a:buNone/>
              <a:defRPr sz="1800" b="1"/>
            </a:lvl4pPr>
            <a:lvl5pPr marL="2032711" indent="0">
              <a:buNone/>
              <a:defRPr sz="1800" b="1"/>
            </a:lvl5pPr>
            <a:lvl6pPr marL="2540889" indent="0">
              <a:buNone/>
              <a:defRPr sz="1800" b="1"/>
            </a:lvl6pPr>
            <a:lvl7pPr marL="3049067" indent="0">
              <a:buNone/>
              <a:defRPr sz="1800" b="1"/>
            </a:lvl7pPr>
            <a:lvl8pPr marL="3557245" indent="0">
              <a:buNone/>
              <a:defRPr sz="1800" b="1"/>
            </a:lvl8pPr>
            <a:lvl9pPr marL="4065422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56301" y="2421562"/>
            <a:ext cx="4486651" cy="4399467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19E1-8D7B-8148-82B0-908DBEC4CE4D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713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19E1-8D7B-8148-82B0-908DBEC4CE4D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5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19E1-8D7B-8148-82B0-908DBEC4CE4D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76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524" y="304021"/>
            <a:ext cx="3339436" cy="1293857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554" y="304021"/>
            <a:ext cx="5674397" cy="6517008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524" y="1597878"/>
            <a:ext cx="3339436" cy="5223151"/>
          </a:xfrm>
        </p:spPr>
        <p:txBody>
          <a:bodyPr/>
          <a:lstStyle>
            <a:lvl1pPr marL="0" indent="0">
              <a:buNone/>
              <a:defRPr sz="1600"/>
            </a:lvl1pPr>
            <a:lvl2pPr marL="508178" indent="0">
              <a:buNone/>
              <a:defRPr sz="1300"/>
            </a:lvl2pPr>
            <a:lvl3pPr marL="1016356" indent="0">
              <a:buNone/>
              <a:defRPr sz="1100"/>
            </a:lvl3pPr>
            <a:lvl4pPr marL="1524533" indent="0">
              <a:buNone/>
              <a:defRPr sz="1000"/>
            </a:lvl4pPr>
            <a:lvl5pPr marL="2032711" indent="0">
              <a:buNone/>
              <a:defRPr sz="1000"/>
            </a:lvl5pPr>
            <a:lvl6pPr marL="2540889" indent="0">
              <a:buNone/>
              <a:defRPr sz="1000"/>
            </a:lvl6pPr>
            <a:lvl7pPr marL="3049067" indent="0">
              <a:buNone/>
              <a:defRPr sz="1000"/>
            </a:lvl7pPr>
            <a:lvl8pPr marL="3557245" indent="0">
              <a:buNone/>
              <a:defRPr sz="1000"/>
            </a:lvl8pPr>
            <a:lvl9pPr marL="4065422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19E1-8D7B-8148-82B0-908DBEC4CE4D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931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9564" y="5345112"/>
            <a:ext cx="6090285" cy="631021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9564" y="682280"/>
            <a:ext cx="6090285" cy="4581525"/>
          </a:xfrm>
        </p:spPr>
        <p:txBody>
          <a:bodyPr/>
          <a:lstStyle>
            <a:lvl1pPr marL="0" indent="0">
              <a:buNone/>
              <a:defRPr sz="3600"/>
            </a:lvl1pPr>
            <a:lvl2pPr marL="508178" indent="0">
              <a:buNone/>
              <a:defRPr sz="3100"/>
            </a:lvl2pPr>
            <a:lvl3pPr marL="1016356" indent="0">
              <a:buNone/>
              <a:defRPr sz="2700"/>
            </a:lvl3pPr>
            <a:lvl4pPr marL="1524533" indent="0">
              <a:buNone/>
              <a:defRPr sz="2200"/>
            </a:lvl4pPr>
            <a:lvl5pPr marL="2032711" indent="0">
              <a:buNone/>
              <a:defRPr sz="2200"/>
            </a:lvl5pPr>
            <a:lvl6pPr marL="2540889" indent="0">
              <a:buNone/>
              <a:defRPr sz="2200"/>
            </a:lvl6pPr>
            <a:lvl7pPr marL="3049067" indent="0">
              <a:buNone/>
              <a:defRPr sz="2200"/>
            </a:lvl7pPr>
            <a:lvl8pPr marL="3557245" indent="0">
              <a:buNone/>
              <a:defRPr sz="2200"/>
            </a:lvl8pPr>
            <a:lvl9pPr marL="4065422" indent="0">
              <a:buNone/>
              <a:defRPr sz="22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9564" y="5976133"/>
            <a:ext cx="6090285" cy="896154"/>
          </a:xfrm>
        </p:spPr>
        <p:txBody>
          <a:bodyPr/>
          <a:lstStyle>
            <a:lvl1pPr marL="0" indent="0">
              <a:buNone/>
              <a:defRPr sz="1600"/>
            </a:lvl1pPr>
            <a:lvl2pPr marL="508178" indent="0">
              <a:buNone/>
              <a:defRPr sz="1300"/>
            </a:lvl2pPr>
            <a:lvl3pPr marL="1016356" indent="0">
              <a:buNone/>
              <a:defRPr sz="1100"/>
            </a:lvl3pPr>
            <a:lvl4pPr marL="1524533" indent="0">
              <a:buNone/>
              <a:defRPr sz="1000"/>
            </a:lvl4pPr>
            <a:lvl5pPr marL="2032711" indent="0">
              <a:buNone/>
              <a:defRPr sz="1000"/>
            </a:lvl5pPr>
            <a:lvl6pPr marL="2540889" indent="0">
              <a:buNone/>
              <a:defRPr sz="1000"/>
            </a:lvl6pPr>
            <a:lvl7pPr marL="3049067" indent="0">
              <a:buNone/>
              <a:defRPr sz="1000"/>
            </a:lvl7pPr>
            <a:lvl8pPr marL="3557245" indent="0">
              <a:buNone/>
              <a:defRPr sz="1000"/>
            </a:lvl8pPr>
            <a:lvl9pPr marL="4065422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19E1-8D7B-8148-82B0-908DBEC4CE4D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840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19E1-8D7B-8148-82B0-908DBEC4CE4D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407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69723" y="341140"/>
            <a:ext cx="2534094" cy="725408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3915" y="341140"/>
            <a:ext cx="7436633" cy="725408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19E1-8D7B-8148-82B0-908DBEC4CE4D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38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7524" y="305789"/>
            <a:ext cx="9135428" cy="1272646"/>
          </a:xfrm>
          <a:prstGeom prst="rect">
            <a:avLst/>
          </a:prstGeom>
        </p:spPr>
        <p:txBody>
          <a:bodyPr vert="horz" lIns="101636" tIns="50818" rIns="101636" bIns="5081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524" y="1781704"/>
            <a:ext cx="9135428" cy="5039325"/>
          </a:xfrm>
          <a:prstGeom prst="rect">
            <a:avLst/>
          </a:prstGeom>
        </p:spPr>
        <p:txBody>
          <a:bodyPr vert="horz" lIns="101636" tIns="50818" rIns="101636" bIns="5081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7524" y="7077325"/>
            <a:ext cx="2368444" cy="406540"/>
          </a:xfrm>
          <a:prstGeom prst="rect">
            <a:avLst/>
          </a:prstGeom>
        </p:spPr>
        <p:txBody>
          <a:bodyPr vert="horz" lIns="101636" tIns="50818" rIns="101636" bIns="5081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619E1-8D7B-8148-82B0-908DBEC4CE4D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68079" y="7077325"/>
            <a:ext cx="3214317" cy="406540"/>
          </a:xfrm>
          <a:prstGeom prst="rect">
            <a:avLst/>
          </a:prstGeom>
        </p:spPr>
        <p:txBody>
          <a:bodyPr vert="horz" lIns="101636" tIns="50818" rIns="101636" bIns="5081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74507" y="7077325"/>
            <a:ext cx="2368444" cy="406540"/>
          </a:xfrm>
          <a:prstGeom prst="rect">
            <a:avLst/>
          </a:prstGeom>
        </p:spPr>
        <p:txBody>
          <a:bodyPr vert="horz" lIns="101636" tIns="50818" rIns="101636" bIns="5081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E6150-8108-4B44-B0B0-BFDC52A0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22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508178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1133" indent="-381133" algn="l" defTabSz="508178" rtl="0" eaLnBrk="1" latinLnBrk="0" hangingPunct="1">
        <a:spcBef>
          <a:spcPct val="20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5789" indent="-317611" algn="l" defTabSz="508178" rtl="0" eaLnBrk="1" latinLnBrk="0" hangingPunct="1">
        <a:spcBef>
          <a:spcPct val="20000"/>
        </a:spcBef>
        <a:buFont typeface="Arial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70445" indent="-254089" algn="l" defTabSz="508178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78622" indent="-254089" algn="l" defTabSz="508178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800" indent="-254089" algn="l" defTabSz="508178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94978" indent="-254089" algn="l" defTabSz="508178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03156" indent="-254089" algn="l" defTabSz="508178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11334" indent="-254089" algn="l" defTabSz="508178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19511" indent="-254089" algn="l" defTabSz="508178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817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178" algn="l" defTabSz="50817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356" algn="l" defTabSz="50817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4533" algn="l" defTabSz="50817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2711" algn="l" defTabSz="50817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0889" algn="l" defTabSz="50817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9067" algn="l" defTabSz="50817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7245" algn="l" defTabSz="50817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5422" algn="l" defTabSz="50817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SC_0063 (2)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40" r="15370" b="39874"/>
          <a:stretch/>
        </p:blipFill>
        <p:spPr>
          <a:xfrm>
            <a:off x="-17876" y="3824187"/>
            <a:ext cx="10168350" cy="38116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 of 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8122" y="1901193"/>
            <a:ext cx="78089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solidFill>
                  <a:schemeClr val="bg1"/>
                </a:solidFill>
              </a:rPr>
              <a:t>Business Management Information Systems –BMC511S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 smtClean="0">
                <a:solidFill>
                  <a:schemeClr val="bg1"/>
                </a:solidFill>
              </a:rPr>
              <a:t>Lesson 4 – e-Commerce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777" y="4294900"/>
            <a:ext cx="23876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33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0992" y="2099648"/>
            <a:ext cx="91446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solidFill>
                  <a:srgbClr val="FFFFFF"/>
                </a:solidFill>
              </a:rPr>
              <a:t>eCommerce</a:t>
            </a:r>
            <a:endParaRPr lang="en-US" sz="3000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0992" y="2771695"/>
            <a:ext cx="880132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40000"/>
              </a:lnSpc>
              <a:buFont typeface="+mj-lt"/>
              <a:buAutoNum type="arabicPeriod"/>
            </a:pPr>
            <a:r>
              <a:rPr lang="en-US" dirty="0" smtClean="0">
                <a:solidFill>
                  <a:srgbClr val="FFFFFF"/>
                </a:solidFill>
              </a:rPr>
              <a:t>Definition of eCommerce</a:t>
            </a:r>
          </a:p>
          <a:p>
            <a:pPr marL="457200" indent="-457200">
              <a:lnSpc>
                <a:spcPct val="140000"/>
              </a:lnSpc>
              <a:buFont typeface="+mj-lt"/>
              <a:buAutoNum type="arabicPeriod"/>
            </a:pPr>
            <a:r>
              <a:rPr lang="en-ZA" dirty="0" smtClean="0">
                <a:solidFill>
                  <a:srgbClr val="FFFFFF"/>
                </a:solidFill>
              </a:rPr>
              <a:t>Unique features of eCommerce</a:t>
            </a:r>
            <a:endParaRPr lang="en-US" dirty="0" smtClean="0">
              <a:solidFill>
                <a:srgbClr val="FFFFFF"/>
              </a:solidFill>
            </a:endParaRPr>
          </a:p>
          <a:p>
            <a:pPr marL="457200" indent="-457200">
              <a:lnSpc>
                <a:spcPct val="140000"/>
              </a:lnSpc>
              <a:buFont typeface="+mj-lt"/>
              <a:buAutoNum type="arabicPeriod"/>
            </a:pPr>
            <a:r>
              <a:rPr lang="en-US" dirty="0" smtClean="0">
                <a:solidFill>
                  <a:srgbClr val="FFFFFF"/>
                </a:solidFill>
              </a:rPr>
              <a:t>Effects of the Internet on the marketplace</a:t>
            </a:r>
          </a:p>
          <a:p>
            <a:pPr marL="457200" indent="-457200">
              <a:lnSpc>
                <a:spcPct val="140000"/>
              </a:lnSpc>
              <a:buFont typeface="+mj-lt"/>
              <a:buAutoNum type="arabicPeriod"/>
            </a:pPr>
            <a:r>
              <a:rPr lang="en-US" dirty="0" smtClean="0">
                <a:solidFill>
                  <a:srgbClr val="FFFFFF"/>
                </a:solidFill>
              </a:rPr>
              <a:t>Benefits and downside of </a:t>
            </a:r>
            <a:r>
              <a:rPr lang="en-US" dirty="0" err="1" smtClean="0">
                <a:solidFill>
                  <a:srgbClr val="FFFFFF"/>
                </a:solidFill>
              </a:rPr>
              <a:t>eCommerce</a:t>
            </a:r>
            <a:endParaRPr lang="en-US" dirty="0" smtClean="0">
              <a:solidFill>
                <a:srgbClr val="FFFFFF"/>
              </a:solidFill>
            </a:endParaRPr>
          </a:p>
          <a:p>
            <a:pPr marL="457200" indent="-457200">
              <a:lnSpc>
                <a:spcPct val="140000"/>
              </a:lnSpc>
              <a:buFont typeface="+mj-lt"/>
              <a:buAutoNum type="arabicPeriod"/>
            </a:pPr>
            <a:r>
              <a:rPr lang="en-US" dirty="0" smtClean="0">
                <a:solidFill>
                  <a:srgbClr val="FFFFFF"/>
                </a:solidFill>
              </a:rPr>
              <a:t>Major types of eCommerce</a:t>
            </a:r>
          </a:p>
          <a:p>
            <a:pPr marL="457200" indent="-457200">
              <a:lnSpc>
                <a:spcPct val="140000"/>
              </a:lnSpc>
              <a:buFont typeface="+mj-lt"/>
              <a:buAutoNum type="arabicPeriod"/>
            </a:pPr>
            <a:r>
              <a:rPr lang="en-US" dirty="0" smtClean="0">
                <a:solidFill>
                  <a:srgbClr val="FFFFFF"/>
                </a:solidFill>
              </a:rPr>
              <a:t>ECommerce Business models</a:t>
            </a:r>
          </a:p>
          <a:p>
            <a:pPr marL="457200" indent="-457200">
              <a:lnSpc>
                <a:spcPct val="140000"/>
              </a:lnSpc>
              <a:buFont typeface="+mj-lt"/>
              <a:buAutoNum type="arabicPeriod"/>
            </a:pPr>
            <a:r>
              <a:rPr lang="en-US" dirty="0" smtClean="0">
                <a:solidFill>
                  <a:srgbClr val="FFFFFF"/>
                </a:solidFill>
              </a:rPr>
              <a:t>Ecommerce Revenue Models</a:t>
            </a:r>
          </a:p>
          <a:p>
            <a:pPr marL="457200" indent="-457200">
              <a:lnSpc>
                <a:spcPct val="140000"/>
              </a:lnSpc>
              <a:buFont typeface="+mj-lt"/>
              <a:buAutoNum type="arabicPeriod"/>
            </a:pPr>
            <a:r>
              <a:rPr lang="en-US" dirty="0" smtClean="0">
                <a:solidFill>
                  <a:srgbClr val="FFFFFF"/>
                </a:solidFill>
              </a:rPr>
              <a:t>Electronic data Interchange</a:t>
            </a:r>
          </a:p>
          <a:p>
            <a:pPr marL="457200" indent="-457200">
              <a:lnSpc>
                <a:spcPct val="140000"/>
              </a:lnSpc>
              <a:buFont typeface="+mj-lt"/>
              <a:buAutoNum type="arabicPeriod"/>
            </a:pPr>
            <a:r>
              <a:rPr lang="en-US" dirty="0" smtClean="0">
                <a:solidFill>
                  <a:srgbClr val="FFFFFF"/>
                </a:solidFill>
              </a:rPr>
              <a:t>Net Marketplaces</a:t>
            </a:r>
          </a:p>
          <a:p>
            <a:pPr marL="457200" indent="-457200">
              <a:lnSpc>
                <a:spcPct val="140000"/>
              </a:lnSpc>
              <a:buFont typeface="+mj-lt"/>
              <a:buAutoNum type="arabicPeriod"/>
            </a:pPr>
            <a:r>
              <a:rPr lang="en-US" dirty="0" smtClean="0">
                <a:solidFill>
                  <a:srgbClr val="FFFFFF"/>
                </a:solidFill>
              </a:rPr>
              <a:t>Exchanges</a:t>
            </a:r>
          </a:p>
          <a:p>
            <a:pPr marL="457200" indent="-457200">
              <a:lnSpc>
                <a:spcPct val="140000"/>
              </a:lnSpc>
              <a:buFont typeface="+mj-lt"/>
              <a:buAutoNum type="arabicPeriod"/>
            </a:pPr>
            <a:r>
              <a:rPr lang="en-US" dirty="0" smtClean="0">
                <a:solidFill>
                  <a:srgbClr val="FFFFFF"/>
                </a:solidFill>
              </a:rPr>
              <a:t>M-Commerce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224491">
            <a:off x="5351347" y="1444974"/>
            <a:ext cx="3822321" cy="1863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53775">
            <a:off x="4566393" y="3954970"/>
            <a:ext cx="5264745" cy="2711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4822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65688" y="1312650"/>
            <a:ext cx="9275736" cy="1097279"/>
          </a:xfrm>
          <a:prstGeom prst="rect">
            <a:avLst/>
          </a:prstGeom>
        </p:spPr>
        <p:txBody>
          <a:bodyPr/>
          <a:lstStyle>
            <a:lvl1pPr algn="ctr" defTabSz="508178" rtl="0" eaLnBrk="1" latinLnBrk="0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smtClean="0">
                <a:solidFill>
                  <a:schemeClr val="bg1"/>
                </a:solidFill>
              </a:rPr>
              <a:t>Uber Digitally Disrupts the Taxi Industry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813662" y="2409929"/>
            <a:ext cx="8229600" cy="4525963"/>
          </a:xfrm>
          <a:prstGeom prst="rect">
            <a:avLst/>
          </a:prstGeom>
        </p:spPr>
        <p:txBody>
          <a:bodyPr/>
          <a:lstStyle>
            <a:lvl1pPr marL="381133" indent="-381133" algn="l" defTabSz="508178" rtl="0" eaLnBrk="1" latinLnBrk="0" hangingPunct="1">
              <a:spcBef>
                <a:spcPct val="20000"/>
              </a:spcBef>
              <a:buFont typeface="Arial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5789" indent="-317611" algn="l" defTabSz="508178" rtl="0" eaLnBrk="1" latinLnBrk="0" hangingPunct="1">
              <a:spcBef>
                <a:spcPct val="20000"/>
              </a:spcBef>
              <a:buFont typeface="Arial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445" indent="-254089" algn="l" defTabSz="508178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78622" indent="-254089" algn="l" defTabSz="508178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800" indent="-254089" algn="l" defTabSz="508178" rtl="0" eaLnBrk="1" latinLnBrk="0" hangingPunct="1">
              <a:spcBef>
                <a:spcPct val="20000"/>
              </a:spcBef>
              <a:buFont typeface="Arial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94978" indent="-254089" algn="l" defTabSz="508178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03156" indent="-254089" algn="l" defTabSz="508178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1334" indent="-254089" algn="l" defTabSz="508178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19511" indent="-254089" algn="l" defTabSz="508178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smtClean="0">
                <a:solidFill>
                  <a:schemeClr val="bg1"/>
                </a:solidFill>
              </a:rPr>
              <a:t>Problem</a:t>
            </a:r>
          </a:p>
          <a:p>
            <a:pPr lvl="1"/>
            <a:r>
              <a:rPr lang="en-US" sz="2400" smtClean="0">
                <a:solidFill>
                  <a:schemeClr val="bg1"/>
                </a:solidFill>
              </a:rPr>
              <a:t>Opportunities presented by new technology</a:t>
            </a:r>
          </a:p>
          <a:p>
            <a:pPr lvl="1"/>
            <a:r>
              <a:rPr lang="en-US" sz="2400" smtClean="0">
                <a:solidFill>
                  <a:schemeClr val="bg1"/>
                </a:solidFill>
              </a:rPr>
              <a:t>Political and regulatory hurdles</a:t>
            </a:r>
          </a:p>
          <a:p>
            <a:r>
              <a:rPr lang="en-US" altLang="en-US" sz="2400" smtClean="0">
                <a:solidFill>
                  <a:schemeClr val="bg1"/>
                </a:solidFill>
              </a:rPr>
              <a:t>Solutions</a:t>
            </a:r>
          </a:p>
          <a:p>
            <a:pPr lvl="1"/>
            <a:r>
              <a:rPr lang="en-US" altLang="en-US" sz="2400" smtClean="0">
                <a:solidFill>
                  <a:schemeClr val="bg1"/>
                </a:solidFill>
              </a:rPr>
              <a:t>Driver and rider apps</a:t>
            </a:r>
          </a:p>
          <a:p>
            <a:pPr lvl="1"/>
            <a:r>
              <a:rPr lang="en-US" altLang="en-US" sz="2400" smtClean="0">
                <a:solidFill>
                  <a:schemeClr val="bg1"/>
                </a:solidFill>
              </a:rPr>
              <a:t>Demand prediction software</a:t>
            </a:r>
          </a:p>
          <a:p>
            <a:r>
              <a:rPr lang="en-US" altLang="en-US" sz="2400" smtClean="0">
                <a:solidFill>
                  <a:schemeClr val="bg1"/>
                </a:solidFill>
              </a:rPr>
              <a:t>Illustrates the use of I</a:t>
            </a:r>
            <a:r>
              <a:rPr lang="en-US" altLang="en-US" sz="100" smtClean="0">
                <a:solidFill>
                  <a:schemeClr val="bg1"/>
                </a:solidFill>
              </a:rPr>
              <a:t> </a:t>
            </a:r>
            <a:r>
              <a:rPr lang="en-US" altLang="en-US" sz="2400" smtClean="0">
                <a:solidFill>
                  <a:schemeClr val="bg1"/>
                </a:solidFill>
              </a:rPr>
              <a:t>T to create new services as well as business models</a:t>
            </a:r>
          </a:p>
          <a:p>
            <a:r>
              <a:rPr lang="en-US" altLang="en-US" sz="2400" smtClean="0">
                <a:solidFill>
                  <a:schemeClr val="bg1"/>
                </a:solidFill>
              </a:rPr>
              <a:t>Demonstrates the disruptive effects of new technologies</a:t>
            </a:r>
            <a:endParaRPr lang="en-US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245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solidFill>
                  <a:srgbClr val="FFFFFF"/>
                </a:solidFill>
              </a:rPr>
              <a:t>Definition of ecommerce</a:t>
            </a:r>
            <a:endParaRPr lang="en-US" sz="300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57727" y="2301374"/>
            <a:ext cx="8983578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dirty="0" smtClean="0">
                <a:solidFill>
                  <a:schemeClr val="bg1"/>
                </a:solidFill>
              </a:rPr>
              <a:t>Ecommerce is defined as follows:</a:t>
            </a:r>
          </a:p>
          <a:p>
            <a:endParaRPr lang="en-ZA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chemeClr val="bg1"/>
                </a:solidFill>
              </a:rPr>
              <a:t>E-commerce </a:t>
            </a:r>
            <a:r>
              <a:rPr lang="en-ZA" dirty="0">
                <a:solidFill>
                  <a:schemeClr val="bg1"/>
                </a:solidFill>
              </a:rPr>
              <a:t>refers to the use of the </a:t>
            </a:r>
            <a:r>
              <a:rPr lang="en-ZA" dirty="0" smtClean="0">
                <a:solidFill>
                  <a:schemeClr val="bg1"/>
                </a:solidFill>
              </a:rPr>
              <a:t>internet </a:t>
            </a:r>
            <a:r>
              <a:rPr lang="en-ZA" dirty="0">
                <a:solidFill>
                  <a:schemeClr val="bg1"/>
                </a:solidFill>
              </a:rPr>
              <a:t>and the </a:t>
            </a:r>
            <a:r>
              <a:rPr lang="en-ZA" dirty="0" smtClean="0">
                <a:solidFill>
                  <a:schemeClr val="bg1"/>
                </a:solidFill>
              </a:rPr>
              <a:t>web </a:t>
            </a:r>
            <a:r>
              <a:rPr lang="en-ZA" dirty="0">
                <a:solidFill>
                  <a:schemeClr val="bg1"/>
                </a:solidFill>
              </a:rPr>
              <a:t>to transact business</a:t>
            </a:r>
            <a:r>
              <a:rPr lang="en-ZA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ZA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More formally, e-commerce is about digitally enabled commercial </a:t>
            </a:r>
            <a:r>
              <a:rPr lang="en-ZA" dirty="0" smtClean="0">
                <a:solidFill>
                  <a:schemeClr val="bg1"/>
                </a:solidFill>
              </a:rPr>
              <a:t>transactions between  </a:t>
            </a:r>
            <a:r>
              <a:rPr lang="en-ZA" dirty="0">
                <a:solidFill>
                  <a:schemeClr val="bg1"/>
                </a:solidFill>
              </a:rPr>
              <a:t>and  among  organizations  and  individuals.  </a:t>
            </a:r>
            <a:endParaRPr lang="en-ZA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ZA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chemeClr val="bg1"/>
                </a:solidFill>
              </a:rPr>
              <a:t>E-commerce is the buying and selling of goods and services or the transmission of funds or data over the internet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ZA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chemeClr val="bg1"/>
                </a:solidFill>
              </a:rPr>
              <a:t>Ecommerce is business conducted through the use of computers, telephones, fax machines, barcode readers, credit cards, ATMs, etc. without an exchange of paper documents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ZA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chemeClr val="bg1"/>
                </a:solidFill>
              </a:rPr>
              <a:t>Commercial transactions </a:t>
            </a:r>
            <a:r>
              <a:rPr lang="en-ZA" dirty="0">
                <a:solidFill>
                  <a:schemeClr val="bg1"/>
                </a:solidFill>
              </a:rPr>
              <a:t>involve the exchange of value (e.g., money) across </a:t>
            </a:r>
            <a:r>
              <a:rPr lang="en-ZA" dirty="0" smtClean="0">
                <a:solidFill>
                  <a:schemeClr val="bg1"/>
                </a:solidFill>
              </a:rPr>
              <a:t>organizational or </a:t>
            </a:r>
            <a:r>
              <a:rPr lang="en-ZA" dirty="0">
                <a:solidFill>
                  <a:schemeClr val="bg1"/>
                </a:solidFill>
              </a:rPr>
              <a:t>individual boundaries in return for products and services. </a:t>
            </a:r>
            <a:endParaRPr lang="en-ZA" dirty="0" smtClean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255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639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sz="2800" dirty="0" smtClean="0">
                <a:solidFill>
                  <a:srgbClr val="FFFFFF"/>
                </a:solidFill>
              </a:rPr>
              <a:t>Unique </a:t>
            </a:r>
            <a:r>
              <a:rPr lang="en-ZA" sz="2800" dirty="0">
                <a:solidFill>
                  <a:srgbClr val="FFFFFF"/>
                </a:solidFill>
              </a:rPr>
              <a:t>features of </a:t>
            </a:r>
            <a:r>
              <a:rPr lang="en-ZA" sz="2800" dirty="0" smtClean="0">
                <a:solidFill>
                  <a:srgbClr val="FFFFFF"/>
                </a:solidFill>
              </a:rPr>
              <a:t>internet </a:t>
            </a:r>
            <a:r>
              <a:rPr lang="en-ZA" sz="2800" dirty="0">
                <a:solidFill>
                  <a:srgbClr val="FFFFFF"/>
                </a:solidFill>
              </a:rPr>
              <a:t>and </a:t>
            </a:r>
            <a:r>
              <a:rPr lang="en-ZA" sz="2800" dirty="0" smtClean="0">
                <a:solidFill>
                  <a:srgbClr val="FFFFFF"/>
                </a:solidFill>
              </a:rPr>
              <a:t>web </a:t>
            </a:r>
            <a:r>
              <a:rPr lang="en-ZA" sz="2800" dirty="0">
                <a:solidFill>
                  <a:srgbClr val="FFFFFF"/>
                </a:solidFill>
              </a:rPr>
              <a:t>as commercial </a:t>
            </a:r>
            <a:r>
              <a:rPr lang="en-ZA" sz="2800" dirty="0" smtClean="0">
                <a:solidFill>
                  <a:srgbClr val="FFFFFF"/>
                </a:solidFill>
              </a:rPr>
              <a:t>media</a:t>
            </a:r>
            <a:endParaRPr lang="en-ZA" sz="2800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9639" y="2168127"/>
            <a:ext cx="9297035" cy="3804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dirty="0" smtClean="0">
                <a:solidFill>
                  <a:srgbClr val="FFFFFF"/>
                </a:solidFill>
              </a:rPr>
              <a:t>The internet and web as commercial media have the following 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1" dirty="0" smtClean="0">
                <a:solidFill>
                  <a:srgbClr val="FFFFFF"/>
                </a:solidFill>
              </a:rPr>
              <a:t>Ubiquity</a:t>
            </a:r>
            <a:r>
              <a:rPr lang="en-ZA" dirty="0" smtClean="0">
                <a:solidFill>
                  <a:srgbClr val="FFFFFF"/>
                </a:solidFill>
              </a:rPr>
              <a:t> - </a:t>
            </a:r>
            <a:r>
              <a:rPr lang="en-US" dirty="0">
                <a:solidFill>
                  <a:schemeClr val="bg1"/>
                </a:solidFill>
              </a:rPr>
              <a:t>Marketspace is </a:t>
            </a:r>
            <a:r>
              <a:rPr lang="en-US" dirty="0" smtClean="0">
                <a:solidFill>
                  <a:schemeClr val="bg1"/>
                </a:solidFill>
              </a:rPr>
              <a:t>virtual, Transaction </a:t>
            </a:r>
            <a:r>
              <a:rPr lang="en-US" dirty="0">
                <a:solidFill>
                  <a:schemeClr val="bg1"/>
                </a:solidFill>
              </a:rPr>
              <a:t>costs reduced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ZA" sz="18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b="1" dirty="0">
                <a:solidFill>
                  <a:srgbClr val="FFFFFF"/>
                </a:solidFill>
              </a:rPr>
              <a:t>Global </a:t>
            </a:r>
            <a:r>
              <a:rPr lang="en-ZA" b="1" dirty="0" smtClean="0">
                <a:solidFill>
                  <a:srgbClr val="FFFFFF"/>
                </a:solidFill>
              </a:rPr>
              <a:t>reach- </a:t>
            </a:r>
            <a:r>
              <a:rPr lang="en-US" dirty="0">
                <a:solidFill>
                  <a:schemeClr val="bg1"/>
                </a:solidFill>
              </a:rPr>
              <a:t>Transactions cross cultural and national boundaries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b="1" dirty="0">
                <a:solidFill>
                  <a:srgbClr val="FFFFFF"/>
                </a:solidFill>
              </a:rPr>
              <a:t>Universal </a:t>
            </a:r>
            <a:r>
              <a:rPr lang="en-ZA" b="1" dirty="0" smtClean="0">
                <a:solidFill>
                  <a:schemeClr val="bg1"/>
                </a:solidFill>
              </a:rPr>
              <a:t>standards </a:t>
            </a:r>
            <a:r>
              <a:rPr lang="en-ZA" dirty="0" smtClean="0">
                <a:solidFill>
                  <a:schemeClr val="bg1"/>
                </a:solidFill>
              </a:rPr>
              <a:t>-</a:t>
            </a:r>
            <a:r>
              <a:rPr lang="en-US" altLang="en-US" dirty="0">
                <a:solidFill>
                  <a:schemeClr val="bg1"/>
                </a:solidFill>
              </a:rPr>
              <a:t>One set of technology standards: Internet standards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ZA" dirty="0">
              <a:solidFill>
                <a:schemeClr val="bg1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b="1" dirty="0" smtClean="0">
                <a:solidFill>
                  <a:schemeClr val="bg1"/>
                </a:solidFill>
              </a:rPr>
              <a:t>Richness</a:t>
            </a:r>
            <a:r>
              <a:rPr lang="en-ZA" dirty="0" smtClean="0">
                <a:solidFill>
                  <a:schemeClr val="bg1"/>
                </a:solidFill>
              </a:rPr>
              <a:t>-</a:t>
            </a:r>
            <a:r>
              <a:rPr lang="en-US" dirty="0">
                <a:solidFill>
                  <a:schemeClr val="bg1"/>
                </a:solidFill>
              </a:rPr>
              <a:t>Supports video, audio, and text messages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722462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sz="2800" dirty="0">
                <a:solidFill>
                  <a:srgbClr val="FFFFFF"/>
                </a:solidFill>
              </a:rPr>
              <a:t>Unique features of internet and web as commercial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639" y="2477838"/>
            <a:ext cx="929703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b="1" u="sng" dirty="0" smtClean="0">
                <a:solidFill>
                  <a:srgbClr val="FFFFFF"/>
                </a:solidFill>
              </a:rPr>
              <a:t>UBIQUITY</a:t>
            </a:r>
          </a:p>
          <a:p>
            <a:pPr>
              <a:lnSpc>
                <a:spcPct val="140000"/>
              </a:lnSpc>
            </a:pPr>
            <a:endParaRPr lang="en-ZA" dirty="0" smtClean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Internet/Web </a:t>
            </a:r>
            <a:r>
              <a:rPr lang="en-ZA" dirty="0">
                <a:solidFill>
                  <a:srgbClr val="FFFFFF"/>
                </a:solidFill>
              </a:rPr>
              <a:t>technology available everywhere: work, home, and so on, </a:t>
            </a:r>
            <a:r>
              <a:rPr lang="en-ZA" dirty="0" smtClean="0">
                <a:solidFill>
                  <a:srgbClr val="FFFFFF"/>
                </a:solidFill>
              </a:rPr>
              <a:t>anytime via desktop and mobile devices </a:t>
            </a:r>
            <a:endParaRPr lang="en-ZA" dirty="0">
              <a:solidFill>
                <a:srgbClr val="FFFFFF"/>
              </a:solidFill>
            </a:endParaRPr>
          </a:p>
          <a:p>
            <a:pPr>
              <a:lnSpc>
                <a:spcPct val="140000"/>
              </a:lnSpc>
            </a:pPr>
            <a:r>
              <a:rPr lang="en-ZA" b="1" dirty="0">
                <a:solidFill>
                  <a:srgbClr val="FFFFFF"/>
                </a:solidFill>
              </a:rPr>
              <a:t>Effect: 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Marketplace removed from temporal, geographic locations to become “</a:t>
            </a:r>
            <a:r>
              <a:rPr lang="en-ZA" dirty="0" err="1">
                <a:solidFill>
                  <a:srgbClr val="FFFFFF"/>
                </a:solidFill>
              </a:rPr>
              <a:t>marketspace</a:t>
            </a:r>
            <a:r>
              <a:rPr lang="en-ZA" dirty="0">
                <a:solidFill>
                  <a:srgbClr val="FFFFFF"/>
                </a:solidFill>
              </a:rPr>
              <a:t>”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Enhanced customer convenience and reduced shopping costs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Reduces transaction costs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Costs of participating in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605526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1321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sz="2800" dirty="0">
                <a:solidFill>
                  <a:srgbClr val="FFFFFF"/>
                </a:solidFill>
              </a:rPr>
              <a:t>Unique features of internet and web as commercial media</a:t>
            </a:r>
          </a:p>
          <a:p>
            <a:pPr>
              <a:lnSpc>
                <a:spcPct val="140000"/>
              </a:lnSpc>
            </a:pPr>
            <a:endParaRPr lang="en-ZA" sz="3200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9639" y="2477838"/>
            <a:ext cx="929703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b="1" u="sng" dirty="0" smtClean="0">
                <a:solidFill>
                  <a:srgbClr val="FFFFFF"/>
                </a:solidFill>
              </a:rPr>
              <a:t>GLOBAL REACH</a:t>
            </a:r>
          </a:p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The </a:t>
            </a:r>
            <a:r>
              <a:rPr lang="en-ZA" dirty="0">
                <a:solidFill>
                  <a:srgbClr val="FFFFFF"/>
                </a:solidFill>
              </a:rPr>
              <a:t>technology reaches across national boundaries, around </a:t>
            </a:r>
            <a:r>
              <a:rPr lang="en-ZA" dirty="0" smtClean="0">
                <a:solidFill>
                  <a:srgbClr val="FFFFFF"/>
                </a:solidFill>
              </a:rPr>
              <a:t>the earth</a:t>
            </a:r>
            <a:endParaRPr lang="en-ZA" dirty="0">
              <a:solidFill>
                <a:srgbClr val="FFFFFF"/>
              </a:solidFill>
            </a:endParaRPr>
          </a:p>
          <a:p>
            <a:pPr>
              <a:lnSpc>
                <a:spcPct val="140000"/>
              </a:lnSpc>
            </a:pPr>
            <a:r>
              <a:rPr lang="en-ZA" b="1" dirty="0">
                <a:solidFill>
                  <a:srgbClr val="FFFFFF"/>
                </a:solidFill>
              </a:rPr>
              <a:t>Effect: 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Commerce enabled across cultural and national boundaries seamlessly and without modification.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err="1">
                <a:solidFill>
                  <a:srgbClr val="FFFFFF"/>
                </a:solidFill>
              </a:rPr>
              <a:t>Marketspace</a:t>
            </a:r>
            <a:r>
              <a:rPr lang="en-ZA" dirty="0">
                <a:solidFill>
                  <a:srgbClr val="FFFFFF"/>
                </a:solidFill>
              </a:rPr>
              <a:t> includes, potentially, billions of consumers and millions of businesses worldwide.</a:t>
            </a:r>
          </a:p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8360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639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sz="2800" dirty="0">
                <a:solidFill>
                  <a:srgbClr val="FFFFFF"/>
                </a:solidFill>
              </a:rPr>
              <a:t>Unique features of internet and web as commercial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639" y="2477838"/>
            <a:ext cx="929703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b="1" u="sng" dirty="0" smtClean="0">
                <a:solidFill>
                  <a:srgbClr val="FFFFFF"/>
                </a:solidFill>
              </a:rPr>
              <a:t>UNIVERSAL STANDARDS</a:t>
            </a:r>
          </a:p>
          <a:p>
            <a:pPr>
              <a:lnSpc>
                <a:spcPct val="140000"/>
              </a:lnSpc>
            </a:pPr>
            <a:endParaRPr lang="en-ZA" dirty="0" smtClean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One </a:t>
            </a:r>
            <a:r>
              <a:rPr lang="en-ZA" dirty="0">
                <a:solidFill>
                  <a:srgbClr val="FFFFFF"/>
                </a:solidFill>
              </a:rPr>
              <a:t>set of technology </a:t>
            </a:r>
            <a:r>
              <a:rPr lang="en-ZA" dirty="0" smtClean="0">
                <a:solidFill>
                  <a:srgbClr val="FFFFFF"/>
                </a:solidFill>
              </a:rPr>
              <a:t>standards namely internet </a:t>
            </a:r>
            <a:r>
              <a:rPr lang="en-ZA" dirty="0">
                <a:solidFill>
                  <a:srgbClr val="FFFFFF"/>
                </a:solidFill>
              </a:rPr>
              <a:t>standards</a:t>
            </a:r>
          </a:p>
          <a:p>
            <a:pPr>
              <a:lnSpc>
                <a:spcPct val="140000"/>
              </a:lnSpc>
            </a:pPr>
            <a:r>
              <a:rPr lang="en-ZA" b="1" dirty="0">
                <a:solidFill>
                  <a:srgbClr val="FFFFFF"/>
                </a:solidFill>
              </a:rPr>
              <a:t>Effect: 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Disparate computer systems easily communicate with one another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Lower market entry costs—costs merchants must pay to bring goods to market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Lower consumers’ search costs—effort required to find suitable products</a:t>
            </a:r>
          </a:p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528597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sz="2800" dirty="0">
                <a:solidFill>
                  <a:srgbClr val="FFFFFF"/>
                </a:solidFill>
              </a:rPr>
              <a:t>Unique features of internet and web as commercial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639" y="2477838"/>
            <a:ext cx="929703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b="1" u="sng" dirty="0" smtClean="0">
                <a:solidFill>
                  <a:srgbClr val="FFFFFF"/>
                </a:solidFill>
              </a:rPr>
              <a:t>RICHNESS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Complexity and content of a message, e.g. supports </a:t>
            </a:r>
            <a:r>
              <a:rPr lang="en-ZA" dirty="0">
                <a:solidFill>
                  <a:srgbClr val="FFFFFF"/>
                </a:solidFill>
              </a:rPr>
              <a:t>video, audio, and text messages</a:t>
            </a:r>
          </a:p>
          <a:p>
            <a:pPr>
              <a:lnSpc>
                <a:spcPct val="140000"/>
              </a:lnSpc>
            </a:pPr>
            <a:r>
              <a:rPr lang="en-ZA" b="1" dirty="0">
                <a:solidFill>
                  <a:srgbClr val="FFFFFF"/>
                </a:solidFill>
              </a:rPr>
              <a:t>Effect: 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Possible to deliver rich messages with text, audio, and video simultaneously to large numbers of people.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Video, audio, and text marketing messages can be integrated into single marketing message and consumer experience.</a:t>
            </a:r>
          </a:p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223373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sz="2800" dirty="0">
                <a:solidFill>
                  <a:srgbClr val="FFFFFF"/>
                </a:solidFill>
              </a:rPr>
              <a:t>Unique features of internet and web as commercial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639" y="2477838"/>
            <a:ext cx="929703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b="1" u="sng" dirty="0" smtClean="0">
                <a:solidFill>
                  <a:srgbClr val="FFFFFF"/>
                </a:solidFill>
              </a:rPr>
              <a:t>INTERACTIVITY</a:t>
            </a:r>
          </a:p>
          <a:p>
            <a:pPr>
              <a:lnSpc>
                <a:spcPct val="140000"/>
              </a:lnSpc>
            </a:pPr>
            <a:endParaRPr lang="en-ZA" b="1" u="sng" dirty="0" smtClean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The </a:t>
            </a:r>
            <a:r>
              <a:rPr lang="en-ZA" dirty="0">
                <a:solidFill>
                  <a:srgbClr val="FFFFFF"/>
                </a:solidFill>
              </a:rPr>
              <a:t>technology works through interaction with the user.</a:t>
            </a:r>
          </a:p>
          <a:p>
            <a:pPr>
              <a:lnSpc>
                <a:spcPct val="140000"/>
              </a:lnSpc>
            </a:pPr>
            <a:r>
              <a:rPr lang="en-ZA" b="1" dirty="0">
                <a:solidFill>
                  <a:srgbClr val="FFFFFF"/>
                </a:solidFill>
              </a:rPr>
              <a:t>Effect: 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Consumers engaged in dialog that dynamically adjusts experience to the individual.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Consumer becomes co-participant in process of delivering goods to market.</a:t>
            </a:r>
          </a:p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278992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sz="2800" dirty="0">
                <a:solidFill>
                  <a:srgbClr val="FFFFFF"/>
                </a:solidFill>
              </a:rPr>
              <a:t>Unique features of internet and web as commercial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639" y="2477838"/>
            <a:ext cx="929703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u="sng" dirty="0" smtClean="0">
                <a:solidFill>
                  <a:srgbClr val="FFFFFF"/>
                </a:solidFill>
              </a:rPr>
              <a:t>PERSONALISATION / CUSTOMISATION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Technology </a:t>
            </a:r>
            <a:r>
              <a:rPr lang="en-ZA" dirty="0">
                <a:solidFill>
                  <a:srgbClr val="FFFFFF"/>
                </a:solidFill>
              </a:rPr>
              <a:t>permits </a:t>
            </a:r>
            <a:r>
              <a:rPr lang="en-ZA" dirty="0" smtClean="0">
                <a:solidFill>
                  <a:srgbClr val="FFFFFF"/>
                </a:solidFill>
              </a:rPr>
              <a:t>personalised messages to be delivered to individuals and groups and modification </a:t>
            </a:r>
            <a:r>
              <a:rPr lang="en-ZA" dirty="0">
                <a:solidFill>
                  <a:srgbClr val="FFFFFF"/>
                </a:solidFill>
              </a:rPr>
              <a:t>of </a:t>
            </a:r>
            <a:r>
              <a:rPr lang="en-ZA" dirty="0" smtClean="0">
                <a:solidFill>
                  <a:srgbClr val="FFFFFF"/>
                </a:solidFill>
              </a:rPr>
              <a:t>messages and </a:t>
            </a:r>
            <a:r>
              <a:rPr lang="en-ZA" dirty="0">
                <a:solidFill>
                  <a:srgbClr val="FFFFFF"/>
                </a:solidFill>
              </a:rPr>
              <a:t>goods</a:t>
            </a:r>
          </a:p>
          <a:p>
            <a:pPr>
              <a:lnSpc>
                <a:spcPct val="140000"/>
              </a:lnSpc>
            </a:pPr>
            <a:r>
              <a:rPr lang="en-ZA" b="1" dirty="0">
                <a:solidFill>
                  <a:srgbClr val="FFFFFF"/>
                </a:solidFill>
              </a:rPr>
              <a:t>Effect: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Personalized messages can be sent to individuals as well as groups.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Products and services can be customized to individual preferences.</a:t>
            </a:r>
          </a:p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233936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Ess10_Fig-09-04.t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8612" y="1591515"/>
            <a:ext cx="3787877" cy="5549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4"/>
          <p:cNvSpPr txBox="1">
            <a:spLocks/>
          </p:cNvSpPr>
          <p:nvPr/>
        </p:nvSpPr>
        <p:spPr bwMode="auto">
          <a:xfrm>
            <a:off x="0" y="990600"/>
            <a:ext cx="9144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133" indent="-381133" algn="l" defTabSz="508178" rtl="0" eaLnBrk="1" latinLnBrk="0" hangingPunct="1">
              <a:spcBef>
                <a:spcPct val="20000"/>
              </a:spcBef>
              <a:buFont typeface="Arial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5789" indent="-317611" algn="l" defTabSz="508178" rtl="0" eaLnBrk="1" latinLnBrk="0" hangingPunct="1">
              <a:spcBef>
                <a:spcPct val="20000"/>
              </a:spcBef>
              <a:buFont typeface="Arial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445" indent="-254089" algn="l" defTabSz="508178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78622" indent="-254089" algn="l" defTabSz="508178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800" indent="-254089" algn="l" defTabSz="508178" rtl="0" eaLnBrk="1" latinLnBrk="0" hangingPunct="1">
              <a:spcBef>
                <a:spcPct val="20000"/>
              </a:spcBef>
              <a:buFont typeface="Arial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94978" indent="-254089" algn="l" defTabSz="508178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03156" indent="-254089" algn="l" defTabSz="508178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1334" indent="-254089" algn="l" defTabSz="508178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19511" indent="-254089" algn="l" defTabSz="508178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mtClean="0">
                <a:solidFill>
                  <a:schemeClr val="bg1"/>
                </a:solidFill>
              </a:rPr>
              <a:t>Web Site Personalization</a:t>
            </a:r>
          </a:p>
          <a:p>
            <a:endParaRPr lang="en-US" altLang="en-US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854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sz="2800" dirty="0">
                <a:solidFill>
                  <a:srgbClr val="FFFFFF"/>
                </a:solidFill>
              </a:rPr>
              <a:t>Unique features of internet and web as commercial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639" y="2477838"/>
            <a:ext cx="929703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b="1" u="sng" dirty="0" smtClean="0">
                <a:solidFill>
                  <a:srgbClr val="FFFFFF"/>
                </a:solidFill>
              </a:rPr>
              <a:t>SOCIAL TECHNOLOGY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The </a:t>
            </a:r>
            <a:r>
              <a:rPr lang="en-ZA" dirty="0">
                <a:solidFill>
                  <a:srgbClr val="FFFFFF"/>
                </a:solidFill>
              </a:rPr>
              <a:t>technology promotes user content generation and social networking </a:t>
            </a:r>
          </a:p>
          <a:p>
            <a:pPr>
              <a:lnSpc>
                <a:spcPct val="140000"/>
              </a:lnSpc>
            </a:pPr>
            <a:r>
              <a:rPr lang="en-ZA" b="1" dirty="0">
                <a:solidFill>
                  <a:srgbClr val="FFFFFF"/>
                </a:solidFill>
              </a:rPr>
              <a:t>Effect: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New Internet social and business models enable user content creation and distribution, support social networks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Many-to-many model</a:t>
            </a:r>
          </a:p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33244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717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sz="3200" dirty="0" smtClean="0">
                <a:solidFill>
                  <a:srgbClr val="FFFFFF"/>
                </a:solidFill>
              </a:rPr>
              <a:t>Effects </a:t>
            </a:r>
            <a:r>
              <a:rPr lang="en-ZA" sz="3200" dirty="0">
                <a:solidFill>
                  <a:srgbClr val="FFFFFF"/>
                </a:solidFill>
              </a:rPr>
              <a:t>of the </a:t>
            </a:r>
            <a:r>
              <a:rPr lang="en-ZA" sz="3200" dirty="0" smtClean="0">
                <a:solidFill>
                  <a:srgbClr val="FFFFFF"/>
                </a:solidFill>
              </a:rPr>
              <a:t>internet </a:t>
            </a:r>
            <a:r>
              <a:rPr lang="en-ZA" sz="3200" dirty="0">
                <a:solidFill>
                  <a:srgbClr val="FFFFFF"/>
                </a:solidFill>
              </a:rPr>
              <a:t>on the marketplace: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639" y="2477838"/>
            <a:ext cx="929703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Reduces </a:t>
            </a:r>
            <a:r>
              <a:rPr lang="en-ZA" dirty="0">
                <a:solidFill>
                  <a:srgbClr val="FFFFFF"/>
                </a:solidFill>
              </a:rPr>
              <a:t>information </a:t>
            </a:r>
            <a:r>
              <a:rPr lang="en-ZA" dirty="0" smtClean="0">
                <a:solidFill>
                  <a:srgbClr val="FFFFFF"/>
                </a:solidFill>
              </a:rPr>
              <a:t>asymmetry – When one party in a transaction has more information than the other they have higher bargaining power</a:t>
            </a:r>
            <a:endParaRPr lang="en-ZA" dirty="0">
              <a:solidFill>
                <a:srgbClr val="FFFFFF"/>
              </a:solidFill>
            </a:endParaRPr>
          </a:p>
          <a:p>
            <a:pPr>
              <a:lnSpc>
                <a:spcPct val="140000"/>
              </a:lnSpc>
            </a:pPr>
            <a:endParaRPr lang="en-ZA" dirty="0" smtClean="0">
              <a:solidFill>
                <a:srgbClr val="FFFFFF"/>
              </a:solidFill>
            </a:endParaRPr>
          </a:p>
          <a:p>
            <a:pPr>
              <a:lnSpc>
                <a:spcPct val="140000"/>
              </a:lnSpc>
            </a:pPr>
            <a:r>
              <a:rPr lang="en-ZA" dirty="0" smtClean="0">
                <a:solidFill>
                  <a:srgbClr val="FFFFFF"/>
                </a:solidFill>
              </a:rPr>
              <a:t>Offers </a:t>
            </a:r>
            <a:r>
              <a:rPr lang="en-ZA" dirty="0">
                <a:solidFill>
                  <a:srgbClr val="FFFFFF"/>
                </a:solidFill>
              </a:rPr>
              <a:t>greater flexibility and efficiency because of: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Reduced search costs and transaction costs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Lower menu </a:t>
            </a:r>
            <a:r>
              <a:rPr lang="en-ZA" dirty="0" smtClean="0">
                <a:solidFill>
                  <a:srgbClr val="FFFFFF"/>
                </a:solidFill>
              </a:rPr>
              <a:t>costs – merchants’ costs of changing prices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Greater price discrimination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Dynamic </a:t>
            </a:r>
            <a:r>
              <a:rPr lang="en-ZA" dirty="0" smtClean="0">
                <a:solidFill>
                  <a:srgbClr val="FFFFFF"/>
                </a:solidFill>
              </a:rPr>
              <a:t>pricing – the price of product varies depending on the demand characteristics of the customer or the supply situation of the seller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489386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717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sz="3200" dirty="0" smtClean="0">
                <a:solidFill>
                  <a:srgbClr val="FFFFFF"/>
                </a:solidFill>
              </a:rPr>
              <a:t>Effects </a:t>
            </a:r>
            <a:r>
              <a:rPr lang="en-ZA" sz="3200" dirty="0">
                <a:solidFill>
                  <a:srgbClr val="FFFFFF"/>
                </a:solidFill>
              </a:rPr>
              <a:t>of the </a:t>
            </a:r>
            <a:r>
              <a:rPr lang="en-ZA" sz="3200" dirty="0" smtClean="0">
                <a:solidFill>
                  <a:srgbClr val="FFFFFF"/>
                </a:solidFill>
              </a:rPr>
              <a:t>internet </a:t>
            </a:r>
            <a:r>
              <a:rPr lang="en-ZA" sz="3200" dirty="0">
                <a:solidFill>
                  <a:srgbClr val="FFFFFF"/>
                </a:solidFill>
              </a:rPr>
              <a:t>on the marketplace: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639" y="2477838"/>
            <a:ext cx="929703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dirty="0">
                <a:solidFill>
                  <a:srgbClr val="FFFFFF"/>
                </a:solidFill>
              </a:rPr>
              <a:t>Offers greater flexibility and efficiency because of: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May </a:t>
            </a:r>
            <a:r>
              <a:rPr lang="en-ZA" dirty="0">
                <a:solidFill>
                  <a:srgbClr val="FFFFFF"/>
                </a:solidFill>
              </a:rPr>
              <a:t>reduce or increase switching costs </a:t>
            </a:r>
            <a:endParaRPr lang="en-ZA" dirty="0" smtClean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May </a:t>
            </a:r>
            <a:r>
              <a:rPr lang="en-ZA" dirty="0">
                <a:solidFill>
                  <a:srgbClr val="FFFFFF"/>
                </a:solidFill>
              </a:rPr>
              <a:t>delay gratification: immediate consumption of goods possible with digital goods and yet with physical goods a product has to be transported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Increased </a:t>
            </a:r>
            <a:r>
              <a:rPr lang="en-ZA" dirty="0">
                <a:solidFill>
                  <a:srgbClr val="FFFFFF"/>
                </a:solidFill>
              </a:rPr>
              <a:t>market segmentation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Stronger network effects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More </a:t>
            </a:r>
            <a:r>
              <a:rPr lang="en-ZA" dirty="0" smtClean="0">
                <a:solidFill>
                  <a:srgbClr val="FFFFFF"/>
                </a:solidFill>
              </a:rPr>
              <a:t>disintermediation – bypassing intermediaries such as distributors or retail outlets in the distribution channel</a:t>
            </a:r>
            <a:endParaRPr lang="en-ZA" dirty="0">
              <a:solidFill>
                <a:srgbClr val="FFFFFF"/>
              </a:solidFill>
            </a:endParaRPr>
          </a:p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698009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376" y="1968639"/>
            <a:ext cx="7620205" cy="4451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5195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717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sz="3200" dirty="0" smtClean="0">
                <a:solidFill>
                  <a:srgbClr val="FFFFFF"/>
                </a:solidFill>
              </a:rPr>
              <a:t>Benefits of </a:t>
            </a:r>
            <a:r>
              <a:rPr lang="en-ZA" sz="3200" dirty="0" err="1" smtClean="0">
                <a:solidFill>
                  <a:srgbClr val="FFFFFF"/>
                </a:solidFill>
              </a:rPr>
              <a:t>eCommerce</a:t>
            </a:r>
            <a:endParaRPr lang="en-ZA" sz="3200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9639" y="2477838"/>
            <a:ext cx="929703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Its round-the-clock availability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The enhanced speed of access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The wide availability of goods and services for the consumer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Easy accessibility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No brick and mortar shop to sell from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International reach</a:t>
            </a:r>
            <a:endParaRPr lang="en-ZA" dirty="0">
              <a:solidFill>
                <a:srgbClr val="FFFFFF"/>
              </a:solidFill>
            </a:endParaRPr>
          </a:p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392977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781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sz="3200" dirty="0" smtClean="0">
                <a:solidFill>
                  <a:srgbClr val="FFFFFF"/>
                </a:solidFill>
              </a:rPr>
              <a:t>Downside of </a:t>
            </a:r>
            <a:r>
              <a:rPr lang="en-ZA" sz="3200" dirty="0" err="1" smtClean="0">
                <a:solidFill>
                  <a:srgbClr val="FFFFFF"/>
                </a:solidFill>
              </a:rPr>
              <a:t>eCommerce</a:t>
            </a:r>
            <a:endParaRPr lang="en-ZA" sz="3200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9639" y="2477838"/>
            <a:ext cx="929703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Sometimes limited customer service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ZA" dirty="0" smtClean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Consumers not being able to see or touch a product prior to purchase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Waiting time for product shipping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Security and privacy issues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ZA" dirty="0">
              <a:solidFill>
                <a:srgbClr val="FFFFFF"/>
              </a:solidFill>
            </a:endParaRPr>
          </a:p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982308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717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sz="3200" dirty="0" smtClean="0">
                <a:solidFill>
                  <a:srgbClr val="FFFFFF"/>
                </a:solidFill>
              </a:rPr>
              <a:t>Ecommerce technologies and applications</a:t>
            </a:r>
            <a:endParaRPr lang="en-ZA" sz="3200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9639" y="2477838"/>
            <a:ext cx="929703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dirty="0" smtClean="0">
                <a:solidFill>
                  <a:srgbClr val="FFFFFF"/>
                </a:solidFill>
              </a:rPr>
              <a:t>The technologies include: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Mobile commerce (</a:t>
            </a:r>
            <a:r>
              <a:rPr lang="en-ZA" dirty="0" err="1" smtClean="0">
                <a:solidFill>
                  <a:srgbClr val="FFFFFF"/>
                </a:solidFill>
              </a:rPr>
              <a:t>mCommerce</a:t>
            </a:r>
            <a:r>
              <a:rPr lang="en-ZA" dirty="0" smtClean="0">
                <a:solidFill>
                  <a:srgbClr val="FFFFFF"/>
                </a:solidFill>
              </a:rPr>
              <a:t>)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Electronic funds transfer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Supply chain management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Internet marketing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Online transaction processing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Electronic Data Interchange (EDI)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Inventory management systems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Automated data collection systems</a:t>
            </a:r>
          </a:p>
          <a:p>
            <a:pPr>
              <a:lnSpc>
                <a:spcPct val="140000"/>
              </a:lnSpc>
            </a:pPr>
            <a:r>
              <a:rPr lang="en-ZA" dirty="0" smtClean="0">
                <a:solidFill>
                  <a:srgbClr val="FFFFFF"/>
                </a:solidFill>
              </a:rPr>
              <a:t>The applications include: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Email, online </a:t>
            </a:r>
            <a:r>
              <a:rPr lang="en-ZA" dirty="0" err="1" smtClean="0">
                <a:solidFill>
                  <a:srgbClr val="FFFFFF"/>
                </a:solidFill>
              </a:rPr>
              <a:t>catalogs</a:t>
            </a:r>
            <a:r>
              <a:rPr lang="en-ZA" dirty="0" smtClean="0">
                <a:solidFill>
                  <a:srgbClr val="FFFFFF"/>
                </a:solidFill>
              </a:rPr>
              <a:t> and shopping carts, web services, file transfer </a:t>
            </a:r>
            <a:r>
              <a:rPr lang="en-ZA" dirty="0" err="1" smtClean="0">
                <a:solidFill>
                  <a:srgbClr val="FFFFFF"/>
                </a:solidFill>
              </a:rPr>
              <a:t>protocol,etc</a:t>
            </a:r>
            <a:endParaRPr lang="en-ZA" dirty="0" smtClean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ZA" dirty="0">
              <a:solidFill>
                <a:srgbClr val="FFFFFF"/>
              </a:solidFill>
            </a:endParaRPr>
          </a:p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93554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781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sz="3200" dirty="0" smtClean="0">
                <a:solidFill>
                  <a:srgbClr val="FFFFFF"/>
                </a:solidFill>
              </a:rPr>
              <a:t>Major </a:t>
            </a:r>
            <a:r>
              <a:rPr lang="en-ZA" sz="3200" dirty="0">
                <a:solidFill>
                  <a:srgbClr val="FFFFFF"/>
                </a:solidFill>
              </a:rPr>
              <a:t>types of e-commerce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639" y="2477838"/>
            <a:ext cx="929703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Business-to-consumer </a:t>
            </a:r>
            <a:r>
              <a:rPr lang="en-ZA" dirty="0">
                <a:solidFill>
                  <a:srgbClr val="FFFFFF"/>
                </a:solidFill>
              </a:rPr>
              <a:t>(B2C</a:t>
            </a:r>
            <a:r>
              <a:rPr lang="en-ZA" dirty="0" smtClean="0">
                <a:solidFill>
                  <a:srgbClr val="FFFFFF"/>
                </a:solidFill>
              </a:rPr>
              <a:t>) –products and services to individual shoppers</a:t>
            </a:r>
            <a:endParaRPr lang="en-ZA" dirty="0">
              <a:solidFill>
                <a:srgbClr val="FFFFFF"/>
              </a:solidFill>
            </a:endParaRPr>
          </a:p>
          <a:p>
            <a:pPr marL="851078" lvl="1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Example: www.nanodog.net </a:t>
            </a:r>
            <a:r>
              <a:rPr lang="en-ZA" dirty="0" smtClean="0">
                <a:solidFill>
                  <a:srgbClr val="FFFFFF"/>
                </a:solidFill>
              </a:rPr>
              <a:t>which electronics, software and computer </a:t>
            </a:r>
            <a:r>
              <a:rPr lang="en-ZA" dirty="0" err="1" smtClean="0">
                <a:solidFill>
                  <a:srgbClr val="FFFFFF"/>
                </a:solidFill>
              </a:rPr>
              <a:t>accesories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Business-to-business (B2B)</a:t>
            </a:r>
          </a:p>
          <a:p>
            <a:pPr marL="851078" lvl="1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Example: </a:t>
            </a:r>
            <a:r>
              <a:rPr lang="en-ZA" dirty="0" err="1" smtClean="0">
                <a:solidFill>
                  <a:srgbClr val="FFFFFF"/>
                </a:solidFill>
              </a:rPr>
              <a:t>ChemConnect</a:t>
            </a:r>
            <a:r>
              <a:rPr lang="en-ZA" dirty="0" smtClean="0">
                <a:solidFill>
                  <a:srgbClr val="FFFFFF"/>
                </a:solidFill>
              </a:rPr>
              <a:t> selling chemicals and plastics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Consumer-to-consumer (C2C)</a:t>
            </a:r>
          </a:p>
          <a:p>
            <a:pPr marL="851078" lvl="1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Example: http://classifieds.com.na/ </a:t>
            </a:r>
            <a:r>
              <a:rPr lang="en-ZA" dirty="0" smtClean="0">
                <a:solidFill>
                  <a:srgbClr val="FFFFFF"/>
                </a:solidFill>
              </a:rPr>
              <a:t>where people sell their goods to other consumers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E-commerce can be categorized by platform</a:t>
            </a:r>
          </a:p>
          <a:p>
            <a:pPr marL="851078" lvl="1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Mobile commerce (m-commerce)</a:t>
            </a:r>
          </a:p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727921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717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sz="3200" dirty="0">
                <a:solidFill>
                  <a:srgbClr val="FFFFFF"/>
                </a:solidFill>
              </a:rPr>
              <a:t>E-commerce business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639" y="2477838"/>
            <a:ext cx="929703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Portal – a gateway to the web or site which users set as their home pages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E-</a:t>
            </a:r>
            <a:r>
              <a:rPr lang="en-ZA" dirty="0" err="1" smtClean="0">
                <a:solidFill>
                  <a:srgbClr val="FFFFFF"/>
                </a:solidFill>
              </a:rPr>
              <a:t>tailer</a:t>
            </a:r>
            <a:r>
              <a:rPr lang="en-ZA" dirty="0" smtClean="0">
                <a:solidFill>
                  <a:srgbClr val="FFFFFF"/>
                </a:solidFill>
              </a:rPr>
              <a:t> – online retail stores that sell physical products directly to consumers or to individual businesses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Content </a:t>
            </a:r>
            <a:r>
              <a:rPr lang="en-ZA" dirty="0" smtClean="0">
                <a:solidFill>
                  <a:srgbClr val="FFFFFF"/>
                </a:solidFill>
              </a:rPr>
              <a:t>provider – Creates revenue by providing digital content such as music, videos, news, over the web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Transaction </a:t>
            </a:r>
            <a:r>
              <a:rPr lang="en-ZA" dirty="0" smtClean="0">
                <a:solidFill>
                  <a:srgbClr val="FFFFFF"/>
                </a:solidFill>
              </a:rPr>
              <a:t>broker – saves users money and time by processing online sales transactions and generating a fee each time a transaction occurs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Market </a:t>
            </a:r>
            <a:r>
              <a:rPr lang="en-ZA" dirty="0" smtClean="0">
                <a:solidFill>
                  <a:srgbClr val="FFFFFF"/>
                </a:solidFill>
              </a:rPr>
              <a:t>creator – provides a digital environment where buyers and sellers can meet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Service </a:t>
            </a:r>
            <a:r>
              <a:rPr lang="en-ZA" dirty="0" smtClean="0">
                <a:solidFill>
                  <a:srgbClr val="FFFFFF"/>
                </a:solidFill>
              </a:rPr>
              <a:t>provider – provides web 2.0 applications such as photo sharing, video sharing and user-generated content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Community </a:t>
            </a:r>
            <a:r>
              <a:rPr lang="en-ZA" dirty="0" smtClean="0">
                <a:solidFill>
                  <a:srgbClr val="FFFFFF"/>
                </a:solidFill>
              </a:rPr>
              <a:t>provider – provides an online meeting place where people with similar interests can communicate and find useful information</a:t>
            </a:r>
            <a:endParaRPr lang="en-ZA" dirty="0">
              <a:solidFill>
                <a:srgbClr val="FFFFFF"/>
              </a:solidFill>
            </a:endParaRPr>
          </a:p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552011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717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sz="3200" dirty="0">
                <a:solidFill>
                  <a:srgbClr val="FFFFFF"/>
                </a:solidFill>
              </a:rPr>
              <a:t>E-commerce revenue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639" y="2477838"/>
            <a:ext cx="929703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Advertising  revenue model – a website generates a revenue by attracting a large audience of visitors who are then exposed to advertisements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Sales revenue model – companies derive revenue by selling goods, information and services to customers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Subscription revenue model – a web site offering content or services charges a subscription fee for access to some or all of its offerings on an ongoing basis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Free/Freemium revenue model – firms offer basic services or content for free, while charging a premium for advanced or special features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Transaction fee </a:t>
            </a:r>
            <a:r>
              <a:rPr lang="en-ZA" dirty="0" smtClean="0">
                <a:solidFill>
                  <a:srgbClr val="FFFFFF"/>
                </a:solidFill>
              </a:rPr>
              <a:t>revenue model – a company receives a fee for enabling or executing a transaction 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Affiliate revenue model – websites that send visitors to other websites in return for a referral </a:t>
            </a:r>
            <a:r>
              <a:rPr lang="en-ZA" dirty="0" err="1" smtClean="0">
                <a:solidFill>
                  <a:srgbClr val="FFFFFF"/>
                </a:solidFill>
              </a:rPr>
              <a:t>feee</a:t>
            </a:r>
            <a:endParaRPr lang="en-ZA" dirty="0">
              <a:solidFill>
                <a:srgbClr val="FFFFFF"/>
              </a:solidFill>
            </a:endParaRPr>
          </a:p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814960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717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sz="3200" dirty="0">
                <a:solidFill>
                  <a:srgbClr val="FFFFFF"/>
                </a:solidFill>
              </a:rPr>
              <a:t>Electronic data interchange (EDI)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639" y="2477838"/>
            <a:ext cx="929703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Business-to-business ecommerce refers to commercial transactions that occur among business firms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Computer-to-computer </a:t>
            </a:r>
            <a:r>
              <a:rPr lang="en-ZA" dirty="0">
                <a:solidFill>
                  <a:srgbClr val="FFFFFF"/>
                </a:solidFill>
              </a:rPr>
              <a:t>exchange of standard transactions such as invoices, purchase </a:t>
            </a:r>
            <a:r>
              <a:rPr lang="en-ZA" dirty="0" smtClean="0">
                <a:solidFill>
                  <a:srgbClr val="FFFFFF"/>
                </a:solidFill>
              </a:rPr>
              <a:t>orders, shipment orders, etc.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Major industries have EDI standards that define structure and information fields of electronic documents.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More companies are increasingly moving toward private networks that allow them to link to a wider variety of firms than EDI allows and share a wider range of information in a single system. </a:t>
            </a:r>
          </a:p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239437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 descr="Ess10_Fig-09-06.t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2335213"/>
            <a:ext cx="8763000" cy="218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7"/>
          <p:cNvSpPr txBox="1">
            <a:spLocks/>
          </p:cNvSpPr>
          <p:nvPr/>
        </p:nvSpPr>
        <p:spPr bwMode="auto">
          <a:xfrm>
            <a:off x="190500" y="1418303"/>
            <a:ext cx="9144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81133" indent="-381133" algn="l" defTabSz="508178" rtl="0" eaLnBrk="1" latinLnBrk="0" hangingPunct="1">
              <a:spcBef>
                <a:spcPct val="20000"/>
              </a:spcBef>
              <a:buFont typeface="Arial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5789" indent="-317611" algn="l" defTabSz="508178" rtl="0" eaLnBrk="1" latinLnBrk="0" hangingPunct="1">
              <a:spcBef>
                <a:spcPct val="20000"/>
              </a:spcBef>
              <a:buFont typeface="Arial"/>
              <a:buChar char="–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445" indent="-254089" algn="l" defTabSz="508178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78622" indent="-254089" algn="l" defTabSz="508178" rtl="0" eaLnBrk="1" latinLnBrk="0" hangingPunct="1">
              <a:spcBef>
                <a:spcPct val="20000"/>
              </a:spcBef>
              <a:buFont typeface="Arial"/>
              <a:buChar char="–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800" indent="-254089" algn="l" defTabSz="508178" rtl="0" eaLnBrk="1" latinLnBrk="0" hangingPunct="1">
              <a:spcBef>
                <a:spcPct val="20000"/>
              </a:spcBef>
              <a:buFont typeface="Arial"/>
              <a:buChar char="»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94978" indent="-254089" algn="l" defTabSz="508178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03156" indent="-254089" algn="l" defTabSz="508178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1334" indent="-254089" algn="l" defTabSz="508178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19511" indent="-254089" algn="l" defTabSz="508178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 smtClean="0">
                <a:solidFill>
                  <a:schemeClr val="bg1"/>
                </a:solidFill>
              </a:rPr>
              <a:t>Electronic Data Interchange</a:t>
            </a:r>
          </a:p>
          <a:p>
            <a:endParaRPr lang="en-US" altLang="en-US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3594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717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sz="3200" dirty="0">
                <a:solidFill>
                  <a:srgbClr val="FFFFFF"/>
                </a:solidFill>
              </a:rPr>
              <a:t>Private industrial network (private exchange)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639" y="2477838"/>
            <a:ext cx="929703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Large firms </a:t>
            </a:r>
            <a:r>
              <a:rPr lang="en-ZA" dirty="0">
                <a:solidFill>
                  <a:srgbClr val="FFFFFF"/>
                </a:solidFill>
              </a:rPr>
              <a:t>using </a:t>
            </a:r>
            <a:r>
              <a:rPr lang="en-ZA" dirty="0" smtClean="0">
                <a:solidFill>
                  <a:srgbClr val="FFFFFF"/>
                </a:solidFill>
              </a:rPr>
              <a:t>a secure web site (extranet) </a:t>
            </a:r>
            <a:r>
              <a:rPr lang="en-ZA" dirty="0">
                <a:solidFill>
                  <a:srgbClr val="FFFFFF"/>
                </a:solidFill>
              </a:rPr>
              <a:t>to link to its suppliers, distributors, and other key business partners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The network is owned </a:t>
            </a:r>
            <a:r>
              <a:rPr lang="en-ZA" dirty="0">
                <a:solidFill>
                  <a:srgbClr val="FFFFFF"/>
                </a:solidFill>
              </a:rPr>
              <a:t>by buyer</a:t>
            </a:r>
          </a:p>
          <a:p>
            <a:pPr>
              <a:lnSpc>
                <a:spcPct val="140000"/>
              </a:lnSpc>
            </a:pPr>
            <a:r>
              <a:rPr lang="en-ZA" dirty="0" smtClean="0">
                <a:solidFill>
                  <a:srgbClr val="FFFFFF"/>
                </a:solidFill>
              </a:rPr>
              <a:t>The network permits the sharing of: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Product design and development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Marketing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Production scheduling and inventory management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Unstructured communication (graphics and e-mail)</a:t>
            </a:r>
          </a:p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612441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717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sz="3200" dirty="0">
                <a:solidFill>
                  <a:srgbClr val="FFFFFF"/>
                </a:solidFill>
              </a:rPr>
              <a:t>Net marketplaces (e-hubs)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639" y="2477838"/>
            <a:ext cx="929703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dirty="0" smtClean="0">
                <a:solidFill>
                  <a:srgbClr val="FFFFFF"/>
                </a:solidFill>
              </a:rPr>
              <a:t>Net market places are: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Single market based on internet technology  </a:t>
            </a:r>
            <a:r>
              <a:rPr lang="en-ZA" dirty="0">
                <a:solidFill>
                  <a:srgbClr val="FFFFFF"/>
                </a:solidFill>
              </a:rPr>
              <a:t>for many buyers and sellers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Industry-owned or owned by independent intermediary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Generate revenue from transaction fees, other services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Use prices established through negotiation, auction, RFQs, or fixed prices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May focus on </a:t>
            </a:r>
            <a:r>
              <a:rPr lang="en-ZA" dirty="0" smtClean="0">
                <a:solidFill>
                  <a:srgbClr val="FFFFFF"/>
                </a:solidFill>
              </a:rPr>
              <a:t>direct goods (goods used in the production process, (e.g. sole for shoe production) </a:t>
            </a:r>
            <a:r>
              <a:rPr lang="en-ZA" dirty="0">
                <a:solidFill>
                  <a:srgbClr val="FFFFFF"/>
                </a:solidFill>
              </a:rPr>
              <a:t>or indirect </a:t>
            </a:r>
            <a:r>
              <a:rPr lang="en-ZA" dirty="0" smtClean="0">
                <a:solidFill>
                  <a:srgbClr val="FFFFFF"/>
                </a:solidFill>
              </a:rPr>
              <a:t>goods (e.g. products for maintenance and repair)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May be vertical </a:t>
            </a:r>
            <a:r>
              <a:rPr lang="en-ZA" dirty="0" smtClean="0">
                <a:solidFill>
                  <a:srgbClr val="FFFFFF"/>
                </a:solidFill>
              </a:rPr>
              <a:t>(for specific industries such as telecoms, automobiles) or </a:t>
            </a:r>
            <a:r>
              <a:rPr lang="en-ZA" dirty="0">
                <a:solidFill>
                  <a:srgbClr val="FFFFFF"/>
                </a:solidFill>
              </a:rPr>
              <a:t>horizontal </a:t>
            </a:r>
            <a:r>
              <a:rPr lang="en-ZA" dirty="0" smtClean="0">
                <a:solidFill>
                  <a:srgbClr val="FFFFFF"/>
                </a:solidFill>
              </a:rPr>
              <a:t>marketplaces (for goods and services found in many industries, e.g. office equipment)</a:t>
            </a:r>
            <a:endParaRPr lang="en-ZA" dirty="0">
              <a:solidFill>
                <a:srgbClr val="FFFFFF"/>
              </a:solidFill>
            </a:endParaRPr>
          </a:p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0423407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128" y="1689766"/>
            <a:ext cx="6963697" cy="5222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11909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717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sz="3200" dirty="0">
                <a:solidFill>
                  <a:srgbClr val="FFFFFF"/>
                </a:solidFill>
              </a:rPr>
              <a:t>Exchanges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639" y="2477838"/>
            <a:ext cx="929703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dirty="0" smtClean="0">
                <a:solidFill>
                  <a:srgbClr val="FFFFFF"/>
                </a:solidFill>
              </a:rPr>
              <a:t>Exchanges are: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Independently </a:t>
            </a:r>
            <a:r>
              <a:rPr lang="en-ZA" dirty="0">
                <a:solidFill>
                  <a:srgbClr val="FFFFFF"/>
                </a:solidFill>
              </a:rPr>
              <a:t>owned third-party Net marketplaces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Connect thousands of suppliers and buyers for spot purchasing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Typically provide vertical markets for direct goods for single industry (food, electronics)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Proliferated during early years of e-commerce; many have failed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Competitive bidding drove prices down and did not offer long-term relationships with buyers or services to make lowering prices worthwhile.</a:t>
            </a:r>
          </a:p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4038465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747376"/>
            <a:ext cx="9144635" cy="717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ZA" sz="3200" dirty="0" smtClean="0">
                <a:solidFill>
                  <a:srgbClr val="FFFFFF"/>
                </a:solidFill>
              </a:rPr>
              <a:t>M-commerce definition </a:t>
            </a:r>
            <a:endParaRPr lang="en-ZA" sz="3200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9639" y="2477838"/>
            <a:ext cx="929703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The buying and selling of goods and services through wireless handheld devices such as cellular telephone and personal digital assistants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Fastest growing form of </a:t>
            </a:r>
            <a:r>
              <a:rPr lang="en-ZA" dirty="0" smtClean="0">
                <a:solidFill>
                  <a:srgbClr val="FFFFFF"/>
                </a:solidFill>
              </a:rPr>
              <a:t>e-commerce -some </a:t>
            </a:r>
            <a:r>
              <a:rPr lang="en-ZA" dirty="0">
                <a:solidFill>
                  <a:srgbClr val="FFFFFF"/>
                </a:solidFill>
              </a:rPr>
              <a:t>areas growing at 50 percent or </a:t>
            </a:r>
            <a:r>
              <a:rPr lang="en-ZA" dirty="0" smtClean="0">
                <a:solidFill>
                  <a:srgbClr val="FFFFFF"/>
                </a:solidFill>
              </a:rPr>
              <a:t>more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Location-based services such as geo-social services, geo-advertising, geo-information services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Geo-social services – where friends meet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Geo-advertising – where you can find the nearest business, e.g. restaurant, park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 smtClean="0">
                <a:solidFill>
                  <a:srgbClr val="FFFFFF"/>
                </a:solidFill>
              </a:rPr>
              <a:t>Geo-information – that can provide information about different ventures</a:t>
            </a:r>
            <a:endParaRPr lang="en-ZA" dirty="0">
              <a:solidFill>
                <a:srgbClr val="FFFFFF"/>
              </a:solidFill>
            </a:endParaRP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Main areas of growth (exclusive of location-based services)</a:t>
            </a:r>
          </a:p>
          <a:p>
            <a:pPr marL="851078" lvl="1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Retail sales at top Mobile 400 (Amazon, eBay, etc.)</a:t>
            </a:r>
          </a:p>
          <a:p>
            <a:pPr marL="851078" lvl="1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FFFFFF"/>
                </a:solidFill>
              </a:rPr>
              <a:t>Sales of digital content (music, TV, etc.)</a:t>
            </a:r>
          </a:p>
          <a:p>
            <a:pPr>
              <a:lnSpc>
                <a:spcPct val="140000"/>
              </a:lnSpc>
            </a:pP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524" y="1383897"/>
            <a:ext cx="8008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 smtClean="0">
                <a:solidFill>
                  <a:srgbClr val="FFFFFF"/>
                </a:solidFill>
                <a:latin typeface="RopaSoftPro-Regular"/>
              </a:rPr>
              <a:t>Faculty</a:t>
            </a:r>
            <a:r>
              <a:rPr lang="en-US" sz="2000" b="1" i="0" u="none" strike="noStrike" dirty="0" smtClean="0">
                <a:solidFill>
                  <a:srgbClr val="FFFFFF"/>
                </a:solidFill>
                <a:latin typeface="RopaSoftPro-Regular"/>
              </a:rPr>
              <a:t> of </a:t>
            </a:r>
            <a:r>
              <a:rPr lang="en-US" b="1" dirty="0">
                <a:solidFill>
                  <a:srgbClr val="FFFFFF"/>
                </a:solidFill>
                <a:latin typeface="RopaSoftPro-Regular"/>
              </a:rPr>
              <a:t> </a:t>
            </a:r>
            <a:r>
              <a:rPr lang="en-US" b="1" dirty="0" smtClean="0">
                <a:solidFill>
                  <a:srgbClr val="FFFFFF"/>
                </a:solidFill>
                <a:latin typeface="RopaSoftPro-Regular"/>
              </a:rPr>
              <a:t>Computing and Informatics</a:t>
            </a:r>
            <a:endParaRPr lang="en-US" sz="2000" b="1" i="0" u="none" strike="noStrike" baseline="0" dirty="0" smtClean="0">
              <a:solidFill>
                <a:srgbClr val="FFFFFF"/>
              </a:solidFill>
              <a:latin typeface="RopaSoftPr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486862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13B53D5EC04F4DAACC2E3DC49C4E82" ma:contentTypeVersion="18" ma:contentTypeDescription="Create a new document." ma:contentTypeScope="" ma:versionID="a6d20e04a112aed12b6a54852c9965fc">
  <xsd:schema xmlns:xsd="http://www.w3.org/2001/XMLSchema" xmlns:xs="http://www.w3.org/2001/XMLSchema" xmlns:p="http://schemas.microsoft.com/office/2006/metadata/properties" xmlns:ns3="ff360b5c-1491-4de7-9038-42ebdf865dbe" xmlns:ns4="95e470c5-d555-45ea-b7d4-7b5e2c49540b" targetNamespace="http://schemas.microsoft.com/office/2006/metadata/properties" ma:root="true" ma:fieldsID="3670b74b3cd2f2706484e3aa08490ff2" ns3:_="" ns4:_="">
    <xsd:import namespace="ff360b5c-1491-4de7-9038-42ebdf865dbe"/>
    <xsd:import namespace="95e470c5-d555-45ea-b7d4-7b5e2c49540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OCR" minOccurs="0"/>
                <xsd:element ref="ns4:MediaServiceAutoKeyPoints" minOccurs="0"/>
                <xsd:element ref="ns4:MediaServiceKeyPoints" minOccurs="0"/>
                <xsd:element ref="ns4:MediaServiceLocation" minOccurs="0"/>
                <xsd:element ref="ns4:MediaLengthInSeconds" minOccurs="0"/>
                <xsd:element ref="ns4:MediaServiceSearchProperties" minOccurs="0"/>
                <xsd:element ref="ns4:_activity" minOccurs="0"/>
                <xsd:element ref="ns4:MediaServiceObjectDetectorVersion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360b5c-1491-4de7-9038-42ebdf865db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e470c5-d555-45ea-b7d4-7b5e2c4954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5e470c5-d555-45ea-b7d4-7b5e2c49540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1CEA70-424F-4AD6-A0A5-A411F0A3FC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360b5c-1491-4de7-9038-42ebdf865dbe"/>
    <ds:schemaRef ds:uri="95e470c5-d555-45ea-b7d4-7b5e2c4954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9423CF9-AD72-49ED-9474-157EFC15BF3B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95e470c5-d555-45ea-b7d4-7b5e2c49540b"/>
    <ds:schemaRef ds:uri="ff360b5c-1491-4de7-9038-42ebdf865dbe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964B98F-11F5-4942-B885-9D658B8EB81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2562</TotalTime>
  <Words>1762</Words>
  <Application>Microsoft Office PowerPoint</Application>
  <PresentationFormat>Custom</PresentationFormat>
  <Paragraphs>226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RopaSoftPro-Regular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CDP</dc:creator>
  <cp:lastModifiedBy>Mthembo, Nkululeko</cp:lastModifiedBy>
  <cp:revision>171</cp:revision>
  <dcterms:created xsi:type="dcterms:W3CDTF">2015-11-09T03:14:54Z</dcterms:created>
  <dcterms:modified xsi:type="dcterms:W3CDTF">2025-03-05T10:10:29Z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0x010100E513B53D5EC04F4DAACC2E3DC49C4E82</vt:lpwstr>
  </property>
</Properties>
</file>