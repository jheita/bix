
<file path=[Content_Types].xml><?xml version="1.0" encoding="utf-8"?>
<Types xmlns="http://schemas.openxmlformats.org/package/2006/content-types">
  <Default Extension="emf" ContentType="image/x-emf"/>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sldIdLst>
    <p:sldId id="256" r:id="rId5"/>
    <p:sldId id="257" r:id="rId6"/>
    <p:sldId id="261" r:id="rId7"/>
    <p:sldId id="263" r:id="rId8"/>
    <p:sldId id="276" r:id="rId9"/>
    <p:sldId id="275" r:id="rId10"/>
    <p:sldId id="288" r:id="rId11"/>
    <p:sldId id="289" r:id="rId12"/>
    <p:sldId id="290" r:id="rId13"/>
    <p:sldId id="291" r:id="rId14"/>
    <p:sldId id="277" r:id="rId15"/>
    <p:sldId id="287" r:id="rId16"/>
    <p:sldId id="278" r:id="rId17"/>
    <p:sldId id="279" r:id="rId18"/>
    <p:sldId id="292" r:id="rId19"/>
    <p:sldId id="280" r:id="rId20"/>
    <p:sldId id="281" r:id="rId21"/>
    <p:sldId id="282" r:id="rId22"/>
    <p:sldId id="283" r:id="rId23"/>
    <p:sldId id="284" r:id="rId24"/>
    <p:sldId id="285" r:id="rId25"/>
    <p:sldId id="286" r:id="rId26"/>
  </p:sldIdLst>
  <p:sldSz cx="10150475" cy="7635875"/>
  <p:notesSz cx="6858000" cy="9144000"/>
  <p:defaultTextStyle>
    <a:defPPr>
      <a:defRPr lang="en-US"/>
    </a:defPPr>
    <a:lvl1pPr marL="0" algn="l" defTabSz="508178" rtl="0" eaLnBrk="1" latinLnBrk="0" hangingPunct="1">
      <a:defRPr sz="2000" kern="1200">
        <a:solidFill>
          <a:schemeClr val="tx1"/>
        </a:solidFill>
        <a:latin typeface="+mn-lt"/>
        <a:ea typeface="+mn-ea"/>
        <a:cs typeface="+mn-cs"/>
      </a:defRPr>
    </a:lvl1pPr>
    <a:lvl2pPr marL="508178" algn="l" defTabSz="508178" rtl="0" eaLnBrk="1" latinLnBrk="0" hangingPunct="1">
      <a:defRPr sz="2000" kern="1200">
        <a:solidFill>
          <a:schemeClr val="tx1"/>
        </a:solidFill>
        <a:latin typeface="+mn-lt"/>
        <a:ea typeface="+mn-ea"/>
        <a:cs typeface="+mn-cs"/>
      </a:defRPr>
    </a:lvl2pPr>
    <a:lvl3pPr marL="1016356" algn="l" defTabSz="508178" rtl="0" eaLnBrk="1" latinLnBrk="0" hangingPunct="1">
      <a:defRPr sz="2000" kern="1200">
        <a:solidFill>
          <a:schemeClr val="tx1"/>
        </a:solidFill>
        <a:latin typeface="+mn-lt"/>
        <a:ea typeface="+mn-ea"/>
        <a:cs typeface="+mn-cs"/>
      </a:defRPr>
    </a:lvl3pPr>
    <a:lvl4pPr marL="1524533" algn="l" defTabSz="508178" rtl="0" eaLnBrk="1" latinLnBrk="0" hangingPunct="1">
      <a:defRPr sz="2000" kern="1200">
        <a:solidFill>
          <a:schemeClr val="tx1"/>
        </a:solidFill>
        <a:latin typeface="+mn-lt"/>
        <a:ea typeface="+mn-ea"/>
        <a:cs typeface="+mn-cs"/>
      </a:defRPr>
    </a:lvl4pPr>
    <a:lvl5pPr marL="2032711" algn="l" defTabSz="508178" rtl="0" eaLnBrk="1" latinLnBrk="0" hangingPunct="1">
      <a:defRPr sz="2000" kern="1200">
        <a:solidFill>
          <a:schemeClr val="tx1"/>
        </a:solidFill>
        <a:latin typeface="+mn-lt"/>
        <a:ea typeface="+mn-ea"/>
        <a:cs typeface="+mn-cs"/>
      </a:defRPr>
    </a:lvl5pPr>
    <a:lvl6pPr marL="2540889" algn="l" defTabSz="508178" rtl="0" eaLnBrk="1" latinLnBrk="0" hangingPunct="1">
      <a:defRPr sz="2000" kern="1200">
        <a:solidFill>
          <a:schemeClr val="tx1"/>
        </a:solidFill>
        <a:latin typeface="+mn-lt"/>
        <a:ea typeface="+mn-ea"/>
        <a:cs typeface="+mn-cs"/>
      </a:defRPr>
    </a:lvl6pPr>
    <a:lvl7pPr marL="3049067" algn="l" defTabSz="508178" rtl="0" eaLnBrk="1" latinLnBrk="0" hangingPunct="1">
      <a:defRPr sz="2000" kern="1200">
        <a:solidFill>
          <a:schemeClr val="tx1"/>
        </a:solidFill>
        <a:latin typeface="+mn-lt"/>
        <a:ea typeface="+mn-ea"/>
        <a:cs typeface="+mn-cs"/>
      </a:defRPr>
    </a:lvl7pPr>
    <a:lvl8pPr marL="3557245" algn="l" defTabSz="508178" rtl="0" eaLnBrk="1" latinLnBrk="0" hangingPunct="1">
      <a:defRPr sz="2000" kern="1200">
        <a:solidFill>
          <a:schemeClr val="tx1"/>
        </a:solidFill>
        <a:latin typeface="+mn-lt"/>
        <a:ea typeface="+mn-ea"/>
        <a:cs typeface="+mn-cs"/>
      </a:defRPr>
    </a:lvl8pPr>
    <a:lvl9pPr marL="4065422" algn="l" defTabSz="508178" rtl="0" eaLnBrk="1" latinLnBrk="0" hangingPunct="1">
      <a:defRPr sz="20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462">
          <p15:clr>
            <a:srgbClr val="A4A3A4"/>
          </p15:clr>
        </p15:guide>
        <p15:guide id="2" pos="422">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scaleToFitPaper="1"/>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41A37"/>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98" d="100"/>
          <a:sy n="98" d="100"/>
        </p:scale>
        <p:origin x="1668" y="96"/>
      </p:cViewPr>
      <p:guideLst>
        <p:guide orient="horz" pos="462"/>
        <p:guide pos="422"/>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presProps" Target="presProps.xml"/><Relationship Id="rId30"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2" name="Picture 1"/>
          <p:cNvPicPr>
            <a:picLocks noChangeAspect="1"/>
          </p:cNvPicPr>
          <p:nvPr userDrawn="1"/>
        </p:nvPicPr>
        <p:blipFill rotWithShape="1">
          <a:blip r:embed="rId2"/>
          <a:srcRect b="49802"/>
          <a:stretch/>
        </p:blipFill>
        <p:spPr>
          <a:xfrm>
            <a:off x="0" y="-1"/>
            <a:ext cx="10150475" cy="3821545"/>
          </a:xfrm>
          <a:prstGeom prst="rect">
            <a:avLst/>
          </a:prstGeom>
        </p:spPr>
      </p:pic>
    </p:spTree>
    <p:extLst>
      <p:ext uri="{BB962C8B-B14F-4D97-AF65-F5344CB8AC3E}">
        <p14:creationId xmlns:p14="http://schemas.microsoft.com/office/powerpoint/2010/main" val="401312063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pic>
        <p:nvPicPr>
          <p:cNvPr id="3" name="Picture 2"/>
          <p:cNvPicPr>
            <a:picLocks noChangeAspect="1"/>
          </p:cNvPicPr>
          <p:nvPr userDrawn="1"/>
        </p:nvPicPr>
        <p:blipFill rotWithShape="1">
          <a:blip r:embed="rId2"/>
          <a:srcRect b="-301"/>
          <a:stretch/>
        </p:blipFill>
        <p:spPr>
          <a:xfrm>
            <a:off x="0" y="0"/>
            <a:ext cx="10150475" cy="7635875"/>
          </a:xfrm>
          <a:prstGeom prst="rect">
            <a:avLst/>
          </a:prstGeom>
        </p:spPr>
      </p:pic>
    </p:spTree>
    <p:extLst>
      <p:ext uri="{BB962C8B-B14F-4D97-AF65-F5344CB8AC3E}">
        <p14:creationId xmlns:p14="http://schemas.microsoft.com/office/powerpoint/2010/main" val="163907144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pic>
        <p:nvPicPr>
          <p:cNvPr id="9" name="Picture 8" descr="NUST Marketing Brand Mark.ai"/>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96302" y="296078"/>
            <a:ext cx="4140200" cy="1295400"/>
          </a:xfrm>
          <a:prstGeom prst="rect">
            <a:avLst/>
          </a:prstGeom>
        </p:spPr>
      </p:pic>
      <p:sp>
        <p:nvSpPr>
          <p:cNvPr id="4" name="TextBox 3"/>
          <p:cNvSpPr txBox="1"/>
          <p:nvPr userDrawn="1"/>
        </p:nvSpPr>
        <p:spPr>
          <a:xfrm>
            <a:off x="1438871" y="1406916"/>
            <a:ext cx="4453268" cy="400110"/>
          </a:xfrm>
          <a:prstGeom prst="rect">
            <a:avLst/>
          </a:prstGeom>
          <a:noFill/>
        </p:spPr>
        <p:txBody>
          <a:bodyPr wrap="square" rtlCol="0">
            <a:spAutoFit/>
          </a:bodyPr>
          <a:lstStyle/>
          <a:p>
            <a:pPr marR="0" algn="l" rtl="0"/>
            <a:r>
              <a:rPr lang="en-US" sz="2000" b="1" i="0" u="none" strike="noStrike" baseline="0" dirty="0">
                <a:solidFill>
                  <a:srgbClr val="141A37"/>
                </a:solidFill>
                <a:latin typeface="RopaSoftPro-Regular"/>
              </a:rPr>
              <a:t>Faculty of Computing and Informatics</a:t>
            </a:r>
          </a:p>
        </p:txBody>
      </p:sp>
    </p:spTree>
    <p:extLst>
      <p:ext uri="{BB962C8B-B14F-4D97-AF65-F5344CB8AC3E}">
        <p14:creationId xmlns:p14="http://schemas.microsoft.com/office/powerpoint/2010/main" val="366105389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7D9619E1-8D7B-8148-82B0-908DBEC4CE4D}" type="datetimeFigureOut">
              <a:rPr lang="en-US" smtClean="0"/>
              <a:t>3/16/2025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56E6150-8108-4B44-B0B0-BFDC52A01023}" type="slidenum">
              <a:rPr lang="en-US" smtClean="0"/>
              <a:t>‹#›</a:t>
            </a:fld>
            <a:endParaRPr lang="en-US"/>
          </a:p>
        </p:txBody>
      </p:sp>
    </p:spTree>
    <p:extLst>
      <p:ext uri="{BB962C8B-B14F-4D97-AF65-F5344CB8AC3E}">
        <p14:creationId xmlns:p14="http://schemas.microsoft.com/office/powerpoint/2010/main" val="362315961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563915" y="1983207"/>
            <a:ext cx="4985364" cy="5612015"/>
          </a:xfrm>
        </p:spPr>
        <p:txBody>
          <a:bodyPr/>
          <a:lstStyle>
            <a:lvl1pPr>
              <a:defRPr sz="3100"/>
            </a:lvl1pPr>
            <a:lvl2pPr>
              <a:defRPr sz="2700"/>
            </a:lvl2pPr>
            <a:lvl3pPr>
              <a:defRPr sz="22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5718454" y="1983207"/>
            <a:ext cx="4985363" cy="5612015"/>
          </a:xfrm>
        </p:spPr>
        <p:txBody>
          <a:bodyPr/>
          <a:lstStyle>
            <a:lvl1pPr>
              <a:defRPr sz="3100"/>
            </a:lvl1pPr>
            <a:lvl2pPr>
              <a:defRPr sz="2700"/>
            </a:lvl2pPr>
            <a:lvl3pPr>
              <a:defRPr sz="22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7D9619E1-8D7B-8148-82B0-908DBEC4CE4D}" type="datetimeFigureOut">
              <a:rPr lang="en-US" smtClean="0"/>
              <a:t>3/16/2025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56E6150-8108-4B44-B0B0-BFDC52A01023}" type="slidenum">
              <a:rPr lang="en-US" smtClean="0"/>
              <a:t>‹#›</a:t>
            </a:fld>
            <a:endParaRPr lang="en-US"/>
          </a:p>
        </p:txBody>
      </p:sp>
    </p:spTree>
    <p:extLst>
      <p:ext uri="{BB962C8B-B14F-4D97-AF65-F5344CB8AC3E}">
        <p14:creationId xmlns:p14="http://schemas.microsoft.com/office/powerpoint/2010/main" val="52203527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507524" y="305789"/>
            <a:ext cx="9135428" cy="1272646"/>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507524" y="1709234"/>
            <a:ext cx="4484889" cy="712328"/>
          </a:xfrm>
        </p:spPr>
        <p:txBody>
          <a:bodyPr anchor="b"/>
          <a:lstStyle>
            <a:lvl1pPr marL="0" indent="0">
              <a:buNone/>
              <a:defRPr sz="2700" b="1"/>
            </a:lvl1pPr>
            <a:lvl2pPr marL="508178" indent="0">
              <a:buNone/>
              <a:defRPr sz="2200" b="1"/>
            </a:lvl2pPr>
            <a:lvl3pPr marL="1016356" indent="0">
              <a:buNone/>
              <a:defRPr sz="2000" b="1"/>
            </a:lvl3pPr>
            <a:lvl4pPr marL="1524533" indent="0">
              <a:buNone/>
              <a:defRPr sz="1800" b="1"/>
            </a:lvl4pPr>
            <a:lvl5pPr marL="2032711" indent="0">
              <a:buNone/>
              <a:defRPr sz="1800" b="1"/>
            </a:lvl5pPr>
            <a:lvl6pPr marL="2540889" indent="0">
              <a:buNone/>
              <a:defRPr sz="1800" b="1"/>
            </a:lvl6pPr>
            <a:lvl7pPr marL="3049067" indent="0">
              <a:buNone/>
              <a:defRPr sz="1800" b="1"/>
            </a:lvl7pPr>
            <a:lvl8pPr marL="3557245" indent="0">
              <a:buNone/>
              <a:defRPr sz="1800" b="1"/>
            </a:lvl8pPr>
            <a:lvl9pPr marL="4065422" indent="0">
              <a:buNone/>
              <a:defRPr sz="1800" b="1"/>
            </a:lvl9pPr>
          </a:lstStyle>
          <a:p>
            <a:pPr lvl="0"/>
            <a:r>
              <a:rPr lang="en-US"/>
              <a:t>Click to edit Master text styles</a:t>
            </a:r>
          </a:p>
        </p:txBody>
      </p:sp>
      <p:sp>
        <p:nvSpPr>
          <p:cNvPr id="4" name="Content Placeholder 3"/>
          <p:cNvSpPr>
            <a:spLocks noGrp="1"/>
          </p:cNvSpPr>
          <p:nvPr>
            <p:ph sz="half" idx="2"/>
          </p:nvPr>
        </p:nvSpPr>
        <p:spPr>
          <a:xfrm>
            <a:off x="507524" y="2421562"/>
            <a:ext cx="4484889" cy="4399467"/>
          </a:xfrm>
        </p:spPr>
        <p:txBody>
          <a:bodyPr/>
          <a:lstStyle>
            <a:lvl1pPr>
              <a:defRPr sz="2700"/>
            </a:lvl1pPr>
            <a:lvl2pPr>
              <a:defRPr sz="22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5156301" y="1709234"/>
            <a:ext cx="4486651" cy="712328"/>
          </a:xfrm>
        </p:spPr>
        <p:txBody>
          <a:bodyPr anchor="b"/>
          <a:lstStyle>
            <a:lvl1pPr marL="0" indent="0">
              <a:buNone/>
              <a:defRPr sz="2700" b="1"/>
            </a:lvl1pPr>
            <a:lvl2pPr marL="508178" indent="0">
              <a:buNone/>
              <a:defRPr sz="2200" b="1"/>
            </a:lvl2pPr>
            <a:lvl3pPr marL="1016356" indent="0">
              <a:buNone/>
              <a:defRPr sz="2000" b="1"/>
            </a:lvl3pPr>
            <a:lvl4pPr marL="1524533" indent="0">
              <a:buNone/>
              <a:defRPr sz="1800" b="1"/>
            </a:lvl4pPr>
            <a:lvl5pPr marL="2032711" indent="0">
              <a:buNone/>
              <a:defRPr sz="1800" b="1"/>
            </a:lvl5pPr>
            <a:lvl6pPr marL="2540889" indent="0">
              <a:buNone/>
              <a:defRPr sz="1800" b="1"/>
            </a:lvl6pPr>
            <a:lvl7pPr marL="3049067" indent="0">
              <a:buNone/>
              <a:defRPr sz="1800" b="1"/>
            </a:lvl7pPr>
            <a:lvl8pPr marL="3557245" indent="0">
              <a:buNone/>
              <a:defRPr sz="1800" b="1"/>
            </a:lvl8pPr>
            <a:lvl9pPr marL="4065422" indent="0">
              <a:buNone/>
              <a:defRPr sz="1800" b="1"/>
            </a:lvl9pPr>
          </a:lstStyle>
          <a:p>
            <a:pPr lvl="0"/>
            <a:r>
              <a:rPr lang="en-US"/>
              <a:t>Click to edit Master text styles</a:t>
            </a:r>
          </a:p>
        </p:txBody>
      </p:sp>
      <p:sp>
        <p:nvSpPr>
          <p:cNvPr id="6" name="Content Placeholder 5"/>
          <p:cNvSpPr>
            <a:spLocks noGrp="1"/>
          </p:cNvSpPr>
          <p:nvPr>
            <p:ph sz="quarter" idx="4"/>
          </p:nvPr>
        </p:nvSpPr>
        <p:spPr>
          <a:xfrm>
            <a:off x="5156301" y="2421562"/>
            <a:ext cx="4486651" cy="4399467"/>
          </a:xfrm>
        </p:spPr>
        <p:txBody>
          <a:bodyPr/>
          <a:lstStyle>
            <a:lvl1pPr>
              <a:defRPr sz="2700"/>
            </a:lvl1pPr>
            <a:lvl2pPr>
              <a:defRPr sz="22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7D9619E1-8D7B-8148-82B0-908DBEC4CE4D}" type="datetimeFigureOut">
              <a:rPr lang="en-US" smtClean="0"/>
              <a:t>3/16/2025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56E6150-8108-4B44-B0B0-BFDC52A01023}" type="slidenum">
              <a:rPr lang="en-US" smtClean="0"/>
              <a:t>‹#›</a:t>
            </a:fld>
            <a:endParaRPr lang="en-US"/>
          </a:p>
        </p:txBody>
      </p:sp>
    </p:spTree>
    <p:extLst>
      <p:ext uri="{BB962C8B-B14F-4D97-AF65-F5344CB8AC3E}">
        <p14:creationId xmlns:p14="http://schemas.microsoft.com/office/powerpoint/2010/main" val="95771393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7D9619E1-8D7B-8148-82B0-908DBEC4CE4D}" type="datetimeFigureOut">
              <a:rPr lang="en-US" smtClean="0"/>
              <a:t>3/16/2025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56E6150-8108-4B44-B0B0-BFDC52A01023}" type="slidenum">
              <a:rPr lang="en-US" smtClean="0"/>
              <a:t>‹#›</a:t>
            </a:fld>
            <a:endParaRPr lang="en-US"/>
          </a:p>
        </p:txBody>
      </p:sp>
    </p:spTree>
    <p:extLst>
      <p:ext uri="{BB962C8B-B14F-4D97-AF65-F5344CB8AC3E}">
        <p14:creationId xmlns:p14="http://schemas.microsoft.com/office/powerpoint/2010/main" val="155045733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D9619E1-8D7B-8148-82B0-908DBEC4CE4D}" type="datetimeFigureOut">
              <a:rPr lang="en-US" smtClean="0"/>
              <a:t>3/16/2025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56E6150-8108-4B44-B0B0-BFDC52A01023}" type="slidenum">
              <a:rPr lang="en-US" smtClean="0"/>
              <a:t>‹#›</a:t>
            </a:fld>
            <a:endParaRPr lang="en-US"/>
          </a:p>
        </p:txBody>
      </p:sp>
    </p:spTree>
    <p:extLst>
      <p:ext uri="{BB962C8B-B14F-4D97-AF65-F5344CB8AC3E}">
        <p14:creationId xmlns:p14="http://schemas.microsoft.com/office/powerpoint/2010/main" val="341907691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07524" y="304021"/>
            <a:ext cx="3339436" cy="1293857"/>
          </a:xfrm>
        </p:spPr>
        <p:txBody>
          <a:bodyPr anchor="b"/>
          <a:lstStyle>
            <a:lvl1pPr algn="l">
              <a:defRPr sz="2200" b="1"/>
            </a:lvl1pPr>
          </a:lstStyle>
          <a:p>
            <a:r>
              <a:rPr lang="en-US"/>
              <a:t>Click to edit Master title style</a:t>
            </a:r>
          </a:p>
        </p:txBody>
      </p:sp>
      <p:sp>
        <p:nvSpPr>
          <p:cNvPr id="3" name="Content Placeholder 2"/>
          <p:cNvSpPr>
            <a:spLocks noGrp="1"/>
          </p:cNvSpPr>
          <p:nvPr>
            <p:ph idx="1"/>
          </p:nvPr>
        </p:nvSpPr>
        <p:spPr>
          <a:xfrm>
            <a:off x="3968554" y="304021"/>
            <a:ext cx="5674397" cy="6517008"/>
          </a:xfrm>
        </p:spPr>
        <p:txBody>
          <a:bodyPr/>
          <a:lstStyle>
            <a:lvl1pPr>
              <a:defRPr sz="3600"/>
            </a:lvl1pPr>
            <a:lvl2pPr>
              <a:defRPr sz="3100"/>
            </a:lvl2pPr>
            <a:lvl3pPr>
              <a:defRPr sz="2700"/>
            </a:lvl3pPr>
            <a:lvl4pPr>
              <a:defRPr sz="2200"/>
            </a:lvl4pPr>
            <a:lvl5pPr>
              <a:defRPr sz="2200"/>
            </a:lvl5pPr>
            <a:lvl6pPr>
              <a:defRPr sz="2200"/>
            </a:lvl6pPr>
            <a:lvl7pPr>
              <a:defRPr sz="2200"/>
            </a:lvl7pPr>
            <a:lvl8pPr>
              <a:defRPr sz="2200"/>
            </a:lvl8pPr>
            <a:lvl9pPr>
              <a:defRPr sz="2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507524" y="1597878"/>
            <a:ext cx="3339436" cy="5223151"/>
          </a:xfrm>
        </p:spPr>
        <p:txBody>
          <a:bodyPr/>
          <a:lstStyle>
            <a:lvl1pPr marL="0" indent="0">
              <a:buNone/>
              <a:defRPr sz="1600"/>
            </a:lvl1pPr>
            <a:lvl2pPr marL="508178" indent="0">
              <a:buNone/>
              <a:defRPr sz="1300"/>
            </a:lvl2pPr>
            <a:lvl3pPr marL="1016356" indent="0">
              <a:buNone/>
              <a:defRPr sz="1100"/>
            </a:lvl3pPr>
            <a:lvl4pPr marL="1524533" indent="0">
              <a:buNone/>
              <a:defRPr sz="1000"/>
            </a:lvl4pPr>
            <a:lvl5pPr marL="2032711" indent="0">
              <a:buNone/>
              <a:defRPr sz="1000"/>
            </a:lvl5pPr>
            <a:lvl6pPr marL="2540889" indent="0">
              <a:buNone/>
              <a:defRPr sz="1000"/>
            </a:lvl6pPr>
            <a:lvl7pPr marL="3049067" indent="0">
              <a:buNone/>
              <a:defRPr sz="1000"/>
            </a:lvl7pPr>
            <a:lvl8pPr marL="3557245" indent="0">
              <a:buNone/>
              <a:defRPr sz="1000"/>
            </a:lvl8pPr>
            <a:lvl9pPr marL="4065422"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7D9619E1-8D7B-8148-82B0-908DBEC4CE4D}" type="datetimeFigureOut">
              <a:rPr lang="en-US" smtClean="0"/>
              <a:t>3/16/2025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56E6150-8108-4B44-B0B0-BFDC52A01023}" type="slidenum">
              <a:rPr lang="en-US" smtClean="0"/>
              <a:t>‹#›</a:t>
            </a:fld>
            <a:endParaRPr lang="en-US"/>
          </a:p>
        </p:txBody>
      </p:sp>
    </p:spTree>
    <p:extLst>
      <p:ext uri="{BB962C8B-B14F-4D97-AF65-F5344CB8AC3E}">
        <p14:creationId xmlns:p14="http://schemas.microsoft.com/office/powerpoint/2010/main" val="354393142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989564" y="5345112"/>
            <a:ext cx="6090285" cy="631021"/>
          </a:xfrm>
        </p:spPr>
        <p:txBody>
          <a:bodyPr anchor="b"/>
          <a:lstStyle>
            <a:lvl1pPr algn="l">
              <a:defRPr sz="2200" b="1"/>
            </a:lvl1pPr>
          </a:lstStyle>
          <a:p>
            <a:r>
              <a:rPr lang="en-US"/>
              <a:t>Click to edit Master title style</a:t>
            </a:r>
          </a:p>
        </p:txBody>
      </p:sp>
      <p:sp>
        <p:nvSpPr>
          <p:cNvPr id="3" name="Picture Placeholder 2"/>
          <p:cNvSpPr>
            <a:spLocks noGrp="1"/>
          </p:cNvSpPr>
          <p:nvPr>
            <p:ph type="pic" idx="1"/>
          </p:nvPr>
        </p:nvSpPr>
        <p:spPr>
          <a:xfrm>
            <a:off x="1989564" y="682280"/>
            <a:ext cx="6090285" cy="4581525"/>
          </a:xfrm>
        </p:spPr>
        <p:txBody>
          <a:bodyPr/>
          <a:lstStyle>
            <a:lvl1pPr marL="0" indent="0">
              <a:buNone/>
              <a:defRPr sz="3600"/>
            </a:lvl1pPr>
            <a:lvl2pPr marL="508178" indent="0">
              <a:buNone/>
              <a:defRPr sz="3100"/>
            </a:lvl2pPr>
            <a:lvl3pPr marL="1016356" indent="0">
              <a:buNone/>
              <a:defRPr sz="2700"/>
            </a:lvl3pPr>
            <a:lvl4pPr marL="1524533" indent="0">
              <a:buNone/>
              <a:defRPr sz="2200"/>
            </a:lvl4pPr>
            <a:lvl5pPr marL="2032711" indent="0">
              <a:buNone/>
              <a:defRPr sz="2200"/>
            </a:lvl5pPr>
            <a:lvl6pPr marL="2540889" indent="0">
              <a:buNone/>
              <a:defRPr sz="2200"/>
            </a:lvl6pPr>
            <a:lvl7pPr marL="3049067" indent="0">
              <a:buNone/>
              <a:defRPr sz="2200"/>
            </a:lvl7pPr>
            <a:lvl8pPr marL="3557245" indent="0">
              <a:buNone/>
              <a:defRPr sz="2200"/>
            </a:lvl8pPr>
            <a:lvl9pPr marL="4065422" indent="0">
              <a:buNone/>
              <a:defRPr sz="2200"/>
            </a:lvl9pPr>
          </a:lstStyle>
          <a:p>
            <a:endParaRPr lang="en-US"/>
          </a:p>
        </p:txBody>
      </p:sp>
      <p:sp>
        <p:nvSpPr>
          <p:cNvPr id="4" name="Text Placeholder 3"/>
          <p:cNvSpPr>
            <a:spLocks noGrp="1"/>
          </p:cNvSpPr>
          <p:nvPr>
            <p:ph type="body" sz="half" idx="2"/>
          </p:nvPr>
        </p:nvSpPr>
        <p:spPr>
          <a:xfrm>
            <a:off x="1989564" y="5976133"/>
            <a:ext cx="6090285" cy="896154"/>
          </a:xfrm>
        </p:spPr>
        <p:txBody>
          <a:bodyPr/>
          <a:lstStyle>
            <a:lvl1pPr marL="0" indent="0">
              <a:buNone/>
              <a:defRPr sz="1600"/>
            </a:lvl1pPr>
            <a:lvl2pPr marL="508178" indent="0">
              <a:buNone/>
              <a:defRPr sz="1300"/>
            </a:lvl2pPr>
            <a:lvl3pPr marL="1016356" indent="0">
              <a:buNone/>
              <a:defRPr sz="1100"/>
            </a:lvl3pPr>
            <a:lvl4pPr marL="1524533" indent="0">
              <a:buNone/>
              <a:defRPr sz="1000"/>
            </a:lvl4pPr>
            <a:lvl5pPr marL="2032711" indent="0">
              <a:buNone/>
              <a:defRPr sz="1000"/>
            </a:lvl5pPr>
            <a:lvl6pPr marL="2540889" indent="0">
              <a:buNone/>
              <a:defRPr sz="1000"/>
            </a:lvl6pPr>
            <a:lvl7pPr marL="3049067" indent="0">
              <a:buNone/>
              <a:defRPr sz="1000"/>
            </a:lvl7pPr>
            <a:lvl8pPr marL="3557245" indent="0">
              <a:buNone/>
              <a:defRPr sz="1000"/>
            </a:lvl8pPr>
            <a:lvl9pPr marL="4065422"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7D9619E1-8D7B-8148-82B0-908DBEC4CE4D}" type="datetimeFigureOut">
              <a:rPr lang="en-US" smtClean="0"/>
              <a:t>3/16/2025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56E6150-8108-4B44-B0B0-BFDC52A01023}" type="slidenum">
              <a:rPr lang="en-US" smtClean="0"/>
              <a:t>‹#›</a:t>
            </a:fld>
            <a:endParaRPr lang="en-US"/>
          </a:p>
        </p:txBody>
      </p:sp>
    </p:spTree>
    <p:extLst>
      <p:ext uri="{BB962C8B-B14F-4D97-AF65-F5344CB8AC3E}">
        <p14:creationId xmlns:p14="http://schemas.microsoft.com/office/powerpoint/2010/main" val="336784022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D9619E1-8D7B-8148-82B0-908DBEC4CE4D}" type="datetimeFigureOut">
              <a:rPr lang="en-US" smtClean="0"/>
              <a:t>3/16/2025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56E6150-8108-4B44-B0B0-BFDC52A01023}" type="slidenum">
              <a:rPr lang="en-US" smtClean="0"/>
              <a:t>‹#›</a:t>
            </a:fld>
            <a:endParaRPr lang="en-US"/>
          </a:p>
        </p:txBody>
      </p:sp>
    </p:spTree>
    <p:extLst>
      <p:ext uri="{BB962C8B-B14F-4D97-AF65-F5344CB8AC3E}">
        <p14:creationId xmlns:p14="http://schemas.microsoft.com/office/powerpoint/2010/main" val="342240777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169723" y="341140"/>
            <a:ext cx="2534094" cy="7254081"/>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563915" y="341140"/>
            <a:ext cx="7436633" cy="725408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D9619E1-8D7B-8148-82B0-908DBEC4CE4D}" type="datetimeFigureOut">
              <a:rPr lang="en-US" smtClean="0"/>
              <a:t>3/16/2025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56E6150-8108-4B44-B0B0-BFDC52A01023}" type="slidenum">
              <a:rPr lang="en-US" smtClean="0"/>
              <a:t>‹#›</a:t>
            </a:fld>
            <a:endParaRPr lang="en-US"/>
          </a:p>
        </p:txBody>
      </p:sp>
    </p:spTree>
    <p:extLst>
      <p:ext uri="{BB962C8B-B14F-4D97-AF65-F5344CB8AC3E}">
        <p14:creationId xmlns:p14="http://schemas.microsoft.com/office/powerpoint/2010/main" val="253493839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07524" y="305789"/>
            <a:ext cx="9135428" cy="1272646"/>
          </a:xfrm>
          <a:prstGeom prst="rect">
            <a:avLst/>
          </a:prstGeom>
        </p:spPr>
        <p:txBody>
          <a:bodyPr vert="horz" lIns="101636" tIns="50818" rIns="101636" bIns="50818" rtlCol="0" anchor="ctr">
            <a:normAutofit/>
          </a:bodyPr>
          <a:lstStyle/>
          <a:p>
            <a:r>
              <a:rPr lang="en-US"/>
              <a:t>Click to edit Master title style</a:t>
            </a:r>
          </a:p>
        </p:txBody>
      </p:sp>
      <p:sp>
        <p:nvSpPr>
          <p:cNvPr id="3" name="Text Placeholder 2"/>
          <p:cNvSpPr>
            <a:spLocks noGrp="1"/>
          </p:cNvSpPr>
          <p:nvPr>
            <p:ph type="body" idx="1"/>
          </p:nvPr>
        </p:nvSpPr>
        <p:spPr>
          <a:xfrm>
            <a:off x="507524" y="1781704"/>
            <a:ext cx="9135428" cy="5039325"/>
          </a:xfrm>
          <a:prstGeom prst="rect">
            <a:avLst/>
          </a:prstGeom>
        </p:spPr>
        <p:txBody>
          <a:bodyPr vert="horz" lIns="101636" tIns="50818" rIns="101636" bIns="50818"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507524" y="7077325"/>
            <a:ext cx="2368444" cy="406540"/>
          </a:xfrm>
          <a:prstGeom prst="rect">
            <a:avLst/>
          </a:prstGeom>
        </p:spPr>
        <p:txBody>
          <a:bodyPr vert="horz" lIns="101636" tIns="50818" rIns="101636" bIns="50818" rtlCol="0" anchor="ctr"/>
          <a:lstStyle>
            <a:lvl1pPr algn="l">
              <a:defRPr sz="1300">
                <a:solidFill>
                  <a:schemeClr val="tx1">
                    <a:tint val="75000"/>
                  </a:schemeClr>
                </a:solidFill>
              </a:defRPr>
            </a:lvl1pPr>
          </a:lstStyle>
          <a:p>
            <a:fld id="{7D9619E1-8D7B-8148-82B0-908DBEC4CE4D}" type="datetimeFigureOut">
              <a:rPr lang="en-US" smtClean="0"/>
              <a:t>3/16/2025</a:t>
            </a:fld>
            <a:endParaRPr lang="en-US"/>
          </a:p>
        </p:txBody>
      </p:sp>
      <p:sp>
        <p:nvSpPr>
          <p:cNvPr id="5" name="Footer Placeholder 4"/>
          <p:cNvSpPr>
            <a:spLocks noGrp="1"/>
          </p:cNvSpPr>
          <p:nvPr>
            <p:ph type="ftr" sz="quarter" idx="3"/>
          </p:nvPr>
        </p:nvSpPr>
        <p:spPr>
          <a:xfrm>
            <a:off x="3468079" y="7077325"/>
            <a:ext cx="3214317" cy="406540"/>
          </a:xfrm>
          <a:prstGeom prst="rect">
            <a:avLst/>
          </a:prstGeom>
        </p:spPr>
        <p:txBody>
          <a:bodyPr vert="horz" lIns="101636" tIns="50818" rIns="101636" bIns="50818" rtlCol="0" anchor="ctr"/>
          <a:lstStyle>
            <a:lvl1pPr algn="ctr">
              <a:defRPr sz="13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7274507" y="7077325"/>
            <a:ext cx="2368444" cy="406540"/>
          </a:xfrm>
          <a:prstGeom prst="rect">
            <a:avLst/>
          </a:prstGeom>
        </p:spPr>
        <p:txBody>
          <a:bodyPr vert="horz" lIns="101636" tIns="50818" rIns="101636" bIns="50818" rtlCol="0" anchor="ctr"/>
          <a:lstStyle>
            <a:lvl1pPr algn="r">
              <a:defRPr sz="1300">
                <a:solidFill>
                  <a:schemeClr val="tx1">
                    <a:tint val="75000"/>
                  </a:schemeClr>
                </a:solidFill>
              </a:defRPr>
            </a:lvl1pPr>
          </a:lstStyle>
          <a:p>
            <a:fld id="{B56E6150-8108-4B44-B0B0-BFDC52A01023}" type="slidenum">
              <a:rPr lang="en-US" smtClean="0"/>
              <a:t>‹#›</a:t>
            </a:fld>
            <a:endParaRPr lang="en-US"/>
          </a:p>
        </p:txBody>
      </p:sp>
    </p:spTree>
    <p:extLst>
      <p:ext uri="{BB962C8B-B14F-4D97-AF65-F5344CB8AC3E}">
        <p14:creationId xmlns:p14="http://schemas.microsoft.com/office/powerpoint/2010/main" val="275922257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60"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txStyles>
    <p:titleStyle>
      <a:lvl1pPr algn="ctr" defTabSz="508178" rtl="0" eaLnBrk="1" latinLnBrk="0" hangingPunct="1">
        <a:spcBef>
          <a:spcPct val="0"/>
        </a:spcBef>
        <a:buNone/>
        <a:defRPr sz="4900" kern="1200">
          <a:solidFill>
            <a:schemeClr val="tx1"/>
          </a:solidFill>
          <a:latin typeface="+mj-lt"/>
          <a:ea typeface="+mj-ea"/>
          <a:cs typeface="+mj-cs"/>
        </a:defRPr>
      </a:lvl1pPr>
    </p:titleStyle>
    <p:bodyStyle>
      <a:lvl1pPr marL="381133" indent="-381133" algn="l" defTabSz="508178" rtl="0" eaLnBrk="1" latinLnBrk="0" hangingPunct="1">
        <a:spcBef>
          <a:spcPct val="20000"/>
        </a:spcBef>
        <a:buFont typeface="Arial"/>
        <a:buChar char="•"/>
        <a:defRPr sz="3600" kern="1200">
          <a:solidFill>
            <a:schemeClr val="tx1"/>
          </a:solidFill>
          <a:latin typeface="+mn-lt"/>
          <a:ea typeface="+mn-ea"/>
          <a:cs typeface="+mn-cs"/>
        </a:defRPr>
      </a:lvl1pPr>
      <a:lvl2pPr marL="825789" indent="-317611" algn="l" defTabSz="508178" rtl="0" eaLnBrk="1" latinLnBrk="0" hangingPunct="1">
        <a:spcBef>
          <a:spcPct val="20000"/>
        </a:spcBef>
        <a:buFont typeface="Arial"/>
        <a:buChar char="–"/>
        <a:defRPr sz="3100" kern="1200">
          <a:solidFill>
            <a:schemeClr val="tx1"/>
          </a:solidFill>
          <a:latin typeface="+mn-lt"/>
          <a:ea typeface="+mn-ea"/>
          <a:cs typeface="+mn-cs"/>
        </a:defRPr>
      </a:lvl2pPr>
      <a:lvl3pPr marL="1270445" indent="-254089" algn="l" defTabSz="508178" rtl="0" eaLnBrk="1" latinLnBrk="0" hangingPunct="1">
        <a:spcBef>
          <a:spcPct val="20000"/>
        </a:spcBef>
        <a:buFont typeface="Arial"/>
        <a:buChar char="•"/>
        <a:defRPr sz="2700" kern="1200">
          <a:solidFill>
            <a:schemeClr val="tx1"/>
          </a:solidFill>
          <a:latin typeface="+mn-lt"/>
          <a:ea typeface="+mn-ea"/>
          <a:cs typeface="+mn-cs"/>
        </a:defRPr>
      </a:lvl3pPr>
      <a:lvl4pPr marL="1778622" indent="-254089" algn="l" defTabSz="508178" rtl="0" eaLnBrk="1" latinLnBrk="0" hangingPunct="1">
        <a:spcBef>
          <a:spcPct val="20000"/>
        </a:spcBef>
        <a:buFont typeface="Arial"/>
        <a:buChar char="–"/>
        <a:defRPr sz="2200" kern="1200">
          <a:solidFill>
            <a:schemeClr val="tx1"/>
          </a:solidFill>
          <a:latin typeface="+mn-lt"/>
          <a:ea typeface="+mn-ea"/>
          <a:cs typeface="+mn-cs"/>
        </a:defRPr>
      </a:lvl4pPr>
      <a:lvl5pPr marL="2286800" indent="-254089" algn="l" defTabSz="508178" rtl="0" eaLnBrk="1" latinLnBrk="0" hangingPunct="1">
        <a:spcBef>
          <a:spcPct val="20000"/>
        </a:spcBef>
        <a:buFont typeface="Arial"/>
        <a:buChar char="»"/>
        <a:defRPr sz="2200" kern="1200">
          <a:solidFill>
            <a:schemeClr val="tx1"/>
          </a:solidFill>
          <a:latin typeface="+mn-lt"/>
          <a:ea typeface="+mn-ea"/>
          <a:cs typeface="+mn-cs"/>
        </a:defRPr>
      </a:lvl5pPr>
      <a:lvl6pPr marL="2794978" indent="-254089" algn="l" defTabSz="508178" rtl="0" eaLnBrk="1" latinLnBrk="0" hangingPunct="1">
        <a:spcBef>
          <a:spcPct val="20000"/>
        </a:spcBef>
        <a:buFont typeface="Arial"/>
        <a:buChar char="•"/>
        <a:defRPr sz="2200" kern="1200">
          <a:solidFill>
            <a:schemeClr val="tx1"/>
          </a:solidFill>
          <a:latin typeface="+mn-lt"/>
          <a:ea typeface="+mn-ea"/>
          <a:cs typeface="+mn-cs"/>
        </a:defRPr>
      </a:lvl6pPr>
      <a:lvl7pPr marL="3303156" indent="-254089" algn="l" defTabSz="508178" rtl="0" eaLnBrk="1" latinLnBrk="0" hangingPunct="1">
        <a:spcBef>
          <a:spcPct val="20000"/>
        </a:spcBef>
        <a:buFont typeface="Arial"/>
        <a:buChar char="•"/>
        <a:defRPr sz="2200" kern="1200">
          <a:solidFill>
            <a:schemeClr val="tx1"/>
          </a:solidFill>
          <a:latin typeface="+mn-lt"/>
          <a:ea typeface="+mn-ea"/>
          <a:cs typeface="+mn-cs"/>
        </a:defRPr>
      </a:lvl7pPr>
      <a:lvl8pPr marL="3811334" indent="-254089" algn="l" defTabSz="508178" rtl="0" eaLnBrk="1" latinLnBrk="0" hangingPunct="1">
        <a:spcBef>
          <a:spcPct val="20000"/>
        </a:spcBef>
        <a:buFont typeface="Arial"/>
        <a:buChar char="•"/>
        <a:defRPr sz="2200" kern="1200">
          <a:solidFill>
            <a:schemeClr val="tx1"/>
          </a:solidFill>
          <a:latin typeface="+mn-lt"/>
          <a:ea typeface="+mn-ea"/>
          <a:cs typeface="+mn-cs"/>
        </a:defRPr>
      </a:lvl8pPr>
      <a:lvl9pPr marL="4319511" indent="-254089" algn="l" defTabSz="508178" rtl="0" eaLnBrk="1" latinLnBrk="0" hangingPunct="1">
        <a:spcBef>
          <a:spcPct val="20000"/>
        </a:spcBef>
        <a:buFont typeface="Arial"/>
        <a:buChar char="•"/>
        <a:defRPr sz="2200" kern="1200">
          <a:solidFill>
            <a:schemeClr val="tx1"/>
          </a:solidFill>
          <a:latin typeface="+mn-lt"/>
          <a:ea typeface="+mn-ea"/>
          <a:cs typeface="+mn-cs"/>
        </a:defRPr>
      </a:lvl9pPr>
    </p:bodyStyle>
    <p:otherStyle>
      <a:defPPr>
        <a:defRPr lang="en-US"/>
      </a:defPPr>
      <a:lvl1pPr marL="0" algn="l" defTabSz="508178" rtl="0" eaLnBrk="1" latinLnBrk="0" hangingPunct="1">
        <a:defRPr sz="2000" kern="1200">
          <a:solidFill>
            <a:schemeClr val="tx1"/>
          </a:solidFill>
          <a:latin typeface="+mn-lt"/>
          <a:ea typeface="+mn-ea"/>
          <a:cs typeface="+mn-cs"/>
        </a:defRPr>
      </a:lvl1pPr>
      <a:lvl2pPr marL="508178" algn="l" defTabSz="508178" rtl="0" eaLnBrk="1" latinLnBrk="0" hangingPunct="1">
        <a:defRPr sz="2000" kern="1200">
          <a:solidFill>
            <a:schemeClr val="tx1"/>
          </a:solidFill>
          <a:latin typeface="+mn-lt"/>
          <a:ea typeface="+mn-ea"/>
          <a:cs typeface="+mn-cs"/>
        </a:defRPr>
      </a:lvl2pPr>
      <a:lvl3pPr marL="1016356" algn="l" defTabSz="508178" rtl="0" eaLnBrk="1" latinLnBrk="0" hangingPunct="1">
        <a:defRPr sz="2000" kern="1200">
          <a:solidFill>
            <a:schemeClr val="tx1"/>
          </a:solidFill>
          <a:latin typeface="+mn-lt"/>
          <a:ea typeface="+mn-ea"/>
          <a:cs typeface="+mn-cs"/>
        </a:defRPr>
      </a:lvl3pPr>
      <a:lvl4pPr marL="1524533" algn="l" defTabSz="508178" rtl="0" eaLnBrk="1" latinLnBrk="0" hangingPunct="1">
        <a:defRPr sz="2000" kern="1200">
          <a:solidFill>
            <a:schemeClr val="tx1"/>
          </a:solidFill>
          <a:latin typeface="+mn-lt"/>
          <a:ea typeface="+mn-ea"/>
          <a:cs typeface="+mn-cs"/>
        </a:defRPr>
      </a:lvl4pPr>
      <a:lvl5pPr marL="2032711" algn="l" defTabSz="508178" rtl="0" eaLnBrk="1" latinLnBrk="0" hangingPunct="1">
        <a:defRPr sz="2000" kern="1200">
          <a:solidFill>
            <a:schemeClr val="tx1"/>
          </a:solidFill>
          <a:latin typeface="+mn-lt"/>
          <a:ea typeface="+mn-ea"/>
          <a:cs typeface="+mn-cs"/>
        </a:defRPr>
      </a:lvl5pPr>
      <a:lvl6pPr marL="2540889" algn="l" defTabSz="508178" rtl="0" eaLnBrk="1" latinLnBrk="0" hangingPunct="1">
        <a:defRPr sz="2000" kern="1200">
          <a:solidFill>
            <a:schemeClr val="tx1"/>
          </a:solidFill>
          <a:latin typeface="+mn-lt"/>
          <a:ea typeface="+mn-ea"/>
          <a:cs typeface="+mn-cs"/>
        </a:defRPr>
      </a:lvl6pPr>
      <a:lvl7pPr marL="3049067" algn="l" defTabSz="508178" rtl="0" eaLnBrk="1" latinLnBrk="0" hangingPunct="1">
        <a:defRPr sz="2000" kern="1200">
          <a:solidFill>
            <a:schemeClr val="tx1"/>
          </a:solidFill>
          <a:latin typeface="+mn-lt"/>
          <a:ea typeface="+mn-ea"/>
          <a:cs typeface="+mn-cs"/>
        </a:defRPr>
      </a:lvl7pPr>
      <a:lvl8pPr marL="3557245" algn="l" defTabSz="508178" rtl="0" eaLnBrk="1" latinLnBrk="0" hangingPunct="1">
        <a:defRPr sz="2000" kern="1200">
          <a:solidFill>
            <a:schemeClr val="tx1"/>
          </a:solidFill>
          <a:latin typeface="+mn-lt"/>
          <a:ea typeface="+mn-ea"/>
          <a:cs typeface="+mn-cs"/>
        </a:defRPr>
      </a:lvl8pPr>
      <a:lvl9pPr marL="4065422" algn="l" defTabSz="508178" rtl="0" eaLnBrk="1" latinLnBrk="0" hangingPunct="1">
        <a:defRPr sz="20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3.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descr="DSC_0063 (2).JPG"/>
          <p:cNvPicPr>
            <a:picLocks noChangeAspect="1"/>
          </p:cNvPicPr>
          <p:nvPr/>
        </p:nvPicPr>
        <p:blipFill rotWithShape="1">
          <a:blip r:embed="rId2">
            <a:extLst>
              <a:ext uri="{28A0092B-C50C-407E-A947-70E740481C1C}">
                <a14:useLocalDpi xmlns:a14="http://schemas.microsoft.com/office/drawing/2010/main" val="0"/>
              </a:ext>
            </a:extLst>
          </a:blip>
          <a:srcRect t="12540" r="15370" b="39874"/>
          <a:stretch/>
        </p:blipFill>
        <p:spPr>
          <a:xfrm>
            <a:off x="-17876" y="3824187"/>
            <a:ext cx="10168350" cy="3811687"/>
          </a:xfrm>
          <a:prstGeom prst="rect">
            <a:avLst/>
          </a:prstGeom>
        </p:spPr>
      </p:pic>
      <p:sp>
        <p:nvSpPr>
          <p:cNvPr id="7" name="TextBox 6"/>
          <p:cNvSpPr txBox="1"/>
          <p:nvPr/>
        </p:nvSpPr>
        <p:spPr>
          <a:xfrm>
            <a:off x="1366524" y="1226030"/>
            <a:ext cx="8008917" cy="400110"/>
          </a:xfrm>
          <a:prstGeom prst="rect">
            <a:avLst/>
          </a:prstGeom>
          <a:noFill/>
        </p:spPr>
        <p:txBody>
          <a:bodyPr wrap="square" rtlCol="0">
            <a:spAutoFit/>
          </a:bodyPr>
          <a:lstStyle/>
          <a:p>
            <a:pPr marR="0" algn="l" rtl="0"/>
            <a:r>
              <a:rPr lang="en-US" sz="2000" b="1" i="0" u="none" strike="noStrike" baseline="0" dirty="0">
                <a:solidFill>
                  <a:srgbClr val="FFFFFF"/>
                </a:solidFill>
                <a:latin typeface="RopaSoftPro-Regular"/>
              </a:rPr>
              <a:t>Faculty</a:t>
            </a:r>
            <a:r>
              <a:rPr lang="en-US" b="1" dirty="0">
                <a:solidFill>
                  <a:srgbClr val="FFFFFF"/>
                </a:solidFill>
                <a:latin typeface="RopaSoftPro-Regular"/>
              </a:rPr>
              <a:t> of Computing and Informatics</a:t>
            </a:r>
            <a:endParaRPr lang="en-US" sz="2000" b="1" i="0" u="none" strike="noStrike" baseline="0" dirty="0">
              <a:solidFill>
                <a:srgbClr val="FFFFFF"/>
              </a:solidFill>
              <a:latin typeface="RopaSoftPro-Regular"/>
            </a:endParaRPr>
          </a:p>
        </p:txBody>
      </p:sp>
      <p:sp>
        <p:nvSpPr>
          <p:cNvPr id="11" name="TextBox 10"/>
          <p:cNvSpPr txBox="1"/>
          <p:nvPr/>
        </p:nvSpPr>
        <p:spPr>
          <a:xfrm>
            <a:off x="502564" y="1843552"/>
            <a:ext cx="9127469" cy="1477328"/>
          </a:xfrm>
          <a:prstGeom prst="rect">
            <a:avLst/>
          </a:prstGeom>
          <a:noFill/>
        </p:spPr>
        <p:txBody>
          <a:bodyPr wrap="square" rtlCol="0">
            <a:spAutoFit/>
          </a:bodyPr>
          <a:lstStyle/>
          <a:p>
            <a:r>
              <a:rPr lang="en-US" sz="3000" dirty="0" smtClean="0">
                <a:solidFill>
                  <a:schemeClr val="bg1"/>
                </a:solidFill>
              </a:rPr>
              <a:t>Business Management </a:t>
            </a:r>
            <a:r>
              <a:rPr lang="en-US" sz="3000" dirty="0">
                <a:solidFill>
                  <a:schemeClr val="bg1"/>
                </a:solidFill>
              </a:rPr>
              <a:t>Information Systems – </a:t>
            </a:r>
            <a:r>
              <a:rPr lang="en-US" sz="3000" dirty="0" smtClean="0">
                <a:solidFill>
                  <a:schemeClr val="bg1"/>
                </a:solidFill>
              </a:rPr>
              <a:t>BMC511S-</a:t>
            </a:r>
            <a:endParaRPr lang="en-US" sz="3000" dirty="0">
              <a:solidFill>
                <a:schemeClr val="bg1"/>
              </a:solidFill>
            </a:endParaRPr>
          </a:p>
          <a:p>
            <a:endParaRPr lang="en-US" sz="3000" dirty="0">
              <a:solidFill>
                <a:schemeClr val="bg1"/>
              </a:solidFill>
            </a:endParaRPr>
          </a:p>
          <a:p>
            <a:r>
              <a:rPr lang="en-US" sz="3000" dirty="0">
                <a:solidFill>
                  <a:schemeClr val="bg1"/>
                </a:solidFill>
              </a:rPr>
              <a:t>Lesson </a:t>
            </a:r>
            <a:r>
              <a:rPr lang="en-US" sz="3000" dirty="0" smtClean="0">
                <a:solidFill>
                  <a:schemeClr val="bg1"/>
                </a:solidFill>
              </a:rPr>
              <a:t>5 </a:t>
            </a:r>
            <a:r>
              <a:rPr lang="en-US" sz="3000" dirty="0">
                <a:solidFill>
                  <a:schemeClr val="bg1"/>
                </a:solidFill>
              </a:rPr>
              <a:t>– IT infrastructure and emerging technologies</a:t>
            </a:r>
          </a:p>
        </p:txBody>
      </p:sp>
      <p:pic>
        <p:nvPicPr>
          <p:cNvPr id="9" name="Picture 8"/>
          <p:cNvPicPr>
            <a:picLocks noChangeAspect="1"/>
          </p:cNvPicPr>
          <p:nvPr/>
        </p:nvPicPr>
        <p:blipFill>
          <a:blip r:embed="rId3"/>
          <a:stretch>
            <a:fillRect/>
          </a:stretch>
        </p:blipFill>
        <p:spPr>
          <a:xfrm>
            <a:off x="7880777" y="4294900"/>
            <a:ext cx="2387600" cy="2933700"/>
          </a:xfrm>
          <a:prstGeom prst="rect">
            <a:avLst/>
          </a:prstGeom>
        </p:spPr>
      </p:pic>
    </p:spTree>
    <p:extLst>
      <p:ext uri="{BB962C8B-B14F-4D97-AF65-F5344CB8AC3E}">
        <p14:creationId xmlns:p14="http://schemas.microsoft.com/office/powerpoint/2010/main" val="97423307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853440" y="2099648"/>
            <a:ext cx="9144635" cy="553998"/>
          </a:xfrm>
          <a:prstGeom prst="rect">
            <a:avLst/>
          </a:prstGeom>
          <a:noFill/>
        </p:spPr>
        <p:txBody>
          <a:bodyPr wrap="square" rtlCol="0">
            <a:spAutoFit/>
          </a:bodyPr>
          <a:lstStyle/>
          <a:p>
            <a:r>
              <a:rPr lang="en-US" sz="3000" dirty="0">
                <a:solidFill>
                  <a:srgbClr val="FFFFFF"/>
                </a:solidFill>
              </a:rPr>
              <a:t>IT infrastructure and emerging technologies</a:t>
            </a:r>
          </a:p>
        </p:txBody>
      </p:sp>
      <p:sp>
        <p:nvSpPr>
          <p:cNvPr id="4" name="TextBox 3"/>
          <p:cNvSpPr txBox="1"/>
          <p:nvPr/>
        </p:nvSpPr>
        <p:spPr>
          <a:xfrm>
            <a:off x="1349153" y="2801693"/>
            <a:ext cx="8801322" cy="3108543"/>
          </a:xfrm>
          <a:prstGeom prst="rect">
            <a:avLst/>
          </a:prstGeom>
          <a:noFill/>
        </p:spPr>
        <p:txBody>
          <a:bodyPr wrap="square" rtlCol="0">
            <a:spAutoFit/>
          </a:bodyPr>
          <a:lstStyle/>
          <a:p>
            <a:pPr marL="457200" indent="-457200">
              <a:lnSpc>
                <a:spcPct val="140000"/>
              </a:lnSpc>
              <a:buFont typeface="+mj-lt"/>
              <a:buAutoNum type="arabicPeriod"/>
            </a:pPr>
            <a:r>
              <a:rPr lang="en-US" dirty="0">
                <a:solidFill>
                  <a:srgbClr val="FFFFFF"/>
                </a:solidFill>
              </a:rPr>
              <a:t>An introduction to IT infrastructure</a:t>
            </a:r>
          </a:p>
          <a:p>
            <a:pPr marL="457200" indent="-457200">
              <a:lnSpc>
                <a:spcPct val="140000"/>
              </a:lnSpc>
              <a:buFont typeface="+mj-lt"/>
              <a:buAutoNum type="arabicPeriod"/>
            </a:pPr>
            <a:r>
              <a:rPr lang="en-US" dirty="0">
                <a:solidFill>
                  <a:srgbClr val="FFFFFF"/>
                </a:solidFill>
              </a:rPr>
              <a:t>The connection between a firm, IT infrastructure and business capabilities</a:t>
            </a:r>
          </a:p>
          <a:p>
            <a:pPr marL="457200" indent="-457200">
              <a:lnSpc>
                <a:spcPct val="140000"/>
              </a:lnSpc>
              <a:buFont typeface="+mj-lt"/>
              <a:buAutoNum type="arabicPeriod"/>
            </a:pPr>
            <a:r>
              <a:rPr lang="en-US" dirty="0">
                <a:solidFill>
                  <a:srgbClr val="FFFFFF"/>
                </a:solidFill>
              </a:rPr>
              <a:t>Components of IT infrastructure</a:t>
            </a:r>
          </a:p>
          <a:p>
            <a:pPr marL="457200" indent="-457200">
              <a:lnSpc>
                <a:spcPct val="140000"/>
              </a:lnSpc>
              <a:buFont typeface="+mj-lt"/>
              <a:buAutoNum type="arabicPeriod"/>
            </a:pPr>
            <a:r>
              <a:rPr lang="en-US" dirty="0">
                <a:solidFill>
                  <a:srgbClr val="FFFFFF"/>
                </a:solidFill>
              </a:rPr>
              <a:t>Emerging technologies – cloud computing</a:t>
            </a:r>
          </a:p>
          <a:p>
            <a:pPr marL="457200" indent="-457200">
              <a:lnSpc>
                <a:spcPct val="140000"/>
              </a:lnSpc>
              <a:buFont typeface="+mj-lt"/>
              <a:buAutoNum type="arabicPeriod"/>
            </a:pPr>
            <a:r>
              <a:rPr lang="en-US" dirty="0">
                <a:solidFill>
                  <a:srgbClr val="FFFFFF"/>
                </a:solidFill>
              </a:rPr>
              <a:t>Challenges of managing IT infrastructure</a:t>
            </a:r>
          </a:p>
          <a:p>
            <a:pPr marL="457200" indent="-457200">
              <a:lnSpc>
                <a:spcPct val="140000"/>
              </a:lnSpc>
              <a:buFont typeface="+mj-lt"/>
              <a:buAutoNum type="arabicPeriod"/>
            </a:pPr>
            <a:r>
              <a:rPr lang="en-US" dirty="0">
                <a:solidFill>
                  <a:srgbClr val="FFFFFF"/>
                </a:solidFill>
              </a:rPr>
              <a:t>Total Cost of Ownership model</a:t>
            </a:r>
          </a:p>
          <a:p>
            <a:pPr marL="457200" indent="-457200">
              <a:lnSpc>
                <a:spcPct val="140000"/>
              </a:lnSpc>
              <a:buFont typeface="+mj-lt"/>
              <a:buAutoNum type="arabicPeriod"/>
            </a:pPr>
            <a:r>
              <a:rPr lang="en-US" dirty="0">
                <a:solidFill>
                  <a:srgbClr val="FFFFFF"/>
                </a:solidFill>
              </a:rPr>
              <a:t>Competitive Forces Model for IT infrastructure</a:t>
            </a:r>
          </a:p>
        </p:txBody>
      </p:sp>
      <p:sp>
        <p:nvSpPr>
          <p:cNvPr id="5" name="TextBox 4"/>
          <p:cNvSpPr txBox="1"/>
          <p:nvPr/>
        </p:nvSpPr>
        <p:spPr>
          <a:xfrm>
            <a:off x="1366524" y="1383897"/>
            <a:ext cx="8008917" cy="400110"/>
          </a:xfrm>
          <a:prstGeom prst="rect">
            <a:avLst/>
          </a:prstGeom>
          <a:noFill/>
        </p:spPr>
        <p:txBody>
          <a:bodyPr wrap="square" rtlCol="0">
            <a:spAutoFit/>
          </a:bodyPr>
          <a:lstStyle/>
          <a:p>
            <a:pPr marR="0" algn="l" rtl="0"/>
            <a:r>
              <a:rPr lang="en-US" sz="2000" b="1" i="0" u="none" strike="noStrike" baseline="0" dirty="0">
                <a:solidFill>
                  <a:srgbClr val="FFFFFF"/>
                </a:solidFill>
                <a:latin typeface="RopaSoftPro-Regular"/>
              </a:rPr>
              <a:t>Faculty</a:t>
            </a:r>
            <a:r>
              <a:rPr lang="en-US" sz="2000" b="1" i="0" u="none" strike="noStrike" dirty="0">
                <a:solidFill>
                  <a:srgbClr val="FFFFFF"/>
                </a:solidFill>
                <a:latin typeface="RopaSoftPro-Regular"/>
              </a:rPr>
              <a:t> of </a:t>
            </a:r>
            <a:r>
              <a:rPr lang="en-US" b="1" dirty="0">
                <a:solidFill>
                  <a:srgbClr val="FFFFFF"/>
                </a:solidFill>
                <a:latin typeface="RopaSoftPro-Regular"/>
              </a:rPr>
              <a:t> Computing and Informatics</a:t>
            </a:r>
            <a:endParaRPr lang="en-US" sz="2000" b="1" i="0" u="none" strike="noStrike" baseline="0" dirty="0">
              <a:solidFill>
                <a:srgbClr val="FFFFFF"/>
              </a:solidFill>
              <a:latin typeface="RopaSoftPro-Regular"/>
            </a:endParaRPr>
          </a:p>
        </p:txBody>
      </p:sp>
    </p:spTree>
    <p:extLst>
      <p:ext uri="{BB962C8B-B14F-4D97-AF65-F5344CB8AC3E}">
        <p14:creationId xmlns:p14="http://schemas.microsoft.com/office/powerpoint/2010/main" val="317482201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798664" y="1940594"/>
            <a:ext cx="9144635" cy="553998"/>
          </a:xfrm>
          <a:prstGeom prst="rect">
            <a:avLst/>
          </a:prstGeom>
          <a:noFill/>
        </p:spPr>
        <p:txBody>
          <a:bodyPr wrap="square" rtlCol="0">
            <a:spAutoFit/>
          </a:bodyPr>
          <a:lstStyle/>
          <a:p>
            <a:r>
              <a:rPr lang="en-US" sz="3000" dirty="0">
                <a:solidFill>
                  <a:srgbClr val="FFFFFF"/>
                </a:solidFill>
              </a:rPr>
              <a:t>An introduction to IT infrastructure</a:t>
            </a:r>
          </a:p>
        </p:txBody>
      </p:sp>
      <p:sp>
        <p:nvSpPr>
          <p:cNvPr id="4" name="TextBox 3"/>
          <p:cNvSpPr txBox="1"/>
          <p:nvPr/>
        </p:nvSpPr>
        <p:spPr>
          <a:xfrm>
            <a:off x="853440" y="2494592"/>
            <a:ext cx="9297035" cy="5262979"/>
          </a:xfrm>
          <a:prstGeom prst="rect">
            <a:avLst/>
          </a:prstGeom>
          <a:noFill/>
        </p:spPr>
        <p:txBody>
          <a:bodyPr wrap="square" rtlCol="0">
            <a:spAutoFit/>
          </a:bodyPr>
          <a:lstStyle/>
          <a:p>
            <a:pPr marL="342900" indent="-342900">
              <a:lnSpc>
                <a:spcPct val="140000"/>
              </a:lnSpc>
              <a:buFont typeface="Arial" panose="020B0604020202020204" pitchFamily="34" charset="0"/>
              <a:buChar char="•"/>
            </a:pPr>
            <a:r>
              <a:rPr lang="en-US" dirty="0">
                <a:solidFill>
                  <a:srgbClr val="FFFFFF"/>
                </a:solidFill>
              </a:rPr>
              <a:t>IT infrastructure is the shared technology resources that provide the platform for an </a:t>
            </a:r>
            <a:r>
              <a:rPr lang="en-US" dirty="0" err="1">
                <a:solidFill>
                  <a:srgbClr val="FFFFFF"/>
                </a:solidFill>
              </a:rPr>
              <a:t>organisation’s</a:t>
            </a:r>
            <a:r>
              <a:rPr lang="en-US" dirty="0">
                <a:solidFill>
                  <a:srgbClr val="FFFFFF"/>
                </a:solidFill>
              </a:rPr>
              <a:t> specific information systems application</a:t>
            </a:r>
          </a:p>
          <a:p>
            <a:pPr marL="342900" indent="-342900">
              <a:lnSpc>
                <a:spcPct val="140000"/>
              </a:lnSpc>
              <a:buFont typeface="Arial" panose="020B0604020202020204" pitchFamily="34" charset="0"/>
              <a:buChar char="•"/>
            </a:pPr>
            <a:r>
              <a:rPr lang="en-US" dirty="0">
                <a:solidFill>
                  <a:srgbClr val="FFFFFF"/>
                </a:solidFill>
              </a:rPr>
              <a:t>IT infrastructure includes investment in hardware, software and services – such as consulting, education and training that are shared across the entire </a:t>
            </a:r>
            <a:r>
              <a:rPr lang="en-US" dirty="0" err="1">
                <a:solidFill>
                  <a:srgbClr val="FFFFFF"/>
                </a:solidFill>
              </a:rPr>
              <a:t>organisation</a:t>
            </a:r>
            <a:r>
              <a:rPr lang="en-US" dirty="0">
                <a:solidFill>
                  <a:srgbClr val="FFFFFF"/>
                </a:solidFill>
              </a:rPr>
              <a:t> or business unit in an </a:t>
            </a:r>
            <a:r>
              <a:rPr lang="en-US" dirty="0" err="1">
                <a:solidFill>
                  <a:srgbClr val="FFFFFF"/>
                </a:solidFill>
              </a:rPr>
              <a:t>organisation</a:t>
            </a:r>
            <a:endParaRPr lang="en-US" dirty="0">
              <a:solidFill>
                <a:srgbClr val="FFFFFF"/>
              </a:solidFill>
            </a:endParaRPr>
          </a:p>
          <a:p>
            <a:pPr marL="342900" indent="-342900">
              <a:lnSpc>
                <a:spcPct val="140000"/>
              </a:lnSpc>
              <a:buFont typeface="Arial" panose="020B0604020202020204" pitchFamily="34" charset="0"/>
              <a:buChar char="•"/>
            </a:pPr>
            <a:r>
              <a:rPr lang="en-US" dirty="0">
                <a:solidFill>
                  <a:srgbClr val="FFFFFF"/>
                </a:solidFill>
              </a:rPr>
              <a:t>The services provided through IT infrastructure include the following:</a:t>
            </a:r>
          </a:p>
          <a:p>
            <a:pPr marL="851078" lvl="1" indent="-342900">
              <a:lnSpc>
                <a:spcPct val="140000"/>
              </a:lnSpc>
              <a:buFontTx/>
              <a:buChar char="-"/>
            </a:pPr>
            <a:r>
              <a:rPr lang="en-US" dirty="0">
                <a:solidFill>
                  <a:srgbClr val="FFFFFF"/>
                </a:solidFill>
              </a:rPr>
              <a:t>Computing platforms used to provide computing services that connect employees, customers and suppliers</a:t>
            </a:r>
          </a:p>
          <a:p>
            <a:pPr marL="851078" lvl="1" indent="-342900">
              <a:lnSpc>
                <a:spcPct val="140000"/>
              </a:lnSpc>
              <a:buFontTx/>
              <a:buChar char="-"/>
            </a:pPr>
            <a:r>
              <a:rPr lang="en-US" dirty="0">
                <a:solidFill>
                  <a:srgbClr val="FFFFFF"/>
                </a:solidFill>
              </a:rPr>
              <a:t>Telecommunications services that provide data, voice and video connectivity to employees, customers and suppliers</a:t>
            </a:r>
          </a:p>
          <a:p>
            <a:pPr marL="851078" lvl="1" indent="-342900">
              <a:lnSpc>
                <a:spcPct val="140000"/>
              </a:lnSpc>
              <a:buFontTx/>
              <a:buChar char="-"/>
            </a:pPr>
            <a:r>
              <a:rPr lang="en-US" dirty="0">
                <a:solidFill>
                  <a:srgbClr val="FFFFFF"/>
                </a:solidFill>
              </a:rPr>
              <a:t>Data management services that store and manage corporate data and provide capabilities for analyzing the data</a:t>
            </a:r>
          </a:p>
        </p:txBody>
      </p:sp>
      <p:sp>
        <p:nvSpPr>
          <p:cNvPr id="5" name="TextBox 4"/>
          <p:cNvSpPr txBox="1"/>
          <p:nvPr/>
        </p:nvSpPr>
        <p:spPr>
          <a:xfrm>
            <a:off x="1366524" y="1383897"/>
            <a:ext cx="8008917" cy="400110"/>
          </a:xfrm>
          <a:prstGeom prst="rect">
            <a:avLst/>
          </a:prstGeom>
          <a:noFill/>
        </p:spPr>
        <p:txBody>
          <a:bodyPr wrap="square" rtlCol="0">
            <a:spAutoFit/>
          </a:bodyPr>
          <a:lstStyle/>
          <a:p>
            <a:pPr marR="0" algn="l" rtl="0"/>
            <a:r>
              <a:rPr lang="en-US" sz="2000" b="1" i="0" u="none" strike="noStrike" baseline="0" dirty="0">
                <a:solidFill>
                  <a:srgbClr val="FFFFFF"/>
                </a:solidFill>
                <a:latin typeface="RopaSoftPro-Regular"/>
              </a:rPr>
              <a:t>Faculty</a:t>
            </a:r>
            <a:r>
              <a:rPr lang="en-US" sz="2000" b="1" i="0" u="none" strike="noStrike" dirty="0">
                <a:solidFill>
                  <a:srgbClr val="FFFFFF"/>
                </a:solidFill>
                <a:latin typeface="RopaSoftPro-Regular"/>
              </a:rPr>
              <a:t> of </a:t>
            </a:r>
            <a:r>
              <a:rPr lang="en-US" b="1" dirty="0">
                <a:solidFill>
                  <a:srgbClr val="FFFFFF"/>
                </a:solidFill>
                <a:latin typeface="RopaSoftPro-Regular"/>
              </a:rPr>
              <a:t> Computing and Informatics</a:t>
            </a:r>
            <a:endParaRPr lang="en-US" sz="2000" b="1" i="0" u="none" strike="noStrike" baseline="0" dirty="0">
              <a:solidFill>
                <a:srgbClr val="FFFFFF"/>
              </a:solidFill>
              <a:latin typeface="RopaSoftPro-Regular"/>
            </a:endParaRPr>
          </a:p>
        </p:txBody>
      </p:sp>
    </p:spTree>
    <p:extLst>
      <p:ext uri="{BB962C8B-B14F-4D97-AF65-F5344CB8AC3E}">
        <p14:creationId xmlns:p14="http://schemas.microsoft.com/office/powerpoint/2010/main" val="70325590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853440" y="2099648"/>
            <a:ext cx="9144635" cy="553998"/>
          </a:xfrm>
          <a:prstGeom prst="rect">
            <a:avLst/>
          </a:prstGeom>
          <a:noFill/>
        </p:spPr>
        <p:txBody>
          <a:bodyPr wrap="square" rtlCol="0">
            <a:spAutoFit/>
          </a:bodyPr>
          <a:lstStyle/>
          <a:p>
            <a:r>
              <a:rPr lang="en-US" sz="3000" dirty="0">
                <a:solidFill>
                  <a:srgbClr val="FFFFFF"/>
                </a:solidFill>
              </a:rPr>
              <a:t>An introduction to IT infrastructure</a:t>
            </a:r>
          </a:p>
        </p:txBody>
      </p:sp>
      <p:sp>
        <p:nvSpPr>
          <p:cNvPr id="5" name="TextBox 4"/>
          <p:cNvSpPr txBox="1"/>
          <p:nvPr/>
        </p:nvSpPr>
        <p:spPr>
          <a:xfrm>
            <a:off x="1366524" y="1383897"/>
            <a:ext cx="8008917" cy="400110"/>
          </a:xfrm>
          <a:prstGeom prst="rect">
            <a:avLst/>
          </a:prstGeom>
          <a:noFill/>
        </p:spPr>
        <p:txBody>
          <a:bodyPr wrap="square" rtlCol="0">
            <a:spAutoFit/>
          </a:bodyPr>
          <a:lstStyle/>
          <a:p>
            <a:pPr marR="0" algn="l" rtl="0"/>
            <a:r>
              <a:rPr lang="en-US" sz="2000" b="1" i="0" u="none" strike="noStrike" baseline="0" dirty="0">
                <a:solidFill>
                  <a:srgbClr val="FFFFFF"/>
                </a:solidFill>
                <a:latin typeface="RopaSoftPro-Regular"/>
              </a:rPr>
              <a:t>Faculty</a:t>
            </a:r>
            <a:r>
              <a:rPr lang="en-US" sz="2000" b="1" i="0" u="none" strike="noStrike" dirty="0">
                <a:solidFill>
                  <a:srgbClr val="FFFFFF"/>
                </a:solidFill>
                <a:latin typeface="RopaSoftPro-Regular"/>
              </a:rPr>
              <a:t> of </a:t>
            </a:r>
            <a:r>
              <a:rPr lang="en-US" b="1" dirty="0">
                <a:solidFill>
                  <a:srgbClr val="FFFFFF"/>
                </a:solidFill>
                <a:latin typeface="RopaSoftPro-Regular"/>
              </a:rPr>
              <a:t> Computing and Informatics</a:t>
            </a:r>
            <a:endParaRPr lang="en-US" sz="2000" b="1" i="0" u="none" strike="noStrike" baseline="0" dirty="0">
              <a:solidFill>
                <a:srgbClr val="FFFFFF"/>
              </a:solidFill>
              <a:latin typeface="RopaSoftPro-Regular"/>
            </a:endParaRPr>
          </a:p>
        </p:txBody>
      </p:sp>
      <p:sp>
        <p:nvSpPr>
          <p:cNvPr id="2" name="TextBox 1"/>
          <p:cNvSpPr txBox="1"/>
          <p:nvPr/>
        </p:nvSpPr>
        <p:spPr>
          <a:xfrm>
            <a:off x="853440" y="2910840"/>
            <a:ext cx="9144635" cy="3785652"/>
          </a:xfrm>
          <a:prstGeom prst="rect">
            <a:avLst/>
          </a:prstGeom>
          <a:noFill/>
        </p:spPr>
        <p:txBody>
          <a:bodyPr wrap="square" rtlCol="0">
            <a:spAutoFit/>
          </a:bodyPr>
          <a:lstStyle/>
          <a:p>
            <a:pPr marL="342900" indent="-342900">
              <a:buFont typeface="Arial" panose="020B0604020202020204" pitchFamily="34" charset="0"/>
              <a:buChar char="•"/>
            </a:pPr>
            <a:r>
              <a:rPr lang="en-US" dirty="0">
                <a:solidFill>
                  <a:srgbClr val="FFFFFF"/>
                </a:solidFill>
              </a:rPr>
              <a:t>The services provided through IT infrastructure include the following:</a:t>
            </a:r>
          </a:p>
          <a:p>
            <a:endParaRPr lang="en-US" dirty="0">
              <a:solidFill>
                <a:schemeClr val="bg1"/>
              </a:solidFill>
            </a:endParaRPr>
          </a:p>
          <a:p>
            <a:r>
              <a:rPr lang="en-US" dirty="0">
                <a:solidFill>
                  <a:schemeClr val="bg1"/>
                </a:solidFill>
              </a:rPr>
              <a:t>	-Application software services such as enterprise resource planning (ERP), 	customer relationship management (CRM), supply chain management and 	knowledge management systems that are shared by all business units</a:t>
            </a:r>
          </a:p>
          <a:p>
            <a:endParaRPr lang="en-US" dirty="0">
              <a:solidFill>
                <a:schemeClr val="bg1"/>
              </a:solidFill>
            </a:endParaRPr>
          </a:p>
          <a:p>
            <a:r>
              <a:rPr lang="en-US" dirty="0">
                <a:solidFill>
                  <a:schemeClr val="bg1"/>
                </a:solidFill>
              </a:rPr>
              <a:t> 	-  Physical facilities management services that develop and manage the physical 	installations required for computing, telecoms and data management services</a:t>
            </a:r>
          </a:p>
          <a:p>
            <a:endParaRPr lang="en-US" dirty="0">
              <a:solidFill>
                <a:schemeClr val="bg1"/>
              </a:solidFill>
            </a:endParaRPr>
          </a:p>
          <a:p>
            <a:r>
              <a:rPr lang="en-US" dirty="0">
                <a:solidFill>
                  <a:schemeClr val="bg1"/>
                </a:solidFill>
              </a:rPr>
              <a:t>	- IT management services that plan and develop infrastructure, coordinate with 	the business units for IT services, manage accounting for the IT expenditure and 	provide project management services </a:t>
            </a:r>
          </a:p>
        </p:txBody>
      </p:sp>
    </p:spTree>
    <p:extLst>
      <p:ext uri="{BB962C8B-B14F-4D97-AF65-F5344CB8AC3E}">
        <p14:creationId xmlns:p14="http://schemas.microsoft.com/office/powerpoint/2010/main" val="125557238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853440" y="2099648"/>
            <a:ext cx="9144635" cy="553998"/>
          </a:xfrm>
          <a:prstGeom prst="rect">
            <a:avLst/>
          </a:prstGeom>
          <a:noFill/>
        </p:spPr>
        <p:txBody>
          <a:bodyPr wrap="square" rtlCol="0">
            <a:spAutoFit/>
          </a:bodyPr>
          <a:lstStyle/>
          <a:p>
            <a:r>
              <a:rPr lang="en-US" sz="3000" dirty="0">
                <a:solidFill>
                  <a:srgbClr val="FFFFFF"/>
                </a:solidFill>
              </a:rPr>
              <a:t>An introduction to IT infrastructure</a:t>
            </a:r>
          </a:p>
        </p:txBody>
      </p:sp>
      <p:sp>
        <p:nvSpPr>
          <p:cNvPr id="5" name="TextBox 4"/>
          <p:cNvSpPr txBox="1"/>
          <p:nvPr/>
        </p:nvSpPr>
        <p:spPr>
          <a:xfrm>
            <a:off x="1366524" y="1383897"/>
            <a:ext cx="8008917" cy="400110"/>
          </a:xfrm>
          <a:prstGeom prst="rect">
            <a:avLst/>
          </a:prstGeom>
          <a:noFill/>
        </p:spPr>
        <p:txBody>
          <a:bodyPr wrap="square" rtlCol="0">
            <a:spAutoFit/>
          </a:bodyPr>
          <a:lstStyle/>
          <a:p>
            <a:pPr marR="0" algn="l" rtl="0"/>
            <a:r>
              <a:rPr lang="en-US" sz="2000" b="1" i="0" u="none" strike="noStrike" baseline="0" dirty="0">
                <a:solidFill>
                  <a:srgbClr val="FFFFFF"/>
                </a:solidFill>
                <a:latin typeface="RopaSoftPro-Regular"/>
              </a:rPr>
              <a:t>Faculty</a:t>
            </a:r>
            <a:r>
              <a:rPr lang="en-US" sz="2000" b="1" i="0" u="none" strike="noStrike" dirty="0">
                <a:solidFill>
                  <a:srgbClr val="FFFFFF"/>
                </a:solidFill>
                <a:latin typeface="RopaSoftPro-Regular"/>
              </a:rPr>
              <a:t> of </a:t>
            </a:r>
            <a:r>
              <a:rPr lang="en-US" b="1" dirty="0">
                <a:solidFill>
                  <a:srgbClr val="FFFFFF"/>
                </a:solidFill>
                <a:latin typeface="RopaSoftPro-Regular"/>
              </a:rPr>
              <a:t> Computing and Informatics</a:t>
            </a:r>
            <a:endParaRPr lang="en-US" sz="2000" b="1" i="0" u="none" strike="noStrike" baseline="0" dirty="0">
              <a:solidFill>
                <a:srgbClr val="FFFFFF"/>
              </a:solidFill>
              <a:latin typeface="RopaSoftPro-Regular"/>
            </a:endParaRPr>
          </a:p>
        </p:txBody>
      </p:sp>
      <p:sp>
        <p:nvSpPr>
          <p:cNvPr id="2" name="TextBox 1"/>
          <p:cNvSpPr txBox="1"/>
          <p:nvPr/>
        </p:nvSpPr>
        <p:spPr>
          <a:xfrm>
            <a:off x="853440" y="2910840"/>
            <a:ext cx="9144635" cy="3785652"/>
          </a:xfrm>
          <a:prstGeom prst="rect">
            <a:avLst/>
          </a:prstGeom>
          <a:noFill/>
        </p:spPr>
        <p:txBody>
          <a:bodyPr wrap="square" rtlCol="0">
            <a:spAutoFit/>
          </a:bodyPr>
          <a:lstStyle/>
          <a:p>
            <a:pPr marL="342900" indent="-342900">
              <a:buFont typeface="Arial" panose="020B0604020202020204" pitchFamily="34" charset="0"/>
              <a:buChar char="•"/>
            </a:pPr>
            <a:r>
              <a:rPr lang="en-US" dirty="0">
                <a:solidFill>
                  <a:srgbClr val="FFFFFF"/>
                </a:solidFill>
              </a:rPr>
              <a:t>The services provided through IT infrastructure include the following:</a:t>
            </a:r>
          </a:p>
          <a:p>
            <a:endParaRPr lang="en-US" dirty="0">
              <a:solidFill>
                <a:schemeClr val="bg1"/>
              </a:solidFill>
            </a:endParaRPr>
          </a:p>
          <a:p>
            <a:r>
              <a:rPr lang="en-US" dirty="0">
                <a:solidFill>
                  <a:schemeClr val="bg1"/>
                </a:solidFill>
              </a:rPr>
              <a:t>	-IT standards and services that provide the </a:t>
            </a:r>
            <a:r>
              <a:rPr lang="en-US" dirty="0" err="1">
                <a:solidFill>
                  <a:schemeClr val="bg1"/>
                </a:solidFill>
              </a:rPr>
              <a:t>organisation</a:t>
            </a:r>
            <a:r>
              <a:rPr lang="en-US" dirty="0">
                <a:solidFill>
                  <a:schemeClr val="bg1"/>
                </a:solidFill>
              </a:rPr>
              <a:t> and its business units 	with policies that determine which information technology will be used</a:t>
            </a:r>
          </a:p>
          <a:p>
            <a:endParaRPr lang="en-US" dirty="0">
              <a:solidFill>
                <a:schemeClr val="bg1"/>
              </a:solidFill>
            </a:endParaRPr>
          </a:p>
          <a:p>
            <a:r>
              <a:rPr lang="en-US" dirty="0">
                <a:solidFill>
                  <a:schemeClr val="bg1"/>
                </a:solidFill>
              </a:rPr>
              <a:t>	-IT education services that provide training in systems use to employees and offer 	managers training on how to plan for and manage IT investment</a:t>
            </a:r>
          </a:p>
          <a:p>
            <a:r>
              <a:rPr lang="en-US" dirty="0">
                <a:solidFill>
                  <a:schemeClr val="bg1"/>
                </a:solidFill>
              </a:rPr>
              <a:t>	</a:t>
            </a:r>
          </a:p>
          <a:p>
            <a:r>
              <a:rPr lang="en-US" dirty="0">
                <a:solidFill>
                  <a:schemeClr val="bg1"/>
                </a:solidFill>
              </a:rPr>
              <a:t>	- IT research and development services that provide an </a:t>
            </a:r>
            <a:r>
              <a:rPr lang="en-US" dirty="0" err="1">
                <a:solidFill>
                  <a:schemeClr val="bg1"/>
                </a:solidFill>
              </a:rPr>
              <a:t>organisation</a:t>
            </a:r>
            <a:r>
              <a:rPr lang="en-US" dirty="0">
                <a:solidFill>
                  <a:schemeClr val="bg1"/>
                </a:solidFill>
              </a:rPr>
              <a:t> with 	research on potential future IT projects and investments that could help the 	</a:t>
            </a:r>
            <a:r>
              <a:rPr lang="en-US" dirty="0" err="1">
                <a:solidFill>
                  <a:schemeClr val="bg1"/>
                </a:solidFill>
              </a:rPr>
              <a:t>organisation</a:t>
            </a:r>
            <a:r>
              <a:rPr lang="en-US" dirty="0">
                <a:solidFill>
                  <a:schemeClr val="bg1"/>
                </a:solidFill>
              </a:rPr>
              <a:t> differentiate itself in the market place</a:t>
            </a:r>
          </a:p>
          <a:p>
            <a:endParaRPr lang="en-US" dirty="0">
              <a:solidFill>
                <a:schemeClr val="bg1"/>
              </a:solidFill>
            </a:endParaRPr>
          </a:p>
        </p:txBody>
      </p:sp>
    </p:spTree>
    <p:extLst>
      <p:ext uri="{BB962C8B-B14F-4D97-AF65-F5344CB8AC3E}">
        <p14:creationId xmlns:p14="http://schemas.microsoft.com/office/powerpoint/2010/main" val="26097012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844384" y="1693252"/>
            <a:ext cx="9144635" cy="1015663"/>
          </a:xfrm>
          <a:prstGeom prst="rect">
            <a:avLst/>
          </a:prstGeom>
          <a:noFill/>
        </p:spPr>
        <p:txBody>
          <a:bodyPr wrap="square" rtlCol="0">
            <a:spAutoFit/>
          </a:bodyPr>
          <a:lstStyle/>
          <a:p>
            <a:r>
              <a:rPr lang="en-US" sz="3000" dirty="0">
                <a:solidFill>
                  <a:srgbClr val="FFFFFF"/>
                </a:solidFill>
              </a:rPr>
              <a:t>Connection between an </a:t>
            </a:r>
            <a:r>
              <a:rPr lang="en-US" sz="3000" dirty="0" err="1">
                <a:solidFill>
                  <a:srgbClr val="FFFFFF"/>
                </a:solidFill>
              </a:rPr>
              <a:t>organisation</a:t>
            </a:r>
            <a:r>
              <a:rPr lang="en-US" sz="3000" dirty="0">
                <a:solidFill>
                  <a:srgbClr val="FFFFFF"/>
                </a:solidFill>
              </a:rPr>
              <a:t>, IT infrastructure and business capabilities</a:t>
            </a:r>
          </a:p>
        </p:txBody>
      </p:sp>
      <p:sp>
        <p:nvSpPr>
          <p:cNvPr id="5" name="TextBox 4"/>
          <p:cNvSpPr txBox="1"/>
          <p:nvPr/>
        </p:nvSpPr>
        <p:spPr>
          <a:xfrm>
            <a:off x="1366524" y="1383897"/>
            <a:ext cx="8008917" cy="400110"/>
          </a:xfrm>
          <a:prstGeom prst="rect">
            <a:avLst/>
          </a:prstGeom>
          <a:noFill/>
        </p:spPr>
        <p:txBody>
          <a:bodyPr wrap="square" rtlCol="0">
            <a:spAutoFit/>
          </a:bodyPr>
          <a:lstStyle/>
          <a:p>
            <a:pPr marR="0" algn="l" rtl="0"/>
            <a:r>
              <a:rPr lang="en-US" sz="2000" b="1" i="0" u="none" strike="noStrike" baseline="0" dirty="0">
                <a:solidFill>
                  <a:srgbClr val="FFFFFF"/>
                </a:solidFill>
                <a:latin typeface="RopaSoftPro-Regular"/>
              </a:rPr>
              <a:t>Faculty</a:t>
            </a:r>
            <a:r>
              <a:rPr lang="en-US" sz="2000" b="1" i="0" u="none" strike="noStrike" dirty="0">
                <a:solidFill>
                  <a:srgbClr val="FFFFFF"/>
                </a:solidFill>
                <a:latin typeface="RopaSoftPro-Regular"/>
              </a:rPr>
              <a:t> of </a:t>
            </a:r>
            <a:r>
              <a:rPr lang="en-US" b="1" dirty="0">
                <a:solidFill>
                  <a:srgbClr val="FFFFFF"/>
                </a:solidFill>
                <a:latin typeface="RopaSoftPro-Regular"/>
              </a:rPr>
              <a:t> Computing and Informatics</a:t>
            </a:r>
            <a:endParaRPr lang="en-US" sz="2000" b="1" i="0" u="none" strike="noStrike" baseline="0" dirty="0">
              <a:solidFill>
                <a:srgbClr val="FFFFFF"/>
              </a:solidFill>
              <a:latin typeface="RopaSoftPro-Regular"/>
            </a:endParaRPr>
          </a:p>
        </p:txBody>
      </p:sp>
      <p:sp>
        <p:nvSpPr>
          <p:cNvPr id="2" name="TextBox 1"/>
          <p:cNvSpPr txBox="1"/>
          <p:nvPr/>
        </p:nvSpPr>
        <p:spPr>
          <a:xfrm>
            <a:off x="1027582" y="2588061"/>
            <a:ext cx="8686800" cy="1692771"/>
          </a:xfrm>
          <a:prstGeom prst="rect">
            <a:avLst/>
          </a:prstGeom>
          <a:noFill/>
        </p:spPr>
        <p:txBody>
          <a:bodyPr wrap="square" rtlCol="0">
            <a:spAutoFit/>
          </a:bodyPr>
          <a:lstStyle/>
          <a:p>
            <a:pPr marL="342900" indent="-342900">
              <a:lnSpc>
                <a:spcPct val="140000"/>
              </a:lnSpc>
              <a:buFontTx/>
              <a:buChar char="-"/>
            </a:pPr>
            <a:r>
              <a:rPr lang="en-US" dirty="0">
                <a:solidFill>
                  <a:srgbClr val="FFFFFF"/>
                </a:solidFill>
              </a:rPr>
              <a:t>The service a firm is capable of providing to its customers, suppliers and employees are a direct function of its IT infrastructure</a:t>
            </a:r>
          </a:p>
          <a:p>
            <a:pPr marL="342900" indent="-342900">
              <a:lnSpc>
                <a:spcPct val="140000"/>
              </a:lnSpc>
              <a:buFontTx/>
              <a:buChar char="-"/>
            </a:pPr>
            <a:r>
              <a:rPr lang="en-US" dirty="0">
                <a:solidFill>
                  <a:srgbClr val="FFFFFF"/>
                </a:solidFill>
              </a:rPr>
              <a:t>The infrastructure should support the </a:t>
            </a:r>
            <a:r>
              <a:rPr lang="en-US" dirty="0" err="1">
                <a:solidFill>
                  <a:srgbClr val="FFFFFF"/>
                </a:solidFill>
              </a:rPr>
              <a:t>organisation’s</a:t>
            </a:r>
            <a:r>
              <a:rPr lang="en-US" dirty="0">
                <a:solidFill>
                  <a:srgbClr val="FFFFFF"/>
                </a:solidFill>
              </a:rPr>
              <a:t> business and IS strategy</a:t>
            </a:r>
          </a:p>
          <a:p>
            <a:endParaRPr lang="en-US" dirty="0"/>
          </a:p>
        </p:txBody>
      </p:sp>
      <p:pic>
        <p:nvPicPr>
          <p:cNvPr id="14" name="Picture 13" descr="A firm’s I T services and infrastructure consist of its information technology, its I T strategy, and its business strategy. These elements interact with one another in order to provide customer services, supplier services, and enterprise services."/>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91566" y="3889919"/>
            <a:ext cx="5873057" cy="3589422"/>
          </a:xfrm>
          <a:prstGeom prst="rect">
            <a:avLst/>
          </a:prstGeom>
        </p:spPr>
      </p:pic>
    </p:spTree>
    <p:extLst>
      <p:ext uri="{BB962C8B-B14F-4D97-AF65-F5344CB8AC3E}">
        <p14:creationId xmlns:p14="http://schemas.microsoft.com/office/powerpoint/2010/main" val="36516566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Stages in I T infrastructure evolution include the following. 1, Mainframe or Minicomputer, 19 59 to present. An illustration next to this step shows A mainframe computer hardwired to three personal computers. 2, Personal Computer, 19 81 to present). An illustration next to this step shows Three stand alone personal computers. 3, Client or Server, 19 83 to present. An illustration next to this step shows a Server networked with two clients. "/>
          <p:cNvPicPr>
            <a:picLocks noChangeAspect="1"/>
          </p:cNvPicPr>
          <p:nvPr/>
        </p:nvPicPr>
        <p:blipFill rotWithShape="1">
          <a:blip r:embed="rId2">
            <a:extLst>
              <a:ext uri="{28A0092B-C50C-407E-A947-70E740481C1C}">
                <a14:useLocalDpi xmlns:a14="http://schemas.microsoft.com/office/drawing/2010/main" val="0"/>
              </a:ext>
            </a:extLst>
          </a:blip>
          <a:srcRect b="56887"/>
          <a:stretch/>
        </p:blipFill>
        <p:spPr>
          <a:xfrm>
            <a:off x="1083559" y="1604813"/>
            <a:ext cx="7115043" cy="5347805"/>
          </a:xfrm>
          <a:prstGeom prst="rect">
            <a:avLst/>
          </a:prstGeom>
        </p:spPr>
      </p:pic>
    </p:spTree>
    <p:extLst>
      <p:ext uri="{BB962C8B-B14F-4D97-AF65-F5344CB8AC3E}">
        <p14:creationId xmlns:p14="http://schemas.microsoft.com/office/powerpoint/2010/main" val="402678020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4, Enterprise Computing, 19 92 to present. An illustration next to this step shows an Enterprise server connected to the Internet. the enterprise server is also connected to three separate client and server networks. 5, Cloud Computing, 2000 to present. An illustration next to this step shows the following. Encompassed within a, cloud, are the Internet, laptops, smartphones, client and server networks, networks of hardware, software, and services."/>
          <p:cNvPicPr>
            <a:picLocks noChangeAspect="1"/>
          </p:cNvPicPr>
          <p:nvPr/>
        </p:nvPicPr>
        <p:blipFill rotWithShape="1">
          <a:blip r:embed="rId2">
            <a:extLst>
              <a:ext uri="{28A0092B-C50C-407E-A947-70E740481C1C}">
                <a14:useLocalDpi xmlns:a14="http://schemas.microsoft.com/office/drawing/2010/main" val="0"/>
              </a:ext>
            </a:extLst>
          </a:blip>
          <a:srcRect t="43435"/>
          <a:stretch/>
        </p:blipFill>
        <p:spPr>
          <a:xfrm>
            <a:off x="1642821" y="1432530"/>
            <a:ext cx="6018575" cy="5935100"/>
          </a:xfrm>
          <a:prstGeom prst="rect">
            <a:avLst/>
          </a:prstGeom>
        </p:spPr>
      </p:pic>
    </p:spTree>
    <p:extLst>
      <p:ext uri="{BB962C8B-B14F-4D97-AF65-F5344CB8AC3E}">
        <p14:creationId xmlns:p14="http://schemas.microsoft.com/office/powerpoint/2010/main" val="239468080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n this diagram, the Internet facilitates contact between client and web server. Additional interactions occur between web server and application server, between application server and Sales and Production and Accounting and H R, and between Sales and Production and Accounting and H R and data."/>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62060" y="2068286"/>
            <a:ext cx="7419880" cy="3048000"/>
          </a:xfrm>
          <a:prstGeom prst="rect">
            <a:avLst/>
          </a:prstGeom>
        </p:spPr>
      </p:pic>
    </p:spTree>
    <p:extLst>
      <p:ext uri="{BB962C8B-B14F-4D97-AF65-F5344CB8AC3E}">
        <p14:creationId xmlns:p14="http://schemas.microsoft.com/office/powerpoint/2010/main" val="176607192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n this diagram, the Internet facilitates contact between client and web server. Additional interactions occur between web server and application server, between application server and Sales and Production and Accounting and H R, and between Sales and Production and Accounting and H R and data."/>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43986" y="3370144"/>
            <a:ext cx="7419880" cy="3048000"/>
          </a:xfrm>
          <a:prstGeom prst="rect">
            <a:avLst/>
          </a:prstGeom>
        </p:spPr>
      </p:pic>
      <p:sp>
        <p:nvSpPr>
          <p:cNvPr id="3" name="Title 6"/>
          <p:cNvSpPr txBox="1">
            <a:spLocks/>
          </p:cNvSpPr>
          <p:nvPr/>
        </p:nvSpPr>
        <p:spPr>
          <a:xfrm>
            <a:off x="858252" y="1700939"/>
            <a:ext cx="8229600" cy="1066799"/>
          </a:xfrm>
          <a:prstGeom prst="rect">
            <a:avLst/>
          </a:prstGeom>
        </p:spPr>
        <p:txBody>
          <a:bodyPr anchor="b"/>
          <a:lstStyle>
            <a:lvl1pPr algn="ctr" defTabSz="508178" rtl="0" eaLnBrk="1" latinLnBrk="0" hangingPunct="1">
              <a:spcBef>
                <a:spcPct val="0"/>
              </a:spcBef>
              <a:buNone/>
              <a:defRPr sz="4900" kern="1200">
                <a:solidFill>
                  <a:schemeClr val="tx1"/>
                </a:solidFill>
                <a:latin typeface="+mj-lt"/>
                <a:ea typeface="+mj-ea"/>
                <a:cs typeface="+mj-cs"/>
              </a:defRPr>
            </a:lvl1pPr>
          </a:lstStyle>
          <a:p>
            <a:r>
              <a:rPr lang="en-US" sz="4000" dirty="0" smtClean="0">
                <a:solidFill>
                  <a:schemeClr val="bg1"/>
                </a:solidFill>
              </a:rPr>
              <a:t>A </a:t>
            </a:r>
            <a:r>
              <a:rPr lang="en-US" sz="4000" dirty="0" err="1" smtClean="0">
                <a:solidFill>
                  <a:schemeClr val="bg1"/>
                </a:solidFill>
              </a:rPr>
              <a:t>Multitiered</a:t>
            </a:r>
            <a:r>
              <a:rPr lang="en-US" sz="4000" dirty="0" smtClean="0">
                <a:solidFill>
                  <a:schemeClr val="bg1"/>
                </a:solidFill>
              </a:rPr>
              <a:t> (N-Tier) Client/Server Network</a:t>
            </a:r>
            <a:endParaRPr lang="en-US" sz="1400" dirty="0">
              <a:solidFill>
                <a:schemeClr val="bg1"/>
              </a:solidFill>
            </a:endParaRPr>
          </a:p>
        </p:txBody>
      </p:sp>
    </p:spTree>
    <p:extLst>
      <p:ext uri="{BB962C8B-B14F-4D97-AF65-F5344CB8AC3E}">
        <p14:creationId xmlns:p14="http://schemas.microsoft.com/office/powerpoint/2010/main" val="83343382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853440" y="1822649"/>
            <a:ext cx="9144635" cy="553998"/>
          </a:xfrm>
          <a:prstGeom prst="rect">
            <a:avLst/>
          </a:prstGeom>
          <a:noFill/>
        </p:spPr>
        <p:txBody>
          <a:bodyPr wrap="square" rtlCol="0">
            <a:spAutoFit/>
          </a:bodyPr>
          <a:lstStyle/>
          <a:p>
            <a:r>
              <a:rPr lang="en-US" sz="3000" dirty="0">
                <a:solidFill>
                  <a:srgbClr val="FFFFFF"/>
                </a:solidFill>
              </a:rPr>
              <a:t>Components of IT infrastructure</a:t>
            </a:r>
          </a:p>
        </p:txBody>
      </p:sp>
      <p:sp>
        <p:nvSpPr>
          <p:cNvPr id="5" name="TextBox 4"/>
          <p:cNvSpPr txBox="1"/>
          <p:nvPr/>
        </p:nvSpPr>
        <p:spPr>
          <a:xfrm>
            <a:off x="1366524" y="1383897"/>
            <a:ext cx="8008917" cy="400110"/>
          </a:xfrm>
          <a:prstGeom prst="rect">
            <a:avLst/>
          </a:prstGeom>
          <a:noFill/>
        </p:spPr>
        <p:txBody>
          <a:bodyPr wrap="square" rtlCol="0">
            <a:spAutoFit/>
          </a:bodyPr>
          <a:lstStyle/>
          <a:p>
            <a:pPr marR="0" algn="l" rtl="0"/>
            <a:r>
              <a:rPr lang="en-US" sz="2000" b="1" i="0" u="none" strike="noStrike" baseline="0" dirty="0">
                <a:solidFill>
                  <a:srgbClr val="FFFFFF"/>
                </a:solidFill>
                <a:latin typeface="RopaSoftPro-Regular"/>
              </a:rPr>
              <a:t>Faculty</a:t>
            </a:r>
            <a:r>
              <a:rPr lang="en-US" sz="2000" b="1" i="0" u="none" strike="noStrike" dirty="0">
                <a:solidFill>
                  <a:srgbClr val="FFFFFF"/>
                </a:solidFill>
                <a:latin typeface="RopaSoftPro-Regular"/>
              </a:rPr>
              <a:t> of </a:t>
            </a:r>
            <a:r>
              <a:rPr lang="en-US" b="1" dirty="0">
                <a:solidFill>
                  <a:srgbClr val="FFFFFF"/>
                </a:solidFill>
                <a:latin typeface="RopaSoftPro-Regular"/>
              </a:rPr>
              <a:t> Computing and Informatics</a:t>
            </a:r>
            <a:endParaRPr lang="en-US" sz="2000" b="1" i="0" u="none" strike="noStrike" baseline="0" dirty="0">
              <a:solidFill>
                <a:srgbClr val="FFFFFF"/>
              </a:solidFill>
              <a:latin typeface="RopaSoftPro-Regular"/>
            </a:endParaRPr>
          </a:p>
        </p:txBody>
      </p:sp>
      <p:sp>
        <p:nvSpPr>
          <p:cNvPr id="2" name="TextBox 1"/>
          <p:cNvSpPr txBox="1"/>
          <p:nvPr/>
        </p:nvSpPr>
        <p:spPr>
          <a:xfrm>
            <a:off x="899477" y="2415289"/>
            <a:ext cx="9144635" cy="5940088"/>
          </a:xfrm>
          <a:prstGeom prst="rect">
            <a:avLst/>
          </a:prstGeom>
          <a:noFill/>
        </p:spPr>
        <p:txBody>
          <a:bodyPr wrap="square" rtlCol="0">
            <a:spAutoFit/>
          </a:bodyPr>
          <a:lstStyle/>
          <a:p>
            <a:pPr marL="342900" indent="-342900">
              <a:buFontTx/>
              <a:buChar char="-"/>
            </a:pPr>
            <a:r>
              <a:rPr lang="en-US" dirty="0">
                <a:solidFill>
                  <a:srgbClr val="FFFFFF"/>
                </a:solidFill>
              </a:rPr>
              <a:t>The services provided through IT infrastructure include the following:</a:t>
            </a:r>
          </a:p>
          <a:p>
            <a:pPr marL="342900" indent="-342900">
              <a:buFontTx/>
              <a:buChar char="-"/>
            </a:pPr>
            <a:endParaRPr lang="en-US" dirty="0">
              <a:solidFill>
                <a:srgbClr val="FFFFFF"/>
              </a:solidFill>
            </a:endParaRPr>
          </a:p>
          <a:p>
            <a:pPr marL="342900" indent="-342900">
              <a:buFont typeface="Arial" panose="020B0604020202020204" pitchFamily="34" charset="0"/>
              <a:buChar char="•"/>
            </a:pPr>
            <a:r>
              <a:rPr lang="en-US" dirty="0">
                <a:solidFill>
                  <a:srgbClr val="FFFFFF"/>
                </a:solidFill>
              </a:rPr>
              <a:t>Computer hardware platforms – the collection of the physical parts of a computer, e.g. Dell, IBM, Apple, HP</a:t>
            </a:r>
          </a:p>
          <a:p>
            <a:pPr marL="342900" indent="-342900">
              <a:buFont typeface="Arial" panose="020B0604020202020204" pitchFamily="34" charset="0"/>
              <a:buChar char="•"/>
            </a:pPr>
            <a:endParaRPr lang="en-US" dirty="0">
              <a:solidFill>
                <a:srgbClr val="FFFFFF"/>
              </a:solidFill>
            </a:endParaRPr>
          </a:p>
          <a:p>
            <a:pPr marL="342900" indent="-342900">
              <a:buFont typeface="Arial" panose="020B0604020202020204" pitchFamily="34" charset="0"/>
              <a:buChar char="•"/>
            </a:pPr>
            <a:r>
              <a:rPr lang="en-US" dirty="0">
                <a:solidFill>
                  <a:srgbClr val="FFFFFF"/>
                </a:solidFill>
              </a:rPr>
              <a:t>Operating systems – the software that manages resources and activities of a computer such as sharing internal memory among applications, handling input/output operations, multitasking of programs, e.g. Unix, Linux, Chrome, Android, iOS, mac OSX</a:t>
            </a:r>
          </a:p>
          <a:p>
            <a:pPr marL="342900" indent="-342900">
              <a:buFont typeface="Arial" panose="020B0604020202020204" pitchFamily="34" charset="0"/>
              <a:buChar char="•"/>
            </a:pPr>
            <a:endParaRPr lang="en-US" dirty="0">
              <a:solidFill>
                <a:srgbClr val="FFFFFF"/>
              </a:solidFill>
            </a:endParaRPr>
          </a:p>
          <a:p>
            <a:pPr marL="342900" indent="-342900">
              <a:buFont typeface="Arial" panose="020B0604020202020204" pitchFamily="34" charset="0"/>
              <a:buChar char="•"/>
            </a:pPr>
            <a:r>
              <a:rPr lang="en-US" dirty="0">
                <a:solidFill>
                  <a:srgbClr val="FFFFFF"/>
                </a:solidFill>
              </a:rPr>
              <a:t>Enterprise software applications -  computer software to satisfy the enterprise needs of an </a:t>
            </a:r>
            <a:r>
              <a:rPr lang="en-US" dirty="0" err="1">
                <a:solidFill>
                  <a:srgbClr val="FFFFFF"/>
                </a:solidFill>
              </a:rPr>
              <a:t>organisation</a:t>
            </a:r>
            <a:r>
              <a:rPr lang="en-US" dirty="0">
                <a:solidFill>
                  <a:srgbClr val="FFFFFF"/>
                </a:solidFill>
              </a:rPr>
              <a:t> such as digital content creation, collaboration, ERP, CRM, e.g. SAP, Oracle, Microsoft</a:t>
            </a:r>
          </a:p>
          <a:p>
            <a:pPr marL="342900" indent="-342900">
              <a:buFont typeface="Arial" panose="020B0604020202020204" pitchFamily="34" charset="0"/>
              <a:buChar char="•"/>
            </a:pPr>
            <a:endParaRPr lang="en-US" dirty="0">
              <a:solidFill>
                <a:srgbClr val="FFFFFF"/>
              </a:solidFill>
            </a:endParaRPr>
          </a:p>
          <a:p>
            <a:pPr marL="342900" indent="-342900">
              <a:buFont typeface="Arial" panose="020B0604020202020204" pitchFamily="34" charset="0"/>
              <a:buChar char="•"/>
            </a:pPr>
            <a:r>
              <a:rPr lang="en-US" dirty="0">
                <a:solidFill>
                  <a:srgbClr val="FFFFFF"/>
                </a:solidFill>
              </a:rPr>
              <a:t>Networking/Telecommunications – telecommunications / telephone services that offer voice and data connectivity, wide area networking, wireless services and internet access, e.g. Linux, CISCO, Alcatel-Lucent, AT&amp;T, Verizon</a:t>
            </a:r>
          </a:p>
          <a:p>
            <a:endParaRPr lang="en-US" dirty="0">
              <a:solidFill>
                <a:schemeClr val="bg1"/>
              </a:solidFill>
            </a:endParaRPr>
          </a:p>
          <a:p>
            <a:r>
              <a:rPr lang="en-US" dirty="0">
                <a:solidFill>
                  <a:schemeClr val="bg1"/>
                </a:solidFill>
              </a:rPr>
              <a:t>	</a:t>
            </a:r>
          </a:p>
        </p:txBody>
      </p:sp>
    </p:spTree>
    <p:extLst>
      <p:ext uri="{BB962C8B-B14F-4D97-AF65-F5344CB8AC3E}">
        <p14:creationId xmlns:p14="http://schemas.microsoft.com/office/powerpoint/2010/main" val="260635309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The seven components of the IT ecosystem that must be coordinated include the following. Internet Platforms such as Apache, Microsoft I I S, dot net, Unix, Cisco, and Java. Computer Hardware Platforms such as Dell, I B M, Oracle Sun, H P, and Apple. Operating System Platforms such as Microsoft Windows, Unix, Linux, Mac O S X, Chrome, Android, and i O S. Enterprise Software Applications including middleware such as S A P, Oracle, Microsoft, and I B M. Networking and Telecommunications such as Microsoft Windows Server, Linux, Cisco, A T and T, and Verizon. Consultants and System Integrators such as I B M, H P, and Accenture. Data Management and Storage such as I B M D B 2, Oracle, S Q L Server, Sybase, My S Q L, E M C, Apache, and Hadoop."/>
          <p:cNvPicPr>
            <a:picLocks noChangeAspect="1"/>
          </p:cNvPicPr>
          <p:nvPr/>
        </p:nvPicPr>
        <p:blipFill rotWithShape="1">
          <a:blip r:embed="rId2">
            <a:extLst>
              <a:ext uri="{28A0092B-C50C-407E-A947-70E740481C1C}">
                <a14:useLocalDpi xmlns:a14="http://schemas.microsoft.com/office/drawing/2010/main" val="0"/>
              </a:ext>
            </a:extLst>
          </a:blip>
          <a:srcRect t="243"/>
          <a:stretch/>
        </p:blipFill>
        <p:spPr>
          <a:xfrm>
            <a:off x="1821636" y="2348497"/>
            <a:ext cx="5911264" cy="4580045"/>
          </a:xfrm>
          <a:prstGeom prst="rect">
            <a:avLst/>
          </a:prstGeom>
        </p:spPr>
      </p:pic>
      <p:sp>
        <p:nvSpPr>
          <p:cNvPr id="3" name="Title 6"/>
          <p:cNvSpPr txBox="1">
            <a:spLocks/>
          </p:cNvSpPr>
          <p:nvPr/>
        </p:nvSpPr>
        <p:spPr>
          <a:xfrm>
            <a:off x="457200" y="1067778"/>
            <a:ext cx="8299174" cy="1097279"/>
          </a:xfrm>
          <a:prstGeom prst="rect">
            <a:avLst/>
          </a:prstGeom>
        </p:spPr>
        <p:txBody>
          <a:bodyPr anchor="b"/>
          <a:lstStyle>
            <a:lvl1pPr algn="ctr" defTabSz="508178" rtl="0" eaLnBrk="1" latinLnBrk="0" hangingPunct="1">
              <a:spcBef>
                <a:spcPct val="0"/>
              </a:spcBef>
              <a:buNone/>
              <a:defRPr sz="4900" kern="1200">
                <a:solidFill>
                  <a:schemeClr val="tx1"/>
                </a:solidFill>
                <a:latin typeface="+mj-lt"/>
                <a:ea typeface="+mj-ea"/>
                <a:cs typeface="+mj-cs"/>
              </a:defRPr>
            </a:lvl1pPr>
          </a:lstStyle>
          <a:p>
            <a:r>
              <a:rPr lang="en-US" dirty="0" smtClean="0">
                <a:solidFill>
                  <a:schemeClr val="bg1"/>
                </a:solidFill>
              </a:rPr>
              <a:t> The I</a:t>
            </a:r>
            <a:r>
              <a:rPr lang="en-US" sz="100" dirty="0" smtClean="0">
                <a:solidFill>
                  <a:schemeClr val="bg1"/>
                </a:solidFill>
              </a:rPr>
              <a:t> </a:t>
            </a:r>
            <a:r>
              <a:rPr lang="en-US" dirty="0" smtClean="0">
                <a:solidFill>
                  <a:schemeClr val="bg1"/>
                </a:solidFill>
              </a:rPr>
              <a:t>T Infrastructure Ecosystem</a:t>
            </a:r>
            <a:endParaRPr lang="en-US" sz="2000" dirty="0">
              <a:solidFill>
                <a:schemeClr val="bg1"/>
              </a:solidFill>
            </a:endParaRPr>
          </a:p>
        </p:txBody>
      </p:sp>
    </p:spTree>
    <p:extLst>
      <p:ext uri="{BB962C8B-B14F-4D97-AF65-F5344CB8AC3E}">
        <p14:creationId xmlns:p14="http://schemas.microsoft.com/office/powerpoint/2010/main" val="429167887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853440" y="2099648"/>
            <a:ext cx="9144635" cy="553998"/>
          </a:xfrm>
          <a:prstGeom prst="rect">
            <a:avLst/>
          </a:prstGeom>
          <a:noFill/>
        </p:spPr>
        <p:txBody>
          <a:bodyPr wrap="square" rtlCol="0">
            <a:spAutoFit/>
          </a:bodyPr>
          <a:lstStyle/>
          <a:p>
            <a:r>
              <a:rPr lang="en-US" sz="3000" dirty="0">
                <a:solidFill>
                  <a:srgbClr val="FFFFFF"/>
                </a:solidFill>
              </a:rPr>
              <a:t>Components of IT infrastructure</a:t>
            </a:r>
          </a:p>
        </p:txBody>
      </p:sp>
      <p:sp>
        <p:nvSpPr>
          <p:cNvPr id="5" name="TextBox 4"/>
          <p:cNvSpPr txBox="1"/>
          <p:nvPr/>
        </p:nvSpPr>
        <p:spPr>
          <a:xfrm>
            <a:off x="1366524" y="1383897"/>
            <a:ext cx="8008917" cy="400110"/>
          </a:xfrm>
          <a:prstGeom prst="rect">
            <a:avLst/>
          </a:prstGeom>
          <a:noFill/>
        </p:spPr>
        <p:txBody>
          <a:bodyPr wrap="square" rtlCol="0">
            <a:spAutoFit/>
          </a:bodyPr>
          <a:lstStyle/>
          <a:p>
            <a:pPr marR="0" algn="l" rtl="0"/>
            <a:r>
              <a:rPr lang="en-US" sz="2000" b="1" i="0" u="none" strike="noStrike" baseline="0" dirty="0">
                <a:solidFill>
                  <a:srgbClr val="FFFFFF"/>
                </a:solidFill>
                <a:latin typeface="RopaSoftPro-Regular"/>
              </a:rPr>
              <a:t>Faculty</a:t>
            </a:r>
            <a:r>
              <a:rPr lang="en-US" sz="2000" b="1" i="0" u="none" strike="noStrike" dirty="0">
                <a:solidFill>
                  <a:srgbClr val="FFFFFF"/>
                </a:solidFill>
                <a:latin typeface="RopaSoftPro-Regular"/>
              </a:rPr>
              <a:t> of </a:t>
            </a:r>
            <a:r>
              <a:rPr lang="en-US" b="1" dirty="0">
                <a:solidFill>
                  <a:srgbClr val="FFFFFF"/>
                </a:solidFill>
                <a:latin typeface="RopaSoftPro-Regular"/>
              </a:rPr>
              <a:t> Computing and Informatics</a:t>
            </a:r>
            <a:endParaRPr lang="en-US" sz="2000" b="1" i="0" u="none" strike="noStrike" baseline="0" dirty="0">
              <a:solidFill>
                <a:srgbClr val="FFFFFF"/>
              </a:solidFill>
              <a:latin typeface="RopaSoftPro-Regular"/>
            </a:endParaRPr>
          </a:p>
        </p:txBody>
      </p:sp>
      <p:sp>
        <p:nvSpPr>
          <p:cNvPr id="2" name="TextBox 1"/>
          <p:cNvSpPr txBox="1"/>
          <p:nvPr/>
        </p:nvSpPr>
        <p:spPr>
          <a:xfrm>
            <a:off x="853440" y="2910840"/>
            <a:ext cx="9144635" cy="4708981"/>
          </a:xfrm>
          <a:prstGeom prst="rect">
            <a:avLst/>
          </a:prstGeom>
          <a:noFill/>
        </p:spPr>
        <p:txBody>
          <a:bodyPr wrap="square" rtlCol="0">
            <a:spAutoFit/>
          </a:bodyPr>
          <a:lstStyle/>
          <a:p>
            <a:pPr marL="342900" indent="-342900">
              <a:buFontTx/>
              <a:buChar char="-"/>
            </a:pPr>
            <a:r>
              <a:rPr lang="en-US" dirty="0">
                <a:solidFill>
                  <a:srgbClr val="FFFFFF"/>
                </a:solidFill>
              </a:rPr>
              <a:t>The services provided through IT infrastructure include the following:</a:t>
            </a:r>
          </a:p>
          <a:p>
            <a:pPr marL="342900" indent="-342900">
              <a:buFontTx/>
              <a:buChar char="-"/>
            </a:pPr>
            <a:endParaRPr lang="en-US" dirty="0">
              <a:solidFill>
                <a:srgbClr val="FFFFFF"/>
              </a:solidFill>
            </a:endParaRPr>
          </a:p>
          <a:p>
            <a:pPr marL="342900" indent="-342900">
              <a:buFont typeface="Arial" panose="020B0604020202020204" pitchFamily="34" charset="0"/>
              <a:buChar char="•"/>
            </a:pPr>
            <a:r>
              <a:rPr lang="en-US" dirty="0" err="1">
                <a:solidFill>
                  <a:srgbClr val="FFFFFF"/>
                </a:solidFill>
              </a:rPr>
              <a:t>Consultators</a:t>
            </a:r>
            <a:r>
              <a:rPr lang="en-US" dirty="0">
                <a:solidFill>
                  <a:srgbClr val="FFFFFF"/>
                </a:solidFill>
              </a:rPr>
              <a:t> and system integrators – implementing new infrastructure and ensuring it works with an </a:t>
            </a:r>
            <a:r>
              <a:rPr lang="en-US" dirty="0" err="1">
                <a:solidFill>
                  <a:srgbClr val="FFFFFF"/>
                </a:solidFill>
              </a:rPr>
              <a:t>organisation’s</a:t>
            </a:r>
            <a:r>
              <a:rPr lang="en-US" dirty="0">
                <a:solidFill>
                  <a:srgbClr val="FFFFFF"/>
                </a:solidFill>
              </a:rPr>
              <a:t> older legacy systems, e.g., IBM, HP, Accenture</a:t>
            </a:r>
          </a:p>
          <a:p>
            <a:pPr marL="342900" indent="-342900">
              <a:buFont typeface="Arial" panose="020B0604020202020204" pitchFamily="34" charset="0"/>
              <a:buChar char="•"/>
            </a:pPr>
            <a:endParaRPr lang="en-US" dirty="0">
              <a:solidFill>
                <a:srgbClr val="FFFFFF"/>
              </a:solidFill>
            </a:endParaRPr>
          </a:p>
          <a:p>
            <a:pPr marL="342900" indent="-342900">
              <a:buFont typeface="Arial" panose="020B0604020202020204" pitchFamily="34" charset="0"/>
              <a:buChar char="•"/>
            </a:pPr>
            <a:r>
              <a:rPr lang="en-US" dirty="0">
                <a:solidFill>
                  <a:srgbClr val="FFFFFF"/>
                </a:solidFill>
              </a:rPr>
              <a:t>Database management and storage – for organizing and managing an </a:t>
            </a:r>
            <a:r>
              <a:rPr lang="en-US" dirty="0" err="1">
                <a:solidFill>
                  <a:srgbClr val="FFFFFF"/>
                </a:solidFill>
              </a:rPr>
              <a:t>organisation’s</a:t>
            </a:r>
            <a:r>
              <a:rPr lang="en-US" dirty="0">
                <a:solidFill>
                  <a:srgbClr val="FFFFFF"/>
                </a:solidFill>
              </a:rPr>
              <a:t> data so that they can be efficiently accessed and used, e.g. IBM DB2, Oracle, SQL Server, MySQL, Apache, Hadoop, EMC</a:t>
            </a:r>
          </a:p>
          <a:p>
            <a:pPr marL="342900" indent="-342900">
              <a:buFont typeface="Arial" panose="020B0604020202020204" pitchFamily="34" charset="0"/>
              <a:buChar char="•"/>
            </a:pPr>
            <a:endParaRPr lang="en-US" dirty="0">
              <a:solidFill>
                <a:srgbClr val="FFFFFF"/>
              </a:solidFill>
            </a:endParaRPr>
          </a:p>
          <a:p>
            <a:pPr marL="342900" indent="-342900">
              <a:buFont typeface="Arial" panose="020B0604020202020204" pitchFamily="34" charset="0"/>
              <a:buChar char="•"/>
            </a:pPr>
            <a:r>
              <a:rPr lang="en-US" dirty="0">
                <a:solidFill>
                  <a:srgbClr val="FFFFFF"/>
                </a:solidFill>
              </a:rPr>
              <a:t>Internet platforms – hardware, software and management services to support an </a:t>
            </a:r>
            <a:r>
              <a:rPr lang="en-US" dirty="0" err="1">
                <a:solidFill>
                  <a:srgbClr val="FFFFFF"/>
                </a:solidFill>
              </a:rPr>
              <a:t>organisation’s</a:t>
            </a:r>
            <a:r>
              <a:rPr lang="en-US" dirty="0">
                <a:solidFill>
                  <a:srgbClr val="FFFFFF"/>
                </a:solidFill>
              </a:rPr>
              <a:t> web site, web hosting services, routing, cabling or wireless, e.g. Apache, Microsoft IIS, .NET, Unix, Cisco, Java</a:t>
            </a:r>
          </a:p>
          <a:p>
            <a:endParaRPr lang="en-US" dirty="0">
              <a:solidFill>
                <a:schemeClr val="bg1"/>
              </a:solidFill>
            </a:endParaRPr>
          </a:p>
          <a:p>
            <a:r>
              <a:rPr lang="en-US" dirty="0">
                <a:solidFill>
                  <a:schemeClr val="bg1"/>
                </a:solidFill>
              </a:rPr>
              <a:t>	</a:t>
            </a:r>
          </a:p>
        </p:txBody>
      </p:sp>
    </p:spTree>
    <p:extLst>
      <p:ext uri="{BB962C8B-B14F-4D97-AF65-F5344CB8AC3E}">
        <p14:creationId xmlns:p14="http://schemas.microsoft.com/office/powerpoint/2010/main" val="64281809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853440" y="2099648"/>
            <a:ext cx="9144635" cy="553998"/>
          </a:xfrm>
          <a:prstGeom prst="rect">
            <a:avLst/>
          </a:prstGeom>
          <a:noFill/>
        </p:spPr>
        <p:txBody>
          <a:bodyPr wrap="square" rtlCol="0">
            <a:spAutoFit/>
          </a:bodyPr>
          <a:lstStyle/>
          <a:p>
            <a:r>
              <a:rPr lang="en-US" sz="3000" dirty="0">
                <a:solidFill>
                  <a:srgbClr val="FFFFFF"/>
                </a:solidFill>
              </a:rPr>
              <a:t>Emerging technologies – Cloud computing</a:t>
            </a:r>
          </a:p>
        </p:txBody>
      </p:sp>
      <p:sp>
        <p:nvSpPr>
          <p:cNvPr id="5" name="TextBox 4"/>
          <p:cNvSpPr txBox="1"/>
          <p:nvPr/>
        </p:nvSpPr>
        <p:spPr>
          <a:xfrm>
            <a:off x="1366524" y="1383897"/>
            <a:ext cx="8008917" cy="400110"/>
          </a:xfrm>
          <a:prstGeom prst="rect">
            <a:avLst/>
          </a:prstGeom>
          <a:noFill/>
        </p:spPr>
        <p:txBody>
          <a:bodyPr wrap="square" rtlCol="0">
            <a:spAutoFit/>
          </a:bodyPr>
          <a:lstStyle/>
          <a:p>
            <a:pPr marR="0" algn="l" rtl="0"/>
            <a:r>
              <a:rPr lang="en-US" sz="2000" b="1" i="0" u="none" strike="noStrike" baseline="0" dirty="0">
                <a:solidFill>
                  <a:srgbClr val="FFFFFF"/>
                </a:solidFill>
                <a:latin typeface="RopaSoftPro-Regular"/>
              </a:rPr>
              <a:t>Faculty</a:t>
            </a:r>
            <a:r>
              <a:rPr lang="en-US" sz="2000" b="1" i="0" u="none" strike="noStrike" dirty="0">
                <a:solidFill>
                  <a:srgbClr val="FFFFFF"/>
                </a:solidFill>
                <a:latin typeface="RopaSoftPro-Regular"/>
              </a:rPr>
              <a:t> of </a:t>
            </a:r>
            <a:r>
              <a:rPr lang="en-US" b="1" dirty="0">
                <a:solidFill>
                  <a:srgbClr val="FFFFFF"/>
                </a:solidFill>
                <a:latin typeface="RopaSoftPro-Regular"/>
              </a:rPr>
              <a:t> Computing and Informatics</a:t>
            </a:r>
            <a:endParaRPr lang="en-US" sz="2000" b="1" i="0" u="none" strike="noStrike" baseline="0" dirty="0">
              <a:solidFill>
                <a:srgbClr val="FFFFFF"/>
              </a:solidFill>
              <a:latin typeface="RopaSoftPro-Regular"/>
            </a:endParaRPr>
          </a:p>
        </p:txBody>
      </p:sp>
      <p:sp>
        <p:nvSpPr>
          <p:cNvPr id="2" name="TextBox 1"/>
          <p:cNvSpPr txBox="1"/>
          <p:nvPr/>
        </p:nvSpPr>
        <p:spPr>
          <a:xfrm>
            <a:off x="853440" y="2668886"/>
            <a:ext cx="9144635" cy="5940088"/>
          </a:xfrm>
          <a:prstGeom prst="rect">
            <a:avLst/>
          </a:prstGeom>
          <a:noFill/>
        </p:spPr>
        <p:txBody>
          <a:bodyPr wrap="square" rtlCol="0">
            <a:spAutoFit/>
          </a:bodyPr>
          <a:lstStyle/>
          <a:p>
            <a:pPr marL="342900" indent="-342900">
              <a:buFont typeface="Arial" panose="020B0604020202020204" pitchFamily="34" charset="0"/>
              <a:buChar char="•"/>
            </a:pPr>
            <a:r>
              <a:rPr lang="en-US" dirty="0">
                <a:solidFill>
                  <a:srgbClr val="FFFFFF"/>
                </a:solidFill>
              </a:rPr>
              <a:t>Cloud computing is a model of computing in which computer processing, storage, software and other services are provided by a pool of virtualized resources over a network</a:t>
            </a:r>
          </a:p>
          <a:p>
            <a:pPr marL="342900" indent="-342900">
              <a:buFont typeface="Arial" panose="020B0604020202020204" pitchFamily="34" charset="0"/>
              <a:buChar char="•"/>
            </a:pPr>
            <a:endParaRPr lang="en-US" dirty="0">
              <a:solidFill>
                <a:srgbClr val="FFFFFF"/>
              </a:solidFill>
            </a:endParaRPr>
          </a:p>
          <a:p>
            <a:pPr marL="342900" indent="-342900">
              <a:buFont typeface="Arial" panose="020B0604020202020204" pitchFamily="34" charset="0"/>
              <a:buChar char="•"/>
            </a:pPr>
            <a:r>
              <a:rPr lang="en-US" dirty="0">
                <a:solidFill>
                  <a:srgbClr val="FFFFFF"/>
                </a:solidFill>
              </a:rPr>
              <a:t>There are 3 different types of services offered through the cloud</a:t>
            </a:r>
          </a:p>
          <a:p>
            <a:pPr marL="851078" lvl="1" indent="-342900">
              <a:buFont typeface="Arial" panose="020B0604020202020204" pitchFamily="34" charset="0"/>
              <a:buChar char="•"/>
            </a:pPr>
            <a:r>
              <a:rPr lang="en-US" dirty="0">
                <a:solidFill>
                  <a:srgbClr val="FFFFFF"/>
                </a:solidFill>
              </a:rPr>
              <a:t>Infrastructure-as-a-service (IaaS) – customers use processing, storage, networking and other computing resources from cloud service providers to run their information systems, e.g. Simple Storage Service (S3), Elastic Computer Cloud (EC2)</a:t>
            </a:r>
          </a:p>
          <a:p>
            <a:pPr marL="851078" lvl="1" indent="-342900">
              <a:buFont typeface="Arial" panose="020B0604020202020204" pitchFamily="34" charset="0"/>
              <a:buChar char="•"/>
            </a:pPr>
            <a:r>
              <a:rPr lang="en-US" dirty="0">
                <a:solidFill>
                  <a:srgbClr val="FFFFFF"/>
                </a:solidFill>
              </a:rPr>
              <a:t>Platform-as-a-service (PaaS) – customers use  infrastructure and programming tools supported by the cloud service provider to develop their own applications, e.g., IBM’s Smart Business Application Development and test Service for software development, Salesforce.com</a:t>
            </a:r>
          </a:p>
          <a:p>
            <a:pPr marL="851078" lvl="1" indent="-342900">
              <a:buFont typeface="Arial" panose="020B0604020202020204" pitchFamily="34" charset="0"/>
              <a:buChar char="•"/>
            </a:pPr>
            <a:r>
              <a:rPr lang="en-US" dirty="0">
                <a:solidFill>
                  <a:srgbClr val="FFFFFF"/>
                </a:solidFill>
              </a:rPr>
              <a:t>Software-as-a-Service (SaaS) – customers use software hosted by the vendor on the vendor’s cloud infrastructure and delivered over a network, e.g. Google Apps, salesforce.com</a:t>
            </a:r>
          </a:p>
          <a:p>
            <a:pPr marL="851078" lvl="1" indent="-342900">
              <a:buFont typeface="Arial" panose="020B0604020202020204" pitchFamily="34" charset="0"/>
              <a:buChar char="•"/>
            </a:pPr>
            <a:endParaRPr lang="en-US" dirty="0">
              <a:solidFill>
                <a:srgbClr val="FFFFFF"/>
              </a:solidFill>
            </a:endParaRPr>
          </a:p>
          <a:p>
            <a:endParaRPr lang="en-US" dirty="0">
              <a:solidFill>
                <a:schemeClr val="bg1"/>
              </a:solidFill>
            </a:endParaRPr>
          </a:p>
          <a:p>
            <a:r>
              <a:rPr lang="en-US" dirty="0">
                <a:solidFill>
                  <a:schemeClr val="bg1"/>
                </a:solidFill>
              </a:rPr>
              <a:t>	</a:t>
            </a:r>
          </a:p>
        </p:txBody>
      </p:sp>
    </p:spTree>
    <p:extLst>
      <p:ext uri="{BB962C8B-B14F-4D97-AF65-F5344CB8AC3E}">
        <p14:creationId xmlns:p14="http://schemas.microsoft.com/office/powerpoint/2010/main" val="242441636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A Diagram depicts the components of cloud computing. Computing devices that include servers, desktops, laptops, tablet computers, and i Phones are situated around a central, cloud. Within the cloud are the following.&#10;PLATFORM SERVICES, including block storage, communication networks, identity management, and content servers. APPLICATION SERVICES, including content management, enterprise software, collaboration environments, and process management.&#10;INFRASTRUCTURE SERVICES, including computing resource management, network management, and storage management."/>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103825" y="2395659"/>
            <a:ext cx="5804256" cy="4724978"/>
          </a:xfrm>
          <a:prstGeom prst="rect">
            <a:avLst/>
          </a:prstGeom>
        </p:spPr>
      </p:pic>
      <p:sp>
        <p:nvSpPr>
          <p:cNvPr id="3" name="Title 1"/>
          <p:cNvSpPr txBox="1">
            <a:spLocks/>
          </p:cNvSpPr>
          <p:nvPr/>
        </p:nvSpPr>
        <p:spPr>
          <a:xfrm>
            <a:off x="596685" y="1096505"/>
            <a:ext cx="8229600" cy="1066799"/>
          </a:xfrm>
          <a:prstGeom prst="rect">
            <a:avLst/>
          </a:prstGeom>
        </p:spPr>
        <p:txBody>
          <a:bodyPr anchor="b"/>
          <a:lstStyle>
            <a:lvl1pPr algn="ctr" defTabSz="508178" rtl="0" eaLnBrk="1" latinLnBrk="0" hangingPunct="1">
              <a:spcBef>
                <a:spcPct val="0"/>
              </a:spcBef>
              <a:buNone/>
              <a:defRPr sz="4900" kern="1200">
                <a:solidFill>
                  <a:schemeClr val="tx1"/>
                </a:solidFill>
                <a:latin typeface="+mj-lt"/>
                <a:ea typeface="+mj-ea"/>
                <a:cs typeface="+mj-cs"/>
              </a:defRPr>
            </a:lvl1pPr>
          </a:lstStyle>
          <a:p>
            <a:r>
              <a:rPr lang="en-US" sz="4000" dirty="0" smtClean="0">
                <a:solidFill>
                  <a:schemeClr val="bg1"/>
                </a:solidFill>
              </a:rPr>
              <a:t> Cloud Computing Platform</a:t>
            </a:r>
            <a:endParaRPr lang="en-US" sz="1400" dirty="0">
              <a:solidFill>
                <a:schemeClr val="bg1"/>
              </a:solidFill>
            </a:endParaRPr>
          </a:p>
        </p:txBody>
      </p:sp>
    </p:spTree>
    <p:extLst>
      <p:ext uri="{BB962C8B-B14F-4D97-AF65-F5344CB8AC3E}">
        <p14:creationId xmlns:p14="http://schemas.microsoft.com/office/powerpoint/2010/main" val="256129246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853440" y="1784007"/>
            <a:ext cx="9144635" cy="523220"/>
          </a:xfrm>
          <a:prstGeom prst="rect">
            <a:avLst/>
          </a:prstGeom>
          <a:noFill/>
        </p:spPr>
        <p:txBody>
          <a:bodyPr wrap="square" rtlCol="0">
            <a:spAutoFit/>
          </a:bodyPr>
          <a:lstStyle/>
          <a:p>
            <a:r>
              <a:rPr lang="en-US" sz="2800" dirty="0">
                <a:solidFill>
                  <a:srgbClr val="FFFFFF"/>
                </a:solidFill>
              </a:rPr>
              <a:t>Emerging technologies – characteristics of cloud computing</a:t>
            </a:r>
          </a:p>
        </p:txBody>
      </p:sp>
      <p:sp>
        <p:nvSpPr>
          <p:cNvPr id="5" name="TextBox 4"/>
          <p:cNvSpPr txBox="1"/>
          <p:nvPr/>
        </p:nvSpPr>
        <p:spPr>
          <a:xfrm>
            <a:off x="1366524" y="1383897"/>
            <a:ext cx="8008917" cy="400110"/>
          </a:xfrm>
          <a:prstGeom prst="rect">
            <a:avLst/>
          </a:prstGeom>
          <a:noFill/>
        </p:spPr>
        <p:txBody>
          <a:bodyPr wrap="square" rtlCol="0">
            <a:spAutoFit/>
          </a:bodyPr>
          <a:lstStyle/>
          <a:p>
            <a:pPr marR="0" algn="l" rtl="0"/>
            <a:r>
              <a:rPr lang="en-US" sz="2000" b="1" i="0" u="none" strike="noStrike" baseline="0" dirty="0">
                <a:solidFill>
                  <a:srgbClr val="FFFFFF"/>
                </a:solidFill>
                <a:latin typeface="RopaSoftPro-Regular"/>
              </a:rPr>
              <a:t>Faculty</a:t>
            </a:r>
            <a:r>
              <a:rPr lang="en-US" sz="2000" b="1" i="0" u="none" strike="noStrike" dirty="0">
                <a:solidFill>
                  <a:srgbClr val="FFFFFF"/>
                </a:solidFill>
                <a:latin typeface="RopaSoftPro-Regular"/>
              </a:rPr>
              <a:t> of </a:t>
            </a:r>
            <a:r>
              <a:rPr lang="en-US" b="1" dirty="0">
                <a:solidFill>
                  <a:srgbClr val="FFFFFF"/>
                </a:solidFill>
                <a:latin typeface="RopaSoftPro-Regular"/>
              </a:rPr>
              <a:t> Computing and Informatics</a:t>
            </a:r>
            <a:endParaRPr lang="en-US" sz="2000" b="1" i="0" u="none" strike="noStrike" baseline="0" dirty="0">
              <a:solidFill>
                <a:srgbClr val="FFFFFF"/>
              </a:solidFill>
              <a:latin typeface="RopaSoftPro-Regular"/>
            </a:endParaRPr>
          </a:p>
        </p:txBody>
      </p:sp>
      <p:sp>
        <p:nvSpPr>
          <p:cNvPr id="2" name="TextBox 1"/>
          <p:cNvSpPr txBox="1"/>
          <p:nvPr/>
        </p:nvSpPr>
        <p:spPr>
          <a:xfrm>
            <a:off x="1005840" y="2307227"/>
            <a:ext cx="9144635" cy="6247864"/>
          </a:xfrm>
          <a:prstGeom prst="rect">
            <a:avLst/>
          </a:prstGeom>
          <a:noFill/>
        </p:spPr>
        <p:txBody>
          <a:bodyPr wrap="square" rtlCol="0">
            <a:spAutoFit/>
          </a:bodyPr>
          <a:lstStyle/>
          <a:p>
            <a:pPr marL="342900" indent="-342900">
              <a:buFont typeface="Arial" panose="020B0604020202020204" pitchFamily="34" charset="0"/>
              <a:buChar char="•"/>
            </a:pPr>
            <a:r>
              <a:rPr lang="en-US" dirty="0">
                <a:solidFill>
                  <a:srgbClr val="FFFFFF"/>
                </a:solidFill>
              </a:rPr>
              <a:t>Cloud computing has the following characteristics</a:t>
            </a:r>
          </a:p>
          <a:p>
            <a:pPr marL="342900" indent="-342900">
              <a:buFont typeface="Arial" panose="020B0604020202020204" pitchFamily="34" charset="0"/>
              <a:buChar char="•"/>
            </a:pPr>
            <a:endParaRPr lang="en-US" dirty="0">
              <a:solidFill>
                <a:srgbClr val="FFFFFF"/>
              </a:solidFill>
            </a:endParaRPr>
          </a:p>
          <a:p>
            <a:pPr marL="851078" lvl="1" indent="-342900">
              <a:buFont typeface="Arial" panose="020B0604020202020204" pitchFamily="34" charset="0"/>
              <a:buChar char="•"/>
            </a:pPr>
            <a:r>
              <a:rPr lang="en-US" dirty="0">
                <a:solidFill>
                  <a:srgbClr val="FFFFFF"/>
                </a:solidFill>
              </a:rPr>
              <a:t>On-demand self-service – consumers can obtain computing capabilities such as server time or network storage as needed automatically on their own</a:t>
            </a:r>
          </a:p>
          <a:p>
            <a:pPr marL="851078" lvl="1" indent="-342900">
              <a:buFont typeface="Arial" panose="020B0604020202020204" pitchFamily="34" charset="0"/>
              <a:buChar char="•"/>
            </a:pPr>
            <a:endParaRPr lang="en-US" dirty="0">
              <a:solidFill>
                <a:srgbClr val="FFFFFF"/>
              </a:solidFill>
            </a:endParaRPr>
          </a:p>
          <a:p>
            <a:pPr marL="851078" lvl="1" indent="-342900">
              <a:buFont typeface="Arial" panose="020B0604020202020204" pitchFamily="34" charset="0"/>
              <a:buChar char="•"/>
            </a:pPr>
            <a:r>
              <a:rPr lang="en-US" dirty="0">
                <a:solidFill>
                  <a:srgbClr val="FFFFFF"/>
                </a:solidFill>
              </a:rPr>
              <a:t>Ubiquitous network access – cloud services can accessed by using standard network and internet devices, including mobile platforms</a:t>
            </a:r>
          </a:p>
          <a:p>
            <a:pPr marL="851078" lvl="1" indent="-342900">
              <a:buFont typeface="Arial" panose="020B0604020202020204" pitchFamily="34" charset="0"/>
              <a:buChar char="•"/>
            </a:pPr>
            <a:endParaRPr lang="en-US" dirty="0">
              <a:solidFill>
                <a:srgbClr val="FFFFFF"/>
              </a:solidFill>
            </a:endParaRPr>
          </a:p>
          <a:p>
            <a:pPr marL="851078" lvl="1" indent="-342900">
              <a:buFont typeface="Arial" panose="020B0604020202020204" pitchFamily="34" charset="0"/>
              <a:buChar char="•"/>
            </a:pPr>
            <a:r>
              <a:rPr lang="en-US" dirty="0">
                <a:solidFill>
                  <a:srgbClr val="FFFFFF"/>
                </a:solidFill>
              </a:rPr>
              <a:t>Location-independent resource pooling – computing resources are pooled to serve multiple users, with different virtual resources dynamically assigned according to user demand</a:t>
            </a:r>
          </a:p>
          <a:p>
            <a:pPr marL="851078" lvl="1" indent="-342900">
              <a:buFont typeface="Arial" panose="020B0604020202020204" pitchFamily="34" charset="0"/>
              <a:buChar char="•"/>
            </a:pPr>
            <a:endParaRPr lang="en-US" dirty="0">
              <a:solidFill>
                <a:srgbClr val="FFFFFF"/>
              </a:solidFill>
            </a:endParaRPr>
          </a:p>
          <a:p>
            <a:pPr marL="851078" lvl="1" indent="-342900">
              <a:buFont typeface="Arial" panose="020B0604020202020204" pitchFamily="34" charset="0"/>
              <a:buChar char="•"/>
            </a:pPr>
            <a:r>
              <a:rPr lang="en-US" dirty="0">
                <a:solidFill>
                  <a:srgbClr val="FFFFFF"/>
                </a:solidFill>
              </a:rPr>
              <a:t>Rapid elasticity – computing resources can be rapidly provisioned, increased or decreased to meet changing user demands</a:t>
            </a:r>
          </a:p>
          <a:p>
            <a:pPr marL="851078" lvl="1" indent="-342900">
              <a:buFont typeface="Arial" panose="020B0604020202020204" pitchFamily="34" charset="0"/>
              <a:buChar char="•"/>
            </a:pPr>
            <a:endParaRPr lang="en-US" dirty="0">
              <a:solidFill>
                <a:srgbClr val="FFFFFF"/>
              </a:solidFill>
            </a:endParaRPr>
          </a:p>
          <a:p>
            <a:pPr marL="851078" lvl="1" indent="-342900">
              <a:buFont typeface="Arial" panose="020B0604020202020204" pitchFamily="34" charset="0"/>
              <a:buChar char="•"/>
            </a:pPr>
            <a:r>
              <a:rPr lang="en-US" dirty="0">
                <a:solidFill>
                  <a:srgbClr val="FFFFFF"/>
                </a:solidFill>
              </a:rPr>
              <a:t>Measured services – charges for cloud resources are based on the amount of resources actually used.</a:t>
            </a:r>
          </a:p>
          <a:p>
            <a:pPr marL="851078" lvl="1" indent="-342900">
              <a:buFont typeface="Arial" panose="020B0604020202020204" pitchFamily="34" charset="0"/>
              <a:buChar char="•"/>
            </a:pPr>
            <a:endParaRPr lang="en-US" dirty="0">
              <a:solidFill>
                <a:srgbClr val="FFFFFF"/>
              </a:solidFill>
            </a:endParaRPr>
          </a:p>
          <a:p>
            <a:endParaRPr lang="en-US" dirty="0">
              <a:solidFill>
                <a:schemeClr val="bg1"/>
              </a:solidFill>
            </a:endParaRPr>
          </a:p>
          <a:p>
            <a:r>
              <a:rPr lang="en-US" dirty="0">
                <a:solidFill>
                  <a:schemeClr val="bg1"/>
                </a:solidFill>
              </a:rPr>
              <a:t>	</a:t>
            </a:r>
          </a:p>
        </p:txBody>
      </p:sp>
    </p:spTree>
    <p:extLst>
      <p:ext uri="{BB962C8B-B14F-4D97-AF65-F5344CB8AC3E}">
        <p14:creationId xmlns:p14="http://schemas.microsoft.com/office/powerpoint/2010/main" val="52313263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798664" y="1769694"/>
            <a:ext cx="9144635" cy="523220"/>
          </a:xfrm>
          <a:prstGeom prst="rect">
            <a:avLst/>
          </a:prstGeom>
          <a:noFill/>
        </p:spPr>
        <p:txBody>
          <a:bodyPr wrap="square" rtlCol="0">
            <a:spAutoFit/>
          </a:bodyPr>
          <a:lstStyle/>
          <a:p>
            <a:r>
              <a:rPr lang="en-US" sz="2800" dirty="0">
                <a:solidFill>
                  <a:srgbClr val="FFFFFF"/>
                </a:solidFill>
              </a:rPr>
              <a:t>Challenges of managing IT infrastructure</a:t>
            </a:r>
          </a:p>
        </p:txBody>
      </p:sp>
      <p:sp>
        <p:nvSpPr>
          <p:cNvPr id="5" name="TextBox 4"/>
          <p:cNvSpPr txBox="1"/>
          <p:nvPr/>
        </p:nvSpPr>
        <p:spPr>
          <a:xfrm>
            <a:off x="1366524" y="1383897"/>
            <a:ext cx="8008917" cy="400110"/>
          </a:xfrm>
          <a:prstGeom prst="rect">
            <a:avLst/>
          </a:prstGeom>
          <a:noFill/>
        </p:spPr>
        <p:txBody>
          <a:bodyPr wrap="square" rtlCol="0">
            <a:spAutoFit/>
          </a:bodyPr>
          <a:lstStyle/>
          <a:p>
            <a:pPr marR="0" algn="l" rtl="0"/>
            <a:r>
              <a:rPr lang="en-US" sz="2000" b="1" i="0" u="none" strike="noStrike" baseline="0" dirty="0">
                <a:solidFill>
                  <a:srgbClr val="FFFFFF"/>
                </a:solidFill>
                <a:latin typeface="RopaSoftPro-Regular"/>
              </a:rPr>
              <a:t>Faculty</a:t>
            </a:r>
            <a:r>
              <a:rPr lang="en-US" sz="2000" b="1" i="0" u="none" strike="noStrike" dirty="0">
                <a:solidFill>
                  <a:srgbClr val="FFFFFF"/>
                </a:solidFill>
                <a:latin typeface="RopaSoftPro-Regular"/>
              </a:rPr>
              <a:t> of </a:t>
            </a:r>
            <a:r>
              <a:rPr lang="en-US" b="1" dirty="0">
                <a:solidFill>
                  <a:srgbClr val="FFFFFF"/>
                </a:solidFill>
                <a:latin typeface="RopaSoftPro-Regular"/>
              </a:rPr>
              <a:t> Computing and Informatics</a:t>
            </a:r>
            <a:endParaRPr lang="en-US" sz="2000" b="1" i="0" u="none" strike="noStrike" baseline="0" dirty="0">
              <a:solidFill>
                <a:srgbClr val="FFFFFF"/>
              </a:solidFill>
              <a:latin typeface="RopaSoftPro-Regular"/>
            </a:endParaRPr>
          </a:p>
        </p:txBody>
      </p:sp>
      <p:sp>
        <p:nvSpPr>
          <p:cNvPr id="2" name="TextBox 1"/>
          <p:cNvSpPr txBox="1"/>
          <p:nvPr/>
        </p:nvSpPr>
        <p:spPr>
          <a:xfrm>
            <a:off x="1005840" y="2151035"/>
            <a:ext cx="9144635" cy="6247864"/>
          </a:xfrm>
          <a:prstGeom prst="rect">
            <a:avLst/>
          </a:prstGeom>
          <a:noFill/>
        </p:spPr>
        <p:txBody>
          <a:bodyPr wrap="square" rtlCol="0">
            <a:spAutoFit/>
          </a:bodyPr>
          <a:lstStyle/>
          <a:p>
            <a:pPr marL="342900" indent="-342900">
              <a:buFont typeface="Arial" panose="020B0604020202020204" pitchFamily="34" charset="0"/>
              <a:buChar char="•"/>
            </a:pPr>
            <a:r>
              <a:rPr lang="en-US" dirty="0">
                <a:solidFill>
                  <a:srgbClr val="FFFFFF"/>
                </a:solidFill>
              </a:rPr>
              <a:t>The challenges of managing IT infrastructure are as follows:</a:t>
            </a:r>
          </a:p>
          <a:p>
            <a:pPr marL="851078" lvl="1" indent="-342900">
              <a:buFont typeface="Arial" panose="020B0604020202020204" pitchFamily="34" charset="0"/>
              <a:buChar char="•"/>
            </a:pPr>
            <a:r>
              <a:rPr lang="en-US" dirty="0">
                <a:solidFill>
                  <a:srgbClr val="FFFFFF"/>
                </a:solidFill>
              </a:rPr>
              <a:t>Dealing with platform and infrastructure change – As firms grow, they outgrow their infrastructure. As they shrink, they can get stuck with excessive infrastructure</a:t>
            </a:r>
          </a:p>
          <a:p>
            <a:pPr marL="851078" lvl="1" indent="-342900">
              <a:buFont typeface="Arial" panose="020B0604020202020204" pitchFamily="34" charset="0"/>
              <a:buChar char="•"/>
            </a:pPr>
            <a:endParaRPr lang="en-US" dirty="0">
              <a:solidFill>
                <a:srgbClr val="FFFFFF"/>
              </a:solidFill>
            </a:endParaRPr>
          </a:p>
          <a:p>
            <a:pPr marL="851078" lvl="1" indent="-342900">
              <a:buFont typeface="Arial" panose="020B0604020202020204" pitchFamily="34" charset="0"/>
              <a:buChar char="•"/>
            </a:pPr>
            <a:r>
              <a:rPr lang="en-US" dirty="0">
                <a:solidFill>
                  <a:srgbClr val="FFFFFF"/>
                </a:solidFill>
              </a:rPr>
              <a:t>Scalability – the ability of a computer, product or system to expand to serve a large number of users without breaking down. New applications, new acquisitions and changes in business volume all impact on computer workload</a:t>
            </a:r>
          </a:p>
          <a:p>
            <a:pPr marL="851078" lvl="1" indent="-342900">
              <a:buFont typeface="Arial" panose="020B0604020202020204" pitchFamily="34" charset="0"/>
              <a:buChar char="•"/>
            </a:pPr>
            <a:endParaRPr lang="en-US" dirty="0">
              <a:solidFill>
                <a:srgbClr val="FFFFFF"/>
              </a:solidFill>
            </a:endParaRPr>
          </a:p>
          <a:p>
            <a:pPr marL="851078" lvl="1" indent="-342900">
              <a:buFont typeface="Arial" panose="020B0604020202020204" pitchFamily="34" charset="0"/>
              <a:buChar char="•"/>
            </a:pPr>
            <a:r>
              <a:rPr lang="en-US" dirty="0">
                <a:solidFill>
                  <a:srgbClr val="FFFFFF"/>
                </a:solidFill>
              </a:rPr>
              <a:t>Management and governance -  Who manages the IT infrastructure in an </a:t>
            </a:r>
            <a:r>
              <a:rPr lang="en-US" dirty="0" err="1">
                <a:solidFill>
                  <a:srgbClr val="FFFFFF"/>
                </a:solidFill>
              </a:rPr>
              <a:t>organisation</a:t>
            </a:r>
            <a:r>
              <a:rPr lang="en-US" dirty="0">
                <a:solidFill>
                  <a:srgbClr val="FFFFFF"/>
                </a:solidFill>
              </a:rPr>
              <a:t> and how will infrastructure be allocated among business units?</a:t>
            </a:r>
          </a:p>
          <a:p>
            <a:pPr marL="851078" lvl="1" indent="-342900">
              <a:buFont typeface="Arial" panose="020B0604020202020204" pitchFamily="34" charset="0"/>
              <a:buChar char="•"/>
            </a:pPr>
            <a:endParaRPr lang="en-US" dirty="0">
              <a:solidFill>
                <a:srgbClr val="FFFFFF"/>
              </a:solidFill>
            </a:endParaRPr>
          </a:p>
          <a:p>
            <a:pPr marL="851078" lvl="1" indent="-342900">
              <a:buFont typeface="Arial" panose="020B0604020202020204" pitchFamily="34" charset="0"/>
              <a:buChar char="•"/>
            </a:pPr>
            <a:r>
              <a:rPr lang="en-US" dirty="0">
                <a:solidFill>
                  <a:srgbClr val="FFFFFF"/>
                </a:solidFill>
              </a:rPr>
              <a:t>Ownership of infrastructure – Should a firm purchase and maintain its own infrastructure, or rent from external suppliers?</a:t>
            </a:r>
          </a:p>
          <a:p>
            <a:pPr marL="851078" lvl="1" indent="-342900">
              <a:buFont typeface="Arial" panose="020B0604020202020204" pitchFamily="34" charset="0"/>
              <a:buChar char="•"/>
            </a:pPr>
            <a:endParaRPr lang="en-US" dirty="0">
              <a:solidFill>
                <a:srgbClr val="FFFFFF"/>
              </a:solidFill>
            </a:endParaRPr>
          </a:p>
          <a:p>
            <a:pPr marL="851078" lvl="1" indent="-342900">
              <a:buFont typeface="Arial" panose="020B0604020202020204" pitchFamily="34" charset="0"/>
              <a:buChar char="•"/>
            </a:pPr>
            <a:r>
              <a:rPr lang="en-US" dirty="0">
                <a:solidFill>
                  <a:srgbClr val="FFFFFF"/>
                </a:solidFill>
              </a:rPr>
              <a:t>Spending on infrastructure – if too little is spent, important business services cannot be delivered and the </a:t>
            </a:r>
            <a:r>
              <a:rPr lang="en-US" dirty="0" err="1">
                <a:solidFill>
                  <a:srgbClr val="FFFFFF"/>
                </a:solidFill>
              </a:rPr>
              <a:t>organisation’s</a:t>
            </a:r>
            <a:r>
              <a:rPr lang="en-US" dirty="0">
                <a:solidFill>
                  <a:srgbClr val="FFFFFF"/>
                </a:solidFill>
              </a:rPr>
              <a:t> competitors will outperform . If a lot is spent on the infrastructure, it lies idle and constitutes a drag on finances</a:t>
            </a:r>
          </a:p>
          <a:p>
            <a:endParaRPr lang="en-US" dirty="0">
              <a:solidFill>
                <a:schemeClr val="bg1"/>
              </a:solidFill>
            </a:endParaRPr>
          </a:p>
          <a:p>
            <a:r>
              <a:rPr lang="en-US" dirty="0">
                <a:solidFill>
                  <a:schemeClr val="bg1"/>
                </a:solidFill>
              </a:rPr>
              <a:t>	</a:t>
            </a:r>
          </a:p>
        </p:txBody>
      </p:sp>
    </p:spTree>
    <p:extLst>
      <p:ext uri="{BB962C8B-B14F-4D97-AF65-F5344CB8AC3E}">
        <p14:creationId xmlns:p14="http://schemas.microsoft.com/office/powerpoint/2010/main" val="365007132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798664" y="1784007"/>
            <a:ext cx="9144635" cy="523220"/>
          </a:xfrm>
          <a:prstGeom prst="rect">
            <a:avLst/>
          </a:prstGeom>
          <a:noFill/>
        </p:spPr>
        <p:txBody>
          <a:bodyPr wrap="square" rtlCol="0">
            <a:spAutoFit/>
          </a:bodyPr>
          <a:lstStyle/>
          <a:p>
            <a:r>
              <a:rPr lang="en-US" sz="2800" dirty="0">
                <a:solidFill>
                  <a:srgbClr val="FFFFFF"/>
                </a:solidFill>
              </a:rPr>
              <a:t>Components of the Total Cost of Ownership (TCO) model</a:t>
            </a:r>
          </a:p>
        </p:txBody>
      </p:sp>
      <p:sp>
        <p:nvSpPr>
          <p:cNvPr id="5" name="TextBox 4"/>
          <p:cNvSpPr txBox="1"/>
          <p:nvPr/>
        </p:nvSpPr>
        <p:spPr>
          <a:xfrm>
            <a:off x="1366524" y="1383897"/>
            <a:ext cx="8008917" cy="400110"/>
          </a:xfrm>
          <a:prstGeom prst="rect">
            <a:avLst/>
          </a:prstGeom>
          <a:noFill/>
        </p:spPr>
        <p:txBody>
          <a:bodyPr wrap="square" rtlCol="0">
            <a:spAutoFit/>
          </a:bodyPr>
          <a:lstStyle/>
          <a:p>
            <a:pPr marR="0" algn="l" rtl="0"/>
            <a:r>
              <a:rPr lang="en-US" sz="2000" b="1" i="0" u="none" strike="noStrike" baseline="0" dirty="0">
                <a:solidFill>
                  <a:srgbClr val="FFFFFF"/>
                </a:solidFill>
                <a:latin typeface="RopaSoftPro-Regular"/>
              </a:rPr>
              <a:t>Faculty</a:t>
            </a:r>
            <a:r>
              <a:rPr lang="en-US" sz="2000" b="1" i="0" u="none" strike="noStrike" dirty="0">
                <a:solidFill>
                  <a:srgbClr val="FFFFFF"/>
                </a:solidFill>
                <a:latin typeface="RopaSoftPro-Regular"/>
              </a:rPr>
              <a:t> of </a:t>
            </a:r>
            <a:r>
              <a:rPr lang="en-US" b="1" dirty="0">
                <a:solidFill>
                  <a:srgbClr val="FFFFFF"/>
                </a:solidFill>
                <a:latin typeface="RopaSoftPro-Regular"/>
              </a:rPr>
              <a:t> Computing and Informatics</a:t>
            </a:r>
            <a:endParaRPr lang="en-US" sz="2000" b="1" i="0" u="none" strike="noStrike" baseline="0" dirty="0">
              <a:solidFill>
                <a:srgbClr val="FFFFFF"/>
              </a:solidFill>
              <a:latin typeface="RopaSoftPro-Regular"/>
            </a:endParaRPr>
          </a:p>
        </p:txBody>
      </p:sp>
      <p:sp>
        <p:nvSpPr>
          <p:cNvPr id="2" name="TextBox 1"/>
          <p:cNvSpPr txBox="1"/>
          <p:nvPr/>
        </p:nvSpPr>
        <p:spPr>
          <a:xfrm>
            <a:off x="1005840" y="2465351"/>
            <a:ext cx="9144635" cy="5016758"/>
          </a:xfrm>
          <a:prstGeom prst="rect">
            <a:avLst/>
          </a:prstGeom>
          <a:noFill/>
        </p:spPr>
        <p:txBody>
          <a:bodyPr wrap="square" rtlCol="0">
            <a:spAutoFit/>
          </a:bodyPr>
          <a:lstStyle/>
          <a:p>
            <a:pPr marL="342900" indent="-342900">
              <a:buFont typeface="Arial" panose="020B0604020202020204" pitchFamily="34" charset="0"/>
              <a:buChar char="•"/>
            </a:pPr>
            <a:r>
              <a:rPr lang="en-US" dirty="0">
                <a:solidFill>
                  <a:srgbClr val="FFFFFF"/>
                </a:solidFill>
              </a:rPr>
              <a:t>TCO is an analysis of direct and indirect costs that help a firm determine the actual cost of the specific technology implementation</a:t>
            </a:r>
          </a:p>
          <a:p>
            <a:pPr marL="342900" indent="-342900">
              <a:buFont typeface="Arial" panose="020B0604020202020204" pitchFamily="34" charset="0"/>
              <a:buChar char="•"/>
            </a:pPr>
            <a:endParaRPr lang="en-US" dirty="0">
              <a:solidFill>
                <a:srgbClr val="FFFFFF"/>
              </a:solidFill>
            </a:endParaRPr>
          </a:p>
          <a:p>
            <a:pPr marL="342900" indent="-342900">
              <a:buFont typeface="Arial" panose="020B0604020202020204" pitchFamily="34" charset="0"/>
              <a:buChar char="•"/>
            </a:pPr>
            <a:r>
              <a:rPr lang="en-US" dirty="0">
                <a:solidFill>
                  <a:srgbClr val="FFFFFF"/>
                </a:solidFill>
              </a:rPr>
              <a:t>The components of TCO are:</a:t>
            </a:r>
          </a:p>
          <a:p>
            <a:pPr marL="342900" indent="-342900">
              <a:buFont typeface="Arial" panose="020B0604020202020204" pitchFamily="34" charset="0"/>
              <a:buChar char="•"/>
            </a:pPr>
            <a:endParaRPr lang="en-US" dirty="0">
              <a:solidFill>
                <a:srgbClr val="FFFFFF"/>
              </a:solidFill>
            </a:endParaRPr>
          </a:p>
          <a:p>
            <a:pPr marL="851078" lvl="1" indent="-342900">
              <a:buFont typeface="Arial" panose="020B0604020202020204" pitchFamily="34" charset="0"/>
              <a:buChar char="•"/>
            </a:pPr>
            <a:r>
              <a:rPr lang="en-US" dirty="0">
                <a:solidFill>
                  <a:srgbClr val="FFFFFF"/>
                </a:solidFill>
              </a:rPr>
              <a:t>Hardware acquisition – purchase price of  hardware equipment including computers, storage, printers</a:t>
            </a:r>
          </a:p>
          <a:p>
            <a:pPr marL="851078" lvl="1" indent="-342900">
              <a:buFont typeface="Arial" panose="020B0604020202020204" pitchFamily="34" charset="0"/>
              <a:buChar char="•"/>
            </a:pPr>
            <a:endParaRPr lang="en-US" dirty="0">
              <a:solidFill>
                <a:srgbClr val="FFFFFF"/>
              </a:solidFill>
            </a:endParaRPr>
          </a:p>
          <a:p>
            <a:pPr marL="851078" lvl="1" indent="-342900">
              <a:buFont typeface="Arial" panose="020B0604020202020204" pitchFamily="34" charset="0"/>
              <a:buChar char="•"/>
            </a:pPr>
            <a:r>
              <a:rPr lang="en-US" dirty="0">
                <a:solidFill>
                  <a:srgbClr val="FFFFFF"/>
                </a:solidFill>
              </a:rPr>
              <a:t>Software acquisition – purchase or </a:t>
            </a:r>
            <a:r>
              <a:rPr lang="en-US" dirty="0" err="1">
                <a:solidFill>
                  <a:srgbClr val="FFFFFF"/>
                </a:solidFill>
              </a:rPr>
              <a:t>licence</a:t>
            </a:r>
            <a:r>
              <a:rPr lang="en-US" dirty="0">
                <a:solidFill>
                  <a:srgbClr val="FFFFFF"/>
                </a:solidFill>
              </a:rPr>
              <a:t> of software for each user</a:t>
            </a:r>
          </a:p>
          <a:p>
            <a:pPr marL="851078" lvl="1" indent="-342900">
              <a:buFont typeface="Arial" panose="020B0604020202020204" pitchFamily="34" charset="0"/>
              <a:buChar char="•"/>
            </a:pPr>
            <a:endParaRPr lang="en-US" dirty="0">
              <a:solidFill>
                <a:srgbClr val="FFFFFF"/>
              </a:solidFill>
            </a:endParaRPr>
          </a:p>
          <a:p>
            <a:pPr marL="851078" lvl="1" indent="-342900">
              <a:buFont typeface="Arial" panose="020B0604020202020204" pitchFamily="34" charset="0"/>
              <a:buChar char="•"/>
            </a:pPr>
            <a:r>
              <a:rPr lang="en-US" dirty="0">
                <a:solidFill>
                  <a:srgbClr val="FFFFFF"/>
                </a:solidFill>
              </a:rPr>
              <a:t>Training – cost to provide training for information systems specialists and end users</a:t>
            </a:r>
          </a:p>
          <a:p>
            <a:pPr marL="851078" lvl="1" indent="-342900">
              <a:buFont typeface="Arial" panose="020B0604020202020204" pitchFamily="34" charset="0"/>
              <a:buChar char="•"/>
            </a:pPr>
            <a:endParaRPr lang="en-US" dirty="0">
              <a:solidFill>
                <a:srgbClr val="FFFFFF"/>
              </a:solidFill>
            </a:endParaRPr>
          </a:p>
          <a:p>
            <a:pPr marL="851078" lvl="1" indent="-342900">
              <a:buFont typeface="Arial" panose="020B0604020202020204" pitchFamily="34" charset="0"/>
              <a:buChar char="•"/>
            </a:pPr>
            <a:r>
              <a:rPr lang="en-US" dirty="0">
                <a:solidFill>
                  <a:srgbClr val="FFFFFF"/>
                </a:solidFill>
              </a:rPr>
              <a:t>Support – cost to provide ongoing technical support, help-desks and so forth</a:t>
            </a:r>
          </a:p>
          <a:p>
            <a:endParaRPr lang="en-US" dirty="0">
              <a:solidFill>
                <a:schemeClr val="bg1"/>
              </a:solidFill>
            </a:endParaRPr>
          </a:p>
          <a:p>
            <a:r>
              <a:rPr lang="en-US" dirty="0">
                <a:solidFill>
                  <a:schemeClr val="bg1"/>
                </a:solidFill>
              </a:rPr>
              <a:t>	</a:t>
            </a:r>
          </a:p>
        </p:txBody>
      </p:sp>
    </p:spTree>
    <p:extLst>
      <p:ext uri="{BB962C8B-B14F-4D97-AF65-F5344CB8AC3E}">
        <p14:creationId xmlns:p14="http://schemas.microsoft.com/office/powerpoint/2010/main" val="176474053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798664" y="1784007"/>
            <a:ext cx="9144635" cy="523220"/>
          </a:xfrm>
          <a:prstGeom prst="rect">
            <a:avLst/>
          </a:prstGeom>
          <a:noFill/>
        </p:spPr>
        <p:txBody>
          <a:bodyPr wrap="square" rtlCol="0">
            <a:spAutoFit/>
          </a:bodyPr>
          <a:lstStyle/>
          <a:p>
            <a:r>
              <a:rPr lang="en-US" sz="2800" dirty="0">
                <a:solidFill>
                  <a:srgbClr val="FFFFFF"/>
                </a:solidFill>
              </a:rPr>
              <a:t>Components of the Total Cost of Ownership (TCO) model</a:t>
            </a:r>
          </a:p>
        </p:txBody>
      </p:sp>
      <p:sp>
        <p:nvSpPr>
          <p:cNvPr id="5" name="TextBox 4"/>
          <p:cNvSpPr txBox="1"/>
          <p:nvPr/>
        </p:nvSpPr>
        <p:spPr>
          <a:xfrm>
            <a:off x="1366524" y="1383897"/>
            <a:ext cx="8008917" cy="400110"/>
          </a:xfrm>
          <a:prstGeom prst="rect">
            <a:avLst/>
          </a:prstGeom>
          <a:noFill/>
        </p:spPr>
        <p:txBody>
          <a:bodyPr wrap="square" rtlCol="0">
            <a:spAutoFit/>
          </a:bodyPr>
          <a:lstStyle/>
          <a:p>
            <a:pPr marR="0" algn="l" rtl="0"/>
            <a:r>
              <a:rPr lang="en-US" sz="2000" b="1" i="0" u="none" strike="noStrike" baseline="0" dirty="0">
                <a:solidFill>
                  <a:srgbClr val="FFFFFF"/>
                </a:solidFill>
                <a:latin typeface="RopaSoftPro-Regular"/>
              </a:rPr>
              <a:t>Faculty</a:t>
            </a:r>
            <a:r>
              <a:rPr lang="en-US" sz="2000" b="1" i="0" u="none" strike="noStrike" dirty="0">
                <a:solidFill>
                  <a:srgbClr val="FFFFFF"/>
                </a:solidFill>
                <a:latin typeface="RopaSoftPro-Regular"/>
              </a:rPr>
              <a:t> of </a:t>
            </a:r>
            <a:r>
              <a:rPr lang="en-US" b="1" dirty="0">
                <a:solidFill>
                  <a:srgbClr val="FFFFFF"/>
                </a:solidFill>
                <a:latin typeface="RopaSoftPro-Regular"/>
              </a:rPr>
              <a:t> Computing and Informatics</a:t>
            </a:r>
            <a:endParaRPr lang="en-US" sz="2000" b="1" i="0" u="none" strike="noStrike" baseline="0" dirty="0">
              <a:solidFill>
                <a:srgbClr val="FFFFFF"/>
              </a:solidFill>
              <a:latin typeface="RopaSoftPro-Regular"/>
            </a:endParaRPr>
          </a:p>
        </p:txBody>
      </p:sp>
      <p:sp>
        <p:nvSpPr>
          <p:cNvPr id="2" name="TextBox 1"/>
          <p:cNvSpPr txBox="1"/>
          <p:nvPr/>
        </p:nvSpPr>
        <p:spPr>
          <a:xfrm>
            <a:off x="1005840" y="2465351"/>
            <a:ext cx="9144635" cy="4401205"/>
          </a:xfrm>
          <a:prstGeom prst="rect">
            <a:avLst/>
          </a:prstGeom>
          <a:noFill/>
        </p:spPr>
        <p:txBody>
          <a:bodyPr wrap="square" rtlCol="0">
            <a:spAutoFit/>
          </a:bodyPr>
          <a:lstStyle/>
          <a:p>
            <a:pPr marL="342900" indent="-342900">
              <a:buFont typeface="Arial" panose="020B0604020202020204" pitchFamily="34" charset="0"/>
              <a:buChar char="•"/>
            </a:pPr>
            <a:r>
              <a:rPr lang="en-US" dirty="0">
                <a:solidFill>
                  <a:srgbClr val="FFFFFF"/>
                </a:solidFill>
              </a:rPr>
              <a:t>The components of TCO are:</a:t>
            </a:r>
          </a:p>
          <a:p>
            <a:pPr marL="342900" indent="-342900">
              <a:buFont typeface="Arial" panose="020B0604020202020204" pitchFamily="34" charset="0"/>
              <a:buChar char="•"/>
            </a:pPr>
            <a:endParaRPr lang="en-US" dirty="0">
              <a:solidFill>
                <a:srgbClr val="FFFFFF"/>
              </a:solidFill>
            </a:endParaRPr>
          </a:p>
          <a:p>
            <a:pPr marL="851078" lvl="1" indent="-342900">
              <a:buFont typeface="Arial" panose="020B0604020202020204" pitchFamily="34" charset="0"/>
              <a:buChar char="•"/>
            </a:pPr>
            <a:r>
              <a:rPr lang="en-US" dirty="0">
                <a:solidFill>
                  <a:srgbClr val="FFFFFF"/>
                </a:solidFill>
              </a:rPr>
              <a:t>Maintenance – cost to upgrade the hardware and software</a:t>
            </a:r>
          </a:p>
          <a:p>
            <a:pPr marL="851078" lvl="1" indent="-342900">
              <a:buFont typeface="Arial" panose="020B0604020202020204" pitchFamily="34" charset="0"/>
              <a:buChar char="•"/>
            </a:pPr>
            <a:endParaRPr lang="en-US" dirty="0">
              <a:solidFill>
                <a:srgbClr val="FFFFFF"/>
              </a:solidFill>
            </a:endParaRPr>
          </a:p>
          <a:p>
            <a:pPr marL="851078" lvl="1" indent="-342900">
              <a:buFont typeface="Arial" panose="020B0604020202020204" pitchFamily="34" charset="0"/>
              <a:buChar char="•"/>
            </a:pPr>
            <a:r>
              <a:rPr lang="en-US" dirty="0">
                <a:solidFill>
                  <a:srgbClr val="FFFFFF"/>
                </a:solidFill>
              </a:rPr>
              <a:t>Infrastructure – cost to acquire , maintain and support related infrastructure, such as networks and specialized equipment including storage back-up units</a:t>
            </a:r>
          </a:p>
          <a:p>
            <a:pPr marL="851078" lvl="1" indent="-342900">
              <a:buFont typeface="Arial" panose="020B0604020202020204" pitchFamily="34" charset="0"/>
              <a:buChar char="•"/>
            </a:pPr>
            <a:endParaRPr lang="en-US" dirty="0">
              <a:solidFill>
                <a:srgbClr val="FFFFFF"/>
              </a:solidFill>
            </a:endParaRPr>
          </a:p>
          <a:p>
            <a:pPr marL="851078" lvl="1" indent="-342900">
              <a:buFont typeface="Arial" panose="020B0604020202020204" pitchFamily="34" charset="0"/>
              <a:buChar char="•"/>
            </a:pPr>
            <a:r>
              <a:rPr lang="en-US" dirty="0">
                <a:solidFill>
                  <a:srgbClr val="FFFFFF"/>
                </a:solidFill>
              </a:rPr>
              <a:t>Downtime – cost of lost productivity if hardware or software failures cause the system to be unavailable for processing and user tasks</a:t>
            </a:r>
          </a:p>
          <a:p>
            <a:pPr marL="851078" lvl="1" indent="-342900">
              <a:buFont typeface="Arial" panose="020B0604020202020204" pitchFamily="34" charset="0"/>
              <a:buChar char="•"/>
            </a:pPr>
            <a:endParaRPr lang="en-US" dirty="0">
              <a:solidFill>
                <a:srgbClr val="FFFFFF"/>
              </a:solidFill>
            </a:endParaRPr>
          </a:p>
          <a:p>
            <a:pPr marL="851078" lvl="1" indent="-342900">
              <a:buFont typeface="Arial" panose="020B0604020202020204" pitchFamily="34" charset="0"/>
              <a:buChar char="•"/>
            </a:pPr>
            <a:r>
              <a:rPr lang="en-US" dirty="0">
                <a:solidFill>
                  <a:srgbClr val="FFFFFF"/>
                </a:solidFill>
              </a:rPr>
              <a:t>Space and energy – real estate and utility costs for housing or providing power for the technology</a:t>
            </a:r>
          </a:p>
          <a:p>
            <a:endParaRPr lang="en-US" dirty="0">
              <a:solidFill>
                <a:schemeClr val="bg1"/>
              </a:solidFill>
            </a:endParaRPr>
          </a:p>
          <a:p>
            <a:r>
              <a:rPr lang="en-US" dirty="0">
                <a:solidFill>
                  <a:schemeClr val="bg1"/>
                </a:solidFill>
              </a:rPr>
              <a:t>	</a:t>
            </a:r>
          </a:p>
        </p:txBody>
      </p:sp>
    </p:spTree>
    <p:extLst>
      <p:ext uri="{BB962C8B-B14F-4D97-AF65-F5344CB8AC3E}">
        <p14:creationId xmlns:p14="http://schemas.microsoft.com/office/powerpoint/2010/main" val="26011683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798664" y="1784007"/>
            <a:ext cx="9144635" cy="523220"/>
          </a:xfrm>
          <a:prstGeom prst="rect">
            <a:avLst/>
          </a:prstGeom>
          <a:noFill/>
        </p:spPr>
        <p:txBody>
          <a:bodyPr wrap="square" rtlCol="0">
            <a:spAutoFit/>
          </a:bodyPr>
          <a:lstStyle/>
          <a:p>
            <a:r>
              <a:rPr lang="en-US" sz="2800" dirty="0">
                <a:solidFill>
                  <a:srgbClr val="FFFFFF"/>
                </a:solidFill>
              </a:rPr>
              <a:t>Competitive Forces Model for IT Infrastructure Investment</a:t>
            </a:r>
          </a:p>
        </p:txBody>
      </p:sp>
      <p:sp>
        <p:nvSpPr>
          <p:cNvPr id="5" name="TextBox 4"/>
          <p:cNvSpPr txBox="1"/>
          <p:nvPr/>
        </p:nvSpPr>
        <p:spPr>
          <a:xfrm>
            <a:off x="1366524" y="1383897"/>
            <a:ext cx="8008917" cy="400110"/>
          </a:xfrm>
          <a:prstGeom prst="rect">
            <a:avLst/>
          </a:prstGeom>
          <a:noFill/>
        </p:spPr>
        <p:txBody>
          <a:bodyPr wrap="square" rtlCol="0">
            <a:spAutoFit/>
          </a:bodyPr>
          <a:lstStyle/>
          <a:p>
            <a:pPr marR="0" algn="l" rtl="0"/>
            <a:r>
              <a:rPr lang="en-US" sz="2000" b="1" i="0" u="none" strike="noStrike" baseline="0" dirty="0">
                <a:solidFill>
                  <a:srgbClr val="FFFFFF"/>
                </a:solidFill>
                <a:latin typeface="RopaSoftPro-Regular"/>
              </a:rPr>
              <a:t>Faculty</a:t>
            </a:r>
            <a:r>
              <a:rPr lang="en-US" sz="2000" b="1" i="0" u="none" strike="noStrike" dirty="0">
                <a:solidFill>
                  <a:srgbClr val="FFFFFF"/>
                </a:solidFill>
                <a:latin typeface="RopaSoftPro-Regular"/>
              </a:rPr>
              <a:t> of </a:t>
            </a:r>
            <a:r>
              <a:rPr lang="en-US" b="1" dirty="0">
                <a:solidFill>
                  <a:srgbClr val="FFFFFF"/>
                </a:solidFill>
                <a:latin typeface="RopaSoftPro-Regular"/>
              </a:rPr>
              <a:t> Computing and Informatics</a:t>
            </a:r>
            <a:endParaRPr lang="en-US" sz="2000" b="1" i="0" u="none" strike="noStrike" baseline="0" dirty="0">
              <a:solidFill>
                <a:srgbClr val="FFFFFF"/>
              </a:solidFill>
              <a:latin typeface="RopaSoftPro-Regular"/>
            </a:endParaRPr>
          </a:p>
        </p:txBody>
      </p:sp>
      <p:sp>
        <p:nvSpPr>
          <p:cNvPr id="2" name="TextBox 1"/>
          <p:cNvSpPr txBox="1"/>
          <p:nvPr/>
        </p:nvSpPr>
        <p:spPr>
          <a:xfrm>
            <a:off x="1005840" y="2465351"/>
            <a:ext cx="9144635" cy="400110"/>
          </a:xfrm>
          <a:prstGeom prst="rect">
            <a:avLst/>
          </a:prstGeom>
          <a:noFill/>
        </p:spPr>
        <p:txBody>
          <a:bodyPr wrap="square" rtlCol="0">
            <a:spAutoFit/>
          </a:bodyPr>
          <a:lstStyle/>
          <a:p>
            <a:r>
              <a:rPr lang="en-US" dirty="0">
                <a:solidFill>
                  <a:schemeClr val="bg1"/>
                </a:solidFill>
              </a:rPr>
              <a:t>	</a:t>
            </a:r>
          </a:p>
        </p:txBody>
      </p:sp>
      <p:sp>
        <p:nvSpPr>
          <p:cNvPr id="25" name="TextBox 24"/>
          <p:cNvSpPr txBox="1"/>
          <p:nvPr/>
        </p:nvSpPr>
        <p:spPr>
          <a:xfrm>
            <a:off x="137160" y="3017520"/>
            <a:ext cx="1828800" cy="1323439"/>
          </a:xfrm>
          <a:prstGeom prst="rect">
            <a:avLst/>
          </a:prstGeom>
          <a:noFill/>
        </p:spPr>
        <p:txBody>
          <a:bodyPr wrap="square" rtlCol="0">
            <a:spAutoFit/>
          </a:bodyPr>
          <a:lstStyle/>
          <a:p>
            <a:r>
              <a:rPr lang="en-US" dirty="0">
                <a:solidFill>
                  <a:schemeClr val="bg1"/>
                </a:solidFill>
              </a:rPr>
              <a:t>How much should a firm spend on infrastructure</a:t>
            </a:r>
            <a:r>
              <a:rPr lang="en-US" dirty="0"/>
              <a:t>?</a:t>
            </a:r>
          </a:p>
        </p:txBody>
      </p:sp>
      <p:pic>
        <p:nvPicPr>
          <p:cNvPr id="21" name="Picture 20" descr="Six factors of a competitive forces model for determining expenditures on I T infrastructure are provided. 1, Market Demand for Your Firm’s Customer Services, Supplier Services, and Enterprise Services. 2, Your Firm’s Business Strategy. 3, Your Firm’s I T Strategy, Infrastructure, and Cost. 4, Information Technology. 5, Competitor Firms’ I T Services. 6, Competitor Firms’ I T Infrastructure Investments. Factors 2 and 3 are internal factors. Factors 5 and 6 are external market factors."/>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632025" y="2665406"/>
            <a:ext cx="6743416" cy="4399080"/>
          </a:xfrm>
          <a:prstGeom prst="rect">
            <a:avLst/>
          </a:prstGeom>
        </p:spPr>
      </p:pic>
    </p:spTree>
    <p:extLst>
      <p:ext uri="{BB962C8B-B14F-4D97-AF65-F5344CB8AC3E}">
        <p14:creationId xmlns:p14="http://schemas.microsoft.com/office/powerpoint/2010/main" val="159005742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798664" y="1784007"/>
            <a:ext cx="9144635" cy="523220"/>
          </a:xfrm>
          <a:prstGeom prst="rect">
            <a:avLst/>
          </a:prstGeom>
          <a:noFill/>
        </p:spPr>
        <p:txBody>
          <a:bodyPr wrap="square" rtlCol="0">
            <a:spAutoFit/>
          </a:bodyPr>
          <a:lstStyle/>
          <a:p>
            <a:r>
              <a:rPr lang="en-US" sz="2800" dirty="0">
                <a:solidFill>
                  <a:srgbClr val="FFFFFF"/>
                </a:solidFill>
              </a:rPr>
              <a:t>Competitive Forces Model for IT Infrastructure Investment</a:t>
            </a:r>
          </a:p>
        </p:txBody>
      </p:sp>
      <p:sp>
        <p:nvSpPr>
          <p:cNvPr id="5" name="TextBox 4"/>
          <p:cNvSpPr txBox="1"/>
          <p:nvPr/>
        </p:nvSpPr>
        <p:spPr>
          <a:xfrm>
            <a:off x="1366524" y="1383897"/>
            <a:ext cx="8008917" cy="400110"/>
          </a:xfrm>
          <a:prstGeom prst="rect">
            <a:avLst/>
          </a:prstGeom>
          <a:noFill/>
        </p:spPr>
        <p:txBody>
          <a:bodyPr wrap="square" rtlCol="0">
            <a:spAutoFit/>
          </a:bodyPr>
          <a:lstStyle/>
          <a:p>
            <a:pPr marR="0" algn="l" rtl="0"/>
            <a:r>
              <a:rPr lang="en-US" sz="2000" b="1" i="0" u="none" strike="noStrike" baseline="0" dirty="0">
                <a:solidFill>
                  <a:srgbClr val="FFFFFF"/>
                </a:solidFill>
                <a:latin typeface="RopaSoftPro-Regular"/>
              </a:rPr>
              <a:t>Faculty</a:t>
            </a:r>
            <a:r>
              <a:rPr lang="en-US" sz="2000" b="1" i="0" u="none" strike="noStrike" dirty="0">
                <a:solidFill>
                  <a:srgbClr val="FFFFFF"/>
                </a:solidFill>
                <a:latin typeface="RopaSoftPro-Regular"/>
              </a:rPr>
              <a:t> of </a:t>
            </a:r>
            <a:r>
              <a:rPr lang="en-US" b="1" dirty="0">
                <a:solidFill>
                  <a:srgbClr val="FFFFFF"/>
                </a:solidFill>
                <a:latin typeface="RopaSoftPro-Regular"/>
              </a:rPr>
              <a:t> Computing and Informatics</a:t>
            </a:r>
            <a:endParaRPr lang="en-US" sz="2000" b="1" i="0" u="none" strike="noStrike" baseline="0" dirty="0">
              <a:solidFill>
                <a:srgbClr val="FFFFFF"/>
              </a:solidFill>
              <a:latin typeface="RopaSoftPro-Regular"/>
            </a:endParaRPr>
          </a:p>
        </p:txBody>
      </p:sp>
      <p:sp>
        <p:nvSpPr>
          <p:cNvPr id="2" name="TextBox 1"/>
          <p:cNvSpPr txBox="1"/>
          <p:nvPr/>
        </p:nvSpPr>
        <p:spPr>
          <a:xfrm>
            <a:off x="1005840" y="2465351"/>
            <a:ext cx="9144635" cy="5324535"/>
          </a:xfrm>
          <a:prstGeom prst="rect">
            <a:avLst/>
          </a:prstGeom>
          <a:noFill/>
        </p:spPr>
        <p:txBody>
          <a:bodyPr wrap="square" rtlCol="0">
            <a:spAutoFit/>
          </a:bodyPr>
          <a:lstStyle/>
          <a:p>
            <a:pPr marL="342900" indent="-342900">
              <a:buFont typeface="Arial" panose="020B0604020202020204" pitchFamily="34" charset="0"/>
              <a:buChar char="•"/>
            </a:pPr>
            <a:r>
              <a:rPr lang="en-US" dirty="0">
                <a:solidFill>
                  <a:srgbClr val="FFFFFF"/>
                </a:solidFill>
              </a:rPr>
              <a:t>The components of  the model are:</a:t>
            </a:r>
          </a:p>
          <a:p>
            <a:pPr marL="342900" indent="-342900">
              <a:buFont typeface="Arial" panose="020B0604020202020204" pitchFamily="34" charset="0"/>
              <a:buChar char="•"/>
            </a:pPr>
            <a:endParaRPr lang="en-US" dirty="0">
              <a:solidFill>
                <a:srgbClr val="FFFFFF"/>
              </a:solidFill>
            </a:endParaRPr>
          </a:p>
          <a:p>
            <a:pPr marL="851078" lvl="1" indent="-342900">
              <a:buFont typeface="Arial" panose="020B0604020202020204" pitchFamily="34" charset="0"/>
              <a:buChar char="•"/>
            </a:pPr>
            <a:r>
              <a:rPr lang="en-US" dirty="0">
                <a:solidFill>
                  <a:srgbClr val="FFFFFF"/>
                </a:solidFill>
              </a:rPr>
              <a:t>Market demand for an </a:t>
            </a:r>
            <a:r>
              <a:rPr lang="en-US" dirty="0" err="1">
                <a:solidFill>
                  <a:srgbClr val="FFFFFF"/>
                </a:solidFill>
              </a:rPr>
              <a:t>organisation’s</a:t>
            </a:r>
            <a:r>
              <a:rPr lang="en-US" dirty="0">
                <a:solidFill>
                  <a:srgbClr val="FFFFFF"/>
                </a:solidFill>
              </a:rPr>
              <a:t> services – do a market analysis, e.g., are the services you offer meeting the needs of customers?; are customers complaining of slow response to queries?</a:t>
            </a:r>
          </a:p>
          <a:p>
            <a:pPr marL="851078" lvl="1" indent="-342900">
              <a:buFont typeface="Arial" panose="020B0604020202020204" pitchFamily="34" charset="0"/>
              <a:buChar char="•"/>
            </a:pPr>
            <a:endParaRPr lang="en-US" dirty="0">
              <a:solidFill>
                <a:srgbClr val="FFFFFF"/>
              </a:solidFill>
            </a:endParaRPr>
          </a:p>
          <a:p>
            <a:pPr marL="851078" lvl="1" indent="-342900">
              <a:buFont typeface="Arial" panose="020B0604020202020204" pitchFamily="34" charset="0"/>
              <a:buChar char="•"/>
            </a:pPr>
            <a:r>
              <a:rPr lang="en-US" dirty="0">
                <a:solidFill>
                  <a:srgbClr val="FFFFFF"/>
                </a:solidFill>
              </a:rPr>
              <a:t>Your </a:t>
            </a:r>
            <a:r>
              <a:rPr lang="en-US" dirty="0" err="1">
                <a:solidFill>
                  <a:srgbClr val="FFFFFF"/>
                </a:solidFill>
              </a:rPr>
              <a:t>organisation’s</a:t>
            </a:r>
            <a:r>
              <a:rPr lang="en-US" dirty="0">
                <a:solidFill>
                  <a:srgbClr val="FFFFFF"/>
                </a:solidFill>
              </a:rPr>
              <a:t> business strategy – Assess your business strategy and identify what new services and capabilities are required to achieve strategic goals</a:t>
            </a:r>
          </a:p>
          <a:p>
            <a:pPr marL="851078" lvl="1" indent="-342900">
              <a:buFont typeface="Arial" panose="020B0604020202020204" pitchFamily="34" charset="0"/>
              <a:buChar char="•"/>
            </a:pPr>
            <a:endParaRPr lang="en-US" dirty="0">
              <a:solidFill>
                <a:srgbClr val="FFFFFF"/>
              </a:solidFill>
            </a:endParaRPr>
          </a:p>
          <a:p>
            <a:pPr marL="851078" lvl="1" indent="-342900">
              <a:buFont typeface="Arial" panose="020B0604020202020204" pitchFamily="34" charset="0"/>
              <a:buChar char="•"/>
            </a:pPr>
            <a:r>
              <a:rPr lang="en-US" dirty="0">
                <a:solidFill>
                  <a:srgbClr val="FFFFFF"/>
                </a:solidFill>
              </a:rPr>
              <a:t>Your </a:t>
            </a:r>
            <a:r>
              <a:rPr lang="en-US" dirty="0" err="1">
                <a:solidFill>
                  <a:srgbClr val="FFFFFF"/>
                </a:solidFill>
              </a:rPr>
              <a:t>organisation’s</a:t>
            </a:r>
            <a:r>
              <a:rPr lang="en-US" dirty="0">
                <a:solidFill>
                  <a:srgbClr val="FFFFFF"/>
                </a:solidFill>
              </a:rPr>
              <a:t> IT strategy, infrastructure and costs – conduct a TCO analysis to ensure that your IT plans for the next 5 years are aligned to your business plans</a:t>
            </a:r>
          </a:p>
          <a:p>
            <a:pPr marL="851078" lvl="1" indent="-342900">
              <a:buFont typeface="Arial" panose="020B0604020202020204" pitchFamily="34" charset="0"/>
              <a:buChar char="•"/>
            </a:pPr>
            <a:endParaRPr lang="en-US" dirty="0">
              <a:solidFill>
                <a:srgbClr val="FFFFFF"/>
              </a:solidFill>
            </a:endParaRPr>
          </a:p>
          <a:p>
            <a:pPr marL="851078" lvl="1" indent="-342900">
              <a:buFont typeface="Arial" panose="020B0604020202020204" pitchFamily="34" charset="0"/>
              <a:buChar char="•"/>
            </a:pPr>
            <a:endParaRPr lang="en-US" dirty="0">
              <a:solidFill>
                <a:srgbClr val="FFFFFF"/>
              </a:solidFill>
            </a:endParaRPr>
          </a:p>
          <a:p>
            <a:endParaRPr lang="en-US" dirty="0">
              <a:solidFill>
                <a:schemeClr val="bg1"/>
              </a:solidFill>
            </a:endParaRPr>
          </a:p>
          <a:p>
            <a:r>
              <a:rPr lang="en-US" dirty="0">
                <a:solidFill>
                  <a:schemeClr val="bg1"/>
                </a:solidFill>
              </a:rPr>
              <a:t>	</a:t>
            </a:r>
          </a:p>
        </p:txBody>
      </p:sp>
    </p:spTree>
    <p:extLst>
      <p:ext uri="{BB962C8B-B14F-4D97-AF65-F5344CB8AC3E}">
        <p14:creationId xmlns:p14="http://schemas.microsoft.com/office/powerpoint/2010/main" val="237208032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798664" y="1784007"/>
            <a:ext cx="9144635" cy="523220"/>
          </a:xfrm>
          <a:prstGeom prst="rect">
            <a:avLst/>
          </a:prstGeom>
          <a:noFill/>
        </p:spPr>
        <p:txBody>
          <a:bodyPr wrap="square" rtlCol="0">
            <a:spAutoFit/>
          </a:bodyPr>
          <a:lstStyle/>
          <a:p>
            <a:r>
              <a:rPr lang="en-US" sz="2800" dirty="0">
                <a:solidFill>
                  <a:srgbClr val="FFFFFF"/>
                </a:solidFill>
              </a:rPr>
              <a:t>Competitive Forces Model for IT Infrastructure Investment</a:t>
            </a:r>
          </a:p>
        </p:txBody>
      </p:sp>
      <p:sp>
        <p:nvSpPr>
          <p:cNvPr id="5" name="TextBox 4"/>
          <p:cNvSpPr txBox="1"/>
          <p:nvPr/>
        </p:nvSpPr>
        <p:spPr>
          <a:xfrm>
            <a:off x="1366524" y="1383897"/>
            <a:ext cx="8008917" cy="400110"/>
          </a:xfrm>
          <a:prstGeom prst="rect">
            <a:avLst/>
          </a:prstGeom>
          <a:noFill/>
        </p:spPr>
        <p:txBody>
          <a:bodyPr wrap="square" rtlCol="0">
            <a:spAutoFit/>
          </a:bodyPr>
          <a:lstStyle/>
          <a:p>
            <a:pPr marR="0" algn="l" rtl="0"/>
            <a:r>
              <a:rPr lang="en-US" sz="2000" b="1" i="0" u="none" strike="noStrike" baseline="0" dirty="0">
                <a:solidFill>
                  <a:srgbClr val="FFFFFF"/>
                </a:solidFill>
                <a:latin typeface="RopaSoftPro-Regular"/>
              </a:rPr>
              <a:t>Faculty</a:t>
            </a:r>
            <a:r>
              <a:rPr lang="en-US" sz="2000" b="1" i="0" u="none" strike="noStrike" dirty="0">
                <a:solidFill>
                  <a:srgbClr val="FFFFFF"/>
                </a:solidFill>
                <a:latin typeface="RopaSoftPro-Regular"/>
              </a:rPr>
              <a:t> of </a:t>
            </a:r>
            <a:r>
              <a:rPr lang="en-US" b="1" dirty="0">
                <a:solidFill>
                  <a:srgbClr val="FFFFFF"/>
                </a:solidFill>
                <a:latin typeface="RopaSoftPro-Regular"/>
              </a:rPr>
              <a:t> Computing and Informatics</a:t>
            </a:r>
            <a:endParaRPr lang="en-US" sz="2000" b="1" i="0" u="none" strike="noStrike" baseline="0" dirty="0">
              <a:solidFill>
                <a:srgbClr val="FFFFFF"/>
              </a:solidFill>
              <a:latin typeface="RopaSoftPro-Regular"/>
            </a:endParaRPr>
          </a:p>
        </p:txBody>
      </p:sp>
      <p:sp>
        <p:nvSpPr>
          <p:cNvPr id="2" name="TextBox 1"/>
          <p:cNvSpPr txBox="1"/>
          <p:nvPr/>
        </p:nvSpPr>
        <p:spPr>
          <a:xfrm>
            <a:off x="1005840" y="2465351"/>
            <a:ext cx="9144635" cy="5016758"/>
          </a:xfrm>
          <a:prstGeom prst="rect">
            <a:avLst/>
          </a:prstGeom>
          <a:noFill/>
        </p:spPr>
        <p:txBody>
          <a:bodyPr wrap="square" rtlCol="0">
            <a:spAutoFit/>
          </a:bodyPr>
          <a:lstStyle/>
          <a:p>
            <a:pPr marL="342900" indent="-342900">
              <a:buFont typeface="Arial" panose="020B0604020202020204" pitchFamily="34" charset="0"/>
              <a:buChar char="•"/>
            </a:pPr>
            <a:r>
              <a:rPr lang="en-US" dirty="0">
                <a:solidFill>
                  <a:srgbClr val="FFFFFF"/>
                </a:solidFill>
              </a:rPr>
              <a:t>The components of  the model are:</a:t>
            </a:r>
          </a:p>
          <a:p>
            <a:pPr marL="342900" indent="-342900">
              <a:buFont typeface="Arial" panose="020B0604020202020204" pitchFamily="34" charset="0"/>
              <a:buChar char="•"/>
            </a:pPr>
            <a:endParaRPr lang="en-US" dirty="0">
              <a:solidFill>
                <a:srgbClr val="FFFFFF"/>
              </a:solidFill>
            </a:endParaRPr>
          </a:p>
          <a:p>
            <a:pPr marL="851078" lvl="1" indent="-342900">
              <a:buFont typeface="Arial" panose="020B0604020202020204" pitchFamily="34" charset="0"/>
              <a:buChar char="•"/>
            </a:pPr>
            <a:r>
              <a:rPr lang="en-US" dirty="0">
                <a:solidFill>
                  <a:srgbClr val="FFFFFF"/>
                </a:solidFill>
              </a:rPr>
              <a:t>IT assessment – do not be behind the technology curve or at the bleeding edge of IT. Do not spend on advanced experimental and often expensive technology. Do not lag behind</a:t>
            </a:r>
          </a:p>
          <a:p>
            <a:pPr marL="851078" lvl="1" indent="-342900">
              <a:buFont typeface="Arial" panose="020B0604020202020204" pitchFamily="34" charset="0"/>
              <a:buChar char="•"/>
            </a:pPr>
            <a:endParaRPr lang="en-US" dirty="0">
              <a:solidFill>
                <a:srgbClr val="FFFFFF"/>
              </a:solidFill>
            </a:endParaRPr>
          </a:p>
          <a:p>
            <a:pPr marL="851078" lvl="1" indent="-342900">
              <a:buFont typeface="Arial" panose="020B0604020202020204" pitchFamily="34" charset="0"/>
              <a:buChar char="•"/>
            </a:pPr>
            <a:r>
              <a:rPr lang="en-US" dirty="0">
                <a:solidFill>
                  <a:srgbClr val="FFFFFF"/>
                </a:solidFill>
              </a:rPr>
              <a:t>Competitor </a:t>
            </a:r>
            <a:r>
              <a:rPr lang="en-US" dirty="0" err="1">
                <a:solidFill>
                  <a:srgbClr val="FFFFFF"/>
                </a:solidFill>
              </a:rPr>
              <a:t>organisation</a:t>
            </a:r>
            <a:r>
              <a:rPr lang="en-US" dirty="0">
                <a:solidFill>
                  <a:srgbClr val="FFFFFF"/>
                </a:solidFill>
              </a:rPr>
              <a:t> services – Assess what technology services competitors offer to customers, suppliers and employees for comparison towards a competitive environment</a:t>
            </a:r>
          </a:p>
          <a:p>
            <a:pPr marL="851078" lvl="1" indent="-342900">
              <a:buFont typeface="Arial" panose="020B0604020202020204" pitchFamily="34" charset="0"/>
              <a:buChar char="•"/>
            </a:pPr>
            <a:endParaRPr lang="en-US" dirty="0">
              <a:solidFill>
                <a:srgbClr val="FFFFFF"/>
              </a:solidFill>
            </a:endParaRPr>
          </a:p>
          <a:p>
            <a:pPr marL="851078" lvl="1" indent="-342900">
              <a:buFont typeface="Arial" panose="020B0604020202020204" pitchFamily="34" charset="0"/>
              <a:buChar char="•"/>
            </a:pPr>
            <a:r>
              <a:rPr lang="en-US" dirty="0">
                <a:solidFill>
                  <a:srgbClr val="FFFFFF"/>
                </a:solidFill>
              </a:rPr>
              <a:t>Competitor </a:t>
            </a:r>
            <a:r>
              <a:rPr lang="en-US" dirty="0" err="1">
                <a:solidFill>
                  <a:srgbClr val="FFFFFF"/>
                </a:solidFill>
              </a:rPr>
              <a:t>organisation</a:t>
            </a:r>
            <a:r>
              <a:rPr lang="en-US" dirty="0">
                <a:solidFill>
                  <a:srgbClr val="FFFFFF"/>
                </a:solidFill>
              </a:rPr>
              <a:t> IT infrastructure  investments -  Benchmark your expenditure </a:t>
            </a:r>
            <a:r>
              <a:rPr lang="en-US">
                <a:solidFill>
                  <a:srgbClr val="FFFFFF"/>
                </a:solidFill>
              </a:rPr>
              <a:t>on IT </a:t>
            </a:r>
            <a:r>
              <a:rPr lang="en-US" dirty="0">
                <a:solidFill>
                  <a:srgbClr val="FFFFFF"/>
                </a:solidFill>
              </a:rPr>
              <a:t>infrastructure against your competitors</a:t>
            </a:r>
          </a:p>
          <a:p>
            <a:pPr marL="851078" lvl="1" indent="-342900">
              <a:buFont typeface="Arial" panose="020B0604020202020204" pitchFamily="34" charset="0"/>
              <a:buChar char="•"/>
            </a:pPr>
            <a:endParaRPr lang="en-US" dirty="0">
              <a:solidFill>
                <a:srgbClr val="FFFFFF"/>
              </a:solidFill>
            </a:endParaRPr>
          </a:p>
          <a:p>
            <a:pPr marL="851078" lvl="1" indent="-342900">
              <a:buFont typeface="Arial" panose="020B0604020202020204" pitchFamily="34" charset="0"/>
              <a:buChar char="•"/>
            </a:pPr>
            <a:endParaRPr lang="en-US" dirty="0">
              <a:solidFill>
                <a:srgbClr val="FFFFFF"/>
              </a:solidFill>
            </a:endParaRPr>
          </a:p>
          <a:p>
            <a:endParaRPr lang="en-US" dirty="0">
              <a:solidFill>
                <a:schemeClr val="bg1"/>
              </a:solidFill>
            </a:endParaRPr>
          </a:p>
          <a:p>
            <a:r>
              <a:rPr lang="en-US" dirty="0">
                <a:solidFill>
                  <a:schemeClr val="bg1"/>
                </a:solidFill>
              </a:rPr>
              <a:t>	</a:t>
            </a:r>
          </a:p>
        </p:txBody>
      </p:sp>
    </p:spTree>
    <p:extLst>
      <p:ext uri="{BB962C8B-B14F-4D97-AF65-F5344CB8AC3E}">
        <p14:creationId xmlns:p14="http://schemas.microsoft.com/office/powerpoint/2010/main" val="247753196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activity xmlns="95e470c5-d555-45ea-b7d4-7b5e2c49540b"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E513B53D5EC04F4DAACC2E3DC49C4E82" ma:contentTypeVersion="18" ma:contentTypeDescription="Create a new document." ma:contentTypeScope="" ma:versionID="a6d20e04a112aed12b6a54852c9965fc">
  <xsd:schema xmlns:xsd="http://www.w3.org/2001/XMLSchema" xmlns:xs="http://www.w3.org/2001/XMLSchema" xmlns:p="http://schemas.microsoft.com/office/2006/metadata/properties" xmlns:ns3="ff360b5c-1491-4de7-9038-42ebdf865dbe" xmlns:ns4="95e470c5-d555-45ea-b7d4-7b5e2c49540b" targetNamespace="http://schemas.microsoft.com/office/2006/metadata/properties" ma:root="true" ma:fieldsID="3670b74b3cd2f2706484e3aa08490ff2" ns3:_="" ns4:_="">
    <xsd:import namespace="ff360b5c-1491-4de7-9038-42ebdf865dbe"/>
    <xsd:import namespace="95e470c5-d555-45ea-b7d4-7b5e2c49540b"/>
    <xsd:element name="properties">
      <xsd:complexType>
        <xsd:sequence>
          <xsd:element name="documentManagement">
            <xsd:complexType>
              <xsd:all>
                <xsd:element ref="ns3:SharedWithUsers" minOccurs="0"/>
                <xsd:element ref="ns3:SharedWithDetails" minOccurs="0"/>
                <xsd:element ref="ns3:SharingHintHash" minOccurs="0"/>
                <xsd:element ref="ns4:MediaServiceMetadata" minOccurs="0"/>
                <xsd:element ref="ns4:MediaServiceFastMetadata" minOccurs="0"/>
                <xsd:element ref="ns4:MediaServiceAutoTags" minOccurs="0"/>
                <xsd:element ref="ns4:MediaServiceGenerationTime" minOccurs="0"/>
                <xsd:element ref="ns4:MediaServiceEventHashCode" minOccurs="0"/>
                <xsd:element ref="ns4:MediaServiceDateTaken" minOccurs="0"/>
                <xsd:element ref="ns4:MediaServiceOCR" minOccurs="0"/>
                <xsd:element ref="ns4:MediaServiceAutoKeyPoints" minOccurs="0"/>
                <xsd:element ref="ns4:MediaServiceKeyPoints" minOccurs="0"/>
                <xsd:element ref="ns4:MediaServiceLocation" minOccurs="0"/>
                <xsd:element ref="ns4:MediaLengthInSeconds" minOccurs="0"/>
                <xsd:element ref="ns4:MediaServiceSearchProperties" minOccurs="0"/>
                <xsd:element ref="ns4:_activity" minOccurs="0"/>
                <xsd:element ref="ns4:MediaServiceObjectDetectorVersions" minOccurs="0"/>
                <xsd:element ref="ns4: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f360b5c-1491-4de7-9038-42ebdf865dbe" elementFormDefault="qualified">
    <xsd:import namespace="http://schemas.microsoft.com/office/2006/documentManagement/types"/>
    <xsd:import namespace="http://schemas.microsoft.com/office/infopath/2007/PartnerControls"/>
    <xsd:element name="SharedWithUsers" ma:index="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internalName="SharedWithDetails" ma:readOnly="true">
      <xsd:simpleType>
        <xsd:restriction base="dms:Note">
          <xsd:maxLength value="255"/>
        </xsd:restriction>
      </xsd:simpleType>
    </xsd:element>
    <xsd:element name="SharingHintHash" ma:index="10" nillable="true" ma:displayName="Sharing Hint Hash" ma:hidden="true" ma:internalName="SharingHintHash"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95e470c5-d555-45ea-b7d4-7b5e2c49540b" elementFormDefault="qualified">
    <xsd:import namespace="http://schemas.microsoft.com/office/2006/documentManagement/types"/>
    <xsd:import namespace="http://schemas.microsoft.com/office/infopath/2007/PartnerControls"/>
    <xsd:element name="MediaServiceMetadata" ma:index="11" nillable="true" ma:displayName="MediaServiceMetadata" ma:hidden="true" ma:internalName="MediaServiceMetadata" ma:readOnly="true">
      <xsd:simpleType>
        <xsd:restriction base="dms:Note"/>
      </xsd:simpleType>
    </xsd:element>
    <xsd:element name="MediaServiceFastMetadata" ma:index="12" nillable="true" ma:displayName="MediaServiceFastMetadata" ma:hidden="true" ma:internalName="MediaServiceFastMetadata" ma:readOnly="true">
      <xsd:simpleType>
        <xsd:restriction base="dms:Note"/>
      </xsd:simpleType>
    </xsd:element>
    <xsd:element name="MediaServiceAutoTags" ma:index="13" nillable="true" ma:displayName="Tags" ma:internalName="MediaServiceAutoTags" ma:readOnly="true">
      <xsd:simpleType>
        <xsd:restriction base="dms:Text"/>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DateTaken" ma:index="16" nillable="true" ma:displayName="MediaServiceDateTaken" ma:hidden="true" ma:internalName="MediaServiceDateTaken"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ServiceAutoKeyPoints" ma:index="18" nillable="true" ma:displayName="MediaServiceAutoKeyPoints" ma:hidden="true" ma:internalName="MediaServiceAutoKeyPoints" ma:readOnly="true">
      <xsd:simpleType>
        <xsd:restriction base="dms:Note"/>
      </xsd:simpleType>
    </xsd:element>
    <xsd:element name="MediaServiceKeyPoints" ma:index="19" nillable="true" ma:displayName="KeyPoints" ma:internalName="MediaServiceKeyPoints" ma:readOnly="true">
      <xsd:simpleType>
        <xsd:restriction base="dms:Note">
          <xsd:maxLength value="255"/>
        </xsd:restriction>
      </xsd:simpleType>
    </xsd:element>
    <xsd:element name="MediaServiceLocation" ma:index="20" nillable="true" ma:displayName="Location" ma:internalName="MediaServiceLocation" ma:readOnly="true">
      <xsd:simpleType>
        <xsd:restriction base="dms:Text"/>
      </xsd:simpleType>
    </xsd:element>
    <xsd:element name="MediaLengthInSeconds" ma:index="21" nillable="true" ma:displayName="MediaLengthInSeconds" ma:hidden="true" ma:internalName="MediaLengthInSeconds" ma:readOnly="true">
      <xsd:simpleType>
        <xsd:restriction base="dms:Unknown"/>
      </xsd:simpleType>
    </xsd:element>
    <xsd:element name="MediaServiceSearchProperties" ma:index="22" nillable="true" ma:displayName="MediaServiceSearchProperties" ma:hidden="true" ma:internalName="MediaServiceSearchProperties" ma:readOnly="true">
      <xsd:simpleType>
        <xsd:restriction base="dms:Note"/>
      </xsd:simpleType>
    </xsd:element>
    <xsd:element name="_activity" ma:index="23" nillable="true" ma:displayName="_activity" ma:hidden="true" ma:internalName="_activity">
      <xsd:simpleType>
        <xsd:restriction base="dms:Note"/>
      </xsd:simpleType>
    </xsd:element>
    <xsd:element name="MediaServiceObjectDetectorVersions" ma:index="24" nillable="true" ma:displayName="MediaServiceObjectDetectorVersions" ma:description="" ma:hidden="true" ma:indexed="true" ma:internalName="MediaServiceObjectDetectorVersions" ma:readOnly="true">
      <xsd:simpleType>
        <xsd:restriction base="dms:Text"/>
      </xsd:simpleType>
    </xsd:element>
    <xsd:element name="MediaServiceSystemTags" ma:index="25" nillable="true" ma:displayName="MediaServiceSystemTags" ma:hidden="true" ma:internalName="MediaServiceSystemTag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AD38D636-9889-4ADE-9949-62380FB29203}">
  <ds:schemaRefs>
    <ds:schemaRef ds:uri="http://schemas.microsoft.com/office/2006/documentManagement/types"/>
    <ds:schemaRef ds:uri="http://schemas.microsoft.com/office/infopath/2007/PartnerControls"/>
    <ds:schemaRef ds:uri="http://purl.org/dc/elements/1.1/"/>
    <ds:schemaRef ds:uri="http://schemas.microsoft.com/office/2006/metadata/properties"/>
    <ds:schemaRef ds:uri="http://schemas.openxmlformats.org/package/2006/metadata/core-properties"/>
    <ds:schemaRef ds:uri="http://purl.org/dc/terms/"/>
    <ds:schemaRef ds:uri="95e470c5-d555-45ea-b7d4-7b5e2c49540b"/>
    <ds:schemaRef ds:uri="ff360b5c-1491-4de7-9038-42ebdf865dbe"/>
    <ds:schemaRef ds:uri="http://www.w3.org/XML/1998/namespace"/>
    <ds:schemaRef ds:uri="http://purl.org/dc/dcmitype/"/>
  </ds:schemaRefs>
</ds:datastoreItem>
</file>

<file path=customXml/itemProps2.xml><?xml version="1.0" encoding="utf-8"?>
<ds:datastoreItem xmlns:ds="http://schemas.openxmlformats.org/officeDocument/2006/customXml" ds:itemID="{B945024E-C826-4A34-93E1-F42FFBC53D7B}">
  <ds:schemaRefs>
    <ds:schemaRef ds:uri="http://schemas.microsoft.com/sharepoint/v3/contenttype/forms"/>
  </ds:schemaRefs>
</ds:datastoreItem>
</file>

<file path=customXml/itemProps3.xml><?xml version="1.0" encoding="utf-8"?>
<ds:datastoreItem xmlns:ds="http://schemas.openxmlformats.org/officeDocument/2006/customXml" ds:itemID="{54B8339F-E397-40B2-BFCB-17B54CDE7889}">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ff360b5c-1491-4de7-9038-42ebdf865dbe"/>
    <ds:schemaRef ds:uri="95e470c5-d555-45ea-b7d4-7b5e2c49540b"/>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2522</TotalTime>
  <Words>1411</Words>
  <Application>Microsoft Office PowerPoint</Application>
  <PresentationFormat>Custom</PresentationFormat>
  <Paragraphs>169</Paragraphs>
  <Slides>22</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22</vt:i4>
      </vt:variant>
    </vt:vector>
  </HeadingPairs>
  <TitlesOfParts>
    <vt:vector size="26" baseType="lpstr">
      <vt:lpstr>Arial</vt:lpstr>
      <vt:lpstr>Calibri</vt:lpstr>
      <vt:lpstr>RopaSoftPro-Regular</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CDP</dc:creator>
  <cp:lastModifiedBy>Mthembo, Nkululeko</cp:lastModifiedBy>
  <cp:revision>160</cp:revision>
  <dcterms:created xsi:type="dcterms:W3CDTF">2015-11-09T03:14:54Z</dcterms:created>
  <dcterms:modified xsi:type="dcterms:W3CDTF">2025-03-16T12:22:01Z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0x010100E513B53D5EC04F4DAACC2E3DC49C4E82</vt:lpwstr>
  </property>
</Properties>
</file>