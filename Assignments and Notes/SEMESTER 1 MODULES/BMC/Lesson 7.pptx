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7" r:id="rId6"/>
    <p:sldId id="261" r:id="rId7"/>
    <p:sldId id="272" r:id="rId8"/>
    <p:sldId id="270" r:id="rId9"/>
    <p:sldId id="271" r:id="rId10"/>
    <p:sldId id="262" r:id="rId11"/>
    <p:sldId id="263" r:id="rId12"/>
    <p:sldId id="264" r:id="rId13"/>
    <p:sldId id="265" r:id="rId14"/>
    <p:sldId id="266" r:id="rId15"/>
    <p:sldId id="267" r:id="rId16"/>
    <p:sldId id="273" r:id="rId17"/>
    <p:sldId id="268" r:id="rId18"/>
    <p:sldId id="274" r:id="rId19"/>
    <p:sldId id="275" r:id="rId20"/>
    <p:sldId id="269" r:id="rId21"/>
    <p:sldId id="259" r:id="rId22"/>
  </p:sldIdLst>
  <p:sldSz cx="10150475" cy="7635875"/>
  <p:notesSz cx="6858000" cy="9144000"/>
  <p:defaultTextStyle>
    <a:defPPr>
      <a:defRPr lang="en-US"/>
    </a:defPPr>
    <a:lvl1pPr marL="0" algn="l" defTabSz="508178" rtl="0" eaLnBrk="1" latinLnBrk="0" hangingPunct="1">
      <a:defRPr sz="2000" kern="1200">
        <a:solidFill>
          <a:schemeClr val="tx1"/>
        </a:solidFill>
        <a:latin typeface="+mn-lt"/>
        <a:ea typeface="+mn-ea"/>
        <a:cs typeface="+mn-cs"/>
      </a:defRPr>
    </a:lvl1pPr>
    <a:lvl2pPr marL="508178" algn="l" defTabSz="508178" rtl="0" eaLnBrk="1" latinLnBrk="0" hangingPunct="1">
      <a:defRPr sz="2000" kern="1200">
        <a:solidFill>
          <a:schemeClr val="tx1"/>
        </a:solidFill>
        <a:latin typeface="+mn-lt"/>
        <a:ea typeface="+mn-ea"/>
        <a:cs typeface="+mn-cs"/>
      </a:defRPr>
    </a:lvl2pPr>
    <a:lvl3pPr marL="1016356" algn="l" defTabSz="508178" rtl="0" eaLnBrk="1" latinLnBrk="0" hangingPunct="1">
      <a:defRPr sz="2000" kern="1200">
        <a:solidFill>
          <a:schemeClr val="tx1"/>
        </a:solidFill>
        <a:latin typeface="+mn-lt"/>
        <a:ea typeface="+mn-ea"/>
        <a:cs typeface="+mn-cs"/>
      </a:defRPr>
    </a:lvl3pPr>
    <a:lvl4pPr marL="1524533" algn="l" defTabSz="508178" rtl="0" eaLnBrk="1" latinLnBrk="0" hangingPunct="1">
      <a:defRPr sz="2000" kern="1200">
        <a:solidFill>
          <a:schemeClr val="tx1"/>
        </a:solidFill>
        <a:latin typeface="+mn-lt"/>
        <a:ea typeface="+mn-ea"/>
        <a:cs typeface="+mn-cs"/>
      </a:defRPr>
    </a:lvl4pPr>
    <a:lvl5pPr marL="2032711" algn="l" defTabSz="508178" rtl="0" eaLnBrk="1" latinLnBrk="0" hangingPunct="1">
      <a:defRPr sz="2000" kern="1200">
        <a:solidFill>
          <a:schemeClr val="tx1"/>
        </a:solidFill>
        <a:latin typeface="+mn-lt"/>
        <a:ea typeface="+mn-ea"/>
        <a:cs typeface="+mn-cs"/>
      </a:defRPr>
    </a:lvl5pPr>
    <a:lvl6pPr marL="2540889" algn="l" defTabSz="508178" rtl="0" eaLnBrk="1" latinLnBrk="0" hangingPunct="1">
      <a:defRPr sz="2000" kern="1200">
        <a:solidFill>
          <a:schemeClr val="tx1"/>
        </a:solidFill>
        <a:latin typeface="+mn-lt"/>
        <a:ea typeface="+mn-ea"/>
        <a:cs typeface="+mn-cs"/>
      </a:defRPr>
    </a:lvl6pPr>
    <a:lvl7pPr marL="3049067" algn="l" defTabSz="508178" rtl="0" eaLnBrk="1" latinLnBrk="0" hangingPunct="1">
      <a:defRPr sz="2000" kern="1200">
        <a:solidFill>
          <a:schemeClr val="tx1"/>
        </a:solidFill>
        <a:latin typeface="+mn-lt"/>
        <a:ea typeface="+mn-ea"/>
        <a:cs typeface="+mn-cs"/>
      </a:defRPr>
    </a:lvl7pPr>
    <a:lvl8pPr marL="3557245" algn="l" defTabSz="508178" rtl="0" eaLnBrk="1" latinLnBrk="0" hangingPunct="1">
      <a:defRPr sz="2000" kern="1200">
        <a:solidFill>
          <a:schemeClr val="tx1"/>
        </a:solidFill>
        <a:latin typeface="+mn-lt"/>
        <a:ea typeface="+mn-ea"/>
        <a:cs typeface="+mn-cs"/>
      </a:defRPr>
    </a:lvl8pPr>
    <a:lvl9pPr marL="4065422" algn="l" defTabSz="508178"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2">
          <p15:clr>
            <a:srgbClr val="A4A3A4"/>
          </p15:clr>
        </p15:guide>
        <p15:guide id="2" pos="42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1A3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5" d="100"/>
          <a:sy n="75" d="100"/>
        </p:scale>
        <p:origin x="1430" y="48"/>
      </p:cViewPr>
      <p:guideLst>
        <p:guide orient="horz" pos="462"/>
        <p:guide pos="42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b="49802"/>
          <a:stretch/>
        </p:blipFill>
        <p:spPr>
          <a:xfrm>
            <a:off x="0" y="-1"/>
            <a:ext cx="10150475" cy="3821545"/>
          </a:xfrm>
          <a:prstGeom prst="rect">
            <a:avLst/>
          </a:prstGeom>
        </p:spPr>
      </p:pic>
    </p:spTree>
    <p:extLst>
      <p:ext uri="{BB962C8B-B14F-4D97-AF65-F5344CB8AC3E}">
        <p14:creationId xmlns:p14="http://schemas.microsoft.com/office/powerpoint/2010/main" val="4013120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b="-301"/>
          <a:stretch/>
        </p:blipFill>
        <p:spPr>
          <a:xfrm>
            <a:off x="0" y="0"/>
            <a:ext cx="10150475" cy="7635875"/>
          </a:xfrm>
          <a:prstGeom prst="rect">
            <a:avLst/>
          </a:prstGeom>
        </p:spPr>
      </p:pic>
    </p:spTree>
    <p:extLst>
      <p:ext uri="{BB962C8B-B14F-4D97-AF65-F5344CB8AC3E}">
        <p14:creationId xmlns:p14="http://schemas.microsoft.com/office/powerpoint/2010/main" val="1639071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9" name="Picture 8" descr="NUST Marketing Brand Mark.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6302" y="296078"/>
            <a:ext cx="4140200" cy="1295400"/>
          </a:xfrm>
          <a:prstGeom prst="rect">
            <a:avLst/>
          </a:prstGeom>
        </p:spPr>
      </p:pic>
      <p:sp>
        <p:nvSpPr>
          <p:cNvPr id="4" name="TextBox 3"/>
          <p:cNvSpPr txBox="1"/>
          <p:nvPr userDrawn="1"/>
        </p:nvSpPr>
        <p:spPr>
          <a:xfrm>
            <a:off x="1438871" y="1406916"/>
            <a:ext cx="4453268" cy="400110"/>
          </a:xfrm>
          <a:prstGeom prst="rect">
            <a:avLst/>
          </a:prstGeom>
          <a:noFill/>
        </p:spPr>
        <p:txBody>
          <a:bodyPr wrap="square" rtlCol="0">
            <a:spAutoFit/>
          </a:bodyPr>
          <a:lstStyle/>
          <a:p>
            <a:pPr marR="0" algn="l" rtl="0"/>
            <a:r>
              <a:rPr lang="en-US" sz="2000" b="1" i="0" u="none" strike="noStrike" baseline="0" dirty="0" smtClean="0">
                <a:solidFill>
                  <a:srgbClr val="141A37"/>
                </a:solidFill>
                <a:latin typeface="RopaSoftPro-Regular"/>
              </a:rPr>
              <a:t>Faculty of Computing and Informatics</a:t>
            </a:r>
          </a:p>
        </p:txBody>
      </p:sp>
    </p:spTree>
    <p:extLst>
      <p:ext uri="{BB962C8B-B14F-4D97-AF65-F5344CB8AC3E}">
        <p14:creationId xmlns:p14="http://schemas.microsoft.com/office/powerpoint/2010/main" val="3661053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D9619E1-8D7B-8148-82B0-908DBEC4CE4D}" type="datetimeFigureOut">
              <a:rPr lang="en-US" smtClean="0"/>
              <a:t>4/7/2025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623159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63915" y="1983207"/>
            <a:ext cx="4985364" cy="561201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718454" y="1983207"/>
            <a:ext cx="4985363" cy="561201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D9619E1-8D7B-8148-82B0-908DBEC4CE4D}"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522035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7524" y="305789"/>
            <a:ext cx="9135428" cy="1272646"/>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07524" y="1709234"/>
            <a:ext cx="4484889" cy="712328"/>
          </a:xfrm>
        </p:spPr>
        <p:txBody>
          <a:bodyPr anchor="b"/>
          <a:lstStyle>
            <a:lvl1pPr marL="0" indent="0">
              <a:buNone/>
              <a:defRPr sz="2700" b="1"/>
            </a:lvl1pPr>
            <a:lvl2pPr marL="508178" indent="0">
              <a:buNone/>
              <a:defRPr sz="2200" b="1"/>
            </a:lvl2pPr>
            <a:lvl3pPr marL="1016356" indent="0">
              <a:buNone/>
              <a:defRPr sz="2000" b="1"/>
            </a:lvl3pPr>
            <a:lvl4pPr marL="1524533" indent="0">
              <a:buNone/>
              <a:defRPr sz="1800" b="1"/>
            </a:lvl4pPr>
            <a:lvl5pPr marL="2032711" indent="0">
              <a:buNone/>
              <a:defRPr sz="1800" b="1"/>
            </a:lvl5pPr>
            <a:lvl6pPr marL="2540889" indent="0">
              <a:buNone/>
              <a:defRPr sz="1800" b="1"/>
            </a:lvl6pPr>
            <a:lvl7pPr marL="3049067" indent="0">
              <a:buNone/>
              <a:defRPr sz="1800" b="1"/>
            </a:lvl7pPr>
            <a:lvl8pPr marL="3557245" indent="0">
              <a:buNone/>
              <a:defRPr sz="1800" b="1"/>
            </a:lvl8pPr>
            <a:lvl9pPr marL="4065422" indent="0">
              <a:buNone/>
              <a:defRPr sz="1800" b="1"/>
            </a:lvl9pPr>
          </a:lstStyle>
          <a:p>
            <a:pPr lvl="0"/>
            <a:r>
              <a:rPr lang="en-US" smtClean="0"/>
              <a:t>Click to edit Master text styles</a:t>
            </a:r>
          </a:p>
        </p:txBody>
      </p:sp>
      <p:sp>
        <p:nvSpPr>
          <p:cNvPr id="4" name="Content Placeholder 3"/>
          <p:cNvSpPr>
            <a:spLocks noGrp="1"/>
          </p:cNvSpPr>
          <p:nvPr>
            <p:ph sz="half" idx="2"/>
          </p:nvPr>
        </p:nvSpPr>
        <p:spPr>
          <a:xfrm>
            <a:off x="507524" y="2421562"/>
            <a:ext cx="4484889" cy="4399467"/>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156301" y="1709234"/>
            <a:ext cx="4486651" cy="712328"/>
          </a:xfrm>
        </p:spPr>
        <p:txBody>
          <a:bodyPr anchor="b"/>
          <a:lstStyle>
            <a:lvl1pPr marL="0" indent="0">
              <a:buNone/>
              <a:defRPr sz="2700" b="1"/>
            </a:lvl1pPr>
            <a:lvl2pPr marL="508178" indent="0">
              <a:buNone/>
              <a:defRPr sz="2200" b="1"/>
            </a:lvl2pPr>
            <a:lvl3pPr marL="1016356" indent="0">
              <a:buNone/>
              <a:defRPr sz="2000" b="1"/>
            </a:lvl3pPr>
            <a:lvl4pPr marL="1524533" indent="0">
              <a:buNone/>
              <a:defRPr sz="1800" b="1"/>
            </a:lvl4pPr>
            <a:lvl5pPr marL="2032711" indent="0">
              <a:buNone/>
              <a:defRPr sz="1800" b="1"/>
            </a:lvl5pPr>
            <a:lvl6pPr marL="2540889" indent="0">
              <a:buNone/>
              <a:defRPr sz="1800" b="1"/>
            </a:lvl6pPr>
            <a:lvl7pPr marL="3049067" indent="0">
              <a:buNone/>
              <a:defRPr sz="1800" b="1"/>
            </a:lvl7pPr>
            <a:lvl8pPr marL="3557245" indent="0">
              <a:buNone/>
              <a:defRPr sz="1800" b="1"/>
            </a:lvl8pPr>
            <a:lvl9pPr marL="4065422" indent="0">
              <a:buNone/>
              <a:defRPr sz="1800" b="1"/>
            </a:lvl9pPr>
          </a:lstStyle>
          <a:p>
            <a:pPr lvl="0"/>
            <a:r>
              <a:rPr lang="en-US" smtClean="0"/>
              <a:t>Click to edit Master text styles</a:t>
            </a:r>
          </a:p>
        </p:txBody>
      </p:sp>
      <p:sp>
        <p:nvSpPr>
          <p:cNvPr id="6" name="Content Placeholder 5"/>
          <p:cNvSpPr>
            <a:spLocks noGrp="1"/>
          </p:cNvSpPr>
          <p:nvPr>
            <p:ph sz="quarter" idx="4"/>
          </p:nvPr>
        </p:nvSpPr>
        <p:spPr>
          <a:xfrm>
            <a:off x="5156301" y="2421562"/>
            <a:ext cx="4486651" cy="4399467"/>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D9619E1-8D7B-8148-82B0-908DBEC4CE4D}" type="datetimeFigureOut">
              <a:rPr lang="en-US" smtClean="0"/>
              <a:t>4/7/2025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957713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D9619E1-8D7B-8148-82B0-908DBEC4CE4D}" type="datetimeFigureOut">
              <a:rPr lang="en-US" smtClean="0"/>
              <a:t>4/7/2025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1550457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9619E1-8D7B-8148-82B0-908DBEC4CE4D}" type="datetimeFigureOut">
              <a:rPr lang="en-US" smtClean="0"/>
              <a:t>4/7/2025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419076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7524" y="304021"/>
            <a:ext cx="3339436" cy="1293857"/>
          </a:xfrm>
        </p:spPr>
        <p:txBody>
          <a:bodyPr anchor="b"/>
          <a:lstStyle>
            <a:lvl1pPr algn="l">
              <a:defRPr sz="2200" b="1"/>
            </a:lvl1pPr>
          </a:lstStyle>
          <a:p>
            <a:r>
              <a:rPr lang="en-US" smtClean="0"/>
              <a:t>Click to edit Master title style</a:t>
            </a:r>
            <a:endParaRPr lang="en-US"/>
          </a:p>
        </p:txBody>
      </p:sp>
      <p:sp>
        <p:nvSpPr>
          <p:cNvPr id="3" name="Content Placeholder 2"/>
          <p:cNvSpPr>
            <a:spLocks noGrp="1"/>
          </p:cNvSpPr>
          <p:nvPr>
            <p:ph idx="1"/>
          </p:nvPr>
        </p:nvSpPr>
        <p:spPr>
          <a:xfrm>
            <a:off x="3968554" y="304021"/>
            <a:ext cx="5674397" cy="6517008"/>
          </a:xfrm>
        </p:spPr>
        <p:txBody>
          <a:bodyPr/>
          <a:lstStyle>
            <a:lvl1pPr>
              <a:defRPr sz="3600"/>
            </a:lvl1pPr>
            <a:lvl2pPr>
              <a:defRPr sz="3100"/>
            </a:lvl2pPr>
            <a:lvl3pPr>
              <a:defRPr sz="2700"/>
            </a:lvl3pPr>
            <a:lvl4pPr>
              <a:defRPr sz="2200"/>
            </a:lvl4pPr>
            <a:lvl5pPr>
              <a:defRPr sz="22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07524" y="1597878"/>
            <a:ext cx="3339436" cy="5223151"/>
          </a:xfrm>
        </p:spPr>
        <p:txBody>
          <a:bodyPr/>
          <a:lstStyle>
            <a:lvl1pPr marL="0" indent="0">
              <a:buNone/>
              <a:defRPr sz="1600"/>
            </a:lvl1pPr>
            <a:lvl2pPr marL="508178" indent="0">
              <a:buNone/>
              <a:defRPr sz="1300"/>
            </a:lvl2pPr>
            <a:lvl3pPr marL="1016356" indent="0">
              <a:buNone/>
              <a:defRPr sz="1100"/>
            </a:lvl3pPr>
            <a:lvl4pPr marL="1524533" indent="0">
              <a:buNone/>
              <a:defRPr sz="1000"/>
            </a:lvl4pPr>
            <a:lvl5pPr marL="2032711" indent="0">
              <a:buNone/>
              <a:defRPr sz="1000"/>
            </a:lvl5pPr>
            <a:lvl6pPr marL="2540889" indent="0">
              <a:buNone/>
              <a:defRPr sz="1000"/>
            </a:lvl6pPr>
            <a:lvl7pPr marL="3049067" indent="0">
              <a:buNone/>
              <a:defRPr sz="1000"/>
            </a:lvl7pPr>
            <a:lvl8pPr marL="3557245" indent="0">
              <a:buNone/>
              <a:defRPr sz="1000"/>
            </a:lvl8pPr>
            <a:lvl9pPr marL="4065422"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9619E1-8D7B-8148-82B0-908DBEC4CE4D}"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543931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9564" y="5345112"/>
            <a:ext cx="6090285" cy="631021"/>
          </a:xfrm>
        </p:spPr>
        <p:txBody>
          <a:bodyPr anchor="b"/>
          <a:lstStyle>
            <a:lvl1pPr algn="l">
              <a:defRPr sz="2200" b="1"/>
            </a:lvl1pPr>
          </a:lstStyle>
          <a:p>
            <a:r>
              <a:rPr lang="en-US" smtClean="0"/>
              <a:t>Click to edit Master title style</a:t>
            </a:r>
            <a:endParaRPr lang="en-US"/>
          </a:p>
        </p:txBody>
      </p:sp>
      <p:sp>
        <p:nvSpPr>
          <p:cNvPr id="3" name="Picture Placeholder 2"/>
          <p:cNvSpPr>
            <a:spLocks noGrp="1"/>
          </p:cNvSpPr>
          <p:nvPr>
            <p:ph type="pic" idx="1"/>
          </p:nvPr>
        </p:nvSpPr>
        <p:spPr>
          <a:xfrm>
            <a:off x="1989564" y="682280"/>
            <a:ext cx="6090285" cy="4581525"/>
          </a:xfrm>
        </p:spPr>
        <p:txBody>
          <a:bodyPr/>
          <a:lstStyle>
            <a:lvl1pPr marL="0" indent="0">
              <a:buNone/>
              <a:defRPr sz="3600"/>
            </a:lvl1pPr>
            <a:lvl2pPr marL="508178" indent="0">
              <a:buNone/>
              <a:defRPr sz="3100"/>
            </a:lvl2pPr>
            <a:lvl3pPr marL="1016356" indent="0">
              <a:buNone/>
              <a:defRPr sz="2700"/>
            </a:lvl3pPr>
            <a:lvl4pPr marL="1524533" indent="0">
              <a:buNone/>
              <a:defRPr sz="2200"/>
            </a:lvl4pPr>
            <a:lvl5pPr marL="2032711" indent="0">
              <a:buNone/>
              <a:defRPr sz="2200"/>
            </a:lvl5pPr>
            <a:lvl6pPr marL="2540889" indent="0">
              <a:buNone/>
              <a:defRPr sz="2200"/>
            </a:lvl6pPr>
            <a:lvl7pPr marL="3049067" indent="0">
              <a:buNone/>
              <a:defRPr sz="2200"/>
            </a:lvl7pPr>
            <a:lvl8pPr marL="3557245" indent="0">
              <a:buNone/>
              <a:defRPr sz="2200"/>
            </a:lvl8pPr>
            <a:lvl9pPr marL="4065422" indent="0">
              <a:buNone/>
              <a:defRPr sz="2200"/>
            </a:lvl9pPr>
          </a:lstStyle>
          <a:p>
            <a:endParaRPr lang="en-US"/>
          </a:p>
        </p:txBody>
      </p:sp>
      <p:sp>
        <p:nvSpPr>
          <p:cNvPr id="4" name="Text Placeholder 3"/>
          <p:cNvSpPr>
            <a:spLocks noGrp="1"/>
          </p:cNvSpPr>
          <p:nvPr>
            <p:ph type="body" sz="half" idx="2"/>
          </p:nvPr>
        </p:nvSpPr>
        <p:spPr>
          <a:xfrm>
            <a:off x="1989564" y="5976133"/>
            <a:ext cx="6090285" cy="896154"/>
          </a:xfrm>
        </p:spPr>
        <p:txBody>
          <a:bodyPr/>
          <a:lstStyle>
            <a:lvl1pPr marL="0" indent="0">
              <a:buNone/>
              <a:defRPr sz="1600"/>
            </a:lvl1pPr>
            <a:lvl2pPr marL="508178" indent="0">
              <a:buNone/>
              <a:defRPr sz="1300"/>
            </a:lvl2pPr>
            <a:lvl3pPr marL="1016356" indent="0">
              <a:buNone/>
              <a:defRPr sz="1100"/>
            </a:lvl3pPr>
            <a:lvl4pPr marL="1524533" indent="0">
              <a:buNone/>
              <a:defRPr sz="1000"/>
            </a:lvl4pPr>
            <a:lvl5pPr marL="2032711" indent="0">
              <a:buNone/>
              <a:defRPr sz="1000"/>
            </a:lvl5pPr>
            <a:lvl6pPr marL="2540889" indent="0">
              <a:buNone/>
              <a:defRPr sz="1000"/>
            </a:lvl6pPr>
            <a:lvl7pPr marL="3049067" indent="0">
              <a:buNone/>
              <a:defRPr sz="1000"/>
            </a:lvl7pPr>
            <a:lvl8pPr marL="3557245" indent="0">
              <a:buNone/>
              <a:defRPr sz="1000"/>
            </a:lvl8pPr>
            <a:lvl9pPr marL="4065422"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9619E1-8D7B-8148-82B0-908DBEC4CE4D}"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367840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9619E1-8D7B-8148-82B0-908DBEC4CE4D}"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422407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69723" y="341140"/>
            <a:ext cx="2534094" cy="725408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63915" y="341140"/>
            <a:ext cx="7436633" cy="725408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9619E1-8D7B-8148-82B0-908DBEC4CE4D}"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2534938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7524" y="305789"/>
            <a:ext cx="9135428" cy="1272646"/>
          </a:xfrm>
          <a:prstGeom prst="rect">
            <a:avLst/>
          </a:prstGeom>
        </p:spPr>
        <p:txBody>
          <a:bodyPr vert="horz" lIns="101636" tIns="50818" rIns="101636" bIns="50818"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07524" y="1781704"/>
            <a:ext cx="9135428" cy="5039325"/>
          </a:xfrm>
          <a:prstGeom prst="rect">
            <a:avLst/>
          </a:prstGeom>
        </p:spPr>
        <p:txBody>
          <a:bodyPr vert="horz" lIns="101636" tIns="50818" rIns="101636" bIns="5081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07524" y="7077325"/>
            <a:ext cx="2368444" cy="406540"/>
          </a:xfrm>
          <a:prstGeom prst="rect">
            <a:avLst/>
          </a:prstGeom>
        </p:spPr>
        <p:txBody>
          <a:bodyPr vert="horz" lIns="101636" tIns="50818" rIns="101636" bIns="50818" rtlCol="0" anchor="ctr"/>
          <a:lstStyle>
            <a:lvl1pPr algn="l">
              <a:defRPr sz="1300">
                <a:solidFill>
                  <a:schemeClr val="tx1">
                    <a:tint val="75000"/>
                  </a:schemeClr>
                </a:solidFill>
              </a:defRPr>
            </a:lvl1pPr>
          </a:lstStyle>
          <a:p>
            <a:fld id="{7D9619E1-8D7B-8148-82B0-908DBEC4CE4D}" type="datetimeFigureOut">
              <a:rPr lang="en-US" smtClean="0"/>
              <a:t>4/7/2025</a:t>
            </a:fld>
            <a:endParaRPr lang="en-US"/>
          </a:p>
        </p:txBody>
      </p:sp>
      <p:sp>
        <p:nvSpPr>
          <p:cNvPr id="5" name="Footer Placeholder 4"/>
          <p:cNvSpPr>
            <a:spLocks noGrp="1"/>
          </p:cNvSpPr>
          <p:nvPr>
            <p:ph type="ftr" sz="quarter" idx="3"/>
          </p:nvPr>
        </p:nvSpPr>
        <p:spPr>
          <a:xfrm>
            <a:off x="3468079" y="7077325"/>
            <a:ext cx="3214317" cy="406540"/>
          </a:xfrm>
          <a:prstGeom prst="rect">
            <a:avLst/>
          </a:prstGeom>
        </p:spPr>
        <p:txBody>
          <a:bodyPr vert="horz" lIns="101636" tIns="50818" rIns="101636" bIns="50818" rtlCol="0" anchor="ctr"/>
          <a:lstStyle>
            <a:lvl1pPr algn="ctr">
              <a:defRPr sz="13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274507" y="7077325"/>
            <a:ext cx="2368444" cy="406540"/>
          </a:xfrm>
          <a:prstGeom prst="rect">
            <a:avLst/>
          </a:prstGeom>
        </p:spPr>
        <p:txBody>
          <a:bodyPr vert="horz" lIns="101636" tIns="50818" rIns="101636" bIns="50818" rtlCol="0" anchor="ctr"/>
          <a:lstStyle>
            <a:lvl1pPr algn="r">
              <a:defRPr sz="1300">
                <a:solidFill>
                  <a:schemeClr val="tx1">
                    <a:tint val="75000"/>
                  </a:schemeClr>
                </a:solidFill>
              </a:defRPr>
            </a:lvl1pPr>
          </a:lstStyle>
          <a:p>
            <a:fld id="{B56E6150-8108-4B44-B0B0-BFDC52A01023}" type="slidenum">
              <a:rPr lang="en-US" smtClean="0"/>
              <a:t>‹#›</a:t>
            </a:fld>
            <a:endParaRPr lang="en-US"/>
          </a:p>
        </p:txBody>
      </p:sp>
    </p:spTree>
    <p:extLst>
      <p:ext uri="{BB962C8B-B14F-4D97-AF65-F5344CB8AC3E}">
        <p14:creationId xmlns:p14="http://schemas.microsoft.com/office/powerpoint/2010/main" val="27592225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508178" rtl="0" eaLnBrk="1" latinLnBrk="0" hangingPunct="1">
        <a:spcBef>
          <a:spcPct val="0"/>
        </a:spcBef>
        <a:buNone/>
        <a:defRPr sz="4900" kern="1200">
          <a:solidFill>
            <a:schemeClr val="tx1"/>
          </a:solidFill>
          <a:latin typeface="+mj-lt"/>
          <a:ea typeface="+mj-ea"/>
          <a:cs typeface="+mj-cs"/>
        </a:defRPr>
      </a:lvl1pPr>
    </p:titleStyle>
    <p:body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p:bodyStyle>
    <p:otherStyle>
      <a:defPPr>
        <a:defRPr lang="en-US"/>
      </a:defPPr>
      <a:lvl1pPr marL="0" algn="l" defTabSz="508178" rtl="0" eaLnBrk="1" latinLnBrk="0" hangingPunct="1">
        <a:defRPr sz="2000" kern="1200">
          <a:solidFill>
            <a:schemeClr val="tx1"/>
          </a:solidFill>
          <a:latin typeface="+mn-lt"/>
          <a:ea typeface="+mn-ea"/>
          <a:cs typeface="+mn-cs"/>
        </a:defRPr>
      </a:lvl1pPr>
      <a:lvl2pPr marL="508178" algn="l" defTabSz="508178" rtl="0" eaLnBrk="1" latinLnBrk="0" hangingPunct="1">
        <a:defRPr sz="2000" kern="1200">
          <a:solidFill>
            <a:schemeClr val="tx1"/>
          </a:solidFill>
          <a:latin typeface="+mn-lt"/>
          <a:ea typeface="+mn-ea"/>
          <a:cs typeface="+mn-cs"/>
        </a:defRPr>
      </a:lvl2pPr>
      <a:lvl3pPr marL="1016356" algn="l" defTabSz="508178" rtl="0" eaLnBrk="1" latinLnBrk="0" hangingPunct="1">
        <a:defRPr sz="2000" kern="1200">
          <a:solidFill>
            <a:schemeClr val="tx1"/>
          </a:solidFill>
          <a:latin typeface="+mn-lt"/>
          <a:ea typeface="+mn-ea"/>
          <a:cs typeface="+mn-cs"/>
        </a:defRPr>
      </a:lvl3pPr>
      <a:lvl4pPr marL="1524533" algn="l" defTabSz="508178" rtl="0" eaLnBrk="1" latinLnBrk="0" hangingPunct="1">
        <a:defRPr sz="2000" kern="1200">
          <a:solidFill>
            <a:schemeClr val="tx1"/>
          </a:solidFill>
          <a:latin typeface="+mn-lt"/>
          <a:ea typeface="+mn-ea"/>
          <a:cs typeface="+mn-cs"/>
        </a:defRPr>
      </a:lvl4pPr>
      <a:lvl5pPr marL="2032711" algn="l" defTabSz="508178" rtl="0" eaLnBrk="1" latinLnBrk="0" hangingPunct="1">
        <a:defRPr sz="2000" kern="1200">
          <a:solidFill>
            <a:schemeClr val="tx1"/>
          </a:solidFill>
          <a:latin typeface="+mn-lt"/>
          <a:ea typeface="+mn-ea"/>
          <a:cs typeface="+mn-cs"/>
        </a:defRPr>
      </a:lvl5pPr>
      <a:lvl6pPr marL="2540889" algn="l" defTabSz="508178" rtl="0" eaLnBrk="1" latinLnBrk="0" hangingPunct="1">
        <a:defRPr sz="2000" kern="1200">
          <a:solidFill>
            <a:schemeClr val="tx1"/>
          </a:solidFill>
          <a:latin typeface="+mn-lt"/>
          <a:ea typeface="+mn-ea"/>
          <a:cs typeface="+mn-cs"/>
        </a:defRPr>
      </a:lvl6pPr>
      <a:lvl7pPr marL="3049067" algn="l" defTabSz="508178" rtl="0" eaLnBrk="1" latinLnBrk="0" hangingPunct="1">
        <a:defRPr sz="2000" kern="1200">
          <a:solidFill>
            <a:schemeClr val="tx1"/>
          </a:solidFill>
          <a:latin typeface="+mn-lt"/>
          <a:ea typeface="+mn-ea"/>
          <a:cs typeface="+mn-cs"/>
        </a:defRPr>
      </a:lvl7pPr>
      <a:lvl8pPr marL="3557245" algn="l" defTabSz="508178" rtl="0" eaLnBrk="1" latinLnBrk="0" hangingPunct="1">
        <a:defRPr sz="2000" kern="1200">
          <a:solidFill>
            <a:schemeClr val="tx1"/>
          </a:solidFill>
          <a:latin typeface="+mn-lt"/>
          <a:ea typeface="+mn-ea"/>
          <a:cs typeface="+mn-cs"/>
        </a:defRPr>
      </a:lvl8pPr>
      <a:lvl9pPr marL="4065422" algn="l" defTabSz="508178"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DSC_0063 (2).JPG"/>
          <p:cNvPicPr>
            <a:picLocks noChangeAspect="1"/>
          </p:cNvPicPr>
          <p:nvPr/>
        </p:nvPicPr>
        <p:blipFill rotWithShape="1">
          <a:blip r:embed="rId2">
            <a:extLst>
              <a:ext uri="{28A0092B-C50C-407E-A947-70E740481C1C}">
                <a14:useLocalDpi xmlns:a14="http://schemas.microsoft.com/office/drawing/2010/main" val="0"/>
              </a:ext>
            </a:extLst>
          </a:blip>
          <a:srcRect t="12540" r="15370" b="39874"/>
          <a:stretch/>
        </p:blipFill>
        <p:spPr>
          <a:xfrm>
            <a:off x="-17876" y="3824187"/>
            <a:ext cx="10168350" cy="3811687"/>
          </a:xfrm>
          <a:prstGeom prst="rect">
            <a:avLst/>
          </a:prstGeom>
        </p:spPr>
      </p:pic>
      <p:sp>
        <p:nvSpPr>
          <p:cNvPr id="7" name="TextBox 6"/>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b="1" dirty="0" smtClean="0">
                <a:solidFill>
                  <a:srgbClr val="FFFFFF"/>
                </a:solidFill>
                <a:latin typeface="RopaSoftPro-Regular"/>
              </a:rPr>
              <a:t> of Computing and Informatics</a:t>
            </a:r>
            <a:endParaRPr lang="en-US" sz="2000" b="1" i="0" u="none" strike="noStrike" baseline="0" dirty="0" smtClean="0">
              <a:solidFill>
                <a:srgbClr val="FFFFFF"/>
              </a:solidFill>
              <a:latin typeface="RopaSoftPro-Regular"/>
            </a:endParaRPr>
          </a:p>
        </p:txBody>
      </p:sp>
      <p:sp>
        <p:nvSpPr>
          <p:cNvPr id="11" name="TextBox 10"/>
          <p:cNvSpPr txBox="1"/>
          <p:nvPr/>
        </p:nvSpPr>
        <p:spPr>
          <a:xfrm>
            <a:off x="498123" y="1784007"/>
            <a:ext cx="7963952" cy="1938992"/>
          </a:xfrm>
          <a:prstGeom prst="rect">
            <a:avLst/>
          </a:prstGeom>
          <a:noFill/>
        </p:spPr>
        <p:txBody>
          <a:bodyPr wrap="square" rtlCol="0">
            <a:spAutoFit/>
          </a:bodyPr>
          <a:lstStyle/>
          <a:p>
            <a:r>
              <a:rPr lang="en-US" sz="3000" dirty="0" smtClean="0">
                <a:solidFill>
                  <a:schemeClr val="bg1"/>
                </a:solidFill>
              </a:rPr>
              <a:t>Business Management Information Systems – BMC511S</a:t>
            </a:r>
          </a:p>
          <a:p>
            <a:endParaRPr lang="en-US" sz="3000" dirty="0">
              <a:solidFill>
                <a:schemeClr val="bg1"/>
              </a:solidFill>
            </a:endParaRPr>
          </a:p>
          <a:p>
            <a:r>
              <a:rPr lang="en-US" sz="3000" dirty="0" smtClean="0">
                <a:solidFill>
                  <a:schemeClr val="bg1"/>
                </a:solidFill>
              </a:rPr>
              <a:t>Leeson </a:t>
            </a:r>
            <a:r>
              <a:rPr lang="en-US" sz="3000" dirty="0" smtClean="0">
                <a:solidFill>
                  <a:schemeClr val="bg1"/>
                </a:solidFill>
              </a:rPr>
              <a:t>7 </a:t>
            </a:r>
            <a:r>
              <a:rPr lang="en-US" sz="3000" dirty="0" smtClean="0">
                <a:solidFill>
                  <a:schemeClr val="bg1"/>
                </a:solidFill>
              </a:rPr>
              <a:t>– Foundations of business intelligence</a:t>
            </a:r>
          </a:p>
        </p:txBody>
      </p:sp>
      <p:pic>
        <p:nvPicPr>
          <p:cNvPr id="9" name="Picture 8"/>
          <p:cNvPicPr>
            <a:picLocks noChangeAspect="1"/>
          </p:cNvPicPr>
          <p:nvPr/>
        </p:nvPicPr>
        <p:blipFill>
          <a:blip r:embed="rId3"/>
          <a:stretch>
            <a:fillRect/>
          </a:stretch>
        </p:blipFill>
        <p:spPr>
          <a:xfrm>
            <a:off x="7880777" y="4294900"/>
            <a:ext cx="2387600" cy="2933700"/>
          </a:xfrm>
          <a:prstGeom prst="rect">
            <a:avLst/>
          </a:prstGeom>
        </p:spPr>
      </p:pic>
    </p:spTree>
    <p:extLst>
      <p:ext uri="{BB962C8B-B14F-4D97-AF65-F5344CB8AC3E}">
        <p14:creationId xmlns:p14="http://schemas.microsoft.com/office/powerpoint/2010/main" val="9742330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Introduction to information systems (IS)  in organisations</a:t>
            </a:r>
            <a:endParaRPr lang="en-US" sz="3000" dirty="0">
              <a:solidFill>
                <a:srgbClr val="FFFFFF"/>
              </a:solidFill>
            </a:endParaRPr>
          </a:p>
        </p:txBody>
      </p:sp>
      <p:sp>
        <p:nvSpPr>
          <p:cNvPr id="4" name="TextBox 3"/>
          <p:cNvSpPr txBox="1"/>
          <p:nvPr/>
        </p:nvSpPr>
        <p:spPr>
          <a:xfrm>
            <a:off x="1349153" y="2801693"/>
            <a:ext cx="8801322" cy="3108543"/>
          </a:xfrm>
          <a:prstGeom prst="rect">
            <a:avLst/>
          </a:prstGeom>
          <a:noFill/>
        </p:spPr>
        <p:txBody>
          <a:bodyPr wrap="square" rtlCol="0">
            <a:spAutoFit/>
          </a:bodyPr>
          <a:lstStyle/>
          <a:p>
            <a:pPr marL="457200" indent="-457200">
              <a:lnSpc>
                <a:spcPct val="140000"/>
              </a:lnSpc>
              <a:buFont typeface="+mj-lt"/>
              <a:buAutoNum type="arabicPeriod"/>
            </a:pPr>
            <a:r>
              <a:rPr lang="en-US" dirty="0" smtClean="0">
                <a:solidFill>
                  <a:srgbClr val="FFFFFF"/>
                </a:solidFill>
              </a:rPr>
              <a:t>An introduction to files</a:t>
            </a:r>
          </a:p>
          <a:p>
            <a:pPr marL="457200" indent="-457200">
              <a:lnSpc>
                <a:spcPct val="140000"/>
              </a:lnSpc>
              <a:buFont typeface="+mj-lt"/>
              <a:buAutoNum type="arabicPeriod"/>
            </a:pPr>
            <a:r>
              <a:rPr lang="en-US" dirty="0" smtClean="0">
                <a:solidFill>
                  <a:srgbClr val="FFFFFF"/>
                </a:solidFill>
              </a:rPr>
              <a:t>Challenges with the traditional file environment</a:t>
            </a:r>
          </a:p>
          <a:p>
            <a:pPr marL="457200" indent="-457200">
              <a:lnSpc>
                <a:spcPct val="140000"/>
              </a:lnSpc>
              <a:buFont typeface="+mj-lt"/>
              <a:buAutoNum type="arabicPeriod"/>
            </a:pPr>
            <a:r>
              <a:rPr lang="en-US" dirty="0" smtClean="0">
                <a:solidFill>
                  <a:srgbClr val="FFFFFF"/>
                </a:solidFill>
              </a:rPr>
              <a:t>Relational databases</a:t>
            </a:r>
          </a:p>
          <a:p>
            <a:pPr marL="457200" indent="-457200">
              <a:lnSpc>
                <a:spcPct val="140000"/>
              </a:lnSpc>
              <a:buFont typeface="+mj-lt"/>
              <a:buAutoNum type="arabicPeriod"/>
            </a:pPr>
            <a:r>
              <a:rPr lang="en-US" dirty="0" smtClean="0">
                <a:solidFill>
                  <a:srgbClr val="FFFFFF"/>
                </a:solidFill>
              </a:rPr>
              <a:t>Capabilities of databases and database management systems (DBMS)</a:t>
            </a:r>
          </a:p>
          <a:p>
            <a:pPr marL="457200" indent="-457200">
              <a:lnSpc>
                <a:spcPct val="140000"/>
              </a:lnSpc>
              <a:buFont typeface="+mj-lt"/>
              <a:buAutoNum type="arabicPeriod"/>
            </a:pPr>
            <a:r>
              <a:rPr lang="en-US" dirty="0" smtClean="0">
                <a:solidFill>
                  <a:srgbClr val="FFFFFF"/>
                </a:solidFill>
              </a:rPr>
              <a:t>Definition of business intelligence</a:t>
            </a:r>
          </a:p>
          <a:p>
            <a:pPr marL="457200" indent="-457200">
              <a:lnSpc>
                <a:spcPct val="140000"/>
              </a:lnSpc>
              <a:buFont typeface="+mj-lt"/>
              <a:buAutoNum type="arabicPeriod"/>
            </a:pPr>
            <a:r>
              <a:rPr lang="en-US" dirty="0" smtClean="0">
                <a:solidFill>
                  <a:srgbClr val="FFFFFF"/>
                </a:solidFill>
              </a:rPr>
              <a:t>Business intelligence infrastructure</a:t>
            </a:r>
          </a:p>
          <a:p>
            <a:pPr marL="457200" indent="-457200">
              <a:lnSpc>
                <a:spcPct val="140000"/>
              </a:lnSpc>
              <a:buFont typeface="+mj-lt"/>
              <a:buAutoNum type="arabicPeriod"/>
            </a:pPr>
            <a:r>
              <a:rPr lang="en-US" dirty="0" smtClean="0">
                <a:solidFill>
                  <a:srgbClr val="FFFFFF"/>
                </a:solidFill>
              </a:rPr>
              <a:t>Critical success factors to managing an </a:t>
            </a:r>
            <a:r>
              <a:rPr lang="en-US" dirty="0" err="1" smtClean="0">
                <a:solidFill>
                  <a:srgbClr val="FFFFFF"/>
                </a:solidFill>
              </a:rPr>
              <a:t>organisation’s</a:t>
            </a:r>
            <a:r>
              <a:rPr lang="en-US" dirty="0" smtClean="0">
                <a:solidFill>
                  <a:srgbClr val="FFFFFF"/>
                </a:solidFill>
              </a:rPr>
              <a:t> data resources</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31748220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An introduction to files</a:t>
            </a:r>
            <a:endParaRPr lang="en-US" sz="3000" dirty="0">
              <a:solidFill>
                <a:srgbClr val="FFFFFF"/>
              </a:solidFill>
            </a:endParaRPr>
          </a:p>
        </p:txBody>
      </p:sp>
      <p:sp>
        <p:nvSpPr>
          <p:cNvPr id="4" name="TextBox 3"/>
          <p:cNvSpPr txBox="1"/>
          <p:nvPr/>
        </p:nvSpPr>
        <p:spPr>
          <a:xfrm>
            <a:off x="777239" y="2812230"/>
            <a:ext cx="9297035" cy="3970318"/>
          </a:xfrm>
          <a:prstGeom prst="rect">
            <a:avLst/>
          </a:prstGeom>
          <a:noFill/>
        </p:spPr>
        <p:txBody>
          <a:bodyPr wrap="square" rtlCol="0">
            <a:spAutoFit/>
          </a:bodyPr>
          <a:lstStyle/>
          <a:p>
            <a:pPr marL="342900" indent="-342900">
              <a:lnSpc>
                <a:spcPct val="140000"/>
              </a:lnSpc>
              <a:buFont typeface="Arial" panose="020B0604020202020204" pitchFamily="34" charset="0"/>
              <a:buChar char="•"/>
            </a:pPr>
            <a:r>
              <a:rPr lang="en-US" dirty="0" smtClean="0">
                <a:solidFill>
                  <a:srgbClr val="FFFFFF"/>
                </a:solidFill>
              </a:rPr>
              <a:t>Bit – the smallest unit of data a computer can handle</a:t>
            </a:r>
          </a:p>
          <a:p>
            <a:pPr marL="342900" indent="-342900">
              <a:lnSpc>
                <a:spcPct val="140000"/>
              </a:lnSpc>
              <a:buFont typeface="Arial" panose="020B0604020202020204" pitchFamily="34" charset="0"/>
              <a:buChar char="•"/>
            </a:pPr>
            <a:r>
              <a:rPr lang="en-US" dirty="0" smtClean="0">
                <a:solidFill>
                  <a:srgbClr val="FFFFFF"/>
                </a:solidFill>
              </a:rPr>
              <a:t>Byte – 8 bits represent a byte – which is the equivalent of a single character, i.e. a letter or a number</a:t>
            </a:r>
          </a:p>
          <a:p>
            <a:pPr marL="342900" indent="-342900">
              <a:lnSpc>
                <a:spcPct val="140000"/>
              </a:lnSpc>
              <a:buFont typeface="Arial" panose="020B0604020202020204" pitchFamily="34" charset="0"/>
              <a:buChar char="•"/>
            </a:pPr>
            <a:r>
              <a:rPr lang="en-US" dirty="0" smtClean="0">
                <a:solidFill>
                  <a:srgbClr val="FFFFFF"/>
                </a:solidFill>
              </a:rPr>
              <a:t>A word is a group of characters, e.g., a salary</a:t>
            </a:r>
          </a:p>
          <a:p>
            <a:pPr marL="342900" indent="-342900">
              <a:lnSpc>
                <a:spcPct val="140000"/>
              </a:lnSpc>
              <a:buFont typeface="Arial" panose="020B0604020202020204" pitchFamily="34" charset="0"/>
              <a:buChar char="•"/>
            </a:pPr>
            <a:r>
              <a:rPr lang="en-US" dirty="0" smtClean="0">
                <a:solidFill>
                  <a:srgbClr val="FFFFFF"/>
                </a:solidFill>
              </a:rPr>
              <a:t>A field is a group of words, e.g., employee name</a:t>
            </a:r>
          </a:p>
          <a:p>
            <a:pPr marL="342900" indent="-342900">
              <a:lnSpc>
                <a:spcPct val="140000"/>
              </a:lnSpc>
              <a:buFont typeface="Arial" panose="020B0604020202020204" pitchFamily="34" charset="0"/>
              <a:buChar char="•"/>
            </a:pPr>
            <a:r>
              <a:rPr lang="en-US" dirty="0" smtClean="0">
                <a:solidFill>
                  <a:srgbClr val="FFFFFF"/>
                </a:solidFill>
              </a:rPr>
              <a:t>A record is a group of related fields , e.g., employee name, employee number, etc.</a:t>
            </a:r>
          </a:p>
          <a:p>
            <a:pPr marL="342900" indent="-342900">
              <a:lnSpc>
                <a:spcPct val="140000"/>
              </a:lnSpc>
              <a:buFont typeface="Arial" panose="020B0604020202020204" pitchFamily="34" charset="0"/>
              <a:buChar char="•"/>
            </a:pPr>
            <a:r>
              <a:rPr lang="en-US" dirty="0" smtClean="0">
                <a:solidFill>
                  <a:srgbClr val="FFFFFF"/>
                </a:solidFill>
              </a:rPr>
              <a:t>A file is a group of records of the same type</a:t>
            </a:r>
          </a:p>
          <a:p>
            <a:pPr marL="342900" indent="-342900">
              <a:lnSpc>
                <a:spcPct val="140000"/>
              </a:lnSpc>
              <a:buFont typeface="Arial" panose="020B0604020202020204" pitchFamily="34" charset="0"/>
              <a:buChar char="•"/>
            </a:pPr>
            <a:endParaRPr lang="en-US" dirty="0" smtClean="0">
              <a:solidFill>
                <a:srgbClr val="FFFFFF"/>
              </a:solidFill>
            </a:endParaRPr>
          </a:p>
          <a:p>
            <a:pPr marL="342900" indent="-342900">
              <a:lnSpc>
                <a:spcPct val="140000"/>
              </a:lnSpc>
              <a:buFont typeface="Arial" panose="020B0604020202020204" pitchFamily="34" charset="0"/>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graphicFrame>
        <p:nvGraphicFramePr>
          <p:cNvPr id="6" name="Table 5"/>
          <p:cNvGraphicFramePr>
            <a:graphicFrameLocks noGrp="1"/>
          </p:cNvGraphicFramePr>
          <p:nvPr>
            <p:extLst>
              <p:ext uri="{D42A27DB-BD31-4B8C-83A1-F6EECF244321}">
                <p14:modId xmlns:p14="http://schemas.microsoft.com/office/powerpoint/2010/main" val="2264517108"/>
              </p:ext>
            </p:extLst>
          </p:nvPr>
        </p:nvGraphicFramePr>
        <p:xfrm>
          <a:off x="1204066" y="6058076"/>
          <a:ext cx="6766983" cy="1188720"/>
        </p:xfrm>
        <a:graphic>
          <a:graphicData uri="http://schemas.openxmlformats.org/drawingml/2006/table">
            <a:tbl>
              <a:tblPr firstRow="1" bandRow="1">
                <a:tableStyleId>{5C22544A-7EE6-4342-B048-85BDC9FD1C3A}</a:tableStyleId>
              </a:tblPr>
              <a:tblGrid>
                <a:gridCol w="2255661">
                  <a:extLst>
                    <a:ext uri="{9D8B030D-6E8A-4147-A177-3AD203B41FA5}">
                      <a16:colId xmlns:a16="http://schemas.microsoft.com/office/drawing/2014/main" val="20000"/>
                    </a:ext>
                  </a:extLst>
                </a:gridCol>
                <a:gridCol w="2255661">
                  <a:extLst>
                    <a:ext uri="{9D8B030D-6E8A-4147-A177-3AD203B41FA5}">
                      <a16:colId xmlns:a16="http://schemas.microsoft.com/office/drawing/2014/main" val="20001"/>
                    </a:ext>
                  </a:extLst>
                </a:gridCol>
                <a:gridCol w="2255661">
                  <a:extLst>
                    <a:ext uri="{9D8B030D-6E8A-4147-A177-3AD203B41FA5}">
                      <a16:colId xmlns:a16="http://schemas.microsoft.com/office/drawing/2014/main" val="20002"/>
                    </a:ext>
                  </a:extLst>
                </a:gridCol>
              </a:tblGrid>
              <a:tr h="370840">
                <a:tc>
                  <a:txBody>
                    <a:bodyPr/>
                    <a:lstStyle/>
                    <a:p>
                      <a:r>
                        <a:rPr lang="en-US" dirty="0" smtClean="0"/>
                        <a:t>Employee ID</a:t>
                      </a:r>
                      <a:endParaRPr lang="en-US" dirty="0"/>
                    </a:p>
                  </a:txBody>
                  <a:tcPr/>
                </a:tc>
                <a:tc>
                  <a:txBody>
                    <a:bodyPr/>
                    <a:lstStyle/>
                    <a:p>
                      <a:r>
                        <a:rPr lang="en-US" dirty="0" smtClean="0"/>
                        <a:t>Employee</a:t>
                      </a:r>
                      <a:r>
                        <a:rPr lang="en-US" baseline="0" dirty="0" smtClean="0"/>
                        <a:t> name</a:t>
                      </a:r>
                      <a:endParaRPr lang="en-US" dirty="0"/>
                    </a:p>
                  </a:txBody>
                  <a:tcPr/>
                </a:tc>
                <a:tc>
                  <a:txBody>
                    <a:bodyPr/>
                    <a:lstStyle/>
                    <a:p>
                      <a:r>
                        <a:rPr lang="en-US" dirty="0" smtClean="0"/>
                        <a:t>Department</a:t>
                      </a:r>
                      <a:endParaRPr lang="en-US" dirty="0"/>
                    </a:p>
                  </a:txBody>
                  <a:tcPr/>
                </a:tc>
                <a:extLst>
                  <a:ext uri="{0D108BD9-81ED-4DB2-BD59-A6C34878D82A}">
                    <a16:rowId xmlns:a16="http://schemas.microsoft.com/office/drawing/2014/main" val="10000"/>
                  </a:ext>
                </a:extLst>
              </a:tr>
              <a:tr h="370840">
                <a:tc>
                  <a:txBody>
                    <a:bodyPr/>
                    <a:lstStyle/>
                    <a:p>
                      <a:r>
                        <a:rPr lang="en-US" dirty="0" smtClean="0"/>
                        <a:t>1006789</a:t>
                      </a:r>
                      <a:endParaRPr lang="en-US" dirty="0"/>
                    </a:p>
                  </a:txBody>
                  <a:tcPr/>
                </a:tc>
                <a:tc>
                  <a:txBody>
                    <a:bodyPr/>
                    <a:lstStyle/>
                    <a:p>
                      <a:r>
                        <a:rPr lang="en-US" dirty="0" err="1" smtClean="0"/>
                        <a:t>Dlodlo</a:t>
                      </a:r>
                      <a:endParaRPr lang="en-US" dirty="0"/>
                    </a:p>
                  </a:txBody>
                  <a:tcPr/>
                </a:tc>
                <a:tc>
                  <a:txBody>
                    <a:bodyPr/>
                    <a:lstStyle/>
                    <a:p>
                      <a:r>
                        <a:rPr lang="en-US" dirty="0" smtClean="0"/>
                        <a:t>Informatics</a:t>
                      </a:r>
                      <a:endParaRPr lang="en-US" dirty="0"/>
                    </a:p>
                  </a:txBody>
                  <a:tcPr/>
                </a:tc>
                <a:extLst>
                  <a:ext uri="{0D108BD9-81ED-4DB2-BD59-A6C34878D82A}">
                    <a16:rowId xmlns:a16="http://schemas.microsoft.com/office/drawing/2014/main" val="10001"/>
                  </a:ext>
                </a:extLst>
              </a:tr>
              <a:tr h="370840">
                <a:tc>
                  <a:txBody>
                    <a:bodyPr/>
                    <a:lstStyle/>
                    <a:p>
                      <a:r>
                        <a:rPr lang="en-US" dirty="0" smtClean="0"/>
                        <a:t>1002543</a:t>
                      </a:r>
                      <a:endParaRPr lang="en-US" dirty="0"/>
                    </a:p>
                  </a:txBody>
                  <a:tcPr/>
                </a:tc>
                <a:tc>
                  <a:txBody>
                    <a:bodyPr/>
                    <a:lstStyle/>
                    <a:p>
                      <a:r>
                        <a:rPr lang="en-US" dirty="0" smtClean="0"/>
                        <a:t>Smith</a:t>
                      </a:r>
                      <a:endParaRPr lang="en-US" dirty="0"/>
                    </a:p>
                  </a:txBody>
                  <a:tcPr/>
                </a:tc>
                <a:tc>
                  <a:txBody>
                    <a:bodyPr/>
                    <a:lstStyle/>
                    <a:p>
                      <a:r>
                        <a:rPr lang="en-US" dirty="0" smtClean="0"/>
                        <a:t>Engineering</a:t>
                      </a:r>
                      <a:endParaRPr lang="en-US" dirty="0"/>
                    </a:p>
                  </a:txBody>
                  <a:tcPr/>
                </a:tc>
                <a:extLst>
                  <a:ext uri="{0D108BD9-81ED-4DB2-BD59-A6C34878D82A}">
                    <a16:rowId xmlns:a16="http://schemas.microsoft.com/office/drawing/2014/main" val="10002"/>
                  </a:ext>
                </a:extLst>
              </a:tr>
            </a:tbl>
          </a:graphicData>
        </a:graphic>
      </p:graphicFrame>
      <p:sp>
        <p:nvSpPr>
          <p:cNvPr id="2" name="TextBox 1"/>
          <p:cNvSpPr txBox="1"/>
          <p:nvPr/>
        </p:nvSpPr>
        <p:spPr>
          <a:xfrm>
            <a:off x="8336280" y="6248400"/>
            <a:ext cx="1386840" cy="707886"/>
          </a:xfrm>
          <a:prstGeom prst="rect">
            <a:avLst/>
          </a:prstGeom>
          <a:noFill/>
        </p:spPr>
        <p:txBody>
          <a:bodyPr wrap="square" rtlCol="0">
            <a:spAutoFit/>
          </a:bodyPr>
          <a:lstStyle/>
          <a:p>
            <a:r>
              <a:rPr lang="en-US" dirty="0" smtClean="0">
                <a:solidFill>
                  <a:schemeClr val="bg1">
                    <a:lumMod val="95000"/>
                  </a:schemeClr>
                </a:solidFill>
              </a:rPr>
              <a:t>Employee records file</a:t>
            </a:r>
            <a:endParaRPr lang="en-US" dirty="0">
              <a:solidFill>
                <a:schemeClr val="bg1">
                  <a:lumMod val="95000"/>
                </a:schemeClr>
              </a:solidFill>
            </a:endParaRPr>
          </a:p>
        </p:txBody>
      </p:sp>
      <p:sp>
        <p:nvSpPr>
          <p:cNvPr id="7" name="Right Brace 6"/>
          <p:cNvSpPr/>
          <p:nvPr/>
        </p:nvSpPr>
        <p:spPr>
          <a:xfrm>
            <a:off x="8199120" y="6058076"/>
            <a:ext cx="137160" cy="118872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703255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0" descr="Fig-6-01.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35225" y="2967406"/>
            <a:ext cx="6635750" cy="43957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855528" y="1336190"/>
            <a:ext cx="9076412" cy="1631216"/>
          </a:xfrm>
          <a:prstGeom prst="rect">
            <a:avLst/>
          </a:prstGeom>
        </p:spPr>
        <p:txBody>
          <a:bodyPr wrap="square">
            <a:spAutoFit/>
          </a:bodyPr>
          <a:lstStyle/>
          <a:p>
            <a:r>
              <a:rPr lang="en-US" altLang="en-US" dirty="0">
                <a:solidFill>
                  <a:schemeClr val="bg1"/>
                </a:solidFill>
              </a:rPr>
              <a:t>The use of a traditional approach to file processing encourages each functional area in a corporation to develop specialized applications. Each application requires a unique data file that is likely to be a subset of the master file. These subsets of the master file lead to data redundancy and inconsistency, processing inflexibility, and wasted storage resources.</a:t>
            </a:r>
          </a:p>
        </p:txBody>
      </p:sp>
    </p:spTree>
    <p:extLst>
      <p:ext uri="{BB962C8B-B14F-4D97-AF65-F5344CB8AC3E}">
        <p14:creationId xmlns:p14="http://schemas.microsoft.com/office/powerpoint/2010/main" val="1844045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Challenges with the traditional file environment</a:t>
            </a:r>
            <a:endParaRPr lang="en-US" sz="3000" dirty="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2" name="TextBox 1"/>
          <p:cNvSpPr txBox="1"/>
          <p:nvPr/>
        </p:nvSpPr>
        <p:spPr>
          <a:xfrm>
            <a:off x="1021080" y="2653646"/>
            <a:ext cx="8488680" cy="5016758"/>
          </a:xfrm>
          <a:prstGeom prst="rect">
            <a:avLst/>
          </a:prstGeom>
          <a:noFill/>
        </p:spPr>
        <p:txBody>
          <a:bodyPr wrap="square" rtlCol="0">
            <a:spAutoFit/>
          </a:bodyPr>
          <a:lstStyle/>
          <a:p>
            <a:pPr marL="342900" indent="-342900">
              <a:buFont typeface="Arial" panose="020B0604020202020204" pitchFamily="34" charset="0"/>
              <a:buChar char="•"/>
            </a:pPr>
            <a:r>
              <a:rPr lang="en-US" dirty="0" smtClean="0">
                <a:solidFill>
                  <a:schemeClr val="bg1">
                    <a:lumMod val="95000"/>
                  </a:schemeClr>
                </a:solidFill>
              </a:rPr>
              <a:t>Data redundancy – duplication of data in multiple data files so that the same data are placed in more than one place or location in the </a:t>
            </a:r>
            <a:r>
              <a:rPr lang="en-US" dirty="0" err="1" smtClean="0">
                <a:solidFill>
                  <a:schemeClr val="bg1">
                    <a:lumMod val="95000"/>
                  </a:schemeClr>
                </a:solidFill>
              </a:rPr>
              <a:t>organisation</a:t>
            </a:r>
            <a:endParaRPr lang="en-US" dirty="0" smtClean="0">
              <a:solidFill>
                <a:schemeClr val="bg1">
                  <a:lumMod val="95000"/>
                </a:schemeClr>
              </a:solidFill>
            </a:endParaRPr>
          </a:p>
          <a:p>
            <a:pPr marL="342900" indent="-342900">
              <a:buFont typeface="Arial" panose="020B0604020202020204" pitchFamily="34" charset="0"/>
              <a:buChar char="•"/>
            </a:pPr>
            <a:r>
              <a:rPr lang="en-US" dirty="0" smtClean="0">
                <a:solidFill>
                  <a:schemeClr val="bg1">
                    <a:lumMod val="95000"/>
                  </a:schemeClr>
                </a:solidFill>
              </a:rPr>
              <a:t>Data inconsistency – the same attribute in different files has different values</a:t>
            </a:r>
          </a:p>
          <a:p>
            <a:pPr marL="342900" indent="-342900">
              <a:buFont typeface="Arial" panose="020B0604020202020204" pitchFamily="34" charset="0"/>
              <a:buChar char="•"/>
            </a:pPr>
            <a:endParaRPr lang="en-US" dirty="0">
              <a:solidFill>
                <a:schemeClr val="bg1">
                  <a:lumMod val="95000"/>
                </a:schemeClr>
              </a:solidFill>
            </a:endParaRPr>
          </a:p>
          <a:p>
            <a:pPr marL="342900" indent="-342900">
              <a:buFont typeface="Arial" panose="020B0604020202020204" pitchFamily="34" charset="0"/>
              <a:buChar char="•"/>
            </a:pPr>
            <a:r>
              <a:rPr lang="en-US" dirty="0" smtClean="0">
                <a:solidFill>
                  <a:schemeClr val="bg1">
                    <a:lumMod val="95000"/>
                  </a:schemeClr>
                </a:solidFill>
              </a:rPr>
              <a:t>Program-data dependence – the coupling of data stored in files and the specific programs required to update and maintain those files</a:t>
            </a:r>
          </a:p>
          <a:p>
            <a:pPr marL="342900" indent="-342900">
              <a:buFont typeface="Arial" panose="020B0604020202020204" pitchFamily="34" charset="0"/>
              <a:buChar char="•"/>
            </a:pPr>
            <a:r>
              <a:rPr lang="en-US" dirty="0" smtClean="0">
                <a:solidFill>
                  <a:schemeClr val="bg1">
                    <a:lumMod val="95000"/>
                  </a:schemeClr>
                </a:solidFill>
              </a:rPr>
              <a:t>Lack of flexibility – a traditional file can deliver routine schedule reports after extensive programming efforts, but it cannot deliver ad-hoc reports</a:t>
            </a:r>
          </a:p>
          <a:p>
            <a:pPr marL="342900" indent="-342900">
              <a:buFont typeface="Arial" panose="020B0604020202020204" pitchFamily="34" charset="0"/>
              <a:buChar char="•"/>
            </a:pPr>
            <a:endParaRPr lang="en-US" dirty="0">
              <a:solidFill>
                <a:schemeClr val="bg1">
                  <a:lumMod val="95000"/>
                </a:schemeClr>
              </a:solidFill>
            </a:endParaRPr>
          </a:p>
          <a:p>
            <a:pPr marL="342900" indent="-342900">
              <a:buFont typeface="Arial" panose="020B0604020202020204" pitchFamily="34" charset="0"/>
              <a:buChar char="•"/>
            </a:pPr>
            <a:r>
              <a:rPr lang="en-US" dirty="0" smtClean="0">
                <a:solidFill>
                  <a:schemeClr val="bg1">
                    <a:lumMod val="95000"/>
                  </a:schemeClr>
                </a:solidFill>
              </a:rPr>
              <a:t>Poor security – there is little control or management of data, meaning management have no way of knowing who is accessing or even making changes to the </a:t>
            </a:r>
            <a:r>
              <a:rPr lang="en-US" dirty="0" err="1" smtClean="0">
                <a:solidFill>
                  <a:schemeClr val="bg1">
                    <a:lumMod val="95000"/>
                  </a:schemeClr>
                </a:solidFill>
              </a:rPr>
              <a:t>organisation’s</a:t>
            </a:r>
            <a:r>
              <a:rPr lang="en-US" dirty="0" smtClean="0">
                <a:solidFill>
                  <a:schemeClr val="bg1">
                    <a:lumMod val="95000"/>
                  </a:schemeClr>
                </a:solidFill>
              </a:rPr>
              <a:t> data</a:t>
            </a:r>
          </a:p>
          <a:p>
            <a:pPr marL="342900" indent="-342900">
              <a:buFont typeface="Arial" panose="020B0604020202020204" pitchFamily="34" charset="0"/>
              <a:buChar char="•"/>
            </a:pPr>
            <a:r>
              <a:rPr lang="en-US" dirty="0" smtClean="0">
                <a:solidFill>
                  <a:schemeClr val="bg1">
                    <a:lumMod val="95000"/>
                  </a:schemeClr>
                </a:solidFill>
              </a:rPr>
              <a:t>Lack of data sharing and availability – If different pieces of information in different files and different parts of the </a:t>
            </a:r>
            <a:r>
              <a:rPr lang="en-US" dirty="0" err="1" smtClean="0">
                <a:solidFill>
                  <a:schemeClr val="bg1">
                    <a:lumMod val="95000"/>
                  </a:schemeClr>
                </a:solidFill>
              </a:rPr>
              <a:t>organisation</a:t>
            </a:r>
            <a:r>
              <a:rPr lang="en-US" dirty="0" smtClean="0">
                <a:solidFill>
                  <a:schemeClr val="bg1">
                    <a:lumMod val="95000"/>
                  </a:schemeClr>
                </a:solidFill>
              </a:rPr>
              <a:t> cannot be related to one another, it is impossible for information to be stored or accessed in a timely manner</a:t>
            </a:r>
            <a:endParaRPr lang="en-US" dirty="0">
              <a:solidFill>
                <a:schemeClr val="bg1">
                  <a:lumMod val="95000"/>
                </a:schemeClr>
              </a:solidFill>
            </a:endParaRPr>
          </a:p>
        </p:txBody>
      </p:sp>
    </p:spTree>
    <p:extLst>
      <p:ext uri="{BB962C8B-B14F-4D97-AF65-F5344CB8AC3E}">
        <p14:creationId xmlns:p14="http://schemas.microsoft.com/office/powerpoint/2010/main" val="4114743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0" descr="Fig-6-01.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4183" y="2017603"/>
            <a:ext cx="4091980" cy="468362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603115" y="1180547"/>
            <a:ext cx="9241275" cy="400110"/>
          </a:xfrm>
          <a:prstGeom prst="rect">
            <a:avLst/>
          </a:prstGeom>
        </p:spPr>
        <p:txBody>
          <a:bodyPr wrap="square">
            <a:spAutoFit/>
          </a:bodyPr>
          <a:lstStyle/>
          <a:p>
            <a:pPr algn="ctr"/>
            <a:r>
              <a:rPr lang="en-US" altLang="en-US" dirty="0" smtClean="0">
                <a:solidFill>
                  <a:schemeClr val="bg1"/>
                </a:solidFill>
              </a:rPr>
              <a:t>HIERARCHY OF DATA</a:t>
            </a:r>
            <a:endParaRPr lang="en-US" altLang="en-US" dirty="0">
              <a:solidFill>
                <a:schemeClr val="bg1"/>
              </a:solidFill>
            </a:endParaRPr>
          </a:p>
        </p:txBody>
      </p:sp>
      <p:sp>
        <p:nvSpPr>
          <p:cNvPr id="4" name="Rectangle 3"/>
          <p:cNvSpPr/>
          <p:nvPr/>
        </p:nvSpPr>
        <p:spPr>
          <a:xfrm>
            <a:off x="4856163" y="4948744"/>
            <a:ext cx="5073650" cy="2554545"/>
          </a:xfrm>
          <a:prstGeom prst="rect">
            <a:avLst/>
          </a:prstGeom>
        </p:spPr>
        <p:txBody>
          <a:bodyPr>
            <a:spAutoFit/>
          </a:bodyPr>
          <a:lstStyle/>
          <a:p>
            <a:r>
              <a:rPr lang="en-US" altLang="en-US" dirty="0">
                <a:solidFill>
                  <a:schemeClr val="bg1"/>
                </a:solidFill>
              </a:rPr>
              <a:t>Related records can be collected to form a file, and related files can be organized into a database</a:t>
            </a:r>
            <a:r>
              <a:rPr lang="en-US" altLang="en-US" dirty="0" smtClean="0">
                <a:solidFill>
                  <a:schemeClr val="bg1"/>
                </a:solidFill>
              </a:rPr>
              <a:t>.</a:t>
            </a:r>
          </a:p>
          <a:p>
            <a:r>
              <a:rPr lang="en-US" altLang="en-US" dirty="0" smtClean="0">
                <a:solidFill>
                  <a:schemeClr val="bg1"/>
                </a:solidFill>
              </a:rPr>
              <a:t>Bits </a:t>
            </a:r>
            <a:r>
              <a:rPr lang="en-US" altLang="en-US" dirty="0">
                <a:solidFill>
                  <a:schemeClr val="bg1"/>
                </a:solidFill>
              </a:rPr>
              <a:t>can be grouped to form a byte to represent one character, number, or </a:t>
            </a:r>
            <a:r>
              <a:rPr lang="en-US" altLang="en-US" dirty="0" smtClean="0">
                <a:solidFill>
                  <a:schemeClr val="bg1"/>
                </a:solidFill>
              </a:rPr>
              <a:t>symbol</a:t>
            </a:r>
          </a:p>
          <a:p>
            <a:r>
              <a:rPr lang="en-US" altLang="en-US" dirty="0" smtClean="0">
                <a:solidFill>
                  <a:schemeClr val="bg1"/>
                </a:solidFill>
              </a:rPr>
              <a:t>A </a:t>
            </a:r>
            <a:r>
              <a:rPr lang="en-US" altLang="en-US" dirty="0">
                <a:solidFill>
                  <a:schemeClr val="bg1"/>
                </a:solidFill>
              </a:rPr>
              <a:t>computer system organizes data in a hierarchy that starts with the bit, which represents either a 0 or a 1. </a:t>
            </a:r>
          </a:p>
        </p:txBody>
      </p:sp>
    </p:spTree>
    <p:extLst>
      <p:ext uri="{BB962C8B-B14F-4D97-AF65-F5344CB8AC3E}">
        <p14:creationId xmlns:p14="http://schemas.microsoft.com/office/powerpoint/2010/main" val="258214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1822649"/>
            <a:ext cx="9144635" cy="553998"/>
          </a:xfrm>
          <a:prstGeom prst="rect">
            <a:avLst/>
          </a:prstGeom>
          <a:noFill/>
        </p:spPr>
        <p:txBody>
          <a:bodyPr wrap="square" rtlCol="0">
            <a:spAutoFit/>
          </a:bodyPr>
          <a:lstStyle/>
          <a:p>
            <a:r>
              <a:rPr lang="en-US" sz="3000" dirty="0" smtClean="0">
                <a:solidFill>
                  <a:srgbClr val="FFFFFF"/>
                </a:solidFill>
              </a:rPr>
              <a:t>Relational databases</a:t>
            </a:r>
            <a:endParaRPr lang="en-US" sz="3000" dirty="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2" name="TextBox 1"/>
          <p:cNvSpPr txBox="1"/>
          <p:nvPr/>
        </p:nvSpPr>
        <p:spPr>
          <a:xfrm>
            <a:off x="1021080" y="2376647"/>
            <a:ext cx="8488680" cy="2862322"/>
          </a:xfrm>
          <a:prstGeom prst="rect">
            <a:avLst/>
          </a:prstGeom>
          <a:noFill/>
        </p:spPr>
        <p:txBody>
          <a:bodyPr wrap="square" rtlCol="0">
            <a:spAutoFit/>
          </a:bodyPr>
          <a:lstStyle/>
          <a:p>
            <a:pPr marL="342900" indent="-342900">
              <a:buFont typeface="Arial" panose="020B0604020202020204" pitchFamily="34" charset="0"/>
              <a:buChar char="•"/>
            </a:pPr>
            <a:r>
              <a:rPr lang="en-US" dirty="0" smtClean="0">
                <a:solidFill>
                  <a:schemeClr val="bg1">
                    <a:lumMod val="95000"/>
                  </a:schemeClr>
                </a:solidFill>
              </a:rPr>
              <a:t>Relational databases represent data as two-dimensional tables called relations</a:t>
            </a:r>
          </a:p>
          <a:p>
            <a:pPr marL="342900" indent="-342900">
              <a:buFont typeface="Arial" panose="020B0604020202020204" pitchFamily="34" charset="0"/>
              <a:buChar char="•"/>
            </a:pPr>
            <a:r>
              <a:rPr lang="en-US" dirty="0" smtClean="0">
                <a:solidFill>
                  <a:schemeClr val="bg1">
                    <a:lumMod val="95000"/>
                  </a:schemeClr>
                </a:solidFill>
              </a:rPr>
              <a:t>The tables may also be referred to as files</a:t>
            </a:r>
          </a:p>
          <a:p>
            <a:pPr marL="342900" indent="-342900">
              <a:buFont typeface="Arial" panose="020B0604020202020204" pitchFamily="34" charset="0"/>
              <a:buChar char="•"/>
            </a:pPr>
            <a:r>
              <a:rPr lang="en-US" dirty="0" smtClean="0">
                <a:solidFill>
                  <a:schemeClr val="bg1">
                    <a:lumMod val="95000"/>
                  </a:schemeClr>
                </a:solidFill>
              </a:rPr>
              <a:t>Each table contains data on an entity and its attributes – it can be queried</a:t>
            </a:r>
          </a:p>
          <a:p>
            <a:pPr marL="342900" indent="-342900">
              <a:buFont typeface="Arial" panose="020B0604020202020204" pitchFamily="34" charset="0"/>
              <a:buChar char="•"/>
            </a:pPr>
            <a:r>
              <a:rPr lang="en-US" dirty="0" smtClean="0">
                <a:solidFill>
                  <a:schemeClr val="bg1">
                    <a:lumMod val="95000"/>
                  </a:schemeClr>
                </a:solidFill>
              </a:rPr>
              <a:t>Examples are Microsoft Access, DB2, Oracle Database, Microsoft SQL Server</a:t>
            </a:r>
          </a:p>
          <a:p>
            <a:pPr marL="342900" indent="-342900">
              <a:buFont typeface="Arial" panose="020B0604020202020204" pitchFamily="34" charset="0"/>
              <a:buChar char="•"/>
            </a:pPr>
            <a:endParaRPr lang="en-US" dirty="0">
              <a:solidFill>
                <a:schemeClr val="bg1">
                  <a:lumMod val="95000"/>
                </a:schemeClr>
              </a:solidFill>
            </a:endParaRPr>
          </a:p>
          <a:p>
            <a:pPr marL="342900" indent="-342900">
              <a:buFont typeface="Arial" panose="020B0604020202020204" pitchFamily="34" charset="0"/>
              <a:buChar char="•"/>
            </a:pPr>
            <a:endParaRPr lang="en-US" dirty="0" smtClean="0">
              <a:solidFill>
                <a:schemeClr val="bg1">
                  <a:lumMod val="95000"/>
                </a:schemeClr>
              </a:solidFill>
            </a:endParaRPr>
          </a:p>
          <a:p>
            <a:pPr marL="342900" indent="-342900">
              <a:buFont typeface="Arial" panose="020B0604020202020204" pitchFamily="34" charset="0"/>
              <a:buChar char="•"/>
            </a:pPr>
            <a:endParaRPr lang="en-US" dirty="0">
              <a:solidFill>
                <a:schemeClr val="bg1">
                  <a:lumMod val="95000"/>
                </a:schemeClr>
              </a:solidFill>
            </a:endParaRPr>
          </a:p>
          <a:p>
            <a:pPr marL="342900" indent="-342900">
              <a:buFont typeface="Arial" panose="020B0604020202020204" pitchFamily="34" charset="0"/>
              <a:buChar char="•"/>
            </a:pPr>
            <a:endParaRPr lang="en-US" dirty="0">
              <a:solidFill>
                <a:schemeClr val="bg1">
                  <a:lumMod val="95000"/>
                </a:schemeClr>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83338292"/>
              </p:ext>
            </p:extLst>
          </p:nvPr>
        </p:nvGraphicFramePr>
        <p:xfrm>
          <a:off x="1366524" y="4205291"/>
          <a:ext cx="6766983" cy="1584960"/>
        </p:xfrm>
        <a:graphic>
          <a:graphicData uri="http://schemas.openxmlformats.org/drawingml/2006/table">
            <a:tbl>
              <a:tblPr firstRow="1" bandRow="1">
                <a:tableStyleId>{5C22544A-7EE6-4342-B048-85BDC9FD1C3A}</a:tableStyleId>
              </a:tblPr>
              <a:tblGrid>
                <a:gridCol w="2255661">
                  <a:extLst>
                    <a:ext uri="{9D8B030D-6E8A-4147-A177-3AD203B41FA5}">
                      <a16:colId xmlns:a16="http://schemas.microsoft.com/office/drawing/2014/main" val="20000"/>
                    </a:ext>
                  </a:extLst>
                </a:gridCol>
                <a:gridCol w="2255661">
                  <a:extLst>
                    <a:ext uri="{9D8B030D-6E8A-4147-A177-3AD203B41FA5}">
                      <a16:colId xmlns:a16="http://schemas.microsoft.com/office/drawing/2014/main" val="20001"/>
                    </a:ext>
                  </a:extLst>
                </a:gridCol>
                <a:gridCol w="2255661">
                  <a:extLst>
                    <a:ext uri="{9D8B030D-6E8A-4147-A177-3AD203B41FA5}">
                      <a16:colId xmlns:a16="http://schemas.microsoft.com/office/drawing/2014/main" val="20002"/>
                    </a:ext>
                  </a:extLst>
                </a:gridCol>
              </a:tblGrid>
              <a:tr h="362899">
                <a:tc>
                  <a:txBody>
                    <a:bodyPr/>
                    <a:lstStyle/>
                    <a:p>
                      <a:r>
                        <a:rPr lang="en-US" dirty="0" smtClean="0"/>
                        <a:t>Supplier number</a:t>
                      </a:r>
                      <a:endParaRPr lang="en-US" dirty="0"/>
                    </a:p>
                  </a:txBody>
                  <a:tcPr/>
                </a:tc>
                <a:tc>
                  <a:txBody>
                    <a:bodyPr/>
                    <a:lstStyle/>
                    <a:p>
                      <a:r>
                        <a:rPr lang="en-US" dirty="0" smtClean="0"/>
                        <a:t>Supplier name</a:t>
                      </a:r>
                      <a:endParaRPr lang="en-US" dirty="0"/>
                    </a:p>
                  </a:txBody>
                  <a:tcPr/>
                </a:tc>
                <a:tc>
                  <a:txBody>
                    <a:bodyPr/>
                    <a:lstStyle/>
                    <a:p>
                      <a:r>
                        <a:rPr lang="en-US" dirty="0" smtClean="0"/>
                        <a:t>Supplier address</a:t>
                      </a:r>
                      <a:endParaRPr lang="en-US" dirty="0"/>
                    </a:p>
                  </a:txBody>
                  <a:tcPr/>
                </a:tc>
                <a:extLst>
                  <a:ext uri="{0D108BD9-81ED-4DB2-BD59-A6C34878D82A}">
                    <a16:rowId xmlns:a16="http://schemas.microsoft.com/office/drawing/2014/main" val="10000"/>
                  </a:ext>
                </a:extLst>
              </a:tr>
              <a:tr h="360429">
                <a:tc>
                  <a:txBody>
                    <a:bodyPr/>
                    <a:lstStyle/>
                    <a:p>
                      <a:r>
                        <a:rPr lang="en-US" dirty="0" smtClean="0"/>
                        <a:t>8259</a:t>
                      </a:r>
                      <a:endParaRPr lang="en-US" dirty="0"/>
                    </a:p>
                  </a:txBody>
                  <a:tcPr/>
                </a:tc>
                <a:tc>
                  <a:txBody>
                    <a:bodyPr/>
                    <a:lstStyle/>
                    <a:p>
                      <a:r>
                        <a:rPr lang="en-US" dirty="0" smtClean="0"/>
                        <a:t>KOO</a:t>
                      </a:r>
                      <a:endParaRPr lang="en-US" dirty="0"/>
                    </a:p>
                  </a:txBody>
                  <a:tcPr/>
                </a:tc>
                <a:tc>
                  <a:txBody>
                    <a:bodyPr/>
                    <a:lstStyle/>
                    <a:p>
                      <a:r>
                        <a:rPr lang="en-US" dirty="0" smtClean="0"/>
                        <a:t>Windhoek</a:t>
                      </a:r>
                      <a:endParaRPr lang="en-US" dirty="0"/>
                    </a:p>
                  </a:txBody>
                  <a:tcPr/>
                </a:tc>
                <a:extLst>
                  <a:ext uri="{0D108BD9-81ED-4DB2-BD59-A6C34878D82A}">
                    <a16:rowId xmlns:a16="http://schemas.microsoft.com/office/drawing/2014/main" val="10001"/>
                  </a:ext>
                </a:extLst>
              </a:tr>
              <a:tr h="360429">
                <a:tc>
                  <a:txBody>
                    <a:bodyPr/>
                    <a:lstStyle/>
                    <a:p>
                      <a:r>
                        <a:rPr lang="en-US" dirty="0" smtClean="0"/>
                        <a:t>6372</a:t>
                      </a:r>
                      <a:endParaRPr lang="en-US" dirty="0"/>
                    </a:p>
                  </a:txBody>
                  <a:tcPr/>
                </a:tc>
                <a:tc>
                  <a:txBody>
                    <a:bodyPr/>
                    <a:lstStyle/>
                    <a:p>
                      <a:r>
                        <a:rPr lang="en-US" dirty="0" smtClean="0"/>
                        <a:t>Heinz</a:t>
                      </a:r>
                      <a:endParaRPr lang="en-US" dirty="0"/>
                    </a:p>
                  </a:txBody>
                  <a:tcPr/>
                </a:tc>
                <a:tc>
                  <a:txBody>
                    <a:bodyPr/>
                    <a:lstStyle/>
                    <a:p>
                      <a:r>
                        <a:rPr lang="en-US" dirty="0" smtClean="0"/>
                        <a:t>Walvis Bay</a:t>
                      </a:r>
                      <a:endParaRPr lang="en-US" dirty="0"/>
                    </a:p>
                  </a:txBody>
                  <a:tcPr/>
                </a:tc>
                <a:extLst>
                  <a:ext uri="{0D108BD9-81ED-4DB2-BD59-A6C34878D82A}">
                    <a16:rowId xmlns:a16="http://schemas.microsoft.com/office/drawing/2014/main" val="10002"/>
                  </a:ext>
                </a:extLst>
              </a:tr>
              <a:tr h="360429">
                <a:tc>
                  <a:txBody>
                    <a:bodyPr/>
                    <a:lstStyle/>
                    <a:p>
                      <a:r>
                        <a:rPr lang="en-US" dirty="0" smtClean="0"/>
                        <a:t>5181</a:t>
                      </a:r>
                      <a:endParaRPr lang="en-US" dirty="0"/>
                    </a:p>
                  </a:txBody>
                  <a:tcPr/>
                </a:tc>
                <a:tc>
                  <a:txBody>
                    <a:bodyPr/>
                    <a:lstStyle/>
                    <a:p>
                      <a:r>
                        <a:rPr lang="en-US" dirty="0" smtClean="0"/>
                        <a:t>Rainbow</a:t>
                      </a:r>
                      <a:endParaRPr lang="en-US" dirty="0"/>
                    </a:p>
                  </a:txBody>
                  <a:tcPr/>
                </a:tc>
                <a:tc>
                  <a:txBody>
                    <a:bodyPr/>
                    <a:lstStyle/>
                    <a:p>
                      <a:r>
                        <a:rPr lang="en-US" dirty="0" err="1" smtClean="0"/>
                        <a:t>Karasburg</a:t>
                      </a:r>
                      <a:endParaRPr lang="en-US" dirty="0"/>
                    </a:p>
                  </a:txBody>
                  <a:tcP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027932344"/>
              </p:ext>
            </p:extLst>
          </p:nvPr>
        </p:nvGraphicFramePr>
        <p:xfrm>
          <a:off x="1366524" y="5908259"/>
          <a:ext cx="8143236" cy="1584960"/>
        </p:xfrm>
        <a:graphic>
          <a:graphicData uri="http://schemas.openxmlformats.org/drawingml/2006/table">
            <a:tbl>
              <a:tblPr firstRow="1" bandRow="1">
                <a:tableStyleId>{5C22544A-7EE6-4342-B048-85BDC9FD1C3A}</a:tableStyleId>
              </a:tblPr>
              <a:tblGrid>
                <a:gridCol w="2035809">
                  <a:extLst>
                    <a:ext uri="{9D8B030D-6E8A-4147-A177-3AD203B41FA5}">
                      <a16:colId xmlns:a16="http://schemas.microsoft.com/office/drawing/2014/main" val="20000"/>
                    </a:ext>
                  </a:extLst>
                </a:gridCol>
                <a:gridCol w="2035809">
                  <a:extLst>
                    <a:ext uri="{9D8B030D-6E8A-4147-A177-3AD203B41FA5}">
                      <a16:colId xmlns:a16="http://schemas.microsoft.com/office/drawing/2014/main" val="20001"/>
                    </a:ext>
                  </a:extLst>
                </a:gridCol>
                <a:gridCol w="1648458">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tblGrid>
              <a:tr h="393645">
                <a:tc>
                  <a:txBody>
                    <a:bodyPr/>
                    <a:lstStyle/>
                    <a:p>
                      <a:r>
                        <a:rPr lang="en-US" dirty="0" smtClean="0"/>
                        <a:t>Grocery item</a:t>
                      </a:r>
                      <a:endParaRPr lang="en-US" dirty="0"/>
                    </a:p>
                  </a:txBody>
                  <a:tcPr/>
                </a:tc>
                <a:tc>
                  <a:txBody>
                    <a:bodyPr/>
                    <a:lstStyle/>
                    <a:p>
                      <a:r>
                        <a:rPr lang="en-US" dirty="0" smtClean="0"/>
                        <a:t>Item name</a:t>
                      </a:r>
                      <a:endParaRPr lang="en-US" dirty="0"/>
                    </a:p>
                  </a:txBody>
                  <a:tcPr/>
                </a:tc>
                <a:tc>
                  <a:txBody>
                    <a:bodyPr/>
                    <a:lstStyle/>
                    <a:p>
                      <a:r>
                        <a:rPr lang="en-US" dirty="0" smtClean="0"/>
                        <a:t>Price</a:t>
                      </a:r>
                      <a:endParaRPr lang="en-US" dirty="0"/>
                    </a:p>
                  </a:txBody>
                  <a:tcPr/>
                </a:tc>
                <a:tc>
                  <a:txBody>
                    <a:bodyPr/>
                    <a:lstStyle/>
                    <a:p>
                      <a:r>
                        <a:rPr lang="en-US" dirty="0" smtClean="0"/>
                        <a:t>Supplier name</a:t>
                      </a:r>
                      <a:endParaRPr lang="en-US" dirty="0"/>
                    </a:p>
                  </a:txBody>
                  <a:tcPr/>
                </a:tc>
                <a:extLst>
                  <a:ext uri="{0D108BD9-81ED-4DB2-BD59-A6C34878D82A}">
                    <a16:rowId xmlns:a16="http://schemas.microsoft.com/office/drawing/2014/main" val="10000"/>
                  </a:ext>
                </a:extLst>
              </a:tr>
              <a:tr h="393645">
                <a:tc>
                  <a:txBody>
                    <a:bodyPr/>
                    <a:lstStyle/>
                    <a:p>
                      <a:r>
                        <a:rPr lang="en-US" dirty="0" smtClean="0"/>
                        <a:t>137</a:t>
                      </a:r>
                      <a:endParaRPr lang="en-US" dirty="0"/>
                    </a:p>
                  </a:txBody>
                  <a:tcPr/>
                </a:tc>
                <a:tc>
                  <a:txBody>
                    <a:bodyPr/>
                    <a:lstStyle/>
                    <a:p>
                      <a:r>
                        <a:rPr lang="en-US" dirty="0" smtClean="0"/>
                        <a:t>Baked beans</a:t>
                      </a:r>
                      <a:endParaRPr lang="en-US" dirty="0"/>
                    </a:p>
                  </a:txBody>
                  <a:tcPr/>
                </a:tc>
                <a:tc>
                  <a:txBody>
                    <a:bodyPr/>
                    <a:lstStyle/>
                    <a:p>
                      <a:r>
                        <a:rPr lang="en-US" dirty="0" smtClean="0"/>
                        <a:t>9.80</a:t>
                      </a:r>
                      <a:endParaRPr lang="en-US" dirty="0"/>
                    </a:p>
                  </a:txBody>
                  <a:tcPr/>
                </a:tc>
                <a:tc>
                  <a:txBody>
                    <a:bodyPr/>
                    <a:lstStyle/>
                    <a:p>
                      <a:r>
                        <a:rPr lang="en-US" dirty="0" smtClean="0"/>
                        <a:t>8259</a:t>
                      </a:r>
                      <a:endParaRPr lang="en-US" dirty="0"/>
                    </a:p>
                  </a:txBody>
                  <a:tcPr/>
                </a:tc>
                <a:extLst>
                  <a:ext uri="{0D108BD9-81ED-4DB2-BD59-A6C34878D82A}">
                    <a16:rowId xmlns:a16="http://schemas.microsoft.com/office/drawing/2014/main" val="10001"/>
                  </a:ext>
                </a:extLst>
              </a:tr>
              <a:tr h="393645">
                <a:tc>
                  <a:txBody>
                    <a:bodyPr/>
                    <a:lstStyle/>
                    <a:p>
                      <a:r>
                        <a:rPr lang="en-US" dirty="0" smtClean="0"/>
                        <a:t>154</a:t>
                      </a:r>
                      <a:endParaRPr lang="en-US" dirty="0"/>
                    </a:p>
                  </a:txBody>
                  <a:tcPr/>
                </a:tc>
                <a:tc>
                  <a:txBody>
                    <a:bodyPr/>
                    <a:lstStyle/>
                    <a:p>
                      <a:r>
                        <a:rPr lang="en-US" dirty="0" smtClean="0"/>
                        <a:t>Tomato Sauce</a:t>
                      </a:r>
                      <a:endParaRPr lang="en-US" dirty="0"/>
                    </a:p>
                  </a:txBody>
                  <a:tcPr/>
                </a:tc>
                <a:tc>
                  <a:txBody>
                    <a:bodyPr/>
                    <a:lstStyle/>
                    <a:p>
                      <a:r>
                        <a:rPr lang="en-US" dirty="0" smtClean="0"/>
                        <a:t>18.00</a:t>
                      </a:r>
                      <a:endParaRPr lang="en-US" dirty="0"/>
                    </a:p>
                  </a:txBody>
                  <a:tcPr/>
                </a:tc>
                <a:tc>
                  <a:txBody>
                    <a:bodyPr/>
                    <a:lstStyle/>
                    <a:p>
                      <a:r>
                        <a:rPr lang="en-US" dirty="0" smtClean="0"/>
                        <a:t>6372</a:t>
                      </a:r>
                      <a:endParaRPr lang="en-US" dirty="0"/>
                    </a:p>
                  </a:txBody>
                  <a:tcPr/>
                </a:tc>
                <a:extLst>
                  <a:ext uri="{0D108BD9-81ED-4DB2-BD59-A6C34878D82A}">
                    <a16:rowId xmlns:a16="http://schemas.microsoft.com/office/drawing/2014/main" val="10002"/>
                  </a:ext>
                </a:extLst>
              </a:tr>
              <a:tr h="393645">
                <a:tc>
                  <a:txBody>
                    <a:bodyPr/>
                    <a:lstStyle/>
                    <a:p>
                      <a:r>
                        <a:rPr lang="en-US" dirty="0" smtClean="0"/>
                        <a:t>189</a:t>
                      </a:r>
                      <a:endParaRPr lang="en-US" dirty="0"/>
                    </a:p>
                  </a:txBody>
                  <a:tcPr/>
                </a:tc>
                <a:tc>
                  <a:txBody>
                    <a:bodyPr/>
                    <a:lstStyle/>
                    <a:p>
                      <a:r>
                        <a:rPr lang="en-US" dirty="0" smtClean="0"/>
                        <a:t>chicken</a:t>
                      </a:r>
                      <a:endParaRPr lang="en-US" dirty="0"/>
                    </a:p>
                  </a:txBody>
                  <a:tcPr/>
                </a:tc>
                <a:tc>
                  <a:txBody>
                    <a:bodyPr/>
                    <a:lstStyle/>
                    <a:p>
                      <a:r>
                        <a:rPr lang="en-US" dirty="0" smtClean="0"/>
                        <a:t>50.00</a:t>
                      </a:r>
                      <a:endParaRPr lang="en-US" dirty="0"/>
                    </a:p>
                  </a:txBody>
                  <a:tcPr/>
                </a:tc>
                <a:tc>
                  <a:txBody>
                    <a:bodyPr/>
                    <a:lstStyle/>
                    <a:p>
                      <a:r>
                        <a:rPr lang="en-US" dirty="0" smtClean="0"/>
                        <a:t>5181</a:t>
                      </a:r>
                      <a:endParaRPr lang="en-US" dirty="0"/>
                    </a:p>
                  </a:txBody>
                  <a:tcPr/>
                </a:tc>
                <a:extLst>
                  <a:ext uri="{0D108BD9-81ED-4DB2-BD59-A6C34878D82A}">
                    <a16:rowId xmlns:a16="http://schemas.microsoft.com/office/drawing/2014/main" val="10003"/>
                  </a:ext>
                </a:extLst>
              </a:tr>
            </a:tbl>
          </a:graphicData>
        </a:graphic>
      </p:graphicFrame>
      <p:sp>
        <p:nvSpPr>
          <p:cNvPr id="7" name="TextBox 6"/>
          <p:cNvSpPr txBox="1"/>
          <p:nvPr/>
        </p:nvSpPr>
        <p:spPr>
          <a:xfrm>
            <a:off x="96522" y="4205291"/>
            <a:ext cx="1097280" cy="584775"/>
          </a:xfrm>
          <a:prstGeom prst="rect">
            <a:avLst/>
          </a:prstGeom>
          <a:noFill/>
        </p:spPr>
        <p:txBody>
          <a:bodyPr wrap="square" rtlCol="0">
            <a:spAutoFit/>
          </a:bodyPr>
          <a:lstStyle/>
          <a:p>
            <a:r>
              <a:rPr lang="en-US" sz="1600" dirty="0" smtClean="0">
                <a:solidFill>
                  <a:schemeClr val="bg1">
                    <a:lumMod val="95000"/>
                  </a:schemeClr>
                </a:solidFill>
              </a:rPr>
              <a:t>Primary key</a:t>
            </a:r>
            <a:endParaRPr lang="en-US" sz="1600" dirty="0">
              <a:solidFill>
                <a:schemeClr val="bg1">
                  <a:lumMod val="95000"/>
                </a:schemeClr>
              </a:solidFill>
            </a:endParaRPr>
          </a:p>
        </p:txBody>
      </p:sp>
      <p:cxnSp>
        <p:nvCxnSpPr>
          <p:cNvPr id="9" name="Straight Arrow Connector 8"/>
          <p:cNvCxnSpPr/>
          <p:nvPr/>
        </p:nvCxnSpPr>
        <p:spPr>
          <a:xfrm>
            <a:off x="853440" y="4434840"/>
            <a:ext cx="51308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6522" y="5908259"/>
            <a:ext cx="1097280" cy="584775"/>
          </a:xfrm>
          <a:prstGeom prst="rect">
            <a:avLst/>
          </a:prstGeom>
          <a:noFill/>
        </p:spPr>
        <p:txBody>
          <a:bodyPr wrap="square" rtlCol="0">
            <a:spAutoFit/>
          </a:bodyPr>
          <a:lstStyle/>
          <a:p>
            <a:r>
              <a:rPr lang="en-US" sz="1600" dirty="0" smtClean="0">
                <a:solidFill>
                  <a:schemeClr val="bg1">
                    <a:lumMod val="95000"/>
                  </a:schemeClr>
                </a:solidFill>
              </a:rPr>
              <a:t>Primary key</a:t>
            </a:r>
            <a:endParaRPr lang="en-US" sz="1600" dirty="0">
              <a:solidFill>
                <a:schemeClr val="bg1">
                  <a:lumMod val="95000"/>
                </a:schemeClr>
              </a:solidFill>
            </a:endParaRPr>
          </a:p>
        </p:txBody>
      </p:sp>
      <p:sp>
        <p:nvSpPr>
          <p:cNvPr id="12" name="TextBox 11"/>
          <p:cNvSpPr txBox="1"/>
          <p:nvPr/>
        </p:nvSpPr>
        <p:spPr>
          <a:xfrm>
            <a:off x="8656638" y="5033925"/>
            <a:ext cx="1097280" cy="584775"/>
          </a:xfrm>
          <a:prstGeom prst="rect">
            <a:avLst/>
          </a:prstGeom>
          <a:noFill/>
        </p:spPr>
        <p:txBody>
          <a:bodyPr wrap="square" rtlCol="0">
            <a:spAutoFit/>
          </a:bodyPr>
          <a:lstStyle/>
          <a:p>
            <a:r>
              <a:rPr lang="en-US" sz="1600" dirty="0" smtClean="0">
                <a:solidFill>
                  <a:schemeClr val="bg1">
                    <a:lumMod val="95000"/>
                  </a:schemeClr>
                </a:solidFill>
              </a:rPr>
              <a:t>Foreign key</a:t>
            </a:r>
            <a:endParaRPr lang="en-US" sz="1600" dirty="0">
              <a:solidFill>
                <a:schemeClr val="bg1">
                  <a:lumMod val="95000"/>
                </a:schemeClr>
              </a:solidFill>
            </a:endParaRPr>
          </a:p>
        </p:txBody>
      </p:sp>
      <p:cxnSp>
        <p:nvCxnSpPr>
          <p:cNvPr id="14" name="Straight Arrow Connector 13"/>
          <p:cNvCxnSpPr/>
          <p:nvPr/>
        </p:nvCxnSpPr>
        <p:spPr>
          <a:xfrm>
            <a:off x="9205278" y="5415720"/>
            <a:ext cx="0" cy="41050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853440" y="6200646"/>
            <a:ext cx="51308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4730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Capabilities of Database Management Systems (DBMS)</a:t>
            </a:r>
            <a:endParaRPr lang="en-US" sz="3000" dirty="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2" name="TextBox 1"/>
          <p:cNvSpPr txBox="1"/>
          <p:nvPr/>
        </p:nvSpPr>
        <p:spPr>
          <a:xfrm>
            <a:off x="1021080" y="2788920"/>
            <a:ext cx="8488680" cy="4093428"/>
          </a:xfrm>
          <a:prstGeom prst="rect">
            <a:avLst/>
          </a:prstGeom>
          <a:noFill/>
        </p:spPr>
        <p:txBody>
          <a:bodyPr wrap="square" rtlCol="0">
            <a:spAutoFit/>
          </a:bodyPr>
          <a:lstStyle/>
          <a:p>
            <a:pPr marL="342900" indent="-342900">
              <a:buFont typeface="Arial" panose="020B0604020202020204" pitchFamily="34" charset="0"/>
              <a:buChar char="•"/>
            </a:pPr>
            <a:r>
              <a:rPr lang="en-US" dirty="0" smtClean="0">
                <a:solidFill>
                  <a:schemeClr val="bg1">
                    <a:lumMod val="95000"/>
                  </a:schemeClr>
                </a:solidFill>
              </a:rPr>
              <a:t>A database is a collection of data organized to serve many applications efficiently by centralizing the data and controlling redundant data</a:t>
            </a:r>
          </a:p>
          <a:p>
            <a:pPr marL="342900" indent="-342900">
              <a:buFont typeface="Arial" panose="020B0604020202020204" pitchFamily="34" charset="0"/>
              <a:buChar char="•"/>
            </a:pPr>
            <a:endParaRPr lang="en-US" dirty="0">
              <a:solidFill>
                <a:schemeClr val="bg1">
                  <a:lumMod val="95000"/>
                </a:schemeClr>
              </a:solidFill>
            </a:endParaRPr>
          </a:p>
          <a:p>
            <a:pPr marL="342900" indent="-342900">
              <a:buFont typeface="Arial" panose="020B0604020202020204" pitchFamily="34" charset="0"/>
              <a:buChar char="•"/>
            </a:pPr>
            <a:r>
              <a:rPr lang="en-US" dirty="0" smtClean="0">
                <a:solidFill>
                  <a:schemeClr val="bg1">
                    <a:lumMod val="95000"/>
                  </a:schemeClr>
                </a:solidFill>
              </a:rPr>
              <a:t>A Database </a:t>
            </a:r>
            <a:r>
              <a:rPr lang="en-US" dirty="0">
                <a:solidFill>
                  <a:schemeClr val="bg1">
                    <a:lumMod val="95000"/>
                  </a:schemeClr>
                </a:solidFill>
              </a:rPr>
              <a:t>M</a:t>
            </a:r>
            <a:r>
              <a:rPr lang="en-US" dirty="0" smtClean="0">
                <a:solidFill>
                  <a:schemeClr val="bg1">
                    <a:lumMod val="95000"/>
                  </a:schemeClr>
                </a:solidFill>
              </a:rPr>
              <a:t>anagement System (DBMS)</a:t>
            </a:r>
            <a:r>
              <a:rPr lang="en-US" dirty="0">
                <a:solidFill>
                  <a:schemeClr val="bg1">
                    <a:lumMod val="95000"/>
                  </a:schemeClr>
                </a:solidFill>
              </a:rPr>
              <a:t> </a:t>
            </a:r>
            <a:r>
              <a:rPr lang="en-US" dirty="0" smtClean="0">
                <a:solidFill>
                  <a:schemeClr val="bg1">
                    <a:lumMod val="95000"/>
                  </a:schemeClr>
                </a:solidFill>
              </a:rPr>
              <a:t>is a software that permits an </a:t>
            </a:r>
            <a:r>
              <a:rPr lang="en-US" dirty="0" err="1" smtClean="0">
                <a:solidFill>
                  <a:schemeClr val="bg1">
                    <a:lumMod val="95000"/>
                  </a:schemeClr>
                </a:solidFill>
              </a:rPr>
              <a:t>organisation</a:t>
            </a:r>
            <a:r>
              <a:rPr lang="en-US" dirty="0" smtClean="0">
                <a:solidFill>
                  <a:schemeClr val="bg1">
                    <a:lumMod val="95000"/>
                  </a:schemeClr>
                </a:solidFill>
              </a:rPr>
              <a:t> to centralize data, manage them efficiently and provide access to the stored data by the application program, e.g. Oracle, MySQL, PostgreSQL, Microsoft SQL Server, MongoDB</a:t>
            </a:r>
          </a:p>
          <a:p>
            <a:pPr marL="342900" indent="-342900">
              <a:buFont typeface="Arial" panose="020B0604020202020204" pitchFamily="34" charset="0"/>
              <a:buChar char="•"/>
            </a:pPr>
            <a:endParaRPr lang="en-US" dirty="0">
              <a:solidFill>
                <a:schemeClr val="bg1">
                  <a:lumMod val="95000"/>
                </a:schemeClr>
              </a:solidFill>
            </a:endParaRPr>
          </a:p>
          <a:p>
            <a:pPr marL="342900" indent="-342900">
              <a:buFont typeface="Arial" panose="020B0604020202020204" pitchFamily="34" charset="0"/>
              <a:buChar char="•"/>
            </a:pPr>
            <a:r>
              <a:rPr lang="en-US" dirty="0" smtClean="0">
                <a:solidFill>
                  <a:schemeClr val="bg1">
                    <a:lumMod val="95000"/>
                  </a:schemeClr>
                </a:solidFill>
              </a:rPr>
              <a:t>The logical view of a  database presents data as they would be perceived by end users or business specialists</a:t>
            </a:r>
          </a:p>
          <a:p>
            <a:pPr marL="342900" indent="-342900">
              <a:buFont typeface="Arial" panose="020B0604020202020204" pitchFamily="34" charset="0"/>
              <a:buChar char="•"/>
            </a:pPr>
            <a:endParaRPr lang="en-US" dirty="0">
              <a:solidFill>
                <a:schemeClr val="bg1">
                  <a:lumMod val="95000"/>
                </a:schemeClr>
              </a:solidFill>
            </a:endParaRPr>
          </a:p>
          <a:p>
            <a:pPr marL="342900" indent="-342900">
              <a:buFont typeface="Arial" panose="020B0604020202020204" pitchFamily="34" charset="0"/>
              <a:buChar char="•"/>
            </a:pPr>
            <a:r>
              <a:rPr lang="en-US" dirty="0" smtClean="0">
                <a:solidFill>
                  <a:schemeClr val="bg1">
                    <a:lumMod val="95000"/>
                  </a:schemeClr>
                </a:solidFill>
              </a:rPr>
              <a:t>The physical view of a database shows how data are actually organized and structured on physical storage media for querying and reporting</a:t>
            </a:r>
            <a:endParaRPr lang="en-US" dirty="0">
              <a:solidFill>
                <a:schemeClr val="bg1">
                  <a:lumMod val="95000"/>
                </a:schemeClr>
              </a:solidFill>
            </a:endParaRPr>
          </a:p>
        </p:txBody>
      </p:sp>
    </p:spTree>
    <p:extLst>
      <p:ext uri="{BB962C8B-B14F-4D97-AF65-F5344CB8AC3E}">
        <p14:creationId xmlns:p14="http://schemas.microsoft.com/office/powerpoint/2010/main" val="2883722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Capabilities of Database Management Systems (DBMS)</a:t>
            </a:r>
            <a:endParaRPr lang="en-US" sz="3000" dirty="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pic>
        <p:nvPicPr>
          <p:cNvPr id="18" name="Picture Placeholder 10" descr="Fig-6-01.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17304" y="2969287"/>
            <a:ext cx="6740525" cy="39655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4810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05992"/>
            <a:ext cx="9144635" cy="553998"/>
          </a:xfrm>
          <a:prstGeom prst="rect">
            <a:avLst/>
          </a:prstGeom>
          <a:noFill/>
        </p:spPr>
        <p:txBody>
          <a:bodyPr wrap="square" rtlCol="0">
            <a:spAutoFit/>
          </a:bodyPr>
          <a:lstStyle/>
          <a:p>
            <a:r>
              <a:rPr lang="en-US" sz="3000" dirty="0" smtClean="0">
                <a:solidFill>
                  <a:srgbClr val="FFFFFF"/>
                </a:solidFill>
              </a:rPr>
              <a:t>Definition of business intelligence – big data analytics</a:t>
            </a:r>
            <a:endParaRPr lang="en-US" sz="3000" dirty="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2" name="TextBox 1"/>
          <p:cNvSpPr txBox="1"/>
          <p:nvPr/>
        </p:nvSpPr>
        <p:spPr>
          <a:xfrm>
            <a:off x="1126642" y="2529510"/>
            <a:ext cx="8488680" cy="5016758"/>
          </a:xfrm>
          <a:prstGeom prst="rect">
            <a:avLst/>
          </a:prstGeom>
          <a:noFill/>
        </p:spPr>
        <p:txBody>
          <a:bodyPr wrap="square" rtlCol="0">
            <a:spAutoFit/>
          </a:bodyPr>
          <a:lstStyle/>
          <a:p>
            <a:pPr marL="342900" indent="-342900">
              <a:buFont typeface="Arial" panose="020B0604020202020204" pitchFamily="34" charset="0"/>
              <a:buChar char="•"/>
            </a:pPr>
            <a:r>
              <a:rPr lang="en-US" dirty="0" smtClean="0">
                <a:solidFill>
                  <a:schemeClr val="bg1">
                    <a:lumMod val="95000"/>
                  </a:schemeClr>
                </a:solidFill>
              </a:rPr>
              <a:t>Business Intelligence is a technology-driven process for analyzing data and presenting actionable information to help Corporate Executives, Business Managers and other end users make more informed business decisions</a:t>
            </a:r>
          </a:p>
          <a:p>
            <a:pPr marL="342900" indent="-342900">
              <a:buFont typeface="Arial" panose="020B0604020202020204" pitchFamily="34" charset="0"/>
              <a:buChar char="•"/>
            </a:pPr>
            <a:endParaRPr lang="en-US" dirty="0">
              <a:solidFill>
                <a:schemeClr val="bg1">
                  <a:lumMod val="95000"/>
                </a:schemeClr>
              </a:solidFill>
            </a:endParaRPr>
          </a:p>
          <a:p>
            <a:pPr marL="342900" indent="-342900">
              <a:buFont typeface="Arial" panose="020B0604020202020204" pitchFamily="34" charset="0"/>
              <a:buChar char="•"/>
            </a:pPr>
            <a:r>
              <a:rPr lang="en-US" dirty="0" smtClean="0">
                <a:solidFill>
                  <a:schemeClr val="bg1">
                    <a:lumMod val="95000"/>
                  </a:schemeClr>
                </a:solidFill>
              </a:rPr>
              <a:t>Business intelligence is a term that refers to software applications used to </a:t>
            </a:r>
            <a:r>
              <a:rPr lang="en-US" dirty="0" err="1" smtClean="0">
                <a:solidFill>
                  <a:schemeClr val="bg1">
                    <a:lumMod val="95000"/>
                  </a:schemeClr>
                </a:solidFill>
              </a:rPr>
              <a:t>analyse</a:t>
            </a:r>
            <a:r>
              <a:rPr lang="en-US" dirty="0" smtClean="0">
                <a:solidFill>
                  <a:schemeClr val="bg1">
                    <a:lumMod val="95000"/>
                  </a:schemeClr>
                </a:solidFill>
              </a:rPr>
              <a:t> an </a:t>
            </a:r>
            <a:r>
              <a:rPr lang="en-US" dirty="0" err="1" smtClean="0">
                <a:solidFill>
                  <a:schemeClr val="bg1">
                    <a:lumMod val="95000"/>
                  </a:schemeClr>
                </a:solidFill>
              </a:rPr>
              <a:t>organisation’s</a:t>
            </a:r>
            <a:r>
              <a:rPr lang="en-US" dirty="0" smtClean="0">
                <a:solidFill>
                  <a:schemeClr val="bg1">
                    <a:lumMod val="95000"/>
                  </a:schemeClr>
                </a:solidFill>
              </a:rPr>
              <a:t> raw data</a:t>
            </a:r>
          </a:p>
          <a:p>
            <a:pPr marL="342900" indent="-342900">
              <a:buFont typeface="Arial" panose="020B0604020202020204" pitchFamily="34" charset="0"/>
              <a:buChar char="•"/>
            </a:pPr>
            <a:endParaRPr lang="en-US" dirty="0">
              <a:solidFill>
                <a:schemeClr val="bg1">
                  <a:lumMod val="95000"/>
                </a:schemeClr>
              </a:solidFill>
            </a:endParaRPr>
          </a:p>
          <a:p>
            <a:pPr marL="342900" indent="-342900">
              <a:buFont typeface="Arial" panose="020B0604020202020204" pitchFamily="34" charset="0"/>
              <a:buChar char="•"/>
            </a:pPr>
            <a:r>
              <a:rPr lang="en-US" dirty="0" smtClean="0">
                <a:solidFill>
                  <a:schemeClr val="bg1">
                    <a:lumMod val="95000"/>
                  </a:schemeClr>
                </a:solidFill>
              </a:rPr>
              <a:t>Business intelligence is technologies, applications and practices for the collection, integration, analysis and presentation of business information for better business decision-making</a:t>
            </a:r>
          </a:p>
          <a:p>
            <a:pPr marL="342900" indent="-342900">
              <a:buFont typeface="Arial" panose="020B0604020202020204" pitchFamily="34" charset="0"/>
              <a:buChar char="•"/>
            </a:pPr>
            <a:endParaRPr lang="en-US" dirty="0">
              <a:solidFill>
                <a:schemeClr val="bg1">
                  <a:lumMod val="95000"/>
                </a:schemeClr>
              </a:solidFill>
            </a:endParaRPr>
          </a:p>
          <a:p>
            <a:pPr marL="342900" indent="-342900">
              <a:buFont typeface="Arial" panose="020B0604020202020204" pitchFamily="34" charset="0"/>
              <a:buChar char="•"/>
            </a:pPr>
            <a:r>
              <a:rPr lang="en-US" dirty="0" smtClean="0">
                <a:solidFill>
                  <a:schemeClr val="bg1">
                    <a:lumMod val="95000"/>
                  </a:schemeClr>
                </a:solidFill>
              </a:rPr>
              <a:t>Business intelligence is made up of related activities including data mining, online analytic processing, querying and report</a:t>
            </a:r>
          </a:p>
          <a:p>
            <a:pPr marL="342900" indent="-342900">
              <a:buFont typeface="Arial" panose="020B0604020202020204" pitchFamily="34" charset="0"/>
              <a:buChar char="•"/>
            </a:pPr>
            <a:endParaRPr lang="en-US" dirty="0">
              <a:solidFill>
                <a:schemeClr val="bg1">
                  <a:lumMod val="95000"/>
                </a:schemeClr>
              </a:solidFill>
            </a:endParaRPr>
          </a:p>
          <a:p>
            <a:pPr marL="342900" indent="-342900">
              <a:buFont typeface="Arial" panose="020B0604020202020204" pitchFamily="34" charset="0"/>
              <a:buChar char="•"/>
            </a:pPr>
            <a:r>
              <a:rPr lang="en-US" dirty="0" smtClean="0">
                <a:solidFill>
                  <a:schemeClr val="bg1">
                    <a:lumMod val="95000"/>
                  </a:schemeClr>
                </a:solidFill>
              </a:rPr>
              <a:t>It provides concise, reliable information about the operations and trends in an </a:t>
            </a:r>
            <a:r>
              <a:rPr lang="en-US" dirty="0" err="1" smtClean="0">
                <a:solidFill>
                  <a:schemeClr val="bg1">
                    <a:lumMod val="95000"/>
                  </a:schemeClr>
                </a:solidFill>
              </a:rPr>
              <a:t>organisation</a:t>
            </a:r>
            <a:r>
              <a:rPr lang="en-US" dirty="0" smtClean="0">
                <a:solidFill>
                  <a:schemeClr val="bg1">
                    <a:lumMod val="95000"/>
                  </a:schemeClr>
                </a:solidFill>
              </a:rPr>
              <a:t> to help gain competitive advantage</a:t>
            </a:r>
            <a:endParaRPr lang="en-US" dirty="0">
              <a:solidFill>
                <a:schemeClr val="bg1">
                  <a:lumMod val="95000"/>
                </a:schemeClr>
              </a:solidFill>
            </a:endParaRPr>
          </a:p>
        </p:txBody>
      </p:sp>
    </p:spTree>
    <p:extLst>
      <p:ext uri="{BB962C8B-B14F-4D97-AF65-F5344CB8AC3E}">
        <p14:creationId xmlns:p14="http://schemas.microsoft.com/office/powerpoint/2010/main" val="2120079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05992"/>
            <a:ext cx="9144635" cy="553998"/>
          </a:xfrm>
          <a:prstGeom prst="rect">
            <a:avLst/>
          </a:prstGeom>
          <a:noFill/>
        </p:spPr>
        <p:txBody>
          <a:bodyPr wrap="square" rtlCol="0">
            <a:spAutoFit/>
          </a:bodyPr>
          <a:lstStyle/>
          <a:p>
            <a:r>
              <a:rPr lang="en-US" sz="3000" dirty="0" smtClean="0">
                <a:solidFill>
                  <a:srgbClr val="FFFFFF"/>
                </a:solidFill>
              </a:rPr>
              <a:t>Areas where business intelligence tools can be applied</a:t>
            </a:r>
            <a:endParaRPr lang="en-US" sz="3000" dirty="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2" name="TextBox 1"/>
          <p:cNvSpPr txBox="1"/>
          <p:nvPr/>
        </p:nvSpPr>
        <p:spPr>
          <a:xfrm>
            <a:off x="1126642" y="2529510"/>
            <a:ext cx="8488680" cy="4093428"/>
          </a:xfrm>
          <a:prstGeom prst="rect">
            <a:avLst/>
          </a:prstGeom>
          <a:noFill/>
        </p:spPr>
        <p:txBody>
          <a:bodyPr wrap="square" rtlCol="0">
            <a:spAutoFit/>
          </a:bodyPr>
          <a:lstStyle/>
          <a:p>
            <a:pPr marL="342900" indent="-342900">
              <a:buFont typeface="Arial" panose="020B0604020202020204" pitchFamily="34" charset="0"/>
              <a:buChar char="•"/>
            </a:pPr>
            <a:r>
              <a:rPr lang="en-US" dirty="0" smtClean="0">
                <a:solidFill>
                  <a:schemeClr val="bg1">
                    <a:lumMod val="95000"/>
                  </a:schemeClr>
                </a:solidFill>
              </a:rPr>
              <a:t>Data mining</a:t>
            </a:r>
          </a:p>
          <a:p>
            <a:pPr marL="342900" indent="-342900">
              <a:buFont typeface="Arial" panose="020B0604020202020204" pitchFamily="34" charset="0"/>
              <a:buChar char="•"/>
            </a:pPr>
            <a:endParaRPr lang="en-US" dirty="0" smtClean="0">
              <a:solidFill>
                <a:schemeClr val="bg1">
                  <a:lumMod val="95000"/>
                </a:schemeClr>
              </a:solidFill>
            </a:endParaRPr>
          </a:p>
          <a:p>
            <a:pPr marL="342900" indent="-342900">
              <a:buFont typeface="Arial" panose="020B0604020202020204" pitchFamily="34" charset="0"/>
              <a:buChar char="•"/>
            </a:pPr>
            <a:r>
              <a:rPr lang="en-US" dirty="0" smtClean="0">
                <a:solidFill>
                  <a:schemeClr val="bg1">
                    <a:lumMod val="95000"/>
                  </a:schemeClr>
                </a:solidFill>
              </a:rPr>
              <a:t>Web and ecommerce analytics</a:t>
            </a:r>
          </a:p>
          <a:p>
            <a:pPr marL="342900" indent="-342900">
              <a:buFont typeface="Arial" panose="020B0604020202020204" pitchFamily="34" charset="0"/>
              <a:buChar char="•"/>
            </a:pPr>
            <a:endParaRPr lang="en-US" dirty="0" smtClean="0">
              <a:solidFill>
                <a:schemeClr val="bg1">
                  <a:lumMod val="95000"/>
                </a:schemeClr>
              </a:solidFill>
            </a:endParaRPr>
          </a:p>
          <a:p>
            <a:pPr marL="342900" indent="-342900">
              <a:buFont typeface="Arial" panose="020B0604020202020204" pitchFamily="34" charset="0"/>
              <a:buChar char="•"/>
            </a:pPr>
            <a:r>
              <a:rPr lang="en-US" dirty="0" smtClean="0">
                <a:solidFill>
                  <a:schemeClr val="bg1">
                    <a:lumMod val="95000"/>
                  </a:schemeClr>
                </a:solidFill>
              </a:rPr>
              <a:t>Querying, reporting and forecasting</a:t>
            </a:r>
          </a:p>
          <a:p>
            <a:pPr marL="342900" indent="-342900">
              <a:buFont typeface="Arial" panose="020B0604020202020204" pitchFamily="34" charset="0"/>
              <a:buChar char="•"/>
            </a:pPr>
            <a:endParaRPr lang="en-US" dirty="0" smtClean="0">
              <a:solidFill>
                <a:schemeClr val="bg1">
                  <a:lumMod val="95000"/>
                </a:schemeClr>
              </a:solidFill>
            </a:endParaRPr>
          </a:p>
          <a:p>
            <a:pPr marL="342900" indent="-342900">
              <a:buFont typeface="Arial" panose="020B0604020202020204" pitchFamily="34" charset="0"/>
              <a:buChar char="•"/>
            </a:pPr>
            <a:r>
              <a:rPr lang="en-US" dirty="0" smtClean="0">
                <a:solidFill>
                  <a:schemeClr val="bg1">
                    <a:lumMod val="95000"/>
                  </a:schemeClr>
                </a:solidFill>
              </a:rPr>
              <a:t>Budget planning</a:t>
            </a:r>
          </a:p>
          <a:p>
            <a:pPr marL="342900" indent="-342900">
              <a:buFont typeface="Arial" panose="020B0604020202020204" pitchFamily="34" charset="0"/>
              <a:buChar char="•"/>
            </a:pPr>
            <a:endParaRPr lang="en-US" dirty="0" smtClean="0">
              <a:solidFill>
                <a:schemeClr val="bg1">
                  <a:lumMod val="95000"/>
                </a:schemeClr>
              </a:solidFill>
            </a:endParaRPr>
          </a:p>
          <a:p>
            <a:pPr marL="342900" indent="-342900">
              <a:buFont typeface="Arial" panose="020B0604020202020204" pitchFamily="34" charset="0"/>
              <a:buChar char="•"/>
            </a:pPr>
            <a:r>
              <a:rPr lang="en-US" dirty="0" smtClean="0">
                <a:solidFill>
                  <a:schemeClr val="bg1">
                    <a:lumMod val="95000"/>
                  </a:schemeClr>
                </a:solidFill>
              </a:rPr>
              <a:t>Analyzing risks</a:t>
            </a:r>
          </a:p>
          <a:p>
            <a:pPr marL="342900" indent="-342900">
              <a:buFont typeface="Arial" panose="020B0604020202020204" pitchFamily="34" charset="0"/>
              <a:buChar char="•"/>
            </a:pPr>
            <a:endParaRPr lang="en-US" dirty="0" smtClean="0">
              <a:solidFill>
                <a:schemeClr val="bg1">
                  <a:lumMod val="95000"/>
                </a:schemeClr>
              </a:solidFill>
            </a:endParaRPr>
          </a:p>
          <a:p>
            <a:pPr marL="342900" indent="-342900">
              <a:buFont typeface="Arial" panose="020B0604020202020204" pitchFamily="34" charset="0"/>
              <a:buChar char="•"/>
            </a:pPr>
            <a:r>
              <a:rPr lang="en-US" dirty="0" smtClean="0">
                <a:solidFill>
                  <a:schemeClr val="bg1">
                    <a:lumMod val="95000"/>
                  </a:schemeClr>
                </a:solidFill>
              </a:rPr>
              <a:t>Tracking performance and marketing campaigns</a:t>
            </a:r>
          </a:p>
          <a:p>
            <a:pPr marL="342900" indent="-342900">
              <a:buFont typeface="Arial" panose="020B0604020202020204" pitchFamily="34" charset="0"/>
              <a:buChar char="•"/>
            </a:pPr>
            <a:endParaRPr lang="en-US" dirty="0" smtClean="0">
              <a:solidFill>
                <a:schemeClr val="bg1">
                  <a:lumMod val="95000"/>
                </a:schemeClr>
              </a:solidFill>
            </a:endParaRPr>
          </a:p>
          <a:p>
            <a:pPr marL="342900" indent="-342900">
              <a:buFont typeface="Arial" panose="020B0604020202020204" pitchFamily="34" charset="0"/>
              <a:buChar char="•"/>
            </a:pPr>
            <a:r>
              <a:rPr lang="en-US" dirty="0" smtClean="0">
                <a:solidFill>
                  <a:schemeClr val="bg1">
                    <a:lumMod val="95000"/>
                  </a:schemeClr>
                </a:solidFill>
              </a:rPr>
              <a:t>Analysis of geographic data</a:t>
            </a:r>
            <a:endParaRPr lang="en-US" dirty="0">
              <a:solidFill>
                <a:schemeClr val="bg1">
                  <a:lumMod val="95000"/>
                </a:schemeClr>
              </a:solidFill>
            </a:endParaRPr>
          </a:p>
        </p:txBody>
      </p:sp>
    </p:spTree>
    <p:extLst>
      <p:ext uri="{BB962C8B-B14F-4D97-AF65-F5344CB8AC3E}">
        <p14:creationId xmlns:p14="http://schemas.microsoft.com/office/powerpoint/2010/main" val="617444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05992"/>
            <a:ext cx="9144635" cy="553998"/>
          </a:xfrm>
          <a:prstGeom prst="rect">
            <a:avLst/>
          </a:prstGeom>
          <a:noFill/>
        </p:spPr>
        <p:txBody>
          <a:bodyPr wrap="square" rtlCol="0">
            <a:spAutoFit/>
          </a:bodyPr>
          <a:lstStyle/>
          <a:p>
            <a:r>
              <a:rPr lang="en-US" sz="3000" dirty="0" smtClean="0">
                <a:solidFill>
                  <a:srgbClr val="FFFFFF"/>
                </a:solidFill>
              </a:rPr>
              <a:t>Business intelligence infrastructure</a:t>
            </a:r>
            <a:endParaRPr lang="en-US" sz="3000" dirty="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2" name="TextBox 1"/>
          <p:cNvSpPr txBox="1"/>
          <p:nvPr/>
        </p:nvSpPr>
        <p:spPr>
          <a:xfrm>
            <a:off x="1126642" y="2529510"/>
            <a:ext cx="8488680" cy="4708981"/>
          </a:xfrm>
          <a:prstGeom prst="rect">
            <a:avLst/>
          </a:prstGeom>
          <a:noFill/>
        </p:spPr>
        <p:txBody>
          <a:bodyPr wrap="square" rtlCol="0">
            <a:spAutoFit/>
          </a:bodyPr>
          <a:lstStyle/>
          <a:p>
            <a:pPr marL="342900" indent="-342900">
              <a:buFont typeface="Arial" panose="020B0604020202020204" pitchFamily="34" charset="0"/>
              <a:buChar char="•"/>
            </a:pPr>
            <a:r>
              <a:rPr lang="en-US" u="sng" dirty="0" smtClean="0">
                <a:solidFill>
                  <a:schemeClr val="bg1">
                    <a:lumMod val="95000"/>
                  </a:schemeClr>
                </a:solidFill>
              </a:rPr>
              <a:t>DATA WAREHOUSE: </a:t>
            </a:r>
            <a:r>
              <a:rPr lang="en-US" dirty="0" smtClean="0">
                <a:solidFill>
                  <a:schemeClr val="bg1">
                    <a:lumMod val="95000"/>
                  </a:schemeClr>
                </a:solidFill>
              </a:rPr>
              <a:t>A data warehouse is a database that stores current and historical data of potential interest to decision-makers throughout the company. It extracts current and historical data from multiple operational systems in an </a:t>
            </a:r>
            <a:r>
              <a:rPr lang="en-US" dirty="0" err="1" smtClean="0">
                <a:solidFill>
                  <a:schemeClr val="bg1">
                    <a:lumMod val="95000"/>
                  </a:schemeClr>
                </a:solidFill>
              </a:rPr>
              <a:t>organisation</a:t>
            </a:r>
            <a:r>
              <a:rPr lang="en-US" dirty="0" smtClean="0">
                <a:solidFill>
                  <a:schemeClr val="bg1">
                    <a:lumMod val="95000"/>
                  </a:schemeClr>
                </a:solidFill>
              </a:rPr>
              <a:t>, combines with data from external data sources, restructures the data for management reporting and analysis before loading into the warehouse</a:t>
            </a:r>
          </a:p>
          <a:p>
            <a:pPr marL="342900" indent="-342900">
              <a:buFont typeface="Arial" panose="020B0604020202020204" pitchFamily="34" charset="0"/>
              <a:buChar char="•"/>
            </a:pPr>
            <a:endParaRPr lang="en-US" dirty="0">
              <a:solidFill>
                <a:schemeClr val="bg1">
                  <a:lumMod val="95000"/>
                </a:schemeClr>
              </a:solidFill>
            </a:endParaRPr>
          </a:p>
          <a:p>
            <a:pPr marL="342900" indent="-342900">
              <a:buFont typeface="Arial" panose="020B0604020202020204" pitchFamily="34" charset="0"/>
              <a:buChar char="•"/>
            </a:pPr>
            <a:r>
              <a:rPr lang="en-US" u="sng" dirty="0" smtClean="0">
                <a:solidFill>
                  <a:schemeClr val="bg1">
                    <a:lumMod val="95000"/>
                  </a:schemeClr>
                </a:solidFill>
              </a:rPr>
              <a:t>DATA MART: </a:t>
            </a:r>
            <a:r>
              <a:rPr lang="en-US" dirty="0" smtClean="0">
                <a:solidFill>
                  <a:schemeClr val="bg1">
                    <a:lumMod val="95000"/>
                  </a:schemeClr>
                </a:solidFill>
              </a:rPr>
              <a:t>A subset of a data warehouse in which a summarized or highly focused portion of the </a:t>
            </a:r>
            <a:r>
              <a:rPr lang="en-US" dirty="0" err="1" smtClean="0">
                <a:solidFill>
                  <a:schemeClr val="bg1">
                    <a:lumMod val="95000"/>
                  </a:schemeClr>
                </a:solidFill>
              </a:rPr>
              <a:t>organisation’s</a:t>
            </a:r>
            <a:r>
              <a:rPr lang="en-US" dirty="0" smtClean="0">
                <a:solidFill>
                  <a:schemeClr val="bg1">
                    <a:lumMod val="95000"/>
                  </a:schemeClr>
                </a:solidFill>
              </a:rPr>
              <a:t> data is placed in a separate database for a specific population of uses, e.g. a supermarket’s data mart can be – one for point of sale data; another for online sales</a:t>
            </a:r>
          </a:p>
          <a:p>
            <a:pPr marL="342900" indent="-342900">
              <a:buFont typeface="Arial" panose="020B0604020202020204" pitchFamily="34" charset="0"/>
              <a:buChar char="•"/>
            </a:pPr>
            <a:endParaRPr lang="en-US" dirty="0">
              <a:solidFill>
                <a:schemeClr val="bg1">
                  <a:lumMod val="95000"/>
                </a:schemeClr>
              </a:solidFill>
            </a:endParaRPr>
          </a:p>
          <a:p>
            <a:pPr marL="342900" indent="-342900">
              <a:buFont typeface="Arial" panose="020B0604020202020204" pitchFamily="34" charset="0"/>
              <a:buChar char="•"/>
            </a:pPr>
            <a:r>
              <a:rPr lang="en-US" u="sng" dirty="0" smtClean="0">
                <a:solidFill>
                  <a:schemeClr val="bg1">
                    <a:lumMod val="95000"/>
                  </a:schemeClr>
                </a:solidFill>
              </a:rPr>
              <a:t>ONLINE ANALYTIC PROCESSING (OLAP): </a:t>
            </a:r>
            <a:r>
              <a:rPr lang="en-US" dirty="0" smtClean="0">
                <a:solidFill>
                  <a:schemeClr val="bg1">
                    <a:lumMod val="95000"/>
                  </a:schemeClr>
                </a:solidFill>
              </a:rPr>
              <a:t>multidimensional  data analysis that enables the users to view the same data in different ways using multiple dimensions</a:t>
            </a:r>
            <a:endParaRPr lang="en-US" u="sng" dirty="0">
              <a:solidFill>
                <a:schemeClr val="bg1">
                  <a:lumMod val="95000"/>
                </a:schemeClr>
              </a:solidFill>
            </a:endParaRPr>
          </a:p>
        </p:txBody>
      </p:sp>
    </p:spTree>
    <p:extLst>
      <p:ext uri="{BB962C8B-B14F-4D97-AF65-F5344CB8AC3E}">
        <p14:creationId xmlns:p14="http://schemas.microsoft.com/office/powerpoint/2010/main" val="2654069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shows a figure three units wide with, rows, labeled as Regions east, west, and central, by four units high with, columns, labeled as Products nuts, bolts, washers, and screws. The figure is two units deep, with these two z axis sectors labeled actual and projec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7595" y="2483589"/>
            <a:ext cx="5418775" cy="4673073"/>
          </a:xfrm>
          <a:prstGeom prst="rect">
            <a:avLst/>
          </a:prstGeom>
        </p:spPr>
      </p:pic>
      <p:sp>
        <p:nvSpPr>
          <p:cNvPr id="3" name="Rectangle 2"/>
          <p:cNvSpPr/>
          <p:nvPr/>
        </p:nvSpPr>
        <p:spPr>
          <a:xfrm>
            <a:off x="2017595" y="1711592"/>
            <a:ext cx="5064335" cy="400110"/>
          </a:xfrm>
          <a:prstGeom prst="rect">
            <a:avLst/>
          </a:prstGeom>
        </p:spPr>
        <p:txBody>
          <a:bodyPr wrap="none">
            <a:spAutoFit/>
          </a:bodyPr>
          <a:lstStyle/>
          <a:p>
            <a:r>
              <a:rPr lang="en-US" dirty="0" smtClean="0">
                <a:solidFill>
                  <a:schemeClr val="bg1"/>
                </a:solidFill>
              </a:rPr>
              <a:t>OLAP  Supports </a:t>
            </a:r>
            <a:r>
              <a:rPr lang="en-US" dirty="0">
                <a:solidFill>
                  <a:schemeClr val="bg1"/>
                </a:solidFill>
              </a:rPr>
              <a:t>multidimensional data analysis</a:t>
            </a:r>
          </a:p>
        </p:txBody>
      </p:sp>
    </p:spTree>
    <p:extLst>
      <p:ext uri="{BB962C8B-B14F-4D97-AF65-F5344CB8AC3E}">
        <p14:creationId xmlns:p14="http://schemas.microsoft.com/office/powerpoint/2010/main" val="2942632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05992"/>
            <a:ext cx="9144635" cy="553998"/>
          </a:xfrm>
          <a:prstGeom prst="rect">
            <a:avLst/>
          </a:prstGeom>
          <a:noFill/>
        </p:spPr>
        <p:txBody>
          <a:bodyPr wrap="square" rtlCol="0">
            <a:spAutoFit/>
          </a:bodyPr>
          <a:lstStyle/>
          <a:p>
            <a:r>
              <a:rPr lang="en-US" sz="3000" dirty="0" smtClean="0">
                <a:solidFill>
                  <a:srgbClr val="FFFFFF"/>
                </a:solidFill>
              </a:rPr>
              <a:t>Business intelligence infrastructure</a:t>
            </a:r>
            <a:endParaRPr lang="en-US" sz="3000" dirty="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2" name="TextBox 1"/>
          <p:cNvSpPr txBox="1"/>
          <p:nvPr/>
        </p:nvSpPr>
        <p:spPr>
          <a:xfrm>
            <a:off x="1126642" y="2529510"/>
            <a:ext cx="8488680" cy="4401205"/>
          </a:xfrm>
          <a:prstGeom prst="rect">
            <a:avLst/>
          </a:prstGeom>
          <a:noFill/>
        </p:spPr>
        <p:txBody>
          <a:bodyPr wrap="square" rtlCol="0">
            <a:spAutoFit/>
          </a:bodyPr>
          <a:lstStyle/>
          <a:p>
            <a:pPr marL="342900" indent="-342900">
              <a:buFont typeface="Arial" panose="020B0604020202020204" pitchFamily="34" charset="0"/>
              <a:buChar char="•"/>
            </a:pPr>
            <a:r>
              <a:rPr lang="en-US" u="sng" dirty="0" smtClean="0">
                <a:solidFill>
                  <a:schemeClr val="bg1">
                    <a:lumMod val="95000"/>
                  </a:schemeClr>
                </a:solidFill>
              </a:rPr>
              <a:t>DATA MINING: </a:t>
            </a:r>
            <a:r>
              <a:rPr lang="en-US" dirty="0" smtClean="0">
                <a:solidFill>
                  <a:schemeClr val="bg1">
                    <a:lumMod val="95000"/>
                  </a:schemeClr>
                </a:solidFill>
              </a:rPr>
              <a:t>A discovery-driven method that finds hidden patterns and relationships in large databases and infers rules from them to predict future </a:t>
            </a:r>
            <a:r>
              <a:rPr lang="en-US" dirty="0" err="1" smtClean="0">
                <a:solidFill>
                  <a:schemeClr val="bg1">
                    <a:lumMod val="95000"/>
                  </a:schemeClr>
                </a:solidFill>
              </a:rPr>
              <a:t>behaviour</a:t>
            </a:r>
            <a:endParaRPr lang="en-US" dirty="0" smtClean="0">
              <a:solidFill>
                <a:schemeClr val="bg1">
                  <a:lumMod val="95000"/>
                </a:schemeClr>
              </a:solidFill>
            </a:endParaRPr>
          </a:p>
          <a:p>
            <a:pPr marL="342900" indent="-342900">
              <a:buFont typeface="Arial" panose="020B0604020202020204" pitchFamily="34" charset="0"/>
              <a:buChar char="•"/>
            </a:pPr>
            <a:endParaRPr lang="en-US" dirty="0">
              <a:solidFill>
                <a:schemeClr val="bg1">
                  <a:lumMod val="95000"/>
                </a:schemeClr>
              </a:solidFill>
            </a:endParaRPr>
          </a:p>
          <a:p>
            <a:pPr marL="342900" indent="-342900">
              <a:buFont typeface="Arial" panose="020B0604020202020204" pitchFamily="34" charset="0"/>
              <a:buChar char="•"/>
            </a:pPr>
            <a:r>
              <a:rPr lang="en-US" u="sng" dirty="0" smtClean="0">
                <a:solidFill>
                  <a:schemeClr val="bg1">
                    <a:lumMod val="95000"/>
                  </a:schemeClr>
                </a:solidFill>
              </a:rPr>
              <a:t>TEXT MINING: </a:t>
            </a:r>
            <a:r>
              <a:rPr lang="en-US" dirty="0" smtClean="0">
                <a:solidFill>
                  <a:schemeClr val="bg1">
                    <a:lumMod val="95000"/>
                  </a:schemeClr>
                </a:solidFill>
              </a:rPr>
              <a:t>Text mining tools extract key elements from unstructured big data sets (emails, memos, call  </a:t>
            </a:r>
            <a:r>
              <a:rPr lang="en-US" dirty="0" err="1" smtClean="0">
                <a:solidFill>
                  <a:schemeClr val="bg1">
                    <a:lumMod val="95000"/>
                  </a:schemeClr>
                </a:solidFill>
              </a:rPr>
              <a:t>centre</a:t>
            </a:r>
            <a:r>
              <a:rPr lang="en-US" dirty="0" smtClean="0">
                <a:solidFill>
                  <a:schemeClr val="bg1">
                    <a:lumMod val="95000"/>
                  </a:schemeClr>
                </a:solidFill>
              </a:rPr>
              <a:t> transcripts, service reports), discover patterns and relations and </a:t>
            </a:r>
            <a:r>
              <a:rPr lang="en-US" dirty="0" err="1" smtClean="0">
                <a:solidFill>
                  <a:schemeClr val="bg1">
                    <a:lumMod val="95000"/>
                  </a:schemeClr>
                </a:solidFill>
              </a:rPr>
              <a:t>summarise</a:t>
            </a:r>
            <a:r>
              <a:rPr lang="en-US" dirty="0" smtClean="0">
                <a:solidFill>
                  <a:schemeClr val="bg1">
                    <a:lumMod val="95000"/>
                  </a:schemeClr>
                </a:solidFill>
              </a:rPr>
              <a:t> information</a:t>
            </a:r>
          </a:p>
          <a:p>
            <a:pPr marL="342900" indent="-342900">
              <a:buFont typeface="Arial" panose="020B0604020202020204" pitchFamily="34" charset="0"/>
              <a:buChar char="•"/>
            </a:pPr>
            <a:endParaRPr lang="en-US" dirty="0">
              <a:solidFill>
                <a:schemeClr val="bg1">
                  <a:lumMod val="95000"/>
                </a:schemeClr>
              </a:solidFill>
            </a:endParaRPr>
          </a:p>
          <a:p>
            <a:pPr marL="342900" indent="-342900">
              <a:buFont typeface="Arial" panose="020B0604020202020204" pitchFamily="34" charset="0"/>
              <a:buChar char="•"/>
            </a:pPr>
            <a:r>
              <a:rPr lang="en-US" u="sng" dirty="0" smtClean="0">
                <a:solidFill>
                  <a:schemeClr val="bg1">
                    <a:lumMod val="95000"/>
                  </a:schemeClr>
                </a:solidFill>
              </a:rPr>
              <a:t>SENTIMENT ANALYSIS: </a:t>
            </a:r>
            <a:r>
              <a:rPr lang="en-US" dirty="0" smtClean="0">
                <a:solidFill>
                  <a:schemeClr val="bg1">
                    <a:lumMod val="95000"/>
                  </a:schemeClr>
                </a:solidFill>
              </a:rPr>
              <a:t>software that is able to mine text comments in an email message, blogs, social media, conversation, or survey form to detect </a:t>
            </a:r>
            <a:r>
              <a:rPr lang="en-US" dirty="0" err="1" smtClean="0">
                <a:solidFill>
                  <a:schemeClr val="bg1">
                    <a:lumMod val="95000"/>
                  </a:schemeClr>
                </a:solidFill>
              </a:rPr>
              <a:t>favourable</a:t>
            </a:r>
            <a:r>
              <a:rPr lang="en-US" dirty="0" smtClean="0">
                <a:solidFill>
                  <a:schemeClr val="bg1">
                    <a:lumMod val="95000"/>
                  </a:schemeClr>
                </a:solidFill>
              </a:rPr>
              <a:t> and </a:t>
            </a:r>
            <a:r>
              <a:rPr lang="en-US" dirty="0" err="1" smtClean="0">
                <a:solidFill>
                  <a:schemeClr val="bg1">
                    <a:lumMod val="95000"/>
                  </a:schemeClr>
                </a:solidFill>
              </a:rPr>
              <a:t>unfavourable</a:t>
            </a:r>
            <a:r>
              <a:rPr lang="en-US" dirty="0" smtClean="0">
                <a:solidFill>
                  <a:schemeClr val="bg1">
                    <a:lumMod val="95000"/>
                  </a:schemeClr>
                </a:solidFill>
              </a:rPr>
              <a:t> opinions</a:t>
            </a:r>
          </a:p>
          <a:p>
            <a:pPr marL="342900" indent="-342900">
              <a:buFont typeface="Arial" panose="020B0604020202020204" pitchFamily="34" charset="0"/>
              <a:buChar char="•"/>
            </a:pPr>
            <a:endParaRPr lang="en-US" u="sng" dirty="0">
              <a:solidFill>
                <a:schemeClr val="bg1">
                  <a:lumMod val="95000"/>
                </a:schemeClr>
              </a:solidFill>
            </a:endParaRPr>
          </a:p>
          <a:p>
            <a:pPr marL="342900" indent="-342900">
              <a:buFont typeface="Arial" panose="020B0604020202020204" pitchFamily="34" charset="0"/>
              <a:buChar char="•"/>
            </a:pPr>
            <a:r>
              <a:rPr lang="en-US" u="sng" dirty="0" smtClean="0">
                <a:solidFill>
                  <a:schemeClr val="bg1">
                    <a:lumMod val="95000"/>
                  </a:schemeClr>
                </a:solidFill>
              </a:rPr>
              <a:t>WEB MINING: </a:t>
            </a:r>
            <a:r>
              <a:rPr lang="en-US" dirty="0" smtClean="0">
                <a:solidFill>
                  <a:schemeClr val="bg1">
                    <a:lumMod val="95000"/>
                  </a:schemeClr>
                </a:solidFill>
              </a:rPr>
              <a:t>The web data is mined to reveal patterns, trends and insights into customer </a:t>
            </a:r>
            <a:r>
              <a:rPr lang="en-US" dirty="0" err="1" smtClean="0">
                <a:solidFill>
                  <a:schemeClr val="bg1">
                    <a:lumMod val="95000"/>
                  </a:schemeClr>
                </a:solidFill>
              </a:rPr>
              <a:t>behaviour</a:t>
            </a:r>
            <a:endParaRPr lang="en-US" dirty="0">
              <a:solidFill>
                <a:schemeClr val="bg1">
                  <a:lumMod val="95000"/>
                </a:schemeClr>
              </a:solidFill>
            </a:endParaRPr>
          </a:p>
        </p:txBody>
      </p:sp>
    </p:spTree>
    <p:extLst>
      <p:ext uri="{BB962C8B-B14F-4D97-AF65-F5344CB8AC3E}">
        <p14:creationId xmlns:p14="http://schemas.microsoft.com/office/powerpoint/2010/main" val="2263367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705173" y="2018654"/>
            <a:ext cx="8229600" cy="4525963"/>
          </a:xfrm>
          <a:prstGeom prst="rect">
            <a:avLst/>
          </a:prstGeom>
        </p:spPr>
        <p:txBody>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pPr>
              <a:defRPr/>
            </a:pPr>
            <a:r>
              <a:rPr lang="en-US" sz="2300" dirty="0" smtClean="0">
                <a:solidFill>
                  <a:schemeClr val="bg1"/>
                </a:solidFill>
              </a:rPr>
              <a:t>Many companies use the web to make some internal databases available to customers or partners</a:t>
            </a:r>
          </a:p>
          <a:p>
            <a:pPr>
              <a:defRPr/>
            </a:pPr>
            <a:r>
              <a:rPr lang="en-US" sz="2300" dirty="0" smtClean="0">
                <a:solidFill>
                  <a:schemeClr val="bg1"/>
                </a:solidFill>
              </a:rPr>
              <a:t>Typical configuration includes:</a:t>
            </a:r>
          </a:p>
          <a:p>
            <a:pPr lvl="1">
              <a:buFont typeface="Arial" panose="020B0604020202020204" pitchFamily="34" charset="0"/>
              <a:buChar char="–"/>
              <a:defRPr/>
            </a:pPr>
            <a:r>
              <a:rPr lang="en-US" sz="2300" dirty="0" smtClean="0">
                <a:solidFill>
                  <a:schemeClr val="bg1"/>
                </a:solidFill>
              </a:rPr>
              <a:t>Web server</a:t>
            </a:r>
          </a:p>
          <a:p>
            <a:pPr lvl="1">
              <a:buFont typeface="Arial" panose="020B0604020202020204" pitchFamily="34" charset="0"/>
              <a:buChar char="–"/>
              <a:defRPr/>
            </a:pPr>
            <a:r>
              <a:rPr lang="en-US" sz="2300" dirty="0" smtClean="0">
                <a:solidFill>
                  <a:schemeClr val="bg1"/>
                </a:solidFill>
              </a:rPr>
              <a:t>Application server/middleware/C</a:t>
            </a:r>
            <a:r>
              <a:rPr lang="en-US" sz="100" dirty="0" smtClean="0">
                <a:solidFill>
                  <a:schemeClr val="bg1"/>
                </a:solidFill>
              </a:rPr>
              <a:t> </a:t>
            </a:r>
            <a:r>
              <a:rPr lang="en-US" sz="2300" dirty="0" smtClean="0">
                <a:solidFill>
                  <a:schemeClr val="bg1"/>
                </a:solidFill>
              </a:rPr>
              <a:t>G</a:t>
            </a:r>
            <a:r>
              <a:rPr lang="en-US" sz="100" dirty="0" smtClean="0">
                <a:solidFill>
                  <a:schemeClr val="bg1"/>
                </a:solidFill>
              </a:rPr>
              <a:t> </a:t>
            </a:r>
            <a:r>
              <a:rPr lang="en-US" sz="2300" dirty="0" smtClean="0">
                <a:solidFill>
                  <a:schemeClr val="bg1"/>
                </a:solidFill>
              </a:rPr>
              <a:t>I scripts</a:t>
            </a:r>
          </a:p>
          <a:p>
            <a:pPr lvl="1">
              <a:buFont typeface="Arial" panose="020B0604020202020204" pitchFamily="34" charset="0"/>
              <a:buChar char="–"/>
              <a:defRPr/>
            </a:pPr>
            <a:r>
              <a:rPr lang="en-US" sz="2300" dirty="0" smtClean="0">
                <a:solidFill>
                  <a:schemeClr val="bg1"/>
                </a:solidFill>
              </a:rPr>
              <a:t>Database server (hosting D</a:t>
            </a:r>
            <a:r>
              <a:rPr lang="en-US" sz="100" dirty="0" smtClean="0">
                <a:solidFill>
                  <a:schemeClr val="bg1"/>
                </a:solidFill>
              </a:rPr>
              <a:t> </a:t>
            </a:r>
            <a:r>
              <a:rPr lang="en-US" sz="2300" dirty="0" smtClean="0">
                <a:solidFill>
                  <a:schemeClr val="bg1"/>
                </a:solidFill>
              </a:rPr>
              <a:t>B</a:t>
            </a:r>
            <a:r>
              <a:rPr lang="en-US" sz="100" dirty="0" smtClean="0">
                <a:solidFill>
                  <a:schemeClr val="bg1"/>
                </a:solidFill>
              </a:rPr>
              <a:t> </a:t>
            </a:r>
            <a:r>
              <a:rPr lang="en-US" sz="2300" dirty="0" smtClean="0">
                <a:solidFill>
                  <a:schemeClr val="bg1"/>
                </a:solidFill>
              </a:rPr>
              <a:t>M</a:t>
            </a:r>
            <a:r>
              <a:rPr lang="en-US" sz="100" dirty="0" smtClean="0">
                <a:solidFill>
                  <a:schemeClr val="bg1"/>
                </a:solidFill>
              </a:rPr>
              <a:t> </a:t>
            </a:r>
            <a:r>
              <a:rPr lang="en-US" sz="2300" dirty="0" smtClean="0">
                <a:solidFill>
                  <a:schemeClr val="bg1"/>
                </a:solidFill>
              </a:rPr>
              <a:t>S)</a:t>
            </a:r>
          </a:p>
          <a:p>
            <a:pPr>
              <a:defRPr/>
            </a:pPr>
            <a:r>
              <a:rPr lang="en-US" sz="2300" dirty="0" smtClean="0">
                <a:solidFill>
                  <a:schemeClr val="bg1"/>
                </a:solidFill>
              </a:rPr>
              <a:t>Advantages of using the web for database access:</a:t>
            </a:r>
          </a:p>
          <a:p>
            <a:pPr lvl="1">
              <a:buFont typeface="Arial" panose="020B0604020202020204" pitchFamily="34" charset="0"/>
              <a:buChar char="–"/>
              <a:defRPr/>
            </a:pPr>
            <a:r>
              <a:rPr lang="en-US" sz="2300" dirty="0" smtClean="0">
                <a:solidFill>
                  <a:schemeClr val="bg1"/>
                </a:solidFill>
              </a:rPr>
              <a:t>Ease of use of browser software</a:t>
            </a:r>
          </a:p>
          <a:p>
            <a:pPr lvl="1">
              <a:buFont typeface="Arial" panose="020B0604020202020204" pitchFamily="34" charset="0"/>
              <a:buChar char="–"/>
              <a:defRPr/>
            </a:pPr>
            <a:r>
              <a:rPr lang="en-US" sz="2300" dirty="0" smtClean="0">
                <a:solidFill>
                  <a:schemeClr val="bg1"/>
                </a:solidFill>
              </a:rPr>
              <a:t>Web interface requires few or no changes to database</a:t>
            </a:r>
          </a:p>
          <a:p>
            <a:pPr lvl="1">
              <a:buFont typeface="Arial" panose="020B0604020202020204" pitchFamily="34" charset="0"/>
              <a:buChar char="–"/>
              <a:defRPr/>
            </a:pPr>
            <a:r>
              <a:rPr lang="en-US" sz="2300" dirty="0" smtClean="0">
                <a:solidFill>
                  <a:schemeClr val="bg1"/>
                </a:solidFill>
              </a:rPr>
              <a:t>Inexpensive to add web interface to system</a:t>
            </a:r>
            <a:endParaRPr lang="en-US" sz="2300" dirty="0">
              <a:solidFill>
                <a:schemeClr val="bg1"/>
              </a:solidFill>
            </a:endParaRPr>
          </a:p>
        </p:txBody>
      </p:sp>
      <p:sp>
        <p:nvSpPr>
          <p:cNvPr id="3" name="Title 6"/>
          <p:cNvSpPr txBox="1">
            <a:spLocks/>
          </p:cNvSpPr>
          <p:nvPr/>
        </p:nvSpPr>
        <p:spPr>
          <a:xfrm>
            <a:off x="255722" y="921375"/>
            <a:ext cx="8229600" cy="1097279"/>
          </a:xfrm>
          <a:prstGeom prst="rect">
            <a:avLst/>
          </a:prstGeom>
        </p:spPr>
        <p:txBody>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mtClean="0">
                <a:solidFill>
                  <a:schemeClr val="bg1"/>
                </a:solidFill>
              </a:rPr>
              <a:t>Databases and the Web</a:t>
            </a:r>
            <a:endParaRPr lang="en-US" dirty="0">
              <a:solidFill>
                <a:schemeClr val="bg1"/>
              </a:solidFill>
            </a:endParaRPr>
          </a:p>
        </p:txBody>
      </p:sp>
    </p:spTree>
    <p:extLst>
      <p:ext uri="{BB962C8B-B14F-4D97-AF65-F5344CB8AC3E}">
        <p14:creationId xmlns:p14="http://schemas.microsoft.com/office/powerpoint/2010/main" val="346545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n the diagram, from left to right, are six elements of connecting to the web’s database, named as follows. Client with Web browser. Internet. Web server. Application server. Database server. Database. Each of these elements is linked to its neighbor by a bidirectional arrow."/>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3933" y="3009900"/>
            <a:ext cx="7943075" cy="1752600"/>
          </a:xfrm>
          <a:prstGeom prst="rect">
            <a:avLst/>
          </a:prstGeom>
        </p:spPr>
      </p:pic>
      <p:sp>
        <p:nvSpPr>
          <p:cNvPr id="3" name="Title 6"/>
          <p:cNvSpPr txBox="1">
            <a:spLocks/>
          </p:cNvSpPr>
          <p:nvPr/>
        </p:nvSpPr>
        <p:spPr>
          <a:xfrm>
            <a:off x="457200" y="1129771"/>
            <a:ext cx="8229600" cy="1097279"/>
          </a:xfrm>
          <a:prstGeom prst="rect">
            <a:avLst/>
          </a:prstGeom>
        </p:spPr>
        <p:txBody>
          <a:bodyPr anchor="b"/>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IN" sz="3200" dirty="0" smtClean="0">
                <a:solidFill>
                  <a:schemeClr val="bg1"/>
                </a:solidFill>
              </a:rPr>
              <a:t> Linking Internal Databases to the Web</a:t>
            </a:r>
            <a:endParaRPr lang="en-US" sz="3200" dirty="0">
              <a:solidFill>
                <a:schemeClr val="bg1"/>
              </a:solidFill>
            </a:endParaRPr>
          </a:p>
        </p:txBody>
      </p:sp>
    </p:spTree>
    <p:extLst>
      <p:ext uri="{BB962C8B-B14F-4D97-AF65-F5344CB8AC3E}">
        <p14:creationId xmlns:p14="http://schemas.microsoft.com/office/powerpoint/2010/main" val="2569598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1969824"/>
            <a:ext cx="9144635" cy="461665"/>
          </a:xfrm>
          <a:prstGeom prst="rect">
            <a:avLst/>
          </a:prstGeom>
          <a:noFill/>
        </p:spPr>
        <p:txBody>
          <a:bodyPr wrap="square" rtlCol="0">
            <a:spAutoFit/>
          </a:bodyPr>
          <a:lstStyle/>
          <a:p>
            <a:r>
              <a:rPr lang="en-US" sz="2400" dirty="0" smtClean="0">
                <a:solidFill>
                  <a:srgbClr val="FFFFFF"/>
                </a:solidFill>
              </a:rPr>
              <a:t>The critical success factors to managing an </a:t>
            </a:r>
            <a:r>
              <a:rPr lang="en-US" sz="2400" dirty="0" err="1" smtClean="0">
                <a:solidFill>
                  <a:srgbClr val="FFFFFF"/>
                </a:solidFill>
              </a:rPr>
              <a:t>organisation’s</a:t>
            </a:r>
            <a:r>
              <a:rPr lang="en-US" sz="2400" dirty="0" smtClean="0">
                <a:solidFill>
                  <a:srgbClr val="FFFFFF"/>
                </a:solidFill>
              </a:rPr>
              <a:t> data resources</a:t>
            </a:r>
            <a:endParaRPr lang="en-US" sz="2400" dirty="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2" name="TextBox 1"/>
          <p:cNvSpPr txBox="1"/>
          <p:nvPr/>
        </p:nvSpPr>
        <p:spPr>
          <a:xfrm>
            <a:off x="1126642" y="2594228"/>
            <a:ext cx="8488680" cy="5632311"/>
          </a:xfrm>
          <a:prstGeom prst="rect">
            <a:avLst/>
          </a:prstGeom>
          <a:noFill/>
        </p:spPr>
        <p:txBody>
          <a:bodyPr wrap="square" rtlCol="0">
            <a:spAutoFit/>
          </a:bodyPr>
          <a:lstStyle/>
          <a:p>
            <a:pPr marL="342900" indent="-342900">
              <a:buFont typeface="Arial" panose="020B0604020202020204" pitchFamily="34" charset="0"/>
              <a:buChar char="•"/>
            </a:pPr>
            <a:r>
              <a:rPr lang="en-US" u="sng" dirty="0" smtClean="0">
                <a:solidFill>
                  <a:schemeClr val="bg1">
                    <a:lumMod val="95000"/>
                  </a:schemeClr>
                </a:solidFill>
              </a:rPr>
              <a:t>Information policy: </a:t>
            </a:r>
            <a:r>
              <a:rPr lang="en-US" dirty="0" smtClean="0">
                <a:solidFill>
                  <a:schemeClr val="bg1">
                    <a:lumMod val="95000"/>
                  </a:schemeClr>
                </a:solidFill>
              </a:rPr>
              <a:t>The </a:t>
            </a:r>
            <a:r>
              <a:rPr lang="en-US" dirty="0" err="1" smtClean="0">
                <a:solidFill>
                  <a:schemeClr val="bg1">
                    <a:lumMod val="95000"/>
                  </a:schemeClr>
                </a:solidFill>
              </a:rPr>
              <a:t>organisation’s</a:t>
            </a:r>
            <a:r>
              <a:rPr lang="en-US" dirty="0" smtClean="0">
                <a:solidFill>
                  <a:schemeClr val="bg1">
                    <a:lumMod val="95000"/>
                  </a:schemeClr>
                </a:solidFill>
              </a:rPr>
              <a:t> rules for sharing, disseminating, acquiring, standardizing, inventorying information, e.g., only HR and Finance have a right to view sensitive employee information</a:t>
            </a:r>
          </a:p>
          <a:p>
            <a:pPr marL="342900" indent="-342900">
              <a:buFont typeface="Arial" panose="020B0604020202020204" pitchFamily="34" charset="0"/>
              <a:buChar char="•"/>
            </a:pPr>
            <a:endParaRPr lang="en-US" dirty="0">
              <a:solidFill>
                <a:schemeClr val="bg1">
                  <a:lumMod val="95000"/>
                </a:schemeClr>
              </a:solidFill>
            </a:endParaRPr>
          </a:p>
          <a:p>
            <a:pPr marL="342900" indent="-342900">
              <a:buFont typeface="Arial" panose="020B0604020202020204" pitchFamily="34" charset="0"/>
              <a:buChar char="•"/>
            </a:pPr>
            <a:r>
              <a:rPr lang="en-US" u="sng" dirty="0" smtClean="0">
                <a:solidFill>
                  <a:schemeClr val="bg1">
                    <a:lumMod val="95000"/>
                  </a:schemeClr>
                </a:solidFill>
              </a:rPr>
              <a:t>Data administration: </a:t>
            </a:r>
            <a:r>
              <a:rPr lang="en-US" dirty="0" smtClean="0">
                <a:solidFill>
                  <a:schemeClr val="bg1">
                    <a:lumMod val="95000"/>
                  </a:schemeClr>
                </a:solidFill>
              </a:rPr>
              <a:t>The specific policies and procedures through which data can be managed as an </a:t>
            </a:r>
            <a:r>
              <a:rPr lang="en-US" dirty="0" err="1" smtClean="0">
                <a:solidFill>
                  <a:schemeClr val="bg1">
                    <a:lumMod val="95000"/>
                  </a:schemeClr>
                </a:solidFill>
              </a:rPr>
              <a:t>organisational</a:t>
            </a:r>
            <a:r>
              <a:rPr lang="en-US" dirty="0" smtClean="0">
                <a:solidFill>
                  <a:schemeClr val="bg1">
                    <a:lumMod val="95000"/>
                  </a:schemeClr>
                </a:solidFill>
              </a:rPr>
              <a:t> resource</a:t>
            </a:r>
          </a:p>
          <a:p>
            <a:pPr marL="342900" indent="-342900">
              <a:buFont typeface="Arial" panose="020B0604020202020204" pitchFamily="34" charset="0"/>
              <a:buChar char="•"/>
            </a:pPr>
            <a:endParaRPr lang="en-US" u="sng" dirty="0">
              <a:solidFill>
                <a:schemeClr val="bg1">
                  <a:lumMod val="95000"/>
                </a:schemeClr>
              </a:solidFill>
            </a:endParaRPr>
          </a:p>
          <a:p>
            <a:pPr marL="342900" indent="-342900">
              <a:buFont typeface="Arial" panose="020B0604020202020204" pitchFamily="34" charset="0"/>
              <a:buChar char="•"/>
            </a:pPr>
            <a:r>
              <a:rPr lang="en-US" u="sng" dirty="0" smtClean="0">
                <a:solidFill>
                  <a:schemeClr val="bg1">
                    <a:lumMod val="95000"/>
                  </a:schemeClr>
                </a:solidFill>
              </a:rPr>
              <a:t>Data governance: </a:t>
            </a:r>
            <a:r>
              <a:rPr lang="en-US" dirty="0" smtClean="0">
                <a:solidFill>
                  <a:schemeClr val="bg1">
                    <a:lumMod val="95000"/>
                  </a:schemeClr>
                </a:solidFill>
              </a:rPr>
              <a:t>Policies and processes for managing the availability, usability, integrity and security of data employed in an enterprise, with special emphasis on promoting privacy, security of data, data quality and compliance with government regulations</a:t>
            </a:r>
          </a:p>
          <a:p>
            <a:pPr marL="342900" indent="-342900">
              <a:buFont typeface="Arial" panose="020B0604020202020204" pitchFamily="34" charset="0"/>
              <a:buChar char="•"/>
            </a:pPr>
            <a:endParaRPr lang="en-US" dirty="0" smtClean="0">
              <a:solidFill>
                <a:schemeClr val="bg1">
                  <a:lumMod val="95000"/>
                </a:schemeClr>
              </a:solidFill>
            </a:endParaRPr>
          </a:p>
          <a:p>
            <a:pPr marL="342900" indent="-342900">
              <a:buFont typeface="Arial" panose="020B0604020202020204" pitchFamily="34" charset="0"/>
              <a:buChar char="•"/>
            </a:pPr>
            <a:r>
              <a:rPr lang="en-US" u="sng" dirty="0" smtClean="0">
                <a:solidFill>
                  <a:schemeClr val="bg1">
                    <a:lumMod val="95000"/>
                  </a:schemeClr>
                </a:solidFill>
              </a:rPr>
              <a:t>Ensuring data quality: </a:t>
            </a:r>
            <a:r>
              <a:rPr lang="en-US" dirty="0" smtClean="0">
                <a:solidFill>
                  <a:schemeClr val="bg1">
                    <a:lumMod val="95000"/>
                  </a:schemeClr>
                </a:solidFill>
              </a:rPr>
              <a:t>Data quality audit is a structured survey of the accuracy and level of completeness of data</a:t>
            </a:r>
          </a:p>
          <a:p>
            <a:pPr marL="342900" indent="-342900">
              <a:buFont typeface="Arial" panose="020B0604020202020204" pitchFamily="34" charset="0"/>
              <a:buChar char="•"/>
            </a:pPr>
            <a:r>
              <a:rPr lang="en-US" u="sng" dirty="0" smtClean="0">
                <a:solidFill>
                  <a:schemeClr val="bg1">
                    <a:lumMod val="95000"/>
                  </a:schemeClr>
                </a:solidFill>
              </a:rPr>
              <a:t>Data cleansing (scrubbing):</a:t>
            </a:r>
            <a:r>
              <a:rPr lang="en-US" dirty="0" smtClean="0">
                <a:solidFill>
                  <a:schemeClr val="bg1">
                    <a:lumMod val="95000"/>
                  </a:schemeClr>
                </a:solidFill>
              </a:rPr>
              <a:t> Activities for detecting and correcting data in a database that are incorrect, incomplete, improperly formatted or redundant</a:t>
            </a:r>
          </a:p>
          <a:p>
            <a:pPr marL="342900" indent="-342900">
              <a:buFont typeface="Arial" panose="020B0604020202020204" pitchFamily="34" charset="0"/>
              <a:buChar char="•"/>
            </a:pPr>
            <a:endParaRPr lang="en-US" u="sng" dirty="0">
              <a:solidFill>
                <a:schemeClr val="bg1">
                  <a:lumMod val="95000"/>
                </a:schemeClr>
              </a:solidFill>
            </a:endParaRPr>
          </a:p>
          <a:p>
            <a:pPr marL="342900" indent="-342900">
              <a:buFont typeface="Arial" panose="020B0604020202020204" pitchFamily="34" charset="0"/>
              <a:buChar char="•"/>
            </a:pPr>
            <a:endParaRPr lang="en-US" dirty="0">
              <a:solidFill>
                <a:schemeClr val="bg1">
                  <a:lumMod val="95000"/>
                </a:schemeClr>
              </a:solidFill>
            </a:endParaRPr>
          </a:p>
        </p:txBody>
      </p:sp>
    </p:spTree>
    <p:extLst>
      <p:ext uri="{BB962C8B-B14F-4D97-AF65-F5344CB8AC3E}">
        <p14:creationId xmlns:p14="http://schemas.microsoft.com/office/powerpoint/2010/main" val="29206392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69925" y="2938793"/>
            <a:ext cx="8980182" cy="923330"/>
          </a:xfrm>
          <a:prstGeom prst="rect">
            <a:avLst/>
          </a:prstGeom>
          <a:noFill/>
        </p:spPr>
        <p:txBody>
          <a:bodyPr wrap="square" rtlCol="0">
            <a:spAutoFit/>
          </a:bodyPr>
          <a:lstStyle/>
          <a:p>
            <a:pPr algn="ctr"/>
            <a:r>
              <a:rPr lang="en-US" sz="5400" dirty="0" smtClean="0">
                <a:solidFill>
                  <a:srgbClr val="FFFFFF"/>
                </a:solidFill>
              </a:rPr>
              <a:t>Thank You.</a:t>
            </a:r>
            <a:endParaRPr lang="en-US" sz="5400" dirty="0">
              <a:solidFill>
                <a:srgbClr val="FFFFFF"/>
              </a:solidFill>
            </a:endParaRPr>
          </a:p>
        </p:txBody>
      </p:sp>
      <p:sp>
        <p:nvSpPr>
          <p:cNvPr id="4" name="TextBox 3"/>
          <p:cNvSpPr txBox="1"/>
          <p:nvPr/>
        </p:nvSpPr>
        <p:spPr>
          <a:xfrm>
            <a:off x="7205026" y="583405"/>
            <a:ext cx="2002081" cy="646331"/>
          </a:xfrm>
          <a:prstGeom prst="rect">
            <a:avLst/>
          </a:prstGeom>
          <a:noFill/>
        </p:spPr>
        <p:txBody>
          <a:bodyPr wrap="square" rtlCol="0">
            <a:spAutoFit/>
          </a:bodyPr>
          <a:lstStyle/>
          <a:p>
            <a:r>
              <a:rPr lang="en-US" sz="900" dirty="0">
                <a:solidFill>
                  <a:schemeClr val="bg1"/>
                </a:solidFill>
              </a:rPr>
              <a:t>13 </a:t>
            </a:r>
            <a:r>
              <a:rPr lang="en-US" sz="900" dirty="0" err="1">
                <a:solidFill>
                  <a:schemeClr val="bg1"/>
                </a:solidFill>
              </a:rPr>
              <a:t>Storch</a:t>
            </a:r>
            <a:r>
              <a:rPr lang="en-US" sz="900" dirty="0">
                <a:solidFill>
                  <a:schemeClr val="bg1"/>
                </a:solidFill>
              </a:rPr>
              <a:t> Street </a:t>
            </a:r>
          </a:p>
          <a:p>
            <a:r>
              <a:rPr lang="it-IT" sz="900" dirty="0" smtClean="0">
                <a:solidFill>
                  <a:schemeClr val="bg1"/>
                </a:solidFill>
              </a:rPr>
              <a:t>Private </a:t>
            </a:r>
            <a:r>
              <a:rPr lang="it-IT" sz="900" dirty="0" err="1">
                <a:solidFill>
                  <a:schemeClr val="bg1"/>
                </a:solidFill>
              </a:rPr>
              <a:t>Bag</a:t>
            </a:r>
            <a:r>
              <a:rPr lang="it-IT" sz="900" dirty="0">
                <a:solidFill>
                  <a:schemeClr val="bg1"/>
                </a:solidFill>
              </a:rPr>
              <a:t> 13388 </a:t>
            </a:r>
          </a:p>
          <a:p>
            <a:r>
              <a:rPr lang="nl-NL" sz="900" dirty="0" smtClean="0">
                <a:solidFill>
                  <a:schemeClr val="bg1"/>
                </a:solidFill>
              </a:rPr>
              <a:t>Windhoek</a:t>
            </a:r>
            <a:endParaRPr lang="nl-NL" sz="900" dirty="0">
              <a:solidFill>
                <a:schemeClr val="bg1"/>
              </a:solidFill>
            </a:endParaRPr>
          </a:p>
          <a:p>
            <a:r>
              <a:rPr lang="nl-NL" sz="900" dirty="0" smtClean="0">
                <a:solidFill>
                  <a:schemeClr val="bg1"/>
                </a:solidFill>
              </a:rPr>
              <a:t>NAMIBIA</a:t>
            </a:r>
            <a:endParaRPr lang="en-US" sz="900" dirty="0">
              <a:solidFill>
                <a:schemeClr val="bg1"/>
              </a:solidFill>
            </a:endParaRPr>
          </a:p>
        </p:txBody>
      </p:sp>
      <p:sp>
        <p:nvSpPr>
          <p:cNvPr id="6" name="TextBox 5"/>
          <p:cNvSpPr txBox="1"/>
          <p:nvPr/>
        </p:nvSpPr>
        <p:spPr>
          <a:xfrm>
            <a:off x="8552699" y="583405"/>
            <a:ext cx="1580744" cy="646331"/>
          </a:xfrm>
          <a:prstGeom prst="rect">
            <a:avLst/>
          </a:prstGeom>
          <a:noFill/>
        </p:spPr>
        <p:txBody>
          <a:bodyPr wrap="square" rtlCol="0">
            <a:spAutoFit/>
          </a:bodyPr>
          <a:lstStyle/>
          <a:p>
            <a:pPr marL="173038" indent="-173038"/>
            <a:r>
              <a:rPr lang="fi-FI" sz="900" dirty="0" smtClean="0">
                <a:solidFill>
                  <a:schemeClr val="bg1"/>
                </a:solidFill>
              </a:rPr>
              <a:t>T:	+264 61 207 2258</a:t>
            </a:r>
          </a:p>
          <a:p>
            <a:pPr marL="173038" indent="-173038"/>
            <a:r>
              <a:rPr lang="fi-FI" sz="900" dirty="0" smtClean="0">
                <a:solidFill>
                  <a:schemeClr val="bg1"/>
                </a:solidFill>
              </a:rPr>
              <a:t>F:	+264 61 207 9258</a:t>
            </a:r>
          </a:p>
          <a:p>
            <a:pPr marL="173038" indent="-173038"/>
            <a:r>
              <a:rPr lang="fi-FI" sz="900" dirty="0" smtClean="0">
                <a:solidFill>
                  <a:schemeClr val="bg1"/>
                </a:solidFill>
              </a:rPr>
              <a:t>E:	</a:t>
            </a:r>
            <a:r>
              <a:rPr lang="fi-FI" sz="900" dirty="0" err="1" smtClean="0">
                <a:solidFill>
                  <a:schemeClr val="bg1"/>
                </a:solidFill>
              </a:rPr>
              <a:t>fci@nust.na</a:t>
            </a:r>
            <a:endParaRPr lang="fi-FI" sz="900" dirty="0" smtClean="0">
              <a:solidFill>
                <a:schemeClr val="bg1"/>
              </a:solidFill>
            </a:endParaRPr>
          </a:p>
          <a:p>
            <a:pPr marL="173038" indent="-173038"/>
            <a:r>
              <a:rPr lang="fi-FI" sz="900" dirty="0">
                <a:solidFill>
                  <a:schemeClr val="bg1"/>
                </a:solidFill>
              </a:rPr>
              <a:t>W</a:t>
            </a:r>
            <a:r>
              <a:rPr lang="fi-FI" sz="900" dirty="0" smtClean="0">
                <a:solidFill>
                  <a:schemeClr val="bg1"/>
                </a:solidFill>
              </a:rPr>
              <a:t>:	</a:t>
            </a:r>
            <a:r>
              <a:rPr lang="fi-FI" sz="900" dirty="0" err="1" smtClean="0">
                <a:solidFill>
                  <a:schemeClr val="bg1"/>
                </a:solidFill>
              </a:rPr>
              <a:t>www.nust.na</a:t>
            </a:r>
            <a:endParaRPr lang="en-US" sz="900" dirty="0">
              <a:solidFill>
                <a:schemeClr val="bg1"/>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 of Computing and </a:t>
            </a:r>
            <a:r>
              <a:rPr lang="en-US" sz="2000" b="1" i="0" u="none" strike="noStrike" dirty="0" smtClean="0">
                <a:solidFill>
                  <a:srgbClr val="FFFFFF"/>
                </a:solidFill>
                <a:latin typeface="RopaSoftPro-Regular"/>
              </a:rPr>
              <a:t>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30282698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3B53D5EC04F4DAACC2E3DC49C4E82" ma:contentTypeVersion="16" ma:contentTypeDescription="Create a new document." ma:contentTypeScope="" ma:versionID="496b1d770230dfca6c4e339ace0e52e9">
  <xsd:schema xmlns:xsd="http://www.w3.org/2001/XMLSchema" xmlns:xs="http://www.w3.org/2001/XMLSchema" xmlns:p="http://schemas.microsoft.com/office/2006/metadata/properties" xmlns:ns3="ff360b5c-1491-4de7-9038-42ebdf865dbe" xmlns:ns4="95e470c5-d555-45ea-b7d4-7b5e2c49540b" targetNamespace="http://schemas.microsoft.com/office/2006/metadata/properties" ma:root="true" ma:fieldsID="100505cc3b28223a244504ef9c4f32da" ns3:_="" ns4:_="">
    <xsd:import namespace="ff360b5c-1491-4de7-9038-42ebdf865dbe"/>
    <xsd:import namespace="95e470c5-d555-45ea-b7d4-7b5e2c49540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DateTaken" minOccurs="0"/>
                <xsd:element ref="ns4:MediaServiceOCR" minOccurs="0"/>
                <xsd:element ref="ns4:MediaServiceAutoKeyPoints" minOccurs="0"/>
                <xsd:element ref="ns4:MediaServiceKeyPoints" minOccurs="0"/>
                <xsd:element ref="ns4:MediaServiceLocation" minOccurs="0"/>
                <xsd:element ref="ns4:MediaLengthInSeconds" minOccurs="0"/>
                <xsd:element ref="ns4:MediaServiceSearchProperties" minOccurs="0"/>
                <xsd:element ref="ns4: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360b5c-1491-4de7-9038-42ebdf865db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e470c5-d555-45ea-b7d4-7b5e2c49540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_activity" ma:index="2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5e470c5-d555-45ea-b7d4-7b5e2c49540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F34E8C-3834-4AFC-9E73-F55611849C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360b5c-1491-4de7-9038-42ebdf865dbe"/>
    <ds:schemaRef ds:uri="95e470c5-d555-45ea-b7d4-7b5e2c49540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0F1256A-9872-4D63-B66C-C951591B69FA}">
  <ds:schemaRefs>
    <ds:schemaRef ds:uri="http://schemas.openxmlformats.org/package/2006/metadata/core-properties"/>
    <ds:schemaRef ds:uri="http://schemas.microsoft.com/office/2006/documentManagement/types"/>
    <ds:schemaRef ds:uri="http://www.w3.org/XML/1998/namespace"/>
    <ds:schemaRef ds:uri="ff360b5c-1491-4de7-9038-42ebdf865dbe"/>
    <ds:schemaRef ds:uri="http://purl.org/dc/elements/1.1/"/>
    <ds:schemaRef ds:uri="http://purl.org/dc/terms/"/>
    <ds:schemaRef ds:uri="http://schemas.microsoft.com/office/2006/metadata/properties"/>
    <ds:schemaRef ds:uri="95e470c5-d555-45ea-b7d4-7b5e2c49540b"/>
    <ds:schemaRef ds:uri="http://schemas.microsoft.com/office/infopath/2007/PartnerControls"/>
    <ds:schemaRef ds:uri="http://purl.org/dc/dcmitype/"/>
  </ds:schemaRefs>
</ds:datastoreItem>
</file>

<file path=customXml/itemProps3.xml><?xml version="1.0" encoding="utf-8"?>
<ds:datastoreItem xmlns:ds="http://schemas.openxmlformats.org/officeDocument/2006/customXml" ds:itemID="{A619F09B-26E8-4E37-BE06-6F1274DB732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2718</TotalTime>
  <Words>1392</Words>
  <Application>Microsoft Office PowerPoint</Application>
  <PresentationFormat>Custom</PresentationFormat>
  <Paragraphs>170</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RopaSoftPro-Regular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CDP</dc:creator>
  <cp:lastModifiedBy>Mthembo, Nkululeko</cp:lastModifiedBy>
  <cp:revision>137</cp:revision>
  <dcterms:created xsi:type="dcterms:W3CDTF">2015-11-09T03:14:54Z</dcterms:created>
  <dcterms:modified xsi:type="dcterms:W3CDTF">2025-04-07T06:01:45Z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0x010100E513B53D5EC04F4DAACC2E3DC49C4E82</vt:lpwstr>
  </property>
</Properties>
</file>