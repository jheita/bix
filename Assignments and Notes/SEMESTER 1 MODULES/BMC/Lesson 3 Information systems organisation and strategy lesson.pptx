
<file path=[Content_Types].xml><?xml version="1.0" encoding="utf-8"?>
<Types xmlns="http://schemas.openxmlformats.org/package/2006/content-types">
  <Default Extension="png" ContentType="image/png"/>
  <Default Extension="emf" ContentType="image/x-emf"/>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sldIdLst>
    <p:sldId id="256" r:id="rId5"/>
    <p:sldId id="257" r:id="rId6"/>
    <p:sldId id="261" r:id="rId7"/>
    <p:sldId id="275" r:id="rId8"/>
    <p:sldId id="262" r:id="rId9"/>
    <p:sldId id="276" r:id="rId10"/>
    <p:sldId id="263" r:id="rId11"/>
    <p:sldId id="277" r:id="rId12"/>
    <p:sldId id="293" r:id="rId13"/>
    <p:sldId id="278" r:id="rId14"/>
    <p:sldId id="279" r:id="rId15"/>
    <p:sldId id="280" r:id="rId16"/>
    <p:sldId id="281" r:id="rId17"/>
    <p:sldId id="287" r:id="rId18"/>
    <p:sldId id="288" r:id="rId19"/>
    <p:sldId id="289" r:id="rId20"/>
    <p:sldId id="290" r:id="rId21"/>
    <p:sldId id="291" r:id="rId22"/>
    <p:sldId id="292" r:id="rId23"/>
    <p:sldId id="259" r:id="rId24"/>
  </p:sldIdLst>
  <p:sldSz cx="10150475" cy="7635875"/>
  <p:notesSz cx="6858000" cy="9144000"/>
  <p:defaultTextStyle>
    <a:defPPr>
      <a:defRPr lang="en-US"/>
    </a:defPPr>
    <a:lvl1pPr marL="0" algn="l" defTabSz="508178" rtl="0" eaLnBrk="1" latinLnBrk="0" hangingPunct="1">
      <a:defRPr sz="2000" kern="1200">
        <a:solidFill>
          <a:schemeClr val="tx1"/>
        </a:solidFill>
        <a:latin typeface="+mn-lt"/>
        <a:ea typeface="+mn-ea"/>
        <a:cs typeface="+mn-cs"/>
      </a:defRPr>
    </a:lvl1pPr>
    <a:lvl2pPr marL="508178" algn="l" defTabSz="508178" rtl="0" eaLnBrk="1" latinLnBrk="0" hangingPunct="1">
      <a:defRPr sz="2000" kern="1200">
        <a:solidFill>
          <a:schemeClr val="tx1"/>
        </a:solidFill>
        <a:latin typeface="+mn-lt"/>
        <a:ea typeface="+mn-ea"/>
        <a:cs typeface="+mn-cs"/>
      </a:defRPr>
    </a:lvl2pPr>
    <a:lvl3pPr marL="1016356" algn="l" defTabSz="508178" rtl="0" eaLnBrk="1" latinLnBrk="0" hangingPunct="1">
      <a:defRPr sz="2000" kern="1200">
        <a:solidFill>
          <a:schemeClr val="tx1"/>
        </a:solidFill>
        <a:latin typeface="+mn-lt"/>
        <a:ea typeface="+mn-ea"/>
        <a:cs typeface="+mn-cs"/>
      </a:defRPr>
    </a:lvl3pPr>
    <a:lvl4pPr marL="1524533" algn="l" defTabSz="508178" rtl="0" eaLnBrk="1" latinLnBrk="0" hangingPunct="1">
      <a:defRPr sz="2000" kern="1200">
        <a:solidFill>
          <a:schemeClr val="tx1"/>
        </a:solidFill>
        <a:latin typeface="+mn-lt"/>
        <a:ea typeface="+mn-ea"/>
        <a:cs typeface="+mn-cs"/>
      </a:defRPr>
    </a:lvl4pPr>
    <a:lvl5pPr marL="2032711" algn="l" defTabSz="508178" rtl="0" eaLnBrk="1" latinLnBrk="0" hangingPunct="1">
      <a:defRPr sz="2000" kern="1200">
        <a:solidFill>
          <a:schemeClr val="tx1"/>
        </a:solidFill>
        <a:latin typeface="+mn-lt"/>
        <a:ea typeface="+mn-ea"/>
        <a:cs typeface="+mn-cs"/>
      </a:defRPr>
    </a:lvl5pPr>
    <a:lvl6pPr marL="2540889" algn="l" defTabSz="508178" rtl="0" eaLnBrk="1" latinLnBrk="0" hangingPunct="1">
      <a:defRPr sz="2000" kern="1200">
        <a:solidFill>
          <a:schemeClr val="tx1"/>
        </a:solidFill>
        <a:latin typeface="+mn-lt"/>
        <a:ea typeface="+mn-ea"/>
        <a:cs typeface="+mn-cs"/>
      </a:defRPr>
    </a:lvl6pPr>
    <a:lvl7pPr marL="3049067" algn="l" defTabSz="508178" rtl="0" eaLnBrk="1" latinLnBrk="0" hangingPunct="1">
      <a:defRPr sz="2000" kern="1200">
        <a:solidFill>
          <a:schemeClr val="tx1"/>
        </a:solidFill>
        <a:latin typeface="+mn-lt"/>
        <a:ea typeface="+mn-ea"/>
        <a:cs typeface="+mn-cs"/>
      </a:defRPr>
    </a:lvl7pPr>
    <a:lvl8pPr marL="3557245" algn="l" defTabSz="508178" rtl="0" eaLnBrk="1" latinLnBrk="0" hangingPunct="1">
      <a:defRPr sz="2000" kern="1200">
        <a:solidFill>
          <a:schemeClr val="tx1"/>
        </a:solidFill>
        <a:latin typeface="+mn-lt"/>
        <a:ea typeface="+mn-ea"/>
        <a:cs typeface="+mn-cs"/>
      </a:defRPr>
    </a:lvl8pPr>
    <a:lvl9pPr marL="4065422" algn="l" defTabSz="508178" rtl="0" eaLnBrk="1" latinLnBrk="0" hangingPunct="1">
      <a:defRPr sz="20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462">
          <p15:clr>
            <a:srgbClr val="A4A3A4"/>
          </p15:clr>
        </p15:guide>
        <p15:guide id="2" pos="422">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scaleToFitPaper="1"/>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41A37"/>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62" d="100"/>
          <a:sy n="62" d="100"/>
        </p:scale>
        <p:origin x="1428" y="72"/>
      </p:cViewPr>
      <p:guideLst>
        <p:guide orient="horz" pos="462"/>
        <p:guide pos="422"/>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viewProps" Target="viewProp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2" name="Picture 1"/>
          <p:cNvPicPr>
            <a:picLocks noChangeAspect="1"/>
          </p:cNvPicPr>
          <p:nvPr userDrawn="1"/>
        </p:nvPicPr>
        <p:blipFill rotWithShape="1">
          <a:blip r:embed="rId2"/>
          <a:srcRect b="49802"/>
          <a:stretch/>
        </p:blipFill>
        <p:spPr>
          <a:xfrm>
            <a:off x="0" y="-1"/>
            <a:ext cx="10150475" cy="3821545"/>
          </a:xfrm>
          <a:prstGeom prst="rect">
            <a:avLst/>
          </a:prstGeom>
        </p:spPr>
      </p:pic>
    </p:spTree>
    <p:extLst>
      <p:ext uri="{BB962C8B-B14F-4D97-AF65-F5344CB8AC3E}">
        <p14:creationId xmlns:p14="http://schemas.microsoft.com/office/powerpoint/2010/main" val="401312063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pic>
        <p:nvPicPr>
          <p:cNvPr id="3" name="Picture 2"/>
          <p:cNvPicPr>
            <a:picLocks noChangeAspect="1"/>
          </p:cNvPicPr>
          <p:nvPr userDrawn="1"/>
        </p:nvPicPr>
        <p:blipFill rotWithShape="1">
          <a:blip r:embed="rId2"/>
          <a:srcRect b="-301"/>
          <a:stretch/>
        </p:blipFill>
        <p:spPr>
          <a:xfrm>
            <a:off x="0" y="0"/>
            <a:ext cx="10150475" cy="7635875"/>
          </a:xfrm>
          <a:prstGeom prst="rect">
            <a:avLst/>
          </a:prstGeom>
        </p:spPr>
      </p:pic>
    </p:spTree>
    <p:extLst>
      <p:ext uri="{BB962C8B-B14F-4D97-AF65-F5344CB8AC3E}">
        <p14:creationId xmlns:p14="http://schemas.microsoft.com/office/powerpoint/2010/main" val="163907144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pic>
        <p:nvPicPr>
          <p:cNvPr id="9" name="Picture 8" descr="NUST Marketing Brand Mark.ai"/>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96302" y="296078"/>
            <a:ext cx="4140200" cy="1295400"/>
          </a:xfrm>
          <a:prstGeom prst="rect">
            <a:avLst/>
          </a:prstGeom>
        </p:spPr>
      </p:pic>
      <p:sp>
        <p:nvSpPr>
          <p:cNvPr id="4" name="TextBox 3"/>
          <p:cNvSpPr txBox="1"/>
          <p:nvPr userDrawn="1"/>
        </p:nvSpPr>
        <p:spPr>
          <a:xfrm>
            <a:off x="1438871" y="1406916"/>
            <a:ext cx="4453268" cy="400110"/>
          </a:xfrm>
          <a:prstGeom prst="rect">
            <a:avLst/>
          </a:prstGeom>
          <a:noFill/>
        </p:spPr>
        <p:txBody>
          <a:bodyPr wrap="square" rtlCol="0">
            <a:spAutoFit/>
          </a:bodyPr>
          <a:lstStyle/>
          <a:p>
            <a:pPr marR="0" algn="l" rtl="0"/>
            <a:r>
              <a:rPr lang="en-US" sz="2000" b="1" i="0" u="none" strike="noStrike" baseline="0" dirty="0" smtClean="0">
                <a:solidFill>
                  <a:srgbClr val="141A37"/>
                </a:solidFill>
                <a:latin typeface="RopaSoftPro-Regular"/>
              </a:rPr>
              <a:t>Faculty of Computing and Informatics</a:t>
            </a:r>
          </a:p>
        </p:txBody>
      </p:sp>
    </p:spTree>
    <p:extLst>
      <p:ext uri="{BB962C8B-B14F-4D97-AF65-F5344CB8AC3E}">
        <p14:creationId xmlns:p14="http://schemas.microsoft.com/office/powerpoint/2010/main" val="366105389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7D9619E1-8D7B-8148-82B0-908DBEC4CE4D}" type="datetimeFigureOut">
              <a:rPr lang="en-US" smtClean="0"/>
              <a:t>2/27/2023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56E6150-8108-4B44-B0B0-BFDC52A01023}" type="slidenum">
              <a:rPr lang="en-US" smtClean="0"/>
              <a:t>‹#›</a:t>
            </a:fld>
            <a:endParaRPr lang="en-US"/>
          </a:p>
        </p:txBody>
      </p:sp>
    </p:spTree>
    <p:extLst>
      <p:ext uri="{BB962C8B-B14F-4D97-AF65-F5344CB8AC3E}">
        <p14:creationId xmlns:p14="http://schemas.microsoft.com/office/powerpoint/2010/main" val="362315961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563915" y="1983207"/>
            <a:ext cx="4985364" cy="5612015"/>
          </a:xfrm>
        </p:spPr>
        <p:txBody>
          <a:bodyPr/>
          <a:lstStyle>
            <a:lvl1pPr>
              <a:defRPr sz="3100"/>
            </a:lvl1pPr>
            <a:lvl2pPr>
              <a:defRPr sz="2700"/>
            </a:lvl2pPr>
            <a:lvl3pPr>
              <a:defRPr sz="22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5718454" y="1983207"/>
            <a:ext cx="4985363" cy="5612015"/>
          </a:xfrm>
        </p:spPr>
        <p:txBody>
          <a:bodyPr/>
          <a:lstStyle>
            <a:lvl1pPr>
              <a:defRPr sz="3100"/>
            </a:lvl1pPr>
            <a:lvl2pPr>
              <a:defRPr sz="2700"/>
            </a:lvl2pPr>
            <a:lvl3pPr>
              <a:defRPr sz="22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7D9619E1-8D7B-8148-82B0-908DBEC4CE4D}" type="datetimeFigureOut">
              <a:rPr lang="en-US" smtClean="0"/>
              <a:t>2/27/2023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56E6150-8108-4B44-B0B0-BFDC52A01023}" type="slidenum">
              <a:rPr lang="en-US" smtClean="0"/>
              <a:t>‹#›</a:t>
            </a:fld>
            <a:endParaRPr lang="en-US"/>
          </a:p>
        </p:txBody>
      </p:sp>
    </p:spTree>
    <p:extLst>
      <p:ext uri="{BB962C8B-B14F-4D97-AF65-F5344CB8AC3E}">
        <p14:creationId xmlns:p14="http://schemas.microsoft.com/office/powerpoint/2010/main" val="52203527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507524" y="305789"/>
            <a:ext cx="9135428" cy="1272646"/>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507524" y="1709234"/>
            <a:ext cx="4484889" cy="712328"/>
          </a:xfrm>
        </p:spPr>
        <p:txBody>
          <a:bodyPr anchor="b"/>
          <a:lstStyle>
            <a:lvl1pPr marL="0" indent="0">
              <a:buNone/>
              <a:defRPr sz="2700" b="1"/>
            </a:lvl1pPr>
            <a:lvl2pPr marL="508178" indent="0">
              <a:buNone/>
              <a:defRPr sz="2200" b="1"/>
            </a:lvl2pPr>
            <a:lvl3pPr marL="1016356" indent="0">
              <a:buNone/>
              <a:defRPr sz="2000" b="1"/>
            </a:lvl3pPr>
            <a:lvl4pPr marL="1524533" indent="0">
              <a:buNone/>
              <a:defRPr sz="1800" b="1"/>
            </a:lvl4pPr>
            <a:lvl5pPr marL="2032711" indent="0">
              <a:buNone/>
              <a:defRPr sz="1800" b="1"/>
            </a:lvl5pPr>
            <a:lvl6pPr marL="2540889" indent="0">
              <a:buNone/>
              <a:defRPr sz="1800" b="1"/>
            </a:lvl6pPr>
            <a:lvl7pPr marL="3049067" indent="0">
              <a:buNone/>
              <a:defRPr sz="1800" b="1"/>
            </a:lvl7pPr>
            <a:lvl8pPr marL="3557245" indent="0">
              <a:buNone/>
              <a:defRPr sz="1800" b="1"/>
            </a:lvl8pPr>
            <a:lvl9pPr marL="4065422" indent="0">
              <a:buNone/>
              <a:defRPr sz="1800" b="1"/>
            </a:lvl9pPr>
          </a:lstStyle>
          <a:p>
            <a:pPr lvl="0"/>
            <a:r>
              <a:rPr lang="en-US" smtClean="0"/>
              <a:t>Click to edit Master text styles</a:t>
            </a:r>
          </a:p>
        </p:txBody>
      </p:sp>
      <p:sp>
        <p:nvSpPr>
          <p:cNvPr id="4" name="Content Placeholder 3"/>
          <p:cNvSpPr>
            <a:spLocks noGrp="1"/>
          </p:cNvSpPr>
          <p:nvPr>
            <p:ph sz="half" idx="2"/>
          </p:nvPr>
        </p:nvSpPr>
        <p:spPr>
          <a:xfrm>
            <a:off x="507524" y="2421562"/>
            <a:ext cx="4484889" cy="4399467"/>
          </a:xfrm>
        </p:spPr>
        <p:txBody>
          <a:bodyPr/>
          <a:lstStyle>
            <a:lvl1pPr>
              <a:defRPr sz="2700"/>
            </a:lvl1pPr>
            <a:lvl2pPr>
              <a:defRPr sz="22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5156301" y="1709234"/>
            <a:ext cx="4486651" cy="712328"/>
          </a:xfrm>
        </p:spPr>
        <p:txBody>
          <a:bodyPr anchor="b"/>
          <a:lstStyle>
            <a:lvl1pPr marL="0" indent="0">
              <a:buNone/>
              <a:defRPr sz="2700" b="1"/>
            </a:lvl1pPr>
            <a:lvl2pPr marL="508178" indent="0">
              <a:buNone/>
              <a:defRPr sz="2200" b="1"/>
            </a:lvl2pPr>
            <a:lvl3pPr marL="1016356" indent="0">
              <a:buNone/>
              <a:defRPr sz="2000" b="1"/>
            </a:lvl3pPr>
            <a:lvl4pPr marL="1524533" indent="0">
              <a:buNone/>
              <a:defRPr sz="1800" b="1"/>
            </a:lvl4pPr>
            <a:lvl5pPr marL="2032711" indent="0">
              <a:buNone/>
              <a:defRPr sz="1800" b="1"/>
            </a:lvl5pPr>
            <a:lvl6pPr marL="2540889" indent="0">
              <a:buNone/>
              <a:defRPr sz="1800" b="1"/>
            </a:lvl6pPr>
            <a:lvl7pPr marL="3049067" indent="0">
              <a:buNone/>
              <a:defRPr sz="1800" b="1"/>
            </a:lvl7pPr>
            <a:lvl8pPr marL="3557245" indent="0">
              <a:buNone/>
              <a:defRPr sz="1800" b="1"/>
            </a:lvl8pPr>
            <a:lvl9pPr marL="4065422" indent="0">
              <a:buNone/>
              <a:defRPr sz="1800" b="1"/>
            </a:lvl9pPr>
          </a:lstStyle>
          <a:p>
            <a:pPr lvl="0"/>
            <a:r>
              <a:rPr lang="en-US" smtClean="0"/>
              <a:t>Click to edit Master text styles</a:t>
            </a:r>
          </a:p>
        </p:txBody>
      </p:sp>
      <p:sp>
        <p:nvSpPr>
          <p:cNvPr id="6" name="Content Placeholder 5"/>
          <p:cNvSpPr>
            <a:spLocks noGrp="1"/>
          </p:cNvSpPr>
          <p:nvPr>
            <p:ph sz="quarter" idx="4"/>
          </p:nvPr>
        </p:nvSpPr>
        <p:spPr>
          <a:xfrm>
            <a:off x="5156301" y="2421562"/>
            <a:ext cx="4486651" cy="4399467"/>
          </a:xfrm>
        </p:spPr>
        <p:txBody>
          <a:bodyPr/>
          <a:lstStyle>
            <a:lvl1pPr>
              <a:defRPr sz="2700"/>
            </a:lvl1pPr>
            <a:lvl2pPr>
              <a:defRPr sz="22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7D9619E1-8D7B-8148-82B0-908DBEC4CE4D}" type="datetimeFigureOut">
              <a:rPr lang="en-US" smtClean="0"/>
              <a:t>2/27/2023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56E6150-8108-4B44-B0B0-BFDC52A01023}" type="slidenum">
              <a:rPr lang="en-US" smtClean="0"/>
              <a:t>‹#›</a:t>
            </a:fld>
            <a:endParaRPr lang="en-US"/>
          </a:p>
        </p:txBody>
      </p:sp>
    </p:spTree>
    <p:extLst>
      <p:ext uri="{BB962C8B-B14F-4D97-AF65-F5344CB8AC3E}">
        <p14:creationId xmlns:p14="http://schemas.microsoft.com/office/powerpoint/2010/main" val="9577139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7D9619E1-8D7B-8148-82B0-908DBEC4CE4D}" type="datetimeFigureOut">
              <a:rPr lang="en-US" smtClean="0"/>
              <a:t>2/27/2023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56E6150-8108-4B44-B0B0-BFDC52A01023}" type="slidenum">
              <a:rPr lang="en-US" smtClean="0"/>
              <a:t>‹#›</a:t>
            </a:fld>
            <a:endParaRPr lang="en-US"/>
          </a:p>
        </p:txBody>
      </p:sp>
    </p:spTree>
    <p:extLst>
      <p:ext uri="{BB962C8B-B14F-4D97-AF65-F5344CB8AC3E}">
        <p14:creationId xmlns:p14="http://schemas.microsoft.com/office/powerpoint/2010/main" val="155045733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D9619E1-8D7B-8148-82B0-908DBEC4CE4D}" type="datetimeFigureOut">
              <a:rPr lang="en-US" smtClean="0"/>
              <a:t>2/27/2023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56E6150-8108-4B44-B0B0-BFDC52A01023}" type="slidenum">
              <a:rPr lang="en-US" smtClean="0"/>
              <a:t>‹#›</a:t>
            </a:fld>
            <a:endParaRPr lang="en-US"/>
          </a:p>
        </p:txBody>
      </p:sp>
    </p:spTree>
    <p:extLst>
      <p:ext uri="{BB962C8B-B14F-4D97-AF65-F5344CB8AC3E}">
        <p14:creationId xmlns:p14="http://schemas.microsoft.com/office/powerpoint/2010/main" val="341907691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07524" y="304021"/>
            <a:ext cx="3339436" cy="1293857"/>
          </a:xfrm>
        </p:spPr>
        <p:txBody>
          <a:bodyPr anchor="b"/>
          <a:lstStyle>
            <a:lvl1pPr algn="l">
              <a:defRPr sz="2200" b="1"/>
            </a:lvl1pPr>
          </a:lstStyle>
          <a:p>
            <a:r>
              <a:rPr lang="en-US" smtClean="0"/>
              <a:t>Click to edit Master title style</a:t>
            </a:r>
            <a:endParaRPr lang="en-US"/>
          </a:p>
        </p:txBody>
      </p:sp>
      <p:sp>
        <p:nvSpPr>
          <p:cNvPr id="3" name="Content Placeholder 2"/>
          <p:cNvSpPr>
            <a:spLocks noGrp="1"/>
          </p:cNvSpPr>
          <p:nvPr>
            <p:ph idx="1"/>
          </p:nvPr>
        </p:nvSpPr>
        <p:spPr>
          <a:xfrm>
            <a:off x="3968554" y="304021"/>
            <a:ext cx="5674397" cy="6517008"/>
          </a:xfrm>
        </p:spPr>
        <p:txBody>
          <a:bodyPr/>
          <a:lstStyle>
            <a:lvl1pPr>
              <a:defRPr sz="3600"/>
            </a:lvl1pPr>
            <a:lvl2pPr>
              <a:defRPr sz="3100"/>
            </a:lvl2pPr>
            <a:lvl3pPr>
              <a:defRPr sz="2700"/>
            </a:lvl3pPr>
            <a:lvl4pPr>
              <a:defRPr sz="2200"/>
            </a:lvl4pPr>
            <a:lvl5pPr>
              <a:defRPr sz="2200"/>
            </a:lvl5pPr>
            <a:lvl6pPr>
              <a:defRPr sz="2200"/>
            </a:lvl6pPr>
            <a:lvl7pPr>
              <a:defRPr sz="2200"/>
            </a:lvl7pPr>
            <a:lvl8pPr>
              <a:defRPr sz="2200"/>
            </a:lvl8pPr>
            <a:lvl9pPr>
              <a:defRPr sz="22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507524" y="1597878"/>
            <a:ext cx="3339436" cy="5223151"/>
          </a:xfrm>
        </p:spPr>
        <p:txBody>
          <a:bodyPr/>
          <a:lstStyle>
            <a:lvl1pPr marL="0" indent="0">
              <a:buNone/>
              <a:defRPr sz="1600"/>
            </a:lvl1pPr>
            <a:lvl2pPr marL="508178" indent="0">
              <a:buNone/>
              <a:defRPr sz="1300"/>
            </a:lvl2pPr>
            <a:lvl3pPr marL="1016356" indent="0">
              <a:buNone/>
              <a:defRPr sz="1100"/>
            </a:lvl3pPr>
            <a:lvl4pPr marL="1524533" indent="0">
              <a:buNone/>
              <a:defRPr sz="1000"/>
            </a:lvl4pPr>
            <a:lvl5pPr marL="2032711" indent="0">
              <a:buNone/>
              <a:defRPr sz="1000"/>
            </a:lvl5pPr>
            <a:lvl6pPr marL="2540889" indent="0">
              <a:buNone/>
              <a:defRPr sz="1000"/>
            </a:lvl6pPr>
            <a:lvl7pPr marL="3049067" indent="0">
              <a:buNone/>
              <a:defRPr sz="1000"/>
            </a:lvl7pPr>
            <a:lvl8pPr marL="3557245" indent="0">
              <a:buNone/>
              <a:defRPr sz="1000"/>
            </a:lvl8pPr>
            <a:lvl9pPr marL="4065422"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7D9619E1-8D7B-8148-82B0-908DBEC4CE4D}" type="datetimeFigureOut">
              <a:rPr lang="en-US" smtClean="0"/>
              <a:t>2/27/2023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56E6150-8108-4B44-B0B0-BFDC52A01023}" type="slidenum">
              <a:rPr lang="en-US" smtClean="0"/>
              <a:t>‹#›</a:t>
            </a:fld>
            <a:endParaRPr lang="en-US"/>
          </a:p>
        </p:txBody>
      </p:sp>
    </p:spTree>
    <p:extLst>
      <p:ext uri="{BB962C8B-B14F-4D97-AF65-F5344CB8AC3E}">
        <p14:creationId xmlns:p14="http://schemas.microsoft.com/office/powerpoint/2010/main" val="35439314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989564" y="5345112"/>
            <a:ext cx="6090285" cy="631021"/>
          </a:xfrm>
        </p:spPr>
        <p:txBody>
          <a:bodyPr anchor="b"/>
          <a:lstStyle>
            <a:lvl1pPr algn="l">
              <a:defRPr sz="2200" b="1"/>
            </a:lvl1pPr>
          </a:lstStyle>
          <a:p>
            <a:r>
              <a:rPr lang="en-US" smtClean="0"/>
              <a:t>Click to edit Master title style</a:t>
            </a:r>
            <a:endParaRPr lang="en-US"/>
          </a:p>
        </p:txBody>
      </p:sp>
      <p:sp>
        <p:nvSpPr>
          <p:cNvPr id="3" name="Picture Placeholder 2"/>
          <p:cNvSpPr>
            <a:spLocks noGrp="1"/>
          </p:cNvSpPr>
          <p:nvPr>
            <p:ph type="pic" idx="1"/>
          </p:nvPr>
        </p:nvSpPr>
        <p:spPr>
          <a:xfrm>
            <a:off x="1989564" y="682280"/>
            <a:ext cx="6090285" cy="4581525"/>
          </a:xfrm>
        </p:spPr>
        <p:txBody>
          <a:bodyPr/>
          <a:lstStyle>
            <a:lvl1pPr marL="0" indent="0">
              <a:buNone/>
              <a:defRPr sz="3600"/>
            </a:lvl1pPr>
            <a:lvl2pPr marL="508178" indent="0">
              <a:buNone/>
              <a:defRPr sz="3100"/>
            </a:lvl2pPr>
            <a:lvl3pPr marL="1016356" indent="0">
              <a:buNone/>
              <a:defRPr sz="2700"/>
            </a:lvl3pPr>
            <a:lvl4pPr marL="1524533" indent="0">
              <a:buNone/>
              <a:defRPr sz="2200"/>
            </a:lvl4pPr>
            <a:lvl5pPr marL="2032711" indent="0">
              <a:buNone/>
              <a:defRPr sz="2200"/>
            </a:lvl5pPr>
            <a:lvl6pPr marL="2540889" indent="0">
              <a:buNone/>
              <a:defRPr sz="2200"/>
            </a:lvl6pPr>
            <a:lvl7pPr marL="3049067" indent="0">
              <a:buNone/>
              <a:defRPr sz="2200"/>
            </a:lvl7pPr>
            <a:lvl8pPr marL="3557245" indent="0">
              <a:buNone/>
              <a:defRPr sz="2200"/>
            </a:lvl8pPr>
            <a:lvl9pPr marL="4065422" indent="0">
              <a:buNone/>
              <a:defRPr sz="2200"/>
            </a:lvl9pPr>
          </a:lstStyle>
          <a:p>
            <a:endParaRPr lang="en-US"/>
          </a:p>
        </p:txBody>
      </p:sp>
      <p:sp>
        <p:nvSpPr>
          <p:cNvPr id="4" name="Text Placeholder 3"/>
          <p:cNvSpPr>
            <a:spLocks noGrp="1"/>
          </p:cNvSpPr>
          <p:nvPr>
            <p:ph type="body" sz="half" idx="2"/>
          </p:nvPr>
        </p:nvSpPr>
        <p:spPr>
          <a:xfrm>
            <a:off x="1989564" y="5976133"/>
            <a:ext cx="6090285" cy="896154"/>
          </a:xfrm>
        </p:spPr>
        <p:txBody>
          <a:bodyPr/>
          <a:lstStyle>
            <a:lvl1pPr marL="0" indent="0">
              <a:buNone/>
              <a:defRPr sz="1600"/>
            </a:lvl1pPr>
            <a:lvl2pPr marL="508178" indent="0">
              <a:buNone/>
              <a:defRPr sz="1300"/>
            </a:lvl2pPr>
            <a:lvl3pPr marL="1016356" indent="0">
              <a:buNone/>
              <a:defRPr sz="1100"/>
            </a:lvl3pPr>
            <a:lvl4pPr marL="1524533" indent="0">
              <a:buNone/>
              <a:defRPr sz="1000"/>
            </a:lvl4pPr>
            <a:lvl5pPr marL="2032711" indent="0">
              <a:buNone/>
              <a:defRPr sz="1000"/>
            </a:lvl5pPr>
            <a:lvl6pPr marL="2540889" indent="0">
              <a:buNone/>
              <a:defRPr sz="1000"/>
            </a:lvl6pPr>
            <a:lvl7pPr marL="3049067" indent="0">
              <a:buNone/>
              <a:defRPr sz="1000"/>
            </a:lvl7pPr>
            <a:lvl8pPr marL="3557245" indent="0">
              <a:buNone/>
              <a:defRPr sz="1000"/>
            </a:lvl8pPr>
            <a:lvl9pPr marL="4065422"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7D9619E1-8D7B-8148-82B0-908DBEC4CE4D}" type="datetimeFigureOut">
              <a:rPr lang="en-US" smtClean="0"/>
              <a:t>2/27/2023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56E6150-8108-4B44-B0B0-BFDC52A01023}" type="slidenum">
              <a:rPr lang="en-US" smtClean="0"/>
              <a:t>‹#›</a:t>
            </a:fld>
            <a:endParaRPr lang="en-US"/>
          </a:p>
        </p:txBody>
      </p:sp>
    </p:spTree>
    <p:extLst>
      <p:ext uri="{BB962C8B-B14F-4D97-AF65-F5344CB8AC3E}">
        <p14:creationId xmlns:p14="http://schemas.microsoft.com/office/powerpoint/2010/main" val="336784022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7D9619E1-8D7B-8148-82B0-908DBEC4CE4D}" type="datetimeFigureOut">
              <a:rPr lang="en-US" smtClean="0"/>
              <a:t>2/27/2023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56E6150-8108-4B44-B0B0-BFDC52A01023}" type="slidenum">
              <a:rPr lang="en-US" smtClean="0"/>
              <a:t>‹#›</a:t>
            </a:fld>
            <a:endParaRPr lang="en-US"/>
          </a:p>
        </p:txBody>
      </p:sp>
    </p:spTree>
    <p:extLst>
      <p:ext uri="{BB962C8B-B14F-4D97-AF65-F5344CB8AC3E}">
        <p14:creationId xmlns:p14="http://schemas.microsoft.com/office/powerpoint/2010/main" val="342240777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169723" y="341140"/>
            <a:ext cx="2534094" cy="7254081"/>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563915" y="341140"/>
            <a:ext cx="7436633" cy="7254081"/>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7D9619E1-8D7B-8148-82B0-908DBEC4CE4D}" type="datetimeFigureOut">
              <a:rPr lang="en-US" smtClean="0"/>
              <a:t>2/27/2023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56E6150-8108-4B44-B0B0-BFDC52A01023}" type="slidenum">
              <a:rPr lang="en-US" smtClean="0"/>
              <a:t>‹#›</a:t>
            </a:fld>
            <a:endParaRPr lang="en-US"/>
          </a:p>
        </p:txBody>
      </p:sp>
    </p:spTree>
    <p:extLst>
      <p:ext uri="{BB962C8B-B14F-4D97-AF65-F5344CB8AC3E}">
        <p14:creationId xmlns:p14="http://schemas.microsoft.com/office/powerpoint/2010/main" val="253493839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07524" y="305789"/>
            <a:ext cx="9135428" cy="1272646"/>
          </a:xfrm>
          <a:prstGeom prst="rect">
            <a:avLst/>
          </a:prstGeom>
        </p:spPr>
        <p:txBody>
          <a:bodyPr vert="horz" lIns="101636" tIns="50818" rIns="101636" bIns="50818"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507524" y="1781704"/>
            <a:ext cx="9135428" cy="5039325"/>
          </a:xfrm>
          <a:prstGeom prst="rect">
            <a:avLst/>
          </a:prstGeom>
        </p:spPr>
        <p:txBody>
          <a:bodyPr vert="horz" lIns="101636" tIns="50818" rIns="101636" bIns="50818"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507524" y="7077325"/>
            <a:ext cx="2368444" cy="406540"/>
          </a:xfrm>
          <a:prstGeom prst="rect">
            <a:avLst/>
          </a:prstGeom>
        </p:spPr>
        <p:txBody>
          <a:bodyPr vert="horz" lIns="101636" tIns="50818" rIns="101636" bIns="50818" rtlCol="0" anchor="ctr"/>
          <a:lstStyle>
            <a:lvl1pPr algn="l">
              <a:defRPr sz="1300">
                <a:solidFill>
                  <a:schemeClr val="tx1">
                    <a:tint val="75000"/>
                  </a:schemeClr>
                </a:solidFill>
              </a:defRPr>
            </a:lvl1pPr>
          </a:lstStyle>
          <a:p>
            <a:fld id="{7D9619E1-8D7B-8148-82B0-908DBEC4CE4D}" type="datetimeFigureOut">
              <a:rPr lang="en-US" smtClean="0"/>
              <a:t>2/27/2023</a:t>
            </a:fld>
            <a:endParaRPr lang="en-US"/>
          </a:p>
        </p:txBody>
      </p:sp>
      <p:sp>
        <p:nvSpPr>
          <p:cNvPr id="5" name="Footer Placeholder 4"/>
          <p:cNvSpPr>
            <a:spLocks noGrp="1"/>
          </p:cNvSpPr>
          <p:nvPr>
            <p:ph type="ftr" sz="quarter" idx="3"/>
          </p:nvPr>
        </p:nvSpPr>
        <p:spPr>
          <a:xfrm>
            <a:off x="3468079" y="7077325"/>
            <a:ext cx="3214317" cy="406540"/>
          </a:xfrm>
          <a:prstGeom prst="rect">
            <a:avLst/>
          </a:prstGeom>
        </p:spPr>
        <p:txBody>
          <a:bodyPr vert="horz" lIns="101636" tIns="50818" rIns="101636" bIns="50818" rtlCol="0" anchor="ctr"/>
          <a:lstStyle>
            <a:lvl1pPr algn="ctr">
              <a:defRPr sz="13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7274507" y="7077325"/>
            <a:ext cx="2368444" cy="406540"/>
          </a:xfrm>
          <a:prstGeom prst="rect">
            <a:avLst/>
          </a:prstGeom>
        </p:spPr>
        <p:txBody>
          <a:bodyPr vert="horz" lIns="101636" tIns="50818" rIns="101636" bIns="50818" rtlCol="0" anchor="ctr"/>
          <a:lstStyle>
            <a:lvl1pPr algn="r">
              <a:defRPr sz="1300">
                <a:solidFill>
                  <a:schemeClr val="tx1">
                    <a:tint val="75000"/>
                  </a:schemeClr>
                </a:solidFill>
              </a:defRPr>
            </a:lvl1pPr>
          </a:lstStyle>
          <a:p>
            <a:fld id="{B56E6150-8108-4B44-B0B0-BFDC52A01023}" type="slidenum">
              <a:rPr lang="en-US" smtClean="0"/>
              <a:t>‹#›</a:t>
            </a:fld>
            <a:endParaRPr lang="en-US"/>
          </a:p>
        </p:txBody>
      </p:sp>
    </p:spTree>
    <p:extLst>
      <p:ext uri="{BB962C8B-B14F-4D97-AF65-F5344CB8AC3E}">
        <p14:creationId xmlns:p14="http://schemas.microsoft.com/office/powerpoint/2010/main" val="275922257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60"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txStyles>
    <p:titleStyle>
      <a:lvl1pPr algn="ctr" defTabSz="508178" rtl="0" eaLnBrk="1" latinLnBrk="0" hangingPunct="1">
        <a:spcBef>
          <a:spcPct val="0"/>
        </a:spcBef>
        <a:buNone/>
        <a:defRPr sz="4900" kern="1200">
          <a:solidFill>
            <a:schemeClr val="tx1"/>
          </a:solidFill>
          <a:latin typeface="+mj-lt"/>
          <a:ea typeface="+mj-ea"/>
          <a:cs typeface="+mj-cs"/>
        </a:defRPr>
      </a:lvl1pPr>
    </p:titleStyle>
    <p:bodyStyle>
      <a:lvl1pPr marL="381133" indent="-381133" algn="l" defTabSz="508178" rtl="0" eaLnBrk="1" latinLnBrk="0" hangingPunct="1">
        <a:spcBef>
          <a:spcPct val="20000"/>
        </a:spcBef>
        <a:buFont typeface="Arial"/>
        <a:buChar char="•"/>
        <a:defRPr sz="3600" kern="1200">
          <a:solidFill>
            <a:schemeClr val="tx1"/>
          </a:solidFill>
          <a:latin typeface="+mn-lt"/>
          <a:ea typeface="+mn-ea"/>
          <a:cs typeface="+mn-cs"/>
        </a:defRPr>
      </a:lvl1pPr>
      <a:lvl2pPr marL="825789" indent="-317611" algn="l" defTabSz="508178" rtl="0" eaLnBrk="1" latinLnBrk="0" hangingPunct="1">
        <a:spcBef>
          <a:spcPct val="20000"/>
        </a:spcBef>
        <a:buFont typeface="Arial"/>
        <a:buChar char="–"/>
        <a:defRPr sz="3100" kern="1200">
          <a:solidFill>
            <a:schemeClr val="tx1"/>
          </a:solidFill>
          <a:latin typeface="+mn-lt"/>
          <a:ea typeface="+mn-ea"/>
          <a:cs typeface="+mn-cs"/>
        </a:defRPr>
      </a:lvl2pPr>
      <a:lvl3pPr marL="1270445" indent="-254089" algn="l" defTabSz="508178" rtl="0" eaLnBrk="1" latinLnBrk="0" hangingPunct="1">
        <a:spcBef>
          <a:spcPct val="20000"/>
        </a:spcBef>
        <a:buFont typeface="Arial"/>
        <a:buChar char="•"/>
        <a:defRPr sz="2700" kern="1200">
          <a:solidFill>
            <a:schemeClr val="tx1"/>
          </a:solidFill>
          <a:latin typeface="+mn-lt"/>
          <a:ea typeface="+mn-ea"/>
          <a:cs typeface="+mn-cs"/>
        </a:defRPr>
      </a:lvl3pPr>
      <a:lvl4pPr marL="1778622" indent="-254089" algn="l" defTabSz="508178" rtl="0" eaLnBrk="1" latinLnBrk="0" hangingPunct="1">
        <a:spcBef>
          <a:spcPct val="20000"/>
        </a:spcBef>
        <a:buFont typeface="Arial"/>
        <a:buChar char="–"/>
        <a:defRPr sz="2200" kern="1200">
          <a:solidFill>
            <a:schemeClr val="tx1"/>
          </a:solidFill>
          <a:latin typeface="+mn-lt"/>
          <a:ea typeface="+mn-ea"/>
          <a:cs typeface="+mn-cs"/>
        </a:defRPr>
      </a:lvl4pPr>
      <a:lvl5pPr marL="2286800" indent="-254089" algn="l" defTabSz="508178" rtl="0" eaLnBrk="1" latinLnBrk="0" hangingPunct="1">
        <a:spcBef>
          <a:spcPct val="20000"/>
        </a:spcBef>
        <a:buFont typeface="Arial"/>
        <a:buChar char="»"/>
        <a:defRPr sz="2200" kern="1200">
          <a:solidFill>
            <a:schemeClr val="tx1"/>
          </a:solidFill>
          <a:latin typeface="+mn-lt"/>
          <a:ea typeface="+mn-ea"/>
          <a:cs typeface="+mn-cs"/>
        </a:defRPr>
      </a:lvl5pPr>
      <a:lvl6pPr marL="2794978" indent="-254089" algn="l" defTabSz="508178" rtl="0" eaLnBrk="1" latinLnBrk="0" hangingPunct="1">
        <a:spcBef>
          <a:spcPct val="20000"/>
        </a:spcBef>
        <a:buFont typeface="Arial"/>
        <a:buChar char="•"/>
        <a:defRPr sz="2200" kern="1200">
          <a:solidFill>
            <a:schemeClr val="tx1"/>
          </a:solidFill>
          <a:latin typeface="+mn-lt"/>
          <a:ea typeface="+mn-ea"/>
          <a:cs typeface="+mn-cs"/>
        </a:defRPr>
      </a:lvl6pPr>
      <a:lvl7pPr marL="3303156" indent="-254089" algn="l" defTabSz="508178" rtl="0" eaLnBrk="1" latinLnBrk="0" hangingPunct="1">
        <a:spcBef>
          <a:spcPct val="20000"/>
        </a:spcBef>
        <a:buFont typeface="Arial"/>
        <a:buChar char="•"/>
        <a:defRPr sz="2200" kern="1200">
          <a:solidFill>
            <a:schemeClr val="tx1"/>
          </a:solidFill>
          <a:latin typeface="+mn-lt"/>
          <a:ea typeface="+mn-ea"/>
          <a:cs typeface="+mn-cs"/>
        </a:defRPr>
      </a:lvl7pPr>
      <a:lvl8pPr marL="3811334" indent="-254089" algn="l" defTabSz="508178" rtl="0" eaLnBrk="1" latinLnBrk="0" hangingPunct="1">
        <a:spcBef>
          <a:spcPct val="20000"/>
        </a:spcBef>
        <a:buFont typeface="Arial"/>
        <a:buChar char="•"/>
        <a:defRPr sz="2200" kern="1200">
          <a:solidFill>
            <a:schemeClr val="tx1"/>
          </a:solidFill>
          <a:latin typeface="+mn-lt"/>
          <a:ea typeface="+mn-ea"/>
          <a:cs typeface="+mn-cs"/>
        </a:defRPr>
      </a:lvl8pPr>
      <a:lvl9pPr marL="4319511" indent="-254089" algn="l" defTabSz="508178" rtl="0" eaLnBrk="1" latinLnBrk="0" hangingPunct="1">
        <a:spcBef>
          <a:spcPct val="20000"/>
        </a:spcBef>
        <a:buFont typeface="Arial"/>
        <a:buChar char="•"/>
        <a:defRPr sz="2200" kern="1200">
          <a:solidFill>
            <a:schemeClr val="tx1"/>
          </a:solidFill>
          <a:latin typeface="+mn-lt"/>
          <a:ea typeface="+mn-ea"/>
          <a:cs typeface="+mn-cs"/>
        </a:defRPr>
      </a:lvl9pPr>
    </p:bodyStyle>
    <p:otherStyle>
      <a:defPPr>
        <a:defRPr lang="en-US"/>
      </a:defPPr>
      <a:lvl1pPr marL="0" algn="l" defTabSz="508178" rtl="0" eaLnBrk="1" latinLnBrk="0" hangingPunct="1">
        <a:defRPr sz="2000" kern="1200">
          <a:solidFill>
            <a:schemeClr val="tx1"/>
          </a:solidFill>
          <a:latin typeface="+mn-lt"/>
          <a:ea typeface="+mn-ea"/>
          <a:cs typeface="+mn-cs"/>
        </a:defRPr>
      </a:lvl1pPr>
      <a:lvl2pPr marL="508178" algn="l" defTabSz="508178" rtl="0" eaLnBrk="1" latinLnBrk="0" hangingPunct="1">
        <a:defRPr sz="2000" kern="1200">
          <a:solidFill>
            <a:schemeClr val="tx1"/>
          </a:solidFill>
          <a:latin typeface="+mn-lt"/>
          <a:ea typeface="+mn-ea"/>
          <a:cs typeface="+mn-cs"/>
        </a:defRPr>
      </a:lvl2pPr>
      <a:lvl3pPr marL="1016356" algn="l" defTabSz="508178" rtl="0" eaLnBrk="1" latinLnBrk="0" hangingPunct="1">
        <a:defRPr sz="2000" kern="1200">
          <a:solidFill>
            <a:schemeClr val="tx1"/>
          </a:solidFill>
          <a:latin typeface="+mn-lt"/>
          <a:ea typeface="+mn-ea"/>
          <a:cs typeface="+mn-cs"/>
        </a:defRPr>
      </a:lvl3pPr>
      <a:lvl4pPr marL="1524533" algn="l" defTabSz="508178" rtl="0" eaLnBrk="1" latinLnBrk="0" hangingPunct="1">
        <a:defRPr sz="2000" kern="1200">
          <a:solidFill>
            <a:schemeClr val="tx1"/>
          </a:solidFill>
          <a:latin typeface="+mn-lt"/>
          <a:ea typeface="+mn-ea"/>
          <a:cs typeface="+mn-cs"/>
        </a:defRPr>
      </a:lvl4pPr>
      <a:lvl5pPr marL="2032711" algn="l" defTabSz="508178" rtl="0" eaLnBrk="1" latinLnBrk="0" hangingPunct="1">
        <a:defRPr sz="2000" kern="1200">
          <a:solidFill>
            <a:schemeClr val="tx1"/>
          </a:solidFill>
          <a:latin typeface="+mn-lt"/>
          <a:ea typeface="+mn-ea"/>
          <a:cs typeface="+mn-cs"/>
        </a:defRPr>
      </a:lvl5pPr>
      <a:lvl6pPr marL="2540889" algn="l" defTabSz="508178" rtl="0" eaLnBrk="1" latinLnBrk="0" hangingPunct="1">
        <a:defRPr sz="2000" kern="1200">
          <a:solidFill>
            <a:schemeClr val="tx1"/>
          </a:solidFill>
          <a:latin typeface="+mn-lt"/>
          <a:ea typeface="+mn-ea"/>
          <a:cs typeface="+mn-cs"/>
        </a:defRPr>
      </a:lvl6pPr>
      <a:lvl7pPr marL="3049067" algn="l" defTabSz="508178" rtl="0" eaLnBrk="1" latinLnBrk="0" hangingPunct="1">
        <a:defRPr sz="2000" kern="1200">
          <a:solidFill>
            <a:schemeClr val="tx1"/>
          </a:solidFill>
          <a:latin typeface="+mn-lt"/>
          <a:ea typeface="+mn-ea"/>
          <a:cs typeface="+mn-cs"/>
        </a:defRPr>
      </a:lvl7pPr>
      <a:lvl8pPr marL="3557245" algn="l" defTabSz="508178" rtl="0" eaLnBrk="1" latinLnBrk="0" hangingPunct="1">
        <a:defRPr sz="2000" kern="1200">
          <a:solidFill>
            <a:schemeClr val="tx1"/>
          </a:solidFill>
          <a:latin typeface="+mn-lt"/>
          <a:ea typeface="+mn-ea"/>
          <a:cs typeface="+mn-cs"/>
        </a:defRPr>
      </a:lvl8pPr>
      <a:lvl9pPr marL="4065422" algn="l" defTabSz="508178" rtl="0" eaLnBrk="1" latinLnBrk="0" hangingPunct="1">
        <a:defRPr sz="20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descr="DSC_0063 (2).JPG"/>
          <p:cNvPicPr>
            <a:picLocks noChangeAspect="1"/>
          </p:cNvPicPr>
          <p:nvPr/>
        </p:nvPicPr>
        <p:blipFill rotWithShape="1">
          <a:blip r:embed="rId2">
            <a:extLst>
              <a:ext uri="{28A0092B-C50C-407E-A947-70E740481C1C}">
                <a14:useLocalDpi xmlns:a14="http://schemas.microsoft.com/office/drawing/2010/main" val="0"/>
              </a:ext>
            </a:extLst>
          </a:blip>
          <a:srcRect t="12540" r="15370" b="39874"/>
          <a:stretch/>
        </p:blipFill>
        <p:spPr>
          <a:xfrm>
            <a:off x="-17876" y="3824187"/>
            <a:ext cx="10168350" cy="3811687"/>
          </a:xfrm>
          <a:prstGeom prst="rect">
            <a:avLst/>
          </a:prstGeom>
        </p:spPr>
      </p:pic>
      <p:sp>
        <p:nvSpPr>
          <p:cNvPr id="7" name="TextBox 6"/>
          <p:cNvSpPr txBox="1"/>
          <p:nvPr/>
        </p:nvSpPr>
        <p:spPr>
          <a:xfrm>
            <a:off x="1366524" y="1383897"/>
            <a:ext cx="8008917" cy="400110"/>
          </a:xfrm>
          <a:prstGeom prst="rect">
            <a:avLst/>
          </a:prstGeom>
          <a:noFill/>
        </p:spPr>
        <p:txBody>
          <a:bodyPr wrap="square" rtlCol="0">
            <a:spAutoFit/>
          </a:bodyPr>
          <a:lstStyle/>
          <a:p>
            <a:pPr marR="0" algn="l" rtl="0"/>
            <a:r>
              <a:rPr lang="en-US" sz="2000" b="1" i="0" u="none" strike="noStrike" baseline="0" dirty="0" smtClean="0">
                <a:solidFill>
                  <a:srgbClr val="FFFFFF"/>
                </a:solidFill>
                <a:latin typeface="RopaSoftPro-Regular"/>
              </a:rPr>
              <a:t>Faculty</a:t>
            </a:r>
            <a:r>
              <a:rPr lang="en-US" b="1" dirty="0" smtClean="0">
                <a:solidFill>
                  <a:srgbClr val="FFFFFF"/>
                </a:solidFill>
                <a:latin typeface="RopaSoftPro-Regular"/>
              </a:rPr>
              <a:t> of Computing and Informatics</a:t>
            </a:r>
            <a:endParaRPr lang="en-US" sz="2000" b="1" i="0" u="none" strike="noStrike" baseline="0" dirty="0" smtClean="0">
              <a:solidFill>
                <a:srgbClr val="FFFFFF"/>
              </a:solidFill>
              <a:latin typeface="RopaSoftPro-Regular"/>
            </a:endParaRPr>
          </a:p>
        </p:txBody>
      </p:sp>
      <p:sp>
        <p:nvSpPr>
          <p:cNvPr id="11" name="TextBox 10"/>
          <p:cNvSpPr txBox="1"/>
          <p:nvPr/>
        </p:nvSpPr>
        <p:spPr>
          <a:xfrm>
            <a:off x="243393" y="1843552"/>
            <a:ext cx="9515960" cy="1477328"/>
          </a:xfrm>
          <a:prstGeom prst="rect">
            <a:avLst/>
          </a:prstGeom>
          <a:noFill/>
        </p:spPr>
        <p:txBody>
          <a:bodyPr wrap="square" rtlCol="0">
            <a:spAutoFit/>
          </a:bodyPr>
          <a:lstStyle/>
          <a:p>
            <a:pPr algn="ctr"/>
            <a:r>
              <a:rPr lang="en-US" sz="3000" dirty="0" smtClean="0">
                <a:solidFill>
                  <a:schemeClr val="bg1"/>
                </a:solidFill>
              </a:rPr>
              <a:t>Business Management Information Systems –</a:t>
            </a:r>
          </a:p>
          <a:p>
            <a:pPr algn="ctr"/>
            <a:r>
              <a:rPr lang="en-US" sz="3000" dirty="0" smtClean="0">
                <a:solidFill>
                  <a:schemeClr val="bg1"/>
                </a:solidFill>
              </a:rPr>
              <a:t> BMC511S</a:t>
            </a:r>
          </a:p>
          <a:p>
            <a:r>
              <a:rPr lang="en-US" sz="3000" dirty="0" smtClean="0">
                <a:solidFill>
                  <a:schemeClr val="bg1"/>
                </a:solidFill>
              </a:rPr>
              <a:t>Lesson 3 – Information systems </a:t>
            </a:r>
            <a:r>
              <a:rPr lang="en-US" sz="3000" dirty="0" err="1" smtClean="0">
                <a:solidFill>
                  <a:schemeClr val="bg1"/>
                </a:solidFill>
              </a:rPr>
              <a:t>organisation</a:t>
            </a:r>
            <a:r>
              <a:rPr lang="en-US" sz="3000" dirty="0" smtClean="0">
                <a:solidFill>
                  <a:schemeClr val="bg1"/>
                </a:solidFill>
              </a:rPr>
              <a:t> and strategy</a:t>
            </a:r>
          </a:p>
        </p:txBody>
      </p:sp>
      <p:pic>
        <p:nvPicPr>
          <p:cNvPr id="9" name="Picture 8"/>
          <p:cNvPicPr>
            <a:picLocks noChangeAspect="1"/>
          </p:cNvPicPr>
          <p:nvPr/>
        </p:nvPicPr>
        <p:blipFill>
          <a:blip r:embed="rId3"/>
          <a:stretch>
            <a:fillRect/>
          </a:stretch>
        </p:blipFill>
        <p:spPr>
          <a:xfrm>
            <a:off x="7880777" y="4294900"/>
            <a:ext cx="2387600" cy="2933700"/>
          </a:xfrm>
          <a:prstGeom prst="rect">
            <a:avLst/>
          </a:prstGeom>
        </p:spPr>
      </p:pic>
    </p:spTree>
    <p:extLst>
      <p:ext uri="{BB962C8B-B14F-4D97-AF65-F5344CB8AC3E}">
        <p14:creationId xmlns:p14="http://schemas.microsoft.com/office/powerpoint/2010/main" val="97423307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853440" y="2099648"/>
            <a:ext cx="9144635" cy="553998"/>
          </a:xfrm>
          <a:prstGeom prst="rect">
            <a:avLst/>
          </a:prstGeom>
          <a:noFill/>
        </p:spPr>
        <p:txBody>
          <a:bodyPr wrap="square" rtlCol="0">
            <a:spAutoFit/>
          </a:bodyPr>
          <a:lstStyle/>
          <a:p>
            <a:r>
              <a:rPr lang="en-US" sz="3000" dirty="0" smtClean="0">
                <a:solidFill>
                  <a:srgbClr val="FFFFFF"/>
                </a:solidFill>
              </a:rPr>
              <a:t>Information systems </a:t>
            </a:r>
            <a:r>
              <a:rPr lang="en-US" sz="3000" dirty="0" err="1" smtClean="0">
                <a:solidFill>
                  <a:srgbClr val="FFFFFF"/>
                </a:solidFill>
              </a:rPr>
              <a:t>organisation</a:t>
            </a:r>
            <a:r>
              <a:rPr lang="en-US" sz="3000" dirty="0" smtClean="0">
                <a:solidFill>
                  <a:srgbClr val="FFFFFF"/>
                </a:solidFill>
              </a:rPr>
              <a:t> and strategy</a:t>
            </a:r>
            <a:endParaRPr lang="en-US" sz="3000" dirty="0">
              <a:solidFill>
                <a:srgbClr val="FFFFFF"/>
              </a:solidFill>
            </a:endParaRPr>
          </a:p>
        </p:txBody>
      </p:sp>
      <p:sp>
        <p:nvSpPr>
          <p:cNvPr id="4" name="TextBox 3"/>
          <p:cNvSpPr txBox="1"/>
          <p:nvPr/>
        </p:nvSpPr>
        <p:spPr>
          <a:xfrm>
            <a:off x="1349153" y="2801693"/>
            <a:ext cx="8801322" cy="4315027"/>
          </a:xfrm>
          <a:prstGeom prst="rect">
            <a:avLst/>
          </a:prstGeom>
          <a:noFill/>
        </p:spPr>
        <p:txBody>
          <a:bodyPr wrap="square" rtlCol="0">
            <a:spAutoFit/>
          </a:bodyPr>
          <a:lstStyle/>
          <a:p>
            <a:pPr marL="457200" indent="-457200">
              <a:lnSpc>
                <a:spcPct val="140000"/>
              </a:lnSpc>
              <a:buFont typeface="+mj-lt"/>
              <a:buAutoNum type="arabicPeriod"/>
            </a:pPr>
            <a:r>
              <a:rPr lang="en-US" sz="2800" dirty="0" smtClean="0">
                <a:solidFill>
                  <a:srgbClr val="FFFFFF"/>
                </a:solidFill>
              </a:rPr>
              <a:t>Features of organisations</a:t>
            </a:r>
          </a:p>
          <a:p>
            <a:pPr marL="457200" indent="-457200">
              <a:lnSpc>
                <a:spcPct val="140000"/>
              </a:lnSpc>
              <a:buFont typeface="+mj-lt"/>
              <a:buAutoNum type="arabicPeriod"/>
            </a:pPr>
            <a:r>
              <a:rPr lang="en-US" sz="2800" dirty="0" smtClean="0">
                <a:solidFill>
                  <a:srgbClr val="FFFFFF"/>
                </a:solidFill>
              </a:rPr>
              <a:t>Economic impact of information systems on organisations</a:t>
            </a:r>
          </a:p>
          <a:p>
            <a:pPr marL="457200" indent="-457200">
              <a:lnSpc>
                <a:spcPct val="140000"/>
              </a:lnSpc>
              <a:buFont typeface="+mj-lt"/>
              <a:buAutoNum type="arabicPeriod"/>
            </a:pPr>
            <a:r>
              <a:rPr lang="en-US" sz="2800" dirty="0" smtClean="0">
                <a:solidFill>
                  <a:srgbClr val="FFFFFF"/>
                </a:solidFill>
              </a:rPr>
              <a:t>Porter’s competitive forces model</a:t>
            </a:r>
          </a:p>
          <a:p>
            <a:pPr marL="457200" indent="-457200">
              <a:lnSpc>
                <a:spcPct val="140000"/>
              </a:lnSpc>
              <a:buFont typeface="+mj-lt"/>
              <a:buAutoNum type="arabicPeriod"/>
            </a:pPr>
            <a:r>
              <a:rPr lang="en-US" sz="2800" dirty="0" smtClean="0">
                <a:solidFill>
                  <a:srgbClr val="FFFFFF"/>
                </a:solidFill>
              </a:rPr>
              <a:t>Information systems strategies for dealing with competitive forces</a:t>
            </a:r>
          </a:p>
          <a:p>
            <a:pPr marL="457200" indent="-457200">
              <a:lnSpc>
                <a:spcPct val="140000"/>
              </a:lnSpc>
              <a:buFont typeface="+mj-lt"/>
              <a:buAutoNum type="arabicPeriod"/>
            </a:pPr>
            <a:r>
              <a:rPr lang="en-US" sz="2800" dirty="0" smtClean="0">
                <a:solidFill>
                  <a:srgbClr val="FFFFFF"/>
                </a:solidFill>
              </a:rPr>
              <a:t>The business value chain model</a:t>
            </a:r>
          </a:p>
        </p:txBody>
      </p:sp>
      <p:sp>
        <p:nvSpPr>
          <p:cNvPr id="5" name="TextBox 4"/>
          <p:cNvSpPr txBox="1"/>
          <p:nvPr/>
        </p:nvSpPr>
        <p:spPr>
          <a:xfrm>
            <a:off x="1366524" y="1383897"/>
            <a:ext cx="8008917" cy="400110"/>
          </a:xfrm>
          <a:prstGeom prst="rect">
            <a:avLst/>
          </a:prstGeom>
          <a:noFill/>
        </p:spPr>
        <p:txBody>
          <a:bodyPr wrap="square" rtlCol="0">
            <a:spAutoFit/>
          </a:bodyPr>
          <a:lstStyle/>
          <a:p>
            <a:pPr marR="0" algn="l" rtl="0"/>
            <a:r>
              <a:rPr lang="en-US" sz="2000" b="1" i="0" u="none" strike="noStrike" baseline="0" dirty="0" smtClean="0">
                <a:solidFill>
                  <a:srgbClr val="FFFFFF"/>
                </a:solidFill>
                <a:latin typeface="RopaSoftPro-Regular"/>
              </a:rPr>
              <a:t>Faculty</a:t>
            </a:r>
            <a:r>
              <a:rPr lang="en-US" sz="2000" b="1" i="0" u="none" strike="noStrike" dirty="0" smtClean="0">
                <a:solidFill>
                  <a:srgbClr val="FFFFFF"/>
                </a:solidFill>
                <a:latin typeface="RopaSoftPro-Regular"/>
              </a:rPr>
              <a:t> of </a:t>
            </a:r>
            <a:r>
              <a:rPr lang="en-US" b="1" dirty="0">
                <a:solidFill>
                  <a:srgbClr val="FFFFFF"/>
                </a:solidFill>
                <a:latin typeface="RopaSoftPro-Regular"/>
              </a:rPr>
              <a:t> </a:t>
            </a:r>
            <a:r>
              <a:rPr lang="en-US" b="1" dirty="0" smtClean="0">
                <a:solidFill>
                  <a:srgbClr val="FFFFFF"/>
                </a:solidFill>
                <a:latin typeface="RopaSoftPro-Regular"/>
              </a:rPr>
              <a:t>Computing and Informatics</a:t>
            </a:r>
            <a:endParaRPr lang="en-US" sz="2000" b="1" i="0" u="none" strike="noStrike" baseline="0" dirty="0" smtClean="0">
              <a:solidFill>
                <a:srgbClr val="FFFFFF"/>
              </a:solidFill>
              <a:latin typeface="RopaSoftPro-Regular"/>
            </a:endParaRPr>
          </a:p>
        </p:txBody>
      </p:sp>
    </p:spTree>
    <p:extLst>
      <p:ext uri="{BB962C8B-B14F-4D97-AF65-F5344CB8AC3E}">
        <p14:creationId xmlns:p14="http://schemas.microsoft.com/office/powerpoint/2010/main" val="317482201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853440" y="2099648"/>
            <a:ext cx="9144635" cy="553998"/>
          </a:xfrm>
          <a:prstGeom prst="rect">
            <a:avLst/>
          </a:prstGeom>
          <a:noFill/>
        </p:spPr>
        <p:txBody>
          <a:bodyPr wrap="square" rtlCol="0">
            <a:spAutoFit/>
          </a:bodyPr>
          <a:lstStyle/>
          <a:p>
            <a:r>
              <a:rPr lang="en-US" sz="3000" dirty="0" smtClean="0">
                <a:solidFill>
                  <a:srgbClr val="FFFFFF"/>
                </a:solidFill>
              </a:rPr>
              <a:t>Features of organisations</a:t>
            </a:r>
            <a:endParaRPr lang="en-US" sz="3000" dirty="0">
              <a:solidFill>
                <a:srgbClr val="FFFFFF"/>
              </a:solidFill>
            </a:endParaRPr>
          </a:p>
        </p:txBody>
      </p:sp>
      <p:sp>
        <p:nvSpPr>
          <p:cNvPr id="4" name="TextBox 3"/>
          <p:cNvSpPr txBox="1"/>
          <p:nvPr/>
        </p:nvSpPr>
        <p:spPr>
          <a:xfrm>
            <a:off x="853440" y="2801693"/>
            <a:ext cx="9297035" cy="4745915"/>
          </a:xfrm>
          <a:prstGeom prst="rect">
            <a:avLst/>
          </a:prstGeom>
          <a:noFill/>
        </p:spPr>
        <p:txBody>
          <a:bodyPr wrap="square" rtlCol="0">
            <a:spAutoFit/>
          </a:bodyPr>
          <a:lstStyle/>
          <a:p>
            <a:pPr marL="342900" indent="-342900">
              <a:lnSpc>
                <a:spcPct val="140000"/>
              </a:lnSpc>
              <a:buFontTx/>
              <a:buChar char="-"/>
            </a:pPr>
            <a:r>
              <a:rPr lang="en-US" sz="2400" dirty="0" smtClean="0">
                <a:solidFill>
                  <a:srgbClr val="FFFFFF"/>
                </a:solidFill>
              </a:rPr>
              <a:t>An </a:t>
            </a:r>
            <a:r>
              <a:rPr lang="en-US" sz="2400" dirty="0" err="1" smtClean="0">
                <a:solidFill>
                  <a:srgbClr val="FFFFFF"/>
                </a:solidFill>
              </a:rPr>
              <a:t>organisation</a:t>
            </a:r>
            <a:r>
              <a:rPr lang="en-US" sz="2400" dirty="0" smtClean="0">
                <a:solidFill>
                  <a:srgbClr val="FFFFFF"/>
                </a:solidFill>
              </a:rPr>
              <a:t> is a group of people with a particular purpose, such as a business or government department</a:t>
            </a:r>
          </a:p>
          <a:p>
            <a:pPr marL="342900" indent="-342900">
              <a:lnSpc>
                <a:spcPct val="140000"/>
              </a:lnSpc>
              <a:buFontTx/>
              <a:buChar char="-"/>
            </a:pPr>
            <a:r>
              <a:rPr lang="en-US" sz="2400" dirty="0" smtClean="0">
                <a:solidFill>
                  <a:srgbClr val="FFFFFF"/>
                </a:solidFill>
              </a:rPr>
              <a:t>An </a:t>
            </a:r>
            <a:r>
              <a:rPr lang="en-US" sz="2400" dirty="0" err="1" smtClean="0">
                <a:solidFill>
                  <a:srgbClr val="FFFFFF"/>
                </a:solidFill>
              </a:rPr>
              <a:t>organisation</a:t>
            </a:r>
            <a:r>
              <a:rPr lang="en-US" sz="2400" dirty="0" smtClean="0">
                <a:solidFill>
                  <a:srgbClr val="FFFFFF"/>
                </a:solidFill>
              </a:rPr>
              <a:t> is a social unit of people that is structured and managed to meet a need or to pursue collective goals</a:t>
            </a:r>
          </a:p>
          <a:p>
            <a:pPr marL="342900" indent="-342900">
              <a:lnSpc>
                <a:spcPct val="140000"/>
              </a:lnSpc>
              <a:buFontTx/>
              <a:buChar char="-"/>
            </a:pPr>
            <a:endParaRPr lang="en-US" dirty="0">
              <a:solidFill>
                <a:srgbClr val="FFFFFF"/>
              </a:solidFill>
            </a:endParaRPr>
          </a:p>
          <a:p>
            <a:pPr marL="342900" indent="-342900">
              <a:lnSpc>
                <a:spcPct val="140000"/>
              </a:lnSpc>
              <a:buFontTx/>
              <a:buChar char="-"/>
            </a:pPr>
            <a:endParaRPr lang="en-US" dirty="0" smtClean="0">
              <a:solidFill>
                <a:srgbClr val="FFFFFF"/>
              </a:solidFill>
            </a:endParaRPr>
          </a:p>
          <a:p>
            <a:pPr marL="342900" indent="-342900">
              <a:lnSpc>
                <a:spcPct val="140000"/>
              </a:lnSpc>
              <a:buFontTx/>
              <a:buChar char="-"/>
            </a:pPr>
            <a:endParaRPr lang="en-US" dirty="0">
              <a:solidFill>
                <a:srgbClr val="FFFFFF"/>
              </a:solidFill>
            </a:endParaRPr>
          </a:p>
          <a:p>
            <a:pPr marL="342900" indent="-342900">
              <a:lnSpc>
                <a:spcPct val="140000"/>
              </a:lnSpc>
              <a:buFontTx/>
              <a:buChar char="-"/>
            </a:pPr>
            <a:endParaRPr lang="en-US" dirty="0" smtClean="0">
              <a:solidFill>
                <a:srgbClr val="FFFFFF"/>
              </a:solidFill>
            </a:endParaRPr>
          </a:p>
          <a:p>
            <a:pPr marL="342900" indent="-342900">
              <a:lnSpc>
                <a:spcPct val="140000"/>
              </a:lnSpc>
              <a:buFontTx/>
              <a:buChar char="-"/>
            </a:pPr>
            <a:endParaRPr lang="en-US" dirty="0">
              <a:solidFill>
                <a:srgbClr val="FFFFFF"/>
              </a:solidFill>
            </a:endParaRPr>
          </a:p>
          <a:p>
            <a:pPr marL="342900" indent="-342900">
              <a:lnSpc>
                <a:spcPct val="140000"/>
              </a:lnSpc>
              <a:buFontTx/>
              <a:buChar char="-"/>
            </a:pPr>
            <a:endParaRPr lang="en-US" dirty="0" smtClean="0">
              <a:solidFill>
                <a:srgbClr val="FFFFFF"/>
              </a:solidFill>
            </a:endParaRPr>
          </a:p>
        </p:txBody>
      </p:sp>
      <p:sp>
        <p:nvSpPr>
          <p:cNvPr id="5" name="TextBox 4"/>
          <p:cNvSpPr txBox="1"/>
          <p:nvPr/>
        </p:nvSpPr>
        <p:spPr>
          <a:xfrm>
            <a:off x="1366524" y="1383897"/>
            <a:ext cx="8008917" cy="400110"/>
          </a:xfrm>
          <a:prstGeom prst="rect">
            <a:avLst/>
          </a:prstGeom>
          <a:noFill/>
        </p:spPr>
        <p:txBody>
          <a:bodyPr wrap="square" rtlCol="0">
            <a:spAutoFit/>
          </a:bodyPr>
          <a:lstStyle/>
          <a:p>
            <a:pPr marR="0" algn="l" rtl="0"/>
            <a:r>
              <a:rPr lang="en-US" sz="2000" b="1" i="0" u="none" strike="noStrike" baseline="0" dirty="0" smtClean="0">
                <a:solidFill>
                  <a:srgbClr val="FFFFFF"/>
                </a:solidFill>
                <a:latin typeface="RopaSoftPro-Regular"/>
              </a:rPr>
              <a:t>Faculty</a:t>
            </a:r>
            <a:r>
              <a:rPr lang="en-US" sz="2000" b="1" i="0" u="none" strike="noStrike" dirty="0" smtClean="0">
                <a:solidFill>
                  <a:srgbClr val="FFFFFF"/>
                </a:solidFill>
                <a:latin typeface="RopaSoftPro-Regular"/>
              </a:rPr>
              <a:t> of </a:t>
            </a:r>
            <a:r>
              <a:rPr lang="en-US" b="1" dirty="0">
                <a:solidFill>
                  <a:srgbClr val="FFFFFF"/>
                </a:solidFill>
                <a:latin typeface="RopaSoftPro-Regular"/>
              </a:rPr>
              <a:t> </a:t>
            </a:r>
            <a:r>
              <a:rPr lang="en-US" b="1" dirty="0" smtClean="0">
                <a:solidFill>
                  <a:srgbClr val="FFFFFF"/>
                </a:solidFill>
                <a:latin typeface="RopaSoftPro-Regular"/>
              </a:rPr>
              <a:t>Computing and Informatics</a:t>
            </a:r>
            <a:endParaRPr lang="en-US" sz="2000" b="1" i="0" u="none" strike="noStrike" baseline="0" dirty="0" smtClean="0">
              <a:solidFill>
                <a:srgbClr val="FFFFFF"/>
              </a:solidFill>
              <a:latin typeface="RopaSoftPro-Regular"/>
            </a:endParaRPr>
          </a:p>
        </p:txBody>
      </p:sp>
    </p:spTree>
    <p:extLst>
      <p:ext uri="{BB962C8B-B14F-4D97-AF65-F5344CB8AC3E}">
        <p14:creationId xmlns:p14="http://schemas.microsoft.com/office/powerpoint/2010/main" val="70325590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853440" y="2099648"/>
            <a:ext cx="9144635" cy="553998"/>
          </a:xfrm>
          <a:prstGeom prst="rect">
            <a:avLst/>
          </a:prstGeom>
          <a:noFill/>
        </p:spPr>
        <p:txBody>
          <a:bodyPr wrap="square" rtlCol="0">
            <a:spAutoFit/>
          </a:bodyPr>
          <a:lstStyle/>
          <a:p>
            <a:r>
              <a:rPr lang="en-US" sz="3000" dirty="0" smtClean="0">
                <a:solidFill>
                  <a:srgbClr val="FFFFFF"/>
                </a:solidFill>
              </a:rPr>
              <a:t>Features of organisations</a:t>
            </a:r>
            <a:endParaRPr lang="en-US" sz="3000" dirty="0">
              <a:solidFill>
                <a:srgbClr val="FFFFFF"/>
              </a:solidFill>
            </a:endParaRPr>
          </a:p>
        </p:txBody>
      </p:sp>
      <p:sp>
        <p:nvSpPr>
          <p:cNvPr id="4" name="TextBox 3"/>
          <p:cNvSpPr txBox="1"/>
          <p:nvPr/>
        </p:nvSpPr>
        <p:spPr>
          <a:xfrm>
            <a:off x="853440" y="2801693"/>
            <a:ext cx="9297035" cy="3797963"/>
          </a:xfrm>
          <a:prstGeom prst="rect">
            <a:avLst/>
          </a:prstGeom>
          <a:noFill/>
        </p:spPr>
        <p:txBody>
          <a:bodyPr wrap="square" rtlCol="0">
            <a:spAutoFit/>
          </a:bodyPr>
          <a:lstStyle/>
          <a:p>
            <a:pPr marL="342900" indent="-342900">
              <a:lnSpc>
                <a:spcPct val="140000"/>
              </a:lnSpc>
              <a:buFontTx/>
              <a:buChar char="-"/>
            </a:pPr>
            <a:r>
              <a:rPr lang="en-US" sz="1800" dirty="0" smtClean="0">
                <a:solidFill>
                  <a:srgbClr val="FFFFFF"/>
                </a:solidFill>
              </a:rPr>
              <a:t>The interaction between IT and organisations is influenced by mediating factors including the </a:t>
            </a:r>
            <a:r>
              <a:rPr lang="en-US" sz="1800" dirty="0" err="1" smtClean="0">
                <a:solidFill>
                  <a:srgbClr val="FFFFFF"/>
                </a:solidFill>
              </a:rPr>
              <a:t>organisation’s</a:t>
            </a:r>
            <a:r>
              <a:rPr lang="en-US" sz="1800" dirty="0" smtClean="0">
                <a:solidFill>
                  <a:srgbClr val="FFFFFF"/>
                </a:solidFill>
              </a:rPr>
              <a:t> structure, business processes, culture, politics, surrounding environment and management decisions</a:t>
            </a:r>
          </a:p>
          <a:p>
            <a:pPr>
              <a:lnSpc>
                <a:spcPct val="140000"/>
              </a:lnSpc>
            </a:pPr>
            <a:endParaRPr lang="en-US" sz="1800" dirty="0">
              <a:solidFill>
                <a:srgbClr val="FFFFFF"/>
              </a:solidFill>
            </a:endParaRPr>
          </a:p>
          <a:p>
            <a:pPr marL="342900" indent="-342900">
              <a:lnSpc>
                <a:spcPct val="140000"/>
              </a:lnSpc>
              <a:buFontTx/>
              <a:buChar char="-"/>
            </a:pPr>
            <a:endParaRPr lang="en-US" dirty="0" smtClean="0">
              <a:solidFill>
                <a:srgbClr val="FFFFFF"/>
              </a:solidFill>
            </a:endParaRPr>
          </a:p>
          <a:p>
            <a:pPr marL="342900" indent="-342900">
              <a:lnSpc>
                <a:spcPct val="140000"/>
              </a:lnSpc>
              <a:buFontTx/>
              <a:buChar char="-"/>
            </a:pPr>
            <a:endParaRPr lang="en-US" dirty="0">
              <a:solidFill>
                <a:srgbClr val="FFFFFF"/>
              </a:solidFill>
            </a:endParaRPr>
          </a:p>
          <a:p>
            <a:pPr marL="342900" indent="-342900">
              <a:lnSpc>
                <a:spcPct val="140000"/>
              </a:lnSpc>
              <a:buFontTx/>
              <a:buChar char="-"/>
            </a:pPr>
            <a:endParaRPr lang="en-US" dirty="0" smtClean="0">
              <a:solidFill>
                <a:srgbClr val="FFFFFF"/>
              </a:solidFill>
            </a:endParaRPr>
          </a:p>
          <a:p>
            <a:pPr marL="342900" indent="-342900">
              <a:lnSpc>
                <a:spcPct val="140000"/>
              </a:lnSpc>
              <a:buFontTx/>
              <a:buChar char="-"/>
            </a:pPr>
            <a:endParaRPr lang="en-US" dirty="0">
              <a:solidFill>
                <a:srgbClr val="FFFFFF"/>
              </a:solidFill>
            </a:endParaRPr>
          </a:p>
          <a:p>
            <a:pPr marL="342900" indent="-342900">
              <a:lnSpc>
                <a:spcPct val="140000"/>
              </a:lnSpc>
              <a:buFontTx/>
              <a:buChar char="-"/>
            </a:pPr>
            <a:endParaRPr lang="en-US" dirty="0" smtClean="0">
              <a:solidFill>
                <a:srgbClr val="FFFFFF"/>
              </a:solidFill>
            </a:endParaRPr>
          </a:p>
        </p:txBody>
      </p:sp>
      <p:sp>
        <p:nvSpPr>
          <p:cNvPr id="5" name="TextBox 4"/>
          <p:cNvSpPr txBox="1"/>
          <p:nvPr/>
        </p:nvSpPr>
        <p:spPr>
          <a:xfrm>
            <a:off x="1366524" y="1383897"/>
            <a:ext cx="8008917" cy="400110"/>
          </a:xfrm>
          <a:prstGeom prst="rect">
            <a:avLst/>
          </a:prstGeom>
          <a:noFill/>
        </p:spPr>
        <p:txBody>
          <a:bodyPr wrap="square" rtlCol="0">
            <a:spAutoFit/>
          </a:bodyPr>
          <a:lstStyle/>
          <a:p>
            <a:pPr marR="0" algn="l" rtl="0"/>
            <a:r>
              <a:rPr lang="en-US" sz="2000" b="1" i="0" u="none" strike="noStrike" baseline="0" dirty="0" smtClean="0">
                <a:solidFill>
                  <a:srgbClr val="FFFFFF"/>
                </a:solidFill>
                <a:latin typeface="RopaSoftPro-Regular"/>
              </a:rPr>
              <a:t>Faculty</a:t>
            </a:r>
            <a:r>
              <a:rPr lang="en-US" sz="2000" b="1" i="0" u="none" strike="noStrike" dirty="0" smtClean="0">
                <a:solidFill>
                  <a:srgbClr val="FFFFFF"/>
                </a:solidFill>
                <a:latin typeface="RopaSoftPro-Regular"/>
              </a:rPr>
              <a:t> of </a:t>
            </a:r>
            <a:r>
              <a:rPr lang="en-US" b="1" dirty="0">
                <a:solidFill>
                  <a:srgbClr val="FFFFFF"/>
                </a:solidFill>
                <a:latin typeface="RopaSoftPro-Regular"/>
              </a:rPr>
              <a:t> </a:t>
            </a:r>
            <a:r>
              <a:rPr lang="en-US" b="1" dirty="0" smtClean="0">
                <a:solidFill>
                  <a:srgbClr val="FFFFFF"/>
                </a:solidFill>
                <a:latin typeface="RopaSoftPro-Regular"/>
              </a:rPr>
              <a:t>Computing and Informatics</a:t>
            </a:r>
            <a:endParaRPr lang="en-US" sz="2000" b="1" i="0" u="none" strike="noStrike" baseline="0" dirty="0" smtClean="0">
              <a:solidFill>
                <a:srgbClr val="FFFFFF"/>
              </a:solidFill>
              <a:latin typeface="RopaSoftPro-Regular"/>
            </a:endParaRPr>
          </a:p>
        </p:txBody>
      </p:sp>
      <p:pic>
        <p:nvPicPr>
          <p:cNvPr id="14" name="Picture Placeholder 10" descr="Fig-3-01.tif"/>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465085" y="4124529"/>
            <a:ext cx="4606924" cy="2996118"/>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26182330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853440" y="2099648"/>
            <a:ext cx="9144635" cy="553998"/>
          </a:xfrm>
          <a:prstGeom prst="rect">
            <a:avLst/>
          </a:prstGeom>
          <a:noFill/>
        </p:spPr>
        <p:txBody>
          <a:bodyPr wrap="square" rtlCol="0">
            <a:spAutoFit/>
          </a:bodyPr>
          <a:lstStyle/>
          <a:p>
            <a:r>
              <a:rPr lang="en-US" sz="3000" dirty="0" smtClean="0">
                <a:solidFill>
                  <a:srgbClr val="FFFFFF"/>
                </a:solidFill>
              </a:rPr>
              <a:t>Features of organisations</a:t>
            </a:r>
            <a:endParaRPr lang="en-US" sz="3000" dirty="0">
              <a:solidFill>
                <a:srgbClr val="FFFFFF"/>
              </a:solidFill>
            </a:endParaRPr>
          </a:p>
        </p:txBody>
      </p:sp>
      <p:sp>
        <p:nvSpPr>
          <p:cNvPr id="4" name="TextBox 3"/>
          <p:cNvSpPr txBox="1"/>
          <p:nvPr/>
        </p:nvSpPr>
        <p:spPr>
          <a:xfrm>
            <a:off x="853440" y="2801693"/>
            <a:ext cx="9297035" cy="4401205"/>
          </a:xfrm>
          <a:prstGeom prst="rect">
            <a:avLst/>
          </a:prstGeom>
          <a:noFill/>
        </p:spPr>
        <p:txBody>
          <a:bodyPr wrap="square" rtlCol="0">
            <a:spAutoFit/>
          </a:bodyPr>
          <a:lstStyle/>
          <a:p>
            <a:pPr marL="342900" indent="-342900">
              <a:lnSpc>
                <a:spcPct val="140000"/>
              </a:lnSpc>
              <a:buFontTx/>
              <a:buChar char="-"/>
            </a:pPr>
            <a:r>
              <a:rPr lang="en-US" dirty="0" smtClean="0">
                <a:solidFill>
                  <a:srgbClr val="FFFFFF"/>
                </a:solidFill>
              </a:rPr>
              <a:t>An </a:t>
            </a:r>
            <a:r>
              <a:rPr lang="en-US" dirty="0" err="1" smtClean="0">
                <a:solidFill>
                  <a:srgbClr val="FFFFFF"/>
                </a:solidFill>
              </a:rPr>
              <a:t>organisation’s</a:t>
            </a:r>
            <a:r>
              <a:rPr lang="en-US" dirty="0" smtClean="0">
                <a:solidFill>
                  <a:srgbClr val="FFFFFF"/>
                </a:solidFill>
              </a:rPr>
              <a:t> environment – the forces or institutions surrounding an </a:t>
            </a:r>
            <a:r>
              <a:rPr lang="en-US" dirty="0" err="1" smtClean="0">
                <a:solidFill>
                  <a:srgbClr val="FFFFFF"/>
                </a:solidFill>
              </a:rPr>
              <a:t>organisation</a:t>
            </a:r>
            <a:r>
              <a:rPr lang="en-US" dirty="0" smtClean="0">
                <a:solidFill>
                  <a:srgbClr val="FFFFFF"/>
                </a:solidFill>
              </a:rPr>
              <a:t> that affect its performance, operations and resources. Organisations draw resources which supply goods and services from the environment, e.g. government, competitors, customers, financial institutions</a:t>
            </a:r>
          </a:p>
          <a:p>
            <a:pPr marL="342900" indent="-342900">
              <a:lnSpc>
                <a:spcPct val="140000"/>
              </a:lnSpc>
              <a:buFontTx/>
              <a:buChar char="-"/>
            </a:pPr>
            <a:r>
              <a:rPr lang="en-US" dirty="0" smtClean="0">
                <a:solidFill>
                  <a:srgbClr val="FFFFFF"/>
                </a:solidFill>
              </a:rPr>
              <a:t>An </a:t>
            </a:r>
            <a:r>
              <a:rPr lang="en-US" dirty="0" err="1" smtClean="0">
                <a:solidFill>
                  <a:srgbClr val="FFFFFF"/>
                </a:solidFill>
              </a:rPr>
              <a:t>organisation’s</a:t>
            </a:r>
            <a:r>
              <a:rPr lang="en-US" dirty="0" smtClean="0">
                <a:solidFill>
                  <a:srgbClr val="FFFFFF"/>
                </a:solidFill>
              </a:rPr>
              <a:t> culture are the assumptions that define the </a:t>
            </a:r>
            <a:r>
              <a:rPr lang="en-US" dirty="0" err="1" smtClean="0">
                <a:solidFill>
                  <a:srgbClr val="FFFFFF"/>
                </a:solidFill>
              </a:rPr>
              <a:t>organisation’s</a:t>
            </a:r>
            <a:r>
              <a:rPr lang="en-US" dirty="0" smtClean="0">
                <a:solidFill>
                  <a:srgbClr val="FFFFFF"/>
                </a:solidFill>
              </a:rPr>
              <a:t> goals and products, e.g., it is assumed that students attend university to learn</a:t>
            </a:r>
          </a:p>
          <a:p>
            <a:pPr marL="342900" indent="-342900">
              <a:lnSpc>
                <a:spcPct val="140000"/>
              </a:lnSpc>
              <a:buFontTx/>
              <a:buChar char="-"/>
            </a:pPr>
            <a:r>
              <a:rPr lang="en-US" dirty="0" smtClean="0">
                <a:solidFill>
                  <a:srgbClr val="FFFFFF"/>
                </a:solidFill>
              </a:rPr>
              <a:t>An </a:t>
            </a:r>
            <a:r>
              <a:rPr lang="en-US" dirty="0" err="1" smtClean="0">
                <a:solidFill>
                  <a:srgbClr val="FFFFFF"/>
                </a:solidFill>
              </a:rPr>
              <a:t>organisations’s</a:t>
            </a:r>
            <a:r>
              <a:rPr lang="en-US" dirty="0" smtClean="0">
                <a:solidFill>
                  <a:srgbClr val="FFFFFF"/>
                </a:solidFill>
              </a:rPr>
              <a:t> structure is a system used to define a hierarchy with an </a:t>
            </a:r>
            <a:r>
              <a:rPr lang="en-US" dirty="0" err="1" smtClean="0">
                <a:solidFill>
                  <a:srgbClr val="FFFFFF"/>
                </a:solidFill>
              </a:rPr>
              <a:t>organisation</a:t>
            </a:r>
            <a:r>
              <a:rPr lang="en-US" dirty="0" smtClean="0">
                <a:solidFill>
                  <a:srgbClr val="FFFFFF"/>
                </a:solidFill>
              </a:rPr>
              <a:t>. It defines each job, its function and where it reports within the </a:t>
            </a:r>
            <a:r>
              <a:rPr lang="en-US" dirty="0" err="1" smtClean="0">
                <a:solidFill>
                  <a:srgbClr val="FFFFFF"/>
                </a:solidFill>
              </a:rPr>
              <a:t>organisation</a:t>
            </a:r>
            <a:endParaRPr lang="en-US" dirty="0" smtClean="0">
              <a:solidFill>
                <a:srgbClr val="FFFFFF"/>
              </a:solidFill>
            </a:endParaRPr>
          </a:p>
          <a:p>
            <a:pPr marL="342900" indent="-342900">
              <a:lnSpc>
                <a:spcPct val="140000"/>
              </a:lnSpc>
              <a:buFontTx/>
              <a:buChar char="-"/>
            </a:pPr>
            <a:endParaRPr lang="en-US" dirty="0" smtClean="0">
              <a:solidFill>
                <a:srgbClr val="FFFFFF"/>
              </a:solidFill>
            </a:endParaRPr>
          </a:p>
        </p:txBody>
      </p:sp>
      <p:sp>
        <p:nvSpPr>
          <p:cNvPr id="5" name="TextBox 4"/>
          <p:cNvSpPr txBox="1"/>
          <p:nvPr/>
        </p:nvSpPr>
        <p:spPr>
          <a:xfrm>
            <a:off x="1366524" y="1383897"/>
            <a:ext cx="8008917" cy="400110"/>
          </a:xfrm>
          <a:prstGeom prst="rect">
            <a:avLst/>
          </a:prstGeom>
          <a:noFill/>
        </p:spPr>
        <p:txBody>
          <a:bodyPr wrap="square" rtlCol="0">
            <a:spAutoFit/>
          </a:bodyPr>
          <a:lstStyle/>
          <a:p>
            <a:pPr marR="0" algn="l" rtl="0"/>
            <a:r>
              <a:rPr lang="en-US" sz="2000" b="1" i="0" u="none" strike="noStrike" baseline="0" dirty="0" smtClean="0">
                <a:solidFill>
                  <a:srgbClr val="FFFFFF"/>
                </a:solidFill>
                <a:latin typeface="RopaSoftPro-Regular"/>
              </a:rPr>
              <a:t>Faculty</a:t>
            </a:r>
            <a:r>
              <a:rPr lang="en-US" sz="2000" b="1" i="0" u="none" strike="noStrike" dirty="0" smtClean="0">
                <a:solidFill>
                  <a:srgbClr val="FFFFFF"/>
                </a:solidFill>
                <a:latin typeface="RopaSoftPro-Regular"/>
              </a:rPr>
              <a:t> of </a:t>
            </a:r>
            <a:r>
              <a:rPr lang="en-US" b="1" dirty="0">
                <a:solidFill>
                  <a:srgbClr val="FFFFFF"/>
                </a:solidFill>
                <a:latin typeface="RopaSoftPro-Regular"/>
              </a:rPr>
              <a:t> </a:t>
            </a:r>
            <a:r>
              <a:rPr lang="en-US" b="1" dirty="0" smtClean="0">
                <a:solidFill>
                  <a:srgbClr val="FFFFFF"/>
                </a:solidFill>
                <a:latin typeface="RopaSoftPro-Regular"/>
              </a:rPr>
              <a:t>Computing and Informatics</a:t>
            </a:r>
            <a:endParaRPr lang="en-US" sz="2000" b="1" i="0" u="none" strike="noStrike" baseline="0" dirty="0" smtClean="0">
              <a:solidFill>
                <a:srgbClr val="FFFFFF"/>
              </a:solidFill>
              <a:latin typeface="RopaSoftPro-Regular"/>
            </a:endParaRPr>
          </a:p>
        </p:txBody>
      </p:sp>
    </p:spTree>
    <p:extLst>
      <p:ext uri="{BB962C8B-B14F-4D97-AF65-F5344CB8AC3E}">
        <p14:creationId xmlns:p14="http://schemas.microsoft.com/office/powerpoint/2010/main" val="48271771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853440" y="2099648"/>
            <a:ext cx="9144635" cy="553998"/>
          </a:xfrm>
          <a:prstGeom prst="rect">
            <a:avLst/>
          </a:prstGeom>
          <a:noFill/>
        </p:spPr>
        <p:txBody>
          <a:bodyPr wrap="square" rtlCol="0">
            <a:spAutoFit/>
          </a:bodyPr>
          <a:lstStyle/>
          <a:p>
            <a:r>
              <a:rPr lang="en-US" sz="3000" dirty="0" smtClean="0">
                <a:solidFill>
                  <a:srgbClr val="FFFFFF"/>
                </a:solidFill>
              </a:rPr>
              <a:t>Features of organisations</a:t>
            </a:r>
            <a:endParaRPr lang="en-US" sz="3000" dirty="0">
              <a:solidFill>
                <a:srgbClr val="FFFFFF"/>
              </a:solidFill>
            </a:endParaRPr>
          </a:p>
        </p:txBody>
      </p:sp>
      <p:sp>
        <p:nvSpPr>
          <p:cNvPr id="4" name="TextBox 3"/>
          <p:cNvSpPr txBox="1"/>
          <p:nvPr/>
        </p:nvSpPr>
        <p:spPr>
          <a:xfrm>
            <a:off x="853440" y="2801693"/>
            <a:ext cx="9297035" cy="3539430"/>
          </a:xfrm>
          <a:prstGeom prst="rect">
            <a:avLst/>
          </a:prstGeom>
          <a:noFill/>
        </p:spPr>
        <p:txBody>
          <a:bodyPr wrap="square" rtlCol="0">
            <a:spAutoFit/>
          </a:bodyPr>
          <a:lstStyle/>
          <a:p>
            <a:pPr marL="342900" indent="-342900">
              <a:lnSpc>
                <a:spcPct val="140000"/>
              </a:lnSpc>
              <a:buFontTx/>
              <a:buChar char="-"/>
            </a:pPr>
            <a:r>
              <a:rPr lang="en-US" dirty="0" smtClean="0">
                <a:solidFill>
                  <a:srgbClr val="FFFFFF"/>
                </a:solidFill>
              </a:rPr>
              <a:t>An </a:t>
            </a:r>
            <a:r>
              <a:rPr lang="en-US" dirty="0" err="1" smtClean="0">
                <a:solidFill>
                  <a:srgbClr val="FFFFFF"/>
                </a:solidFill>
              </a:rPr>
              <a:t>organisation’s</a:t>
            </a:r>
            <a:r>
              <a:rPr lang="en-US" dirty="0" smtClean="0">
                <a:solidFill>
                  <a:srgbClr val="FFFFFF"/>
                </a:solidFill>
              </a:rPr>
              <a:t> business processes are the routines for providing goods and services, e.g., the gathering of basic information</a:t>
            </a:r>
          </a:p>
          <a:p>
            <a:pPr marL="342900" indent="-342900">
              <a:lnSpc>
                <a:spcPct val="140000"/>
              </a:lnSpc>
              <a:buFontTx/>
              <a:buChar char="-"/>
            </a:pPr>
            <a:r>
              <a:rPr lang="en-US" dirty="0" smtClean="0">
                <a:solidFill>
                  <a:srgbClr val="FFFFFF"/>
                </a:solidFill>
              </a:rPr>
              <a:t>An </a:t>
            </a:r>
            <a:r>
              <a:rPr lang="en-US" dirty="0" err="1" smtClean="0">
                <a:solidFill>
                  <a:srgbClr val="FFFFFF"/>
                </a:solidFill>
              </a:rPr>
              <a:t>organisation’s</a:t>
            </a:r>
            <a:r>
              <a:rPr lang="en-US" dirty="0" smtClean="0">
                <a:solidFill>
                  <a:srgbClr val="FFFFFF"/>
                </a:solidFill>
              </a:rPr>
              <a:t> politics are the informal, unofficial behind-the-scenes efforts to sell ideas, influence an </a:t>
            </a:r>
            <a:r>
              <a:rPr lang="en-US" dirty="0" err="1" smtClean="0">
                <a:solidFill>
                  <a:srgbClr val="FFFFFF"/>
                </a:solidFill>
              </a:rPr>
              <a:t>organisation</a:t>
            </a:r>
            <a:r>
              <a:rPr lang="en-US" dirty="0" smtClean="0">
                <a:solidFill>
                  <a:srgbClr val="FFFFFF"/>
                </a:solidFill>
              </a:rPr>
              <a:t>, increase power and achieve other targets. These are struggles for resources, competition and using informal networks to gain power and accomplish tasks.</a:t>
            </a:r>
          </a:p>
          <a:p>
            <a:pPr marL="342900" indent="-342900">
              <a:lnSpc>
                <a:spcPct val="140000"/>
              </a:lnSpc>
              <a:buFontTx/>
              <a:buChar char="-"/>
            </a:pPr>
            <a:r>
              <a:rPr lang="en-US" dirty="0" smtClean="0">
                <a:solidFill>
                  <a:srgbClr val="FFFFFF"/>
                </a:solidFill>
              </a:rPr>
              <a:t>An </a:t>
            </a:r>
            <a:r>
              <a:rPr lang="en-US" dirty="0" err="1" smtClean="0">
                <a:solidFill>
                  <a:srgbClr val="FFFFFF"/>
                </a:solidFill>
              </a:rPr>
              <a:t>organisation’s</a:t>
            </a:r>
            <a:r>
              <a:rPr lang="en-US" dirty="0" smtClean="0">
                <a:solidFill>
                  <a:srgbClr val="FFFFFF"/>
                </a:solidFill>
              </a:rPr>
              <a:t> management structure determines the different activities and members and assigns roles, responsibility and authority to carry out different tasks</a:t>
            </a:r>
          </a:p>
        </p:txBody>
      </p:sp>
      <p:sp>
        <p:nvSpPr>
          <p:cNvPr id="5" name="TextBox 4"/>
          <p:cNvSpPr txBox="1"/>
          <p:nvPr/>
        </p:nvSpPr>
        <p:spPr>
          <a:xfrm>
            <a:off x="1366524" y="1383897"/>
            <a:ext cx="8008917" cy="400110"/>
          </a:xfrm>
          <a:prstGeom prst="rect">
            <a:avLst/>
          </a:prstGeom>
          <a:noFill/>
        </p:spPr>
        <p:txBody>
          <a:bodyPr wrap="square" rtlCol="0">
            <a:spAutoFit/>
          </a:bodyPr>
          <a:lstStyle/>
          <a:p>
            <a:pPr marR="0" algn="l" rtl="0"/>
            <a:r>
              <a:rPr lang="en-US" sz="2000" b="1" i="0" u="none" strike="noStrike" baseline="0" dirty="0" smtClean="0">
                <a:solidFill>
                  <a:srgbClr val="FFFFFF"/>
                </a:solidFill>
                <a:latin typeface="RopaSoftPro-Regular"/>
              </a:rPr>
              <a:t>Faculty</a:t>
            </a:r>
            <a:r>
              <a:rPr lang="en-US" sz="2000" b="1" i="0" u="none" strike="noStrike" dirty="0" smtClean="0">
                <a:solidFill>
                  <a:srgbClr val="FFFFFF"/>
                </a:solidFill>
                <a:latin typeface="RopaSoftPro-Regular"/>
              </a:rPr>
              <a:t> of </a:t>
            </a:r>
            <a:r>
              <a:rPr lang="en-US" b="1" dirty="0">
                <a:solidFill>
                  <a:srgbClr val="FFFFFF"/>
                </a:solidFill>
                <a:latin typeface="RopaSoftPro-Regular"/>
              </a:rPr>
              <a:t> </a:t>
            </a:r>
            <a:r>
              <a:rPr lang="en-US" b="1" dirty="0" smtClean="0">
                <a:solidFill>
                  <a:srgbClr val="FFFFFF"/>
                </a:solidFill>
                <a:latin typeface="RopaSoftPro-Regular"/>
              </a:rPr>
              <a:t>Computing and Informatics</a:t>
            </a:r>
            <a:endParaRPr lang="en-US" sz="2000" b="1" i="0" u="none" strike="noStrike" baseline="0" dirty="0" smtClean="0">
              <a:solidFill>
                <a:srgbClr val="FFFFFF"/>
              </a:solidFill>
              <a:latin typeface="RopaSoftPro-Regular"/>
            </a:endParaRPr>
          </a:p>
        </p:txBody>
      </p:sp>
    </p:spTree>
    <p:extLst>
      <p:ext uri="{BB962C8B-B14F-4D97-AF65-F5344CB8AC3E}">
        <p14:creationId xmlns:p14="http://schemas.microsoft.com/office/powerpoint/2010/main" val="124858713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853440" y="2099648"/>
            <a:ext cx="9144635" cy="1015663"/>
          </a:xfrm>
          <a:prstGeom prst="rect">
            <a:avLst/>
          </a:prstGeom>
          <a:noFill/>
        </p:spPr>
        <p:txBody>
          <a:bodyPr wrap="square" rtlCol="0">
            <a:spAutoFit/>
          </a:bodyPr>
          <a:lstStyle/>
          <a:p>
            <a:r>
              <a:rPr lang="en-US" sz="3000" dirty="0" smtClean="0">
                <a:solidFill>
                  <a:srgbClr val="FFFFFF"/>
                </a:solidFill>
              </a:rPr>
              <a:t>The economic impacts of information systems in an </a:t>
            </a:r>
            <a:r>
              <a:rPr lang="en-US" sz="3000" dirty="0" err="1" smtClean="0">
                <a:solidFill>
                  <a:srgbClr val="FFFFFF"/>
                </a:solidFill>
              </a:rPr>
              <a:t>organisation</a:t>
            </a:r>
            <a:endParaRPr lang="en-US" sz="3000" dirty="0">
              <a:solidFill>
                <a:srgbClr val="FFFFFF"/>
              </a:solidFill>
            </a:endParaRPr>
          </a:p>
        </p:txBody>
      </p:sp>
      <p:sp>
        <p:nvSpPr>
          <p:cNvPr id="4" name="TextBox 3"/>
          <p:cNvSpPr txBox="1"/>
          <p:nvPr/>
        </p:nvSpPr>
        <p:spPr>
          <a:xfrm>
            <a:off x="798664" y="3112843"/>
            <a:ext cx="9144635" cy="4401205"/>
          </a:xfrm>
          <a:prstGeom prst="rect">
            <a:avLst/>
          </a:prstGeom>
          <a:noFill/>
        </p:spPr>
        <p:txBody>
          <a:bodyPr wrap="square" rtlCol="0">
            <a:spAutoFit/>
          </a:bodyPr>
          <a:lstStyle/>
          <a:p>
            <a:pPr>
              <a:lnSpc>
                <a:spcPct val="140000"/>
              </a:lnSpc>
            </a:pPr>
            <a:r>
              <a:rPr lang="en-US" dirty="0" smtClean="0">
                <a:solidFill>
                  <a:srgbClr val="FFFFFF"/>
                </a:solidFill>
              </a:rPr>
              <a:t>- IT as a factor of production that can be substituted for traditional </a:t>
            </a:r>
            <a:r>
              <a:rPr lang="en-US" dirty="0" err="1" smtClean="0">
                <a:solidFill>
                  <a:srgbClr val="FFFFFF"/>
                </a:solidFill>
              </a:rPr>
              <a:t>labour</a:t>
            </a:r>
            <a:r>
              <a:rPr lang="en-US" dirty="0" smtClean="0">
                <a:solidFill>
                  <a:srgbClr val="FFFFFF"/>
                </a:solidFill>
              </a:rPr>
              <a:t>. As </a:t>
            </a:r>
            <a:r>
              <a:rPr lang="en-US" dirty="0" err="1" smtClean="0">
                <a:solidFill>
                  <a:srgbClr val="FFFFFF"/>
                </a:solidFill>
              </a:rPr>
              <a:t>labour</a:t>
            </a:r>
            <a:r>
              <a:rPr lang="en-US" dirty="0" smtClean="0">
                <a:solidFill>
                  <a:srgbClr val="FFFFFF"/>
                </a:solidFill>
              </a:rPr>
              <a:t> costs increase, they can be substituted by IT</a:t>
            </a:r>
          </a:p>
          <a:p>
            <a:pPr>
              <a:lnSpc>
                <a:spcPct val="140000"/>
              </a:lnSpc>
            </a:pPr>
            <a:r>
              <a:rPr lang="en-US" dirty="0" smtClean="0">
                <a:solidFill>
                  <a:srgbClr val="FFFFFF"/>
                </a:solidFill>
              </a:rPr>
              <a:t> - As the cost of IT comes down, it substitutes other forms of capital such as buildings and machinery which are increasing</a:t>
            </a:r>
          </a:p>
          <a:p>
            <a:pPr marL="342900" indent="-342900">
              <a:lnSpc>
                <a:spcPct val="140000"/>
              </a:lnSpc>
              <a:buFontTx/>
              <a:buChar char="-"/>
            </a:pPr>
            <a:r>
              <a:rPr lang="en-US" dirty="0" smtClean="0">
                <a:solidFill>
                  <a:srgbClr val="FFFFFF"/>
                </a:solidFill>
              </a:rPr>
              <a:t>IT affects the cost and quality of information</a:t>
            </a:r>
          </a:p>
          <a:p>
            <a:pPr marL="342900" indent="-342900">
              <a:lnSpc>
                <a:spcPct val="140000"/>
              </a:lnSpc>
              <a:buFontTx/>
              <a:buChar char="-"/>
            </a:pPr>
            <a:r>
              <a:rPr lang="en-US" dirty="0" smtClean="0">
                <a:solidFill>
                  <a:srgbClr val="FFFFFF"/>
                </a:solidFill>
              </a:rPr>
              <a:t>IT reduces transaction costs – the costs incurred when a firm buys on the market place what it cannot make itself</a:t>
            </a:r>
          </a:p>
          <a:p>
            <a:pPr marL="342900" indent="-342900">
              <a:lnSpc>
                <a:spcPct val="140000"/>
              </a:lnSpc>
              <a:buFontTx/>
              <a:buChar char="-"/>
            </a:pPr>
            <a:r>
              <a:rPr lang="en-US" u="sng" dirty="0" smtClean="0">
                <a:solidFill>
                  <a:srgbClr val="FFFFFF"/>
                </a:solidFill>
              </a:rPr>
              <a:t>Transaction cost theory </a:t>
            </a:r>
            <a:r>
              <a:rPr lang="en-US" dirty="0" smtClean="0">
                <a:solidFill>
                  <a:srgbClr val="FFFFFF"/>
                </a:solidFill>
              </a:rPr>
              <a:t>– using markets is expensive because of locating and communicating with distance suppliers, monitoring compliance, buying insurance, obtaining information on products, </a:t>
            </a:r>
            <a:r>
              <a:rPr lang="en-US" dirty="0" err="1" smtClean="0">
                <a:solidFill>
                  <a:srgbClr val="FFFFFF"/>
                </a:solidFill>
              </a:rPr>
              <a:t>etc</a:t>
            </a:r>
            <a:endParaRPr lang="en-US" dirty="0" smtClean="0">
              <a:solidFill>
                <a:srgbClr val="FFFFFF"/>
              </a:solidFill>
            </a:endParaRPr>
          </a:p>
        </p:txBody>
      </p:sp>
      <p:sp>
        <p:nvSpPr>
          <p:cNvPr id="5" name="TextBox 4"/>
          <p:cNvSpPr txBox="1"/>
          <p:nvPr/>
        </p:nvSpPr>
        <p:spPr>
          <a:xfrm>
            <a:off x="1366524" y="1383897"/>
            <a:ext cx="8008917" cy="400110"/>
          </a:xfrm>
          <a:prstGeom prst="rect">
            <a:avLst/>
          </a:prstGeom>
          <a:noFill/>
        </p:spPr>
        <p:txBody>
          <a:bodyPr wrap="square" rtlCol="0">
            <a:spAutoFit/>
          </a:bodyPr>
          <a:lstStyle/>
          <a:p>
            <a:pPr marR="0" algn="l" rtl="0"/>
            <a:r>
              <a:rPr lang="en-US" sz="2000" b="1" i="0" u="none" strike="noStrike" baseline="0" dirty="0" smtClean="0">
                <a:solidFill>
                  <a:srgbClr val="FFFFFF"/>
                </a:solidFill>
                <a:latin typeface="RopaSoftPro-Regular"/>
              </a:rPr>
              <a:t>Faculty</a:t>
            </a:r>
            <a:r>
              <a:rPr lang="en-US" sz="2000" b="1" i="0" u="none" strike="noStrike" dirty="0" smtClean="0">
                <a:solidFill>
                  <a:srgbClr val="FFFFFF"/>
                </a:solidFill>
                <a:latin typeface="RopaSoftPro-Regular"/>
              </a:rPr>
              <a:t> of </a:t>
            </a:r>
            <a:r>
              <a:rPr lang="en-US" b="1" dirty="0">
                <a:solidFill>
                  <a:srgbClr val="FFFFFF"/>
                </a:solidFill>
                <a:latin typeface="RopaSoftPro-Regular"/>
              </a:rPr>
              <a:t> </a:t>
            </a:r>
            <a:r>
              <a:rPr lang="en-US" b="1" dirty="0" smtClean="0">
                <a:solidFill>
                  <a:srgbClr val="FFFFFF"/>
                </a:solidFill>
                <a:latin typeface="RopaSoftPro-Regular"/>
              </a:rPr>
              <a:t>Computing and Informatics</a:t>
            </a:r>
            <a:endParaRPr lang="en-US" sz="2000" b="1" i="0" u="none" strike="noStrike" baseline="0" dirty="0" smtClean="0">
              <a:solidFill>
                <a:srgbClr val="FFFFFF"/>
              </a:solidFill>
              <a:latin typeface="RopaSoftPro-Regular"/>
            </a:endParaRPr>
          </a:p>
        </p:txBody>
      </p:sp>
    </p:spTree>
    <p:extLst>
      <p:ext uri="{BB962C8B-B14F-4D97-AF65-F5344CB8AC3E}">
        <p14:creationId xmlns:p14="http://schemas.microsoft.com/office/powerpoint/2010/main" val="125557238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853440" y="2099648"/>
            <a:ext cx="9144635" cy="1015663"/>
          </a:xfrm>
          <a:prstGeom prst="rect">
            <a:avLst/>
          </a:prstGeom>
          <a:noFill/>
        </p:spPr>
        <p:txBody>
          <a:bodyPr wrap="square" rtlCol="0">
            <a:spAutoFit/>
          </a:bodyPr>
          <a:lstStyle/>
          <a:p>
            <a:r>
              <a:rPr lang="en-US" sz="3000" dirty="0" smtClean="0">
                <a:solidFill>
                  <a:srgbClr val="FFFFFF"/>
                </a:solidFill>
              </a:rPr>
              <a:t>The economic impacts of information systems in an </a:t>
            </a:r>
            <a:r>
              <a:rPr lang="en-US" sz="3000" dirty="0" err="1" smtClean="0">
                <a:solidFill>
                  <a:srgbClr val="FFFFFF"/>
                </a:solidFill>
              </a:rPr>
              <a:t>organisation</a:t>
            </a:r>
            <a:endParaRPr lang="en-US" sz="3000" dirty="0">
              <a:solidFill>
                <a:srgbClr val="FFFFFF"/>
              </a:solidFill>
            </a:endParaRPr>
          </a:p>
        </p:txBody>
      </p:sp>
      <p:sp>
        <p:nvSpPr>
          <p:cNvPr id="4" name="TextBox 3"/>
          <p:cNvSpPr txBox="1"/>
          <p:nvPr/>
        </p:nvSpPr>
        <p:spPr>
          <a:xfrm>
            <a:off x="798664" y="3112843"/>
            <a:ext cx="9144635" cy="4401205"/>
          </a:xfrm>
          <a:prstGeom prst="rect">
            <a:avLst/>
          </a:prstGeom>
          <a:noFill/>
        </p:spPr>
        <p:txBody>
          <a:bodyPr wrap="square" rtlCol="0">
            <a:spAutoFit/>
          </a:bodyPr>
          <a:lstStyle/>
          <a:p>
            <a:pPr marL="342900" indent="-342900">
              <a:lnSpc>
                <a:spcPct val="140000"/>
              </a:lnSpc>
              <a:buFontTx/>
              <a:buChar char="-"/>
            </a:pPr>
            <a:r>
              <a:rPr lang="en-US" dirty="0" smtClean="0">
                <a:solidFill>
                  <a:srgbClr val="FFFFFF"/>
                </a:solidFill>
              </a:rPr>
              <a:t>IT  networks lower the cost of market participation (transaction costs) – firms contract external suppliers instead of using internal resources, meaning firms shrink in size by, for example, reducing the number of employees</a:t>
            </a:r>
          </a:p>
          <a:p>
            <a:pPr marL="342900" indent="-342900">
              <a:lnSpc>
                <a:spcPct val="140000"/>
              </a:lnSpc>
              <a:buFontTx/>
              <a:buChar char="-"/>
            </a:pPr>
            <a:r>
              <a:rPr lang="en-US" dirty="0" smtClean="0">
                <a:solidFill>
                  <a:srgbClr val="FFFFFF"/>
                </a:solidFill>
              </a:rPr>
              <a:t>IT reduces internal management costs</a:t>
            </a:r>
          </a:p>
          <a:p>
            <a:pPr marL="342900" indent="-342900">
              <a:lnSpc>
                <a:spcPct val="140000"/>
              </a:lnSpc>
              <a:buFontTx/>
              <a:buChar char="-"/>
            </a:pPr>
            <a:r>
              <a:rPr lang="en-US" u="sng" dirty="0" smtClean="0">
                <a:solidFill>
                  <a:srgbClr val="FFFFFF"/>
                </a:solidFill>
              </a:rPr>
              <a:t>Agency theory </a:t>
            </a:r>
            <a:r>
              <a:rPr lang="en-US" dirty="0" smtClean="0">
                <a:solidFill>
                  <a:srgbClr val="FFFFFF"/>
                </a:solidFill>
              </a:rPr>
              <a:t>– an </a:t>
            </a:r>
            <a:r>
              <a:rPr lang="en-US" dirty="0" err="1" smtClean="0">
                <a:solidFill>
                  <a:srgbClr val="FFFFFF"/>
                </a:solidFill>
              </a:rPr>
              <a:t>organisation</a:t>
            </a:r>
            <a:r>
              <a:rPr lang="en-US" dirty="0" smtClean="0">
                <a:solidFill>
                  <a:srgbClr val="FFFFFF"/>
                </a:solidFill>
              </a:rPr>
              <a:t> is viewed as a “nexus of contracts” </a:t>
            </a:r>
            <a:r>
              <a:rPr lang="en-US" dirty="0" err="1" smtClean="0">
                <a:solidFill>
                  <a:srgbClr val="FFFFFF"/>
                </a:solidFill>
              </a:rPr>
              <a:t>i.e</a:t>
            </a:r>
            <a:r>
              <a:rPr lang="en-US" dirty="0">
                <a:solidFill>
                  <a:srgbClr val="FFFFFF"/>
                </a:solidFill>
              </a:rPr>
              <a:t> </a:t>
            </a:r>
            <a:r>
              <a:rPr lang="en-US" dirty="0" smtClean="0">
                <a:solidFill>
                  <a:srgbClr val="FFFFFF"/>
                </a:solidFill>
              </a:rPr>
              <a:t>a </a:t>
            </a:r>
            <a:r>
              <a:rPr lang="en-US" dirty="0" err="1" smtClean="0">
                <a:solidFill>
                  <a:srgbClr val="FFFFFF"/>
                </a:solidFill>
              </a:rPr>
              <a:t>comination</a:t>
            </a:r>
            <a:r>
              <a:rPr lang="en-US" dirty="0" smtClean="0">
                <a:solidFill>
                  <a:srgbClr val="FFFFFF"/>
                </a:solidFill>
              </a:rPr>
              <a:t> of contracts, among self-interested individuals rather that as a unified profit-maximizing entity.</a:t>
            </a:r>
          </a:p>
          <a:p>
            <a:pPr marL="342900" indent="-342900">
              <a:lnSpc>
                <a:spcPct val="140000"/>
              </a:lnSpc>
              <a:buFontTx/>
              <a:buChar char="-"/>
            </a:pPr>
            <a:r>
              <a:rPr lang="en-US" dirty="0">
                <a:solidFill>
                  <a:schemeClr val="bg1"/>
                </a:solidFill>
              </a:rPr>
              <a:t>IT can reduce agency </a:t>
            </a:r>
            <a:r>
              <a:rPr lang="en-US" dirty="0" smtClean="0">
                <a:solidFill>
                  <a:schemeClr val="bg1"/>
                </a:solidFill>
              </a:rPr>
              <a:t>costs (</a:t>
            </a:r>
            <a:r>
              <a:rPr lang="en-US" dirty="0">
                <a:solidFill>
                  <a:schemeClr val="bg1"/>
                </a:solidFill>
              </a:rPr>
              <a:t>the costs of </a:t>
            </a:r>
            <a:r>
              <a:rPr lang="en-US" dirty="0" smtClean="0">
                <a:solidFill>
                  <a:schemeClr val="bg1"/>
                </a:solidFill>
              </a:rPr>
              <a:t>supervising employees) , </a:t>
            </a:r>
            <a:r>
              <a:rPr lang="en-US" dirty="0">
                <a:solidFill>
                  <a:schemeClr val="bg1"/>
                </a:solidFill>
              </a:rPr>
              <a:t>making it possible for firms to grow without adding to </a:t>
            </a:r>
            <a:r>
              <a:rPr lang="en-US" dirty="0" smtClean="0">
                <a:solidFill>
                  <a:schemeClr val="bg1"/>
                </a:solidFill>
              </a:rPr>
              <a:t>and </a:t>
            </a:r>
            <a:r>
              <a:rPr lang="en-US" dirty="0">
                <a:solidFill>
                  <a:schemeClr val="bg1"/>
                </a:solidFill>
              </a:rPr>
              <a:t>without adding employees</a:t>
            </a:r>
            <a:endParaRPr lang="en-US" dirty="0" smtClean="0">
              <a:solidFill>
                <a:schemeClr val="bg1"/>
              </a:solidFill>
            </a:endParaRPr>
          </a:p>
          <a:p>
            <a:pPr marL="342900" indent="-342900">
              <a:lnSpc>
                <a:spcPct val="140000"/>
              </a:lnSpc>
              <a:buFontTx/>
              <a:buChar char="-"/>
            </a:pPr>
            <a:r>
              <a:rPr lang="en-US" dirty="0" smtClean="0">
                <a:solidFill>
                  <a:srgbClr val="FFFFFF"/>
                </a:solidFill>
              </a:rPr>
              <a:t>IT reduces the cost of acquiring and analyzing information</a:t>
            </a:r>
          </a:p>
        </p:txBody>
      </p:sp>
      <p:sp>
        <p:nvSpPr>
          <p:cNvPr id="5" name="TextBox 4"/>
          <p:cNvSpPr txBox="1"/>
          <p:nvPr/>
        </p:nvSpPr>
        <p:spPr>
          <a:xfrm>
            <a:off x="1366524" y="1383897"/>
            <a:ext cx="8008917" cy="400110"/>
          </a:xfrm>
          <a:prstGeom prst="rect">
            <a:avLst/>
          </a:prstGeom>
          <a:noFill/>
        </p:spPr>
        <p:txBody>
          <a:bodyPr wrap="square" rtlCol="0">
            <a:spAutoFit/>
          </a:bodyPr>
          <a:lstStyle/>
          <a:p>
            <a:pPr marR="0" algn="l" rtl="0"/>
            <a:r>
              <a:rPr lang="en-US" sz="2000" b="1" i="0" u="none" strike="noStrike" baseline="0" dirty="0" smtClean="0">
                <a:solidFill>
                  <a:srgbClr val="FFFFFF"/>
                </a:solidFill>
                <a:latin typeface="RopaSoftPro-Regular"/>
              </a:rPr>
              <a:t>Faculty</a:t>
            </a:r>
            <a:r>
              <a:rPr lang="en-US" sz="2000" b="1" i="0" u="none" strike="noStrike" dirty="0" smtClean="0">
                <a:solidFill>
                  <a:srgbClr val="FFFFFF"/>
                </a:solidFill>
                <a:latin typeface="RopaSoftPro-Regular"/>
              </a:rPr>
              <a:t> of </a:t>
            </a:r>
            <a:r>
              <a:rPr lang="en-US" b="1" dirty="0">
                <a:solidFill>
                  <a:srgbClr val="FFFFFF"/>
                </a:solidFill>
                <a:latin typeface="RopaSoftPro-Regular"/>
              </a:rPr>
              <a:t> </a:t>
            </a:r>
            <a:r>
              <a:rPr lang="en-US" b="1" dirty="0" smtClean="0">
                <a:solidFill>
                  <a:srgbClr val="FFFFFF"/>
                </a:solidFill>
                <a:latin typeface="RopaSoftPro-Regular"/>
              </a:rPr>
              <a:t>Computing and Informatics</a:t>
            </a:r>
            <a:endParaRPr lang="en-US" sz="2000" b="1" i="0" u="none" strike="noStrike" baseline="0" dirty="0" smtClean="0">
              <a:solidFill>
                <a:srgbClr val="FFFFFF"/>
              </a:solidFill>
              <a:latin typeface="RopaSoftPro-Regular"/>
            </a:endParaRPr>
          </a:p>
        </p:txBody>
      </p:sp>
    </p:spTree>
    <p:extLst>
      <p:ext uri="{BB962C8B-B14F-4D97-AF65-F5344CB8AC3E}">
        <p14:creationId xmlns:p14="http://schemas.microsoft.com/office/powerpoint/2010/main" val="300395718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Placeholder 10" descr="Fig-3-01.tif"/>
          <p:cNvPicPr>
            <a:picLocks noChangeAspect="1"/>
          </p:cNvPicPr>
          <p:nvPr/>
        </p:nvPicPr>
        <p:blipFill>
          <a:blip r:embed="rId2">
            <a:extLst>
              <a:ext uri="{28A0092B-C50C-407E-A947-70E740481C1C}">
                <a14:useLocalDpi xmlns:a14="http://schemas.microsoft.com/office/drawing/2010/main" val="0"/>
              </a:ext>
            </a:extLst>
          </a:blip>
          <a:srcRect l="-304" r="-304"/>
          <a:stretch>
            <a:fillRect/>
          </a:stretch>
        </p:blipFill>
        <p:spPr bwMode="auto">
          <a:xfrm>
            <a:off x="2287622" y="3723819"/>
            <a:ext cx="4764932" cy="3573699"/>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Text Placeholder 1"/>
          <p:cNvSpPr txBox="1">
            <a:spLocks/>
          </p:cNvSpPr>
          <p:nvPr/>
        </p:nvSpPr>
        <p:spPr bwMode="auto">
          <a:xfrm>
            <a:off x="457199" y="1319212"/>
            <a:ext cx="9066179" cy="3252787"/>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81133" indent="-381133" algn="l" defTabSz="508178" rtl="0" eaLnBrk="1" latinLnBrk="0" hangingPunct="1">
              <a:spcBef>
                <a:spcPct val="20000"/>
              </a:spcBef>
              <a:buFont typeface="Arial"/>
              <a:buChar char="•"/>
              <a:defRPr sz="3600" kern="1200">
                <a:solidFill>
                  <a:schemeClr val="tx1"/>
                </a:solidFill>
                <a:latin typeface="+mn-lt"/>
                <a:ea typeface="+mn-ea"/>
                <a:cs typeface="+mn-cs"/>
              </a:defRPr>
            </a:lvl1pPr>
            <a:lvl2pPr marL="825789" indent="-317611" algn="l" defTabSz="508178" rtl="0" eaLnBrk="1" latinLnBrk="0" hangingPunct="1">
              <a:spcBef>
                <a:spcPct val="20000"/>
              </a:spcBef>
              <a:buFont typeface="Arial"/>
              <a:buChar char="–"/>
              <a:defRPr sz="3100" kern="1200">
                <a:solidFill>
                  <a:schemeClr val="tx1"/>
                </a:solidFill>
                <a:latin typeface="+mn-lt"/>
                <a:ea typeface="+mn-ea"/>
                <a:cs typeface="+mn-cs"/>
              </a:defRPr>
            </a:lvl2pPr>
            <a:lvl3pPr marL="1270445" indent="-254089" algn="l" defTabSz="508178" rtl="0" eaLnBrk="1" latinLnBrk="0" hangingPunct="1">
              <a:spcBef>
                <a:spcPct val="20000"/>
              </a:spcBef>
              <a:buFont typeface="Arial"/>
              <a:buChar char="•"/>
              <a:defRPr sz="2700" kern="1200">
                <a:solidFill>
                  <a:schemeClr val="tx1"/>
                </a:solidFill>
                <a:latin typeface="+mn-lt"/>
                <a:ea typeface="+mn-ea"/>
                <a:cs typeface="+mn-cs"/>
              </a:defRPr>
            </a:lvl3pPr>
            <a:lvl4pPr marL="1778622" indent="-254089" algn="l" defTabSz="508178" rtl="0" eaLnBrk="1" latinLnBrk="0" hangingPunct="1">
              <a:spcBef>
                <a:spcPct val="20000"/>
              </a:spcBef>
              <a:buFont typeface="Arial"/>
              <a:buChar char="–"/>
              <a:defRPr sz="2200" kern="1200">
                <a:solidFill>
                  <a:schemeClr val="tx1"/>
                </a:solidFill>
                <a:latin typeface="+mn-lt"/>
                <a:ea typeface="+mn-ea"/>
                <a:cs typeface="+mn-cs"/>
              </a:defRPr>
            </a:lvl4pPr>
            <a:lvl5pPr marL="2286800" indent="-254089" algn="l" defTabSz="508178" rtl="0" eaLnBrk="1" latinLnBrk="0" hangingPunct="1">
              <a:spcBef>
                <a:spcPct val="20000"/>
              </a:spcBef>
              <a:buFont typeface="Arial"/>
              <a:buChar char="»"/>
              <a:defRPr sz="2200" kern="1200">
                <a:solidFill>
                  <a:schemeClr val="tx1"/>
                </a:solidFill>
                <a:latin typeface="+mn-lt"/>
                <a:ea typeface="+mn-ea"/>
                <a:cs typeface="+mn-cs"/>
              </a:defRPr>
            </a:lvl5pPr>
            <a:lvl6pPr marL="2794978" indent="-254089" algn="l" defTabSz="508178" rtl="0" eaLnBrk="1" latinLnBrk="0" hangingPunct="1">
              <a:spcBef>
                <a:spcPct val="20000"/>
              </a:spcBef>
              <a:buFont typeface="Arial"/>
              <a:buChar char="•"/>
              <a:defRPr sz="2200" kern="1200">
                <a:solidFill>
                  <a:schemeClr val="tx1"/>
                </a:solidFill>
                <a:latin typeface="+mn-lt"/>
                <a:ea typeface="+mn-ea"/>
                <a:cs typeface="+mn-cs"/>
              </a:defRPr>
            </a:lvl6pPr>
            <a:lvl7pPr marL="3303156" indent="-254089" algn="l" defTabSz="508178" rtl="0" eaLnBrk="1" latinLnBrk="0" hangingPunct="1">
              <a:spcBef>
                <a:spcPct val="20000"/>
              </a:spcBef>
              <a:buFont typeface="Arial"/>
              <a:buChar char="•"/>
              <a:defRPr sz="2200" kern="1200">
                <a:solidFill>
                  <a:schemeClr val="tx1"/>
                </a:solidFill>
                <a:latin typeface="+mn-lt"/>
                <a:ea typeface="+mn-ea"/>
                <a:cs typeface="+mn-cs"/>
              </a:defRPr>
            </a:lvl7pPr>
            <a:lvl8pPr marL="3811334" indent="-254089" algn="l" defTabSz="508178" rtl="0" eaLnBrk="1" latinLnBrk="0" hangingPunct="1">
              <a:spcBef>
                <a:spcPct val="20000"/>
              </a:spcBef>
              <a:buFont typeface="Arial"/>
              <a:buChar char="•"/>
              <a:defRPr sz="2200" kern="1200">
                <a:solidFill>
                  <a:schemeClr val="tx1"/>
                </a:solidFill>
                <a:latin typeface="+mn-lt"/>
                <a:ea typeface="+mn-ea"/>
                <a:cs typeface="+mn-cs"/>
              </a:defRPr>
            </a:lvl8pPr>
            <a:lvl9pPr marL="4319511" indent="-254089" algn="l" defTabSz="508178" rtl="0" eaLnBrk="1" latinLnBrk="0" hangingPunct="1">
              <a:spcBef>
                <a:spcPct val="20000"/>
              </a:spcBef>
              <a:buFont typeface="Arial"/>
              <a:buChar char="•"/>
              <a:defRPr sz="2200" kern="1200">
                <a:solidFill>
                  <a:schemeClr val="tx1"/>
                </a:solidFill>
                <a:latin typeface="+mn-lt"/>
                <a:ea typeface="+mn-ea"/>
                <a:cs typeface="+mn-cs"/>
              </a:defRPr>
            </a:lvl9pPr>
          </a:lstStyle>
          <a:p>
            <a:pPr>
              <a:buFontTx/>
              <a:buNone/>
            </a:pPr>
            <a:r>
              <a:rPr lang="en-US" altLang="en-US" dirty="0" smtClean="0"/>
              <a:t>I</a:t>
            </a:r>
            <a:r>
              <a:rPr lang="en-US" altLang="en-US" sz="2400" dirty="0" smtClean="0">
                <a:solidFill>
                  <a:schemeClr val="bg1"/>
                </a:solidFill>
              </a:rPr>
              <a:t>nformation systems can reduce the number of levels in an organization by providing managers with information to supervise larger numbers of workers and by giving lower-level employees more decision-making authority.</a:t>
            </a:r>
          </a:p>
        </p:txBody>
      </p:sp>
    </p:spTree>
    <p:extLst>
      <p:ext uri="{BB962C8B-B14F-4D97-AF65-F5344CB8AC3E}">
        <p14:creationId xmlns:p14="http://schemas.microsoft.com/office/powerpoint/2010/main" val="121369045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503244" y="1822649"/>
            <a:ext cx="9144635" cy="553998"/>
          </a:xfrm>
          <a:prstGeom prst="rect">
            <a:avLst/>
          </a:prstGeom>
          <a:noFill/>
        </p:spPr>
        <p:txBody>
          <a:bodyPr wrap="square" rtlCol="0">
            <a:spAutoFit/>
          </a:bodyPr>
          <a:lstStyle/>
          <a:p>
            <a:r>
              <a:rPr lang="en-US" sz="3000" dirty="0" smtClean="0">
                <a:solidFill>
                  <a:srgbClr val="FFFFFF"/>
                </a:solidFill>
              </a:rPr>
              <a:t>Porter’s Competitive Forces Model</a:t>
            </a:r>
            <a:endParaRPr lang="en-US" sz="3000" dirty="0">
              <a:solidFill>
                <a:srgbClr val="FFFFFF"/>
              </a:solidFill>
            </a:endParaRPr>
          </a:p>
        </p:txBody>
      </p:sp>
      <p:sp>
        <p:nvSpPr>
          <p:cNvPr id="4" name="TextBox 3"/>
          <p:cNvSpPr txBox="1"/>
          <p:nvPr/>
        </p:nvSpPr>
        <p:spPr>
          <a:xfrm>
            <a:off x="503244" y="5784355"/>
            <a:ext cx="9144635" cy="914096"/>
          </a:xfrm>
          <a:prstGeom prst="rect">
            <a:avLst/>
          </a:prstGeom>
          <a:noFill/>
        </p:spPr>
        <p:txBody>
          <a:bodyPr wrap="square" rtlCol="0">
            <a:spAutoFit/>
          </a:bodyPr>
          <a:lstStyle/>
          <a:p>
            <a:pPr marL="342900" indent="-342900">
              <a:lnSpc>
                <a:spcPct val="140000"/>
              </a:lnSpc>
              <a:buFontTx/>
              <a:buChar char="-"/>
            </a:pPr>
            <a:r>
              <a:rPr lang="en-US" dirty="0" smtClean="0">
                <a:solidFill>
                  <a:srgbClr val="FFFFFF"/>
                </a:solidFill>
              </a:rPr>
              <a:t>It allows a company to produce goods or services at a lower price or in a more desirable fashion for customers</a:t>
            </a:r>
          </a:p>
        </p:txBody>
      </p:sp>
      <p:sp>
        <p:nvSpPr>
          <p:cNvPr id="5" name="TextBox 4"/>
          <p:cNvSpPr txBox="1"/>
          <p:nvPr/>
        </p:nvSpPr>
        <p:spPr>
          <a:xfrm>
            <a:off x="1366524" y="1383897"/>
            <a:ext cx="8008917" cy="400110"/>
          </a:xfrm>
          <a:prstGeom prst="rect">
            <a:avLst/>
          </a:prstGeom>
          <a:noFill/>
        </p:spPr>
        <p:txBody>
          <a:bodyPr wrap="square" rtlCol="0">
            <a:spAutoFit/>
          </a:bodyPr>
          <a:lstStyle/>
          <a:p>
            <a:pPr marR="0" algn="l" rtl="0"/>
            <a:r>
              <a:rPr lang="en-US" sz="2000" b="1" i="0" u="none" strike="noStrike" baseline="0" dirty="0" smtClean="0">
                <a:solidFill>
                  <a:srgbClr val="FFFFFF"/>
                </a:solidFill>
                <a:latin typeface="RopaSoftPro-Regular"/>
              </a:rPr>
              <a:t>Faculty</a:t>
            </a:r>
            <a:r>
              <a:rPr lang="en-US" sz="2000" b="1" i="0" u="none" strike="noStrike" dirty="0" smtClean="0">
                <a:solidFill>
                  <a:srgbClr val="FFFFFF"/>
                </a:solidFill>
                <a:latin typeface="RopaSoftPro-Regular"/>
              </a:rPr>
              <a:t> of </a:t>
            </a:r>
            <a:r>
              <a:rPr lang="en-US" b="1" dirty="0">
                <a:solidFill>
                  <a:srgbClr val="FFFFFF"/>
                </a:solidFill>
                <a:latin typeface="RopaSoftPro-Regular"/>
              </a:rPr>
              <a:t> </a:t>
            </a:r>
            <a:r>
              <a:rPr lang="en-US" b="1" dirty="0" smtClean="0">
                <a:solidFill>
                  <a:srgbClr val="FFFFFF"/>
                </a:solidFill>
                <a:latin typeface="RopaSoftPro-Regular"/>
              </a:rPr>
              <a:t>Computing and Informatics</a:t>
            </a:r>
            <a:endParaRPr lang="en-US" sz="2000" b="1" i="0" u="none" strike="noStrike" baseline="0" dirty="0" smtClean="0">
              <a:solidFill>
                <a:srgbClr val="FFFFFF"/>
              </a:solidFill>
              <a:latin typeface="RopaSoftPro-Regular"/>
            </a:endParaRPr>
          </a:p>
        </p:txBody>
      </p:sp>
      <p:sp>
        <p:nvSpPr>
          <p:cNvPr id="2" name="Rectangle 1"/>
          <p:cNvSpPr/>
          <p:nvPr/>
        </p:nvSpPr>
        <p:spPr>
          <a:xfrm>
            <a:off x="204282" y="2521923"/>
            <a:ext cx="9017540" cy="3262432"/>
          </a:xfrm>
          <a:prstGeom prst="rect">
            <a:avLst/>
          </a:prstGeom>
        </p:spPr>
        <p:txBody>
          <a:bodyPr wrap="square">
            <a:spAutoFit/>
          </a:bodyPr>
          <a:lstStyle/>
          <a:p>
            <a:r>
              <a:rPr lang="en-US" altLang="en-US" sz="2800" dirty="0">
                <a:solidFill>
                  <a:schemeClr val="bg1"/>
                </a:solidFill>
              </a:rPr>
              <a:t>Michael Porter</a:t>
            </a:r>
            <a:r>
              <a:rPr lang="en-US" altLang="ja-JP" sz="2800" dirty="0">
                <a:solidFill>
                  <a:schemeClr val="bg1"/>
                </a:solidFill>
              </a:rPr>
              <a:t>’s competitive forces </a:t>
            </a:r>
            <a:r>
              <a:rPr lang="en-US" altLang="ja-JP" dirty="0" smtClean="0">
                <a:solidFill>
                  <a:schemeClr val="bg1"/>
                </a:solidFill>
              </a:rPr>
              <a:t>model </a:t>
            </a:r>
            <a:r>
              <a:rPr lang="en-US" dirty="0" smtClean="0">
                <a:solidFill>
                  <a:srgbClr val="FFFFFF"/>
                </a:solidFill>
              </a:rPr>
              <a:t>This </a:t>
            </a:r>
            <a:r>
              <a:rPr lang="en-US" dirty="0">
                <a:solidFill>
                  <a:srgbClr val="FFFFFF"/>
                </a:solidFill>
              </a:rPr>
              <a:t>is a model for understanding competitive advantage – a condition or circumstance that puts a company in a </a:t>
            </a:r>
            <a:r>
              <a:rPr lang="en-US" dirty="0" smtClean="0">
                <a:solidFill>
                  <a:srgbClr val="FFFFFF"/>
                </a:solidFill>
              </a:rPr>
              <a:t>favorable </a:t>
            </a:r>
            <a:r>
              <a:rPr lang="en-US" dirty="0">
                <a:solidFill>
                  <a:srgbClr val="FFFFFF"/>
                </a:solidFill>
              </a:rPr>
              <a:t>or superior business  position</a:t>
            </a:r>
          </a:p>
          <a:p>
            <a:pPr marL="342900" indent="-342900">
              <a:buFont typeface="Arial" panose="020B0604020202020204" pitchFamily="34" charset="0"/>
              <a:buChar char="•"/>
            </a:pPr>
            <a:r>
              <a:rPr lang="en-US" altLang="en-US" sz="2400" dirty="0" smtClean="0">
                <a:solidFill>
                  <a:schemeClr val="bg1"/>
                </a:solidFill>
              </a:rPr>
              <a:t>Provides </a:t>
            </a:r>
            <a:r>
              <a:rPr lang="en-US" altLang="en-US" sz="2400" dirty="0">
                <a:solidFill>
                  <a:schemeClr val="bg1"/>
                </a:solidFill>
              </a:rPr>
              <a:t>general view of firm, its competitors, and environment</a:t>
            </a:r>
          </a:p>
          <a:p>
            <a:pPr lvl="1"/>
            <a:r>
              <a:rPr lang="en-US" altLang="en-US" sz="2400" dirty="0">
                <a:solidFill>
                  <a:schemeClr val="bg1"/>
                </a:solidFill>
              </a:rPr>
              <a:t>Five competitive forces shape fate of firm:</a:t>
            </a:r>
          </a:p>
          <a:p>
            <a:pPr marL="1371600" lvl="2" indent="-457200">
              <a:buFont typeface="Times New Roman" panose="02020603050405020304" pitchFamily="18" charset="0"/>
              <a:buAutoNum type="arabicPeriod"/>
            </a:pPr>
            <a:r>
              <a:rPr lang="en-US" altLang="en-US" sz="1800" dirty="0">
                <a:solidFill>
                  <a:schemeClr val="bg1"/>
                </a:solidFill>
              </a:rPr>
              <a:t>Traditional competitors </a:t>
            </a:r>
          </a:p>
          <a:p>
            <a:pPr marL="1371600" lvl="2" indent="-457200">
              <a:buFont typeface="Times New Roman" panose="02020603050405020304" pitchFamily="18" charset="0"/>
              <a:buAutoNum type="arabicPeriod"/>
            </a:pPr>
            <a:r>
              <a:rPr lang="en-US" altLang="en-US" sz="1800" dirty="0">
                <a:solidFill>
                  <a:schemeClr val="bg1"/>
                </a:solidFill>
              </a:rPr>
              <a:t>New market entrants </a:t>
            </a:r>
          </a:p>
          <a:p>
            <a:pPr marL="1371600" lvl="2" indent="-457200">
              <a:buFont typeface="Times New Roman" panose="02020603050405020304" pitchFamily="18" charset="0"/>
              <a:buAutoNum type="arabicPeriod"/>
            </a:pPr>
            <a:r>
              <a:rPr lang="en-US" altLang="en-US" sz="1800" dirty="0">
                <a:solidFill>
                  <a:schemeClr val="bg1"/>
                </a:solidFill>
              </a:rPr>
              <a:t>Substitute products and services</a:t>
            </a:r>
          </a:p>
          <a:p>
            <a:pPr marL="1371600" lvl="2" indent="-457200">
              <a:buFont typeface="Times New Roman" panose="02020603050405020304" pitchFamily="18" charset="0"/>
              <a:buAutoNum type="arabicPeriod"/>
            </a:pPr>
            <a:r>
              <a:rPr lang="en-US" altLang="en-US" sz="1800" dirty="0">
                <a:solidFill>
                  <a:schemeClr val="bg1"/>
                </a:solidFill>
              </a:rPr>
              <a:t>Customers</a:t>
            </a:r>
          </a:p>
          <a:p>
            <a:pPr marL="1371600" lvl="2" indent="-457200">
              <a:buFont typeface="Times New Roman" panose="02020603050405020304" pitchFamily="18" charset="0"/>
              <a:buAutoNum type="arabicPeriod"/>
            </a:pPr>
            <a:r>
              <a:rPr lang="en-US" altLang="en-US" sz="1800" dirty="0">
                <a:solidFill>
                  <a:schemeClr val="bg1"/>
                </a:solidFill>
              </a:rPr>
              <a:t>Supplier</a:t>
            </a:r>
            <a:endParaRPr lang="en-ZA" dirty="0">
              <a:solidFill>
                <a:schemeClr val="bg1"/>
              </a:solidFill>
            </a:endParaRPr>
          </a:p>
        </p:txBody>
      </p:sp>
    </p:spTree>
    <p:extLst>
      <p:ext uri="{BB962C8B-B14F-4D97-AF65-F5344CB8AC3E}">
        <p14:creationId xmlns:p14="http://schemas.microsoft.com/office/powerpoint/2010/main" val="197199330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853440" y="2099648"/>
            <a:ext cx="9144635" cy="553998"/>
          </a:xfrm>
          <a:prstGeom prst="rect">
            <a:avLst/>
          </a:prstGeom>
          <a:noFill/>
        </p:spPr>
        <p:txBody>
          <a:bodyPr wrap="square" rtlCol="0">
            <a:spAutoFit/>
          </a:bodyPr>
          <a:lstStyle/>
          <a:p>
            <a:r>
              <a:rPr lang="en-US" sz="3000" dirty="0" smtClean="0">
                <a:solidFill>
                  <a:srgbClr val="FFFFFF"/>
                </a:solidFill>
              </a:rPr>
              <a:t>Porter’s Competitive Forces Model</a:t>
            </a:r>
            <a:endParaRPr lang="en-US" sz="3000" dirty="0">
              <a:solidFill>
                <a:srgbClr val="FFFFFF"/>
              </a:solidFill>
            </a:endParaRPr>
          </a:p>
        </p:txBody>
      </p:sp>
      <p:sp>
        <p:nvSpPr>
          <p:cNvPr id="4" name="TextBox 3"/>
          <p:cNvSpPr txBox="1"/>
          <p:nvPr/>
        </p:nvSpPr>
        <p:spPr>
          <a:xfrm>
            <a:off x="798664" y="2653646"/>
            <a:ext cx="9144635" cy="4401205"/>
          </a:xfrm>
          <a:prstGeom prst="rect">
            <a:avLst/>
          </a:prstGeom>
          <a:noFill/>
        </p:spPr>
        <p:txBody>
          <a:bodyPr wrap="square" rtlCol="0">
            <a:spAutoFit/>
          </a:bodyPr>
          <a:lstStyle/>
          <a:p>
            <a:pPr marL="342900" indent="-342900">
              <a:lnSpc>
                <a:spcPct val="140000"/>
              </a:lnSpc>
              <a:buFontTx/>
              <a:buChar char="-"/>
            </a:pPr>
            <a:r>
              <a:rPr lang="en-US" dirty="0" smtClean="0">
                <a:solidFill>
                  <a:srgbClr val="FFFFFF"/>
                </a:solidFill>
              </a:rPr>
              <a:t>The strategic position of a firm and its strategies are determined by its competitors and the environment which consists of new market entrants, substitute products customers and suppliers.</a:t>
            </a:r>
          </a:p>
          <a:p>
            <a:pPr marL="342900" indent="-342900">
              <a:lnSpc>
                <a:spcPct val="140000"/>
              </a:lnSpc>
              <a:buFontTx/>
              <a:buChar char="-"/>
            </a:pPr>
            <a:endParaRPr lang="en-US" dirty="0">
              <a:solidFill>
                <a:srgbClr val="FFFFFF"/>
              </a:solidFill>
            </a:endParaRPr>
          </a:p>
          <a:p>
            <a:pPr marL="342900" indent="-342900">
              <a:lnSpc>
                <a:spcPct val="140000"/>
              </a:lnSpc>
              <a:buFontTx/>
              <a:buChar char="-"/>
            </a:pPr>
            <a:endParaRPr lang="en-US" dirty="0" smtClean="0">
              <a:solidFill>
                <a:srgbClr val="FFFFFF"/>
              </a:solidFill>
            </a:endParaRPr>
          </a:p>
          <a:p>
            <a:pPr marL="342900" indent="-342900">
              <a:lnSpc>
                <a:spcPct val="140000"/>
              </a:lnSpc>
              <a:buFontTx/>
              <a:buChar char="-"/>
            </a:pPr>
            <a:endParaRPr lang="en-US" dirty="0">
              <a:solidFill>
                <a:srgbClr val="FFFFFF"/>
              </a:solidFill>
            </a:endParaRPr>
          </a:p>
          <a:p>
            <a:pPr marL="342900" indent="-342900">
              <a:lnSpc>
                <a:spcPct val="140000"/>
              </a:lnSpc>
              <a:buFontTx/>
              <a:buChar char="-"/>
            </a:pPr>
            <a:endParaRPr lang="en-US" dirty="0" smtClean="0">
              <a:solidFill>
                <a:srgbClr val="FFFFFF"/>
              </a:solidFill>
            </a:endParaRPr>
          </a:p>
          <a:p>
            <a:pPr marL="342900" indent="-342900">
              <a:lnSpc>
                <a:spcPct val="140000"/>
              </a:lnSpc>
              <a:buFontTx/>
              <a:buChar char="-"/>
            </a:pPr>
            <a:endParaRPr lang="en-US" dirty="0">
              <a:solidFill>
                <a:srgbClr val="FFFFFF"/>
              </a:solidFill>
            </a:endParaRPr>
          </a:p>
          <a:p>
            <a:pPr marL="342900" indent="-342900">
              <a:lnSpc>
                <a:spcPct val="140000"/>
              </a:lnSpc>
              <a:buFontTx/>
              <a:buChar char="-"/>
            </a:pPr>
            <a:endParaRPr lang="en-US" dirty="0" smtClean="0">
              <a:solidFill>
                <a:srgbClr val="FFFFFF"/>
              </a:solidFill>
            </a:endParaRPr>
          </a:p>
          <a:p>
            <a:pPr marL="342900" indent="-342900">
              <a:lnSpc>
                <a:spcPct val="140000"/>
              </a:lnSpc>
              <a:buFontTx/>
              <a:buChar char="-"/>
            </a:pPr>
            <a:endParaRPr lang="en-US" dirty="0" smtClean="0">
              <a:solidFill>
                <a:srgbClr val="FFFFFF"/>
              </a:solidFill>
            </a:endParaRPr>
          </a:p>
        </p:txBody>
      </p:sp>
      <p:sp>
        <p:nvSpPr>
          <p:cNvPr id="5" name="TextBox 4"/>
          <p:cNvSpPr txBox="1"/>
          <p:nvPr/>
        </p:nvSpPr>
        <p:spPr>
          <a:xfrm>
            <a:off x="1366524" y="1383897"/>
            <a:ext cx="8008917" cy="400110"/>
          </a:xfrm>
          <a:prstGeom prst="rect">
            <a:avLst/>
          </a:prstGeom>
          <a:noFill/>
        </p:spPr>
        <p:txBody>
          <a:bodyPr wrap="square" rtlCol="0">
            <a:spAutoFit/>
          </a:bodyPr>
          <a:lstStyle/>
          <a:p>
            <a:pPr marR="0" algn="l" rtl="0"/>
            <a:r>
              <a:rPr lang="en-US" sz="2000" b="1" i="0" u="none" strike="noStrike" baseline="0" dirty="0" smtClean="0">
                <a:solidFill>
                  <a:srgbClr val="FFFFFF"/>
                </a:solidFill>
                <a:latin typeface="RopaSoftPro-Regular"/>
              </a:rPr>
              <a:t>Faculty</a:t>
            </a:r>
            <a:r>
              <a:rPr lang="en-US" sz="2000" b="1" i="0" u="none" strike="noStrike" dirty="0" smtClean="0">
                <a:solidFill>
                  <a:srgbClr val="FFFFFF"/>
                </a:solidFill>
                <a:latin typeface="RopaSoftPro-Regular"/>
              </a:rPr>
              <a:t> of </a:t>
            </a:r>
            <a:r>
              <a:rPr lang="en-US" b="1" dirty="0">
                <a:solidFill>
                  <a:srgbClr val="FFFFFF"/>
                </a:solidFill>
                <a:latin typeface="RopaSoftPro-Regular"/>
              </a:rPr>
              <a:t> </a:t>
            </a:r>
            <a:r>
              <a:rPr lang="en-US" b="1" dirty="0" smtClean="0">
                <a:solidFill>
                  <a:srgbClr val="FFFFFF"/>
                </a:solidFill>
                <a:latin typeface="RopaSoftPro-Regular"/>
              </a:rPr>
              <a:t>Computing and Informatics</a:t>
            </a:r>
            <a:endParaRPr lang="en-US" sz="2000" b="1" i="0" u="none" strike="noStrike" baseline="0" dirty="0" smtClean="0">
              <a:solidFill>
                <a:srgbClr val="FFFFFF"/>
              </a:solidFill>
              <a:latin typeface="RopaSoftPro-Regular"/>
            </a:endParaRPr>
          </a:p>
        </p:txBody>
      </p:sp>
      <p:pic>
        <p:nvPicPr>
          <p:cNvPr id="14" name="Picture Placeholder 21" descr="Fig-3-03.png"/>
          <p:cNvPicPr>
            <a:picLocks noChangeAspect="1"/>
          </p:cNvPicPr>
          <p:nvPr/>
        </p:nvPicPr>
        <p:blipFill>
          <a:blip r:embed="rId2">
            <a:extLst>
              <a:ext uri="{28A0092B-C50C-407E-A947-70E740481C1C}">
                <a14:useLocalDpi xmlns:a14="http://schemas.microsoft.com/office/drawing/2010/main" val="0"/>
              </a:ext>
            </a:extLst>
          </a:blip>
          <a:srcRect t="3178" b="3178"/>
          <a:stretch>
            <a:fillRect/>
          </a:stretch>
        </p:blipFill>
        <p:spPr bwMode="auto">
          <a:xfrm>
            <a:off x="1713833" y="4231532"/>
            <a:ext cx="6116934" cy="262971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4424435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853440" y="2099648"/>
            <a:ext cx="9144635" cy="553998"/>
          </a:xfrm>
          <a:prstGeom prst="rect">
            <a:avLst/>
          </a:prstGeom>
          <a:noFill/>
        </p:spPr>
        <p:txBody>
          <a:bodyPr wrap="square" rtlCol="0">
            <a:spAutoFit/>
          </a:bodyPr>
          <a:lstStyle/>
          <a:p>
            <a:r>
              <a:rPr lang="en-US" sz="3000" dirty="0" smtClean="0">
                <a:solidFill>
                  <a:srgbClr val="FFFFFF"/>
                </a:solidFill>
              </a:rPr>
              <a:t>Porter’s Competitive Forces Model</a:t>
            </a:r>
            <a:endParaRPr lang="en-US" sz="3000" dirty="0">
              <a:solidFill>
                <a:srgbClr val="FFFFFF"/>
              </a:solidFill>
            </a:endParaRPr>
          </a:p>
        </p:txBody>
      </p:sp>
      <p:sp>
        <p:nvSpPr>
          <p:cNvPr id="5" name="TextBox 4"/>
          <p:cNvSpPr txBox="1"/>
          <p:nvPr/>
        </p:nvSpPr>
        <p:spPr>
          <a:xfrm>
            <a:off x="1366524" y="1383897"/>
            <a:ext cx="8008917" cy="400110"/>
          </a:xfrm>
          <a:prstGeom prst="rect">
            <a:avLst/>
          </a:prstGeom>
          <a:noFill/>
        </p:spPr>
        <p:txBody>
          <a:bodyPr wrap="square" rtlCol="0">
            <a:spAutoFit/>
          </a:bodyPr>
          <a:lstStyle/>
          <a:p>
            <a:pPr marR="0" algn="l" rtl="0"/>
            <a:r>
              <a:rPr lang="en-US" sz="2000" b="1" i="0" u="none" strike="noStrike" baseline="0" dirty="0" smtClean="0">
                <a:solidFill>
                  <a:srgbClr val="FFFFFF"/>
                </a:solidFill>
                <a:latin typeface="RopaSoftPro-Regular"/>
              </a:rPr>
              <a:t>Faculty</a:t>
            </a:r>
            <a:r>
              <a:rPr lang="en-US" sz="2000" b="1" i="0" u="none" strike="noStrike" dirty="0" smtClean="0">
                <a:solidFill>
                  <a:srgbClr val="FFFFFF"/>
                </a:solidFill>
                <a:latin typeface="RopaSoftPro-Regular"/>
              </a:rPr>
              <a:t> of </a:t>
            </a:r>
            <a:r>
              <a:rPr lang="en-US" b="1" dirty="0">
                <a:solidFill>
                  <a:srgbClr val="FFFFFF"/>
                </a:solidFill>
                <a:latin typeface="RopaSoftPro-Regular"/>
              </a:rPr>
              <a:t> </a:t>
            </a:r>
            <a:r>
              <a:rPr lang="en-US" b="1" dirty="0" smtClean="0">
                <a:solidFill>
                  <a:srgbClr val="FFFFFF"/>
                </a:solidFill>
                <a:latin typeface="RopaSoftPro-Regular"/>
              </a:rPr>
              <a:t>Computing and Informatics</a:t>
            </a:r>
            <a:endParaRPr lang="en-US" sz="2000" b="1" i="0" u="none" strike="noStrike" baseline="0" dirty="0" smtClean="0">
              <a:solidFill>
                <a:srgbClr val="FFFFFF"/>
              </a:solidFill>
              <a:latin typeface="RopaSoftPro-Regular"/>
            </a:endParaRPr>
          </a:p>
        </p:txBody>
      </p:sp>
      <p:sp>
        <p:nvSpPr>
          <p:cNvPr id="6" name="Content Placeholder 1"/>
          <p:cNvSpPr txBox="1">
            <a:spLocks/>
          </p:cNvSpPr>
          <p:nvPr/>
        </p:nvSpPr>
        <p:spPr>
          <a:xfrm>
            <a:off x="749030" y="2857974"/>
            <a:ext cx="8229600" cy="4495800"/>
          </a:xfrm>
          <a:prstGeom prst="rect">
            <a:avLst/>
          </a:prstGeom>
        </p:spPr>
        <p:txBody>
          <a:bodyPr/>
          <a:lstStyle>
            <a:lvl1pPr marL="381133" indent="-381133" algn="l" defTabSz="508178" rtl="0" eaLnBrk="1" latinLnBrk="0" hangingPunct="1">
              <a:spcBef>
                <a:spcPct val="20000"/>
              </a:spcBef>
              <a:buFont typeface="Arial"/>
              <a:buChar char="•"/>
              <a:defRPr sz="3600" kern="1200">
                <a:solidFill>
                  <a:schemeClr val="tx1"/>
                </a:solidFill>
                <a:latin typeface="+mn-lt"/>
                <a:ea typeface="+mn-ea"/>
                <a:cs typeface="+mn-cs"/>
              </a:defRPr>
            </a:lvl1pPr>
            <a:lvl2pPr marL="825789" indent="-317611" algn="l" defTabSz="508178" rtl="0" eaLnBrk="1" latinLnBrk="0" hangingPunct="1">
              <a:spcBef>
                <a:spcPct val="20000"/>
              </a:spcBef>
              <a:buFont typeface="Arial"/>
              <a:buChar char="–"/>
              <a:defRPr sz="3100" kern="1200">
                <a:solidFill>
                  <a:schemeClr val="tx1"/>
                </a:solidFill>
                <a:latin typeface="+mn-lt"/>
                <a:ea typeface="+mn-ea"/>
                <a:cs typeface="+mn-cs"/>
              </a:defRPr>
            </a:lvl2pPr>
            <a:lvl3pPr marL="1270445" indent="-254089" algn="l" defTabSz="508178" rtl="0" eaLnBrk="1" latinLnBrk="0" hangingPunct="1">
              <a:spcBef>
                <a:spcPct val="20000"/>
              </a:spcBef>
              <a:buFont typeface="Arial"/>
              <a:buChar char="•"/>
              <a:defRPr sz="2700" kern="1200">
                <a:solidFill>
                  <a:schemeClr val="tx1"/>
                </a:solidFill>
                <a:latin typeface="+mn-lt"/>
                <a:ea typeface="+mn-ea"/>
                <a:cs typeface="+mn-cs"/>
              </a:defRPr>
            </a:lvl3pPr>
            <a:lvl4pPr marL="1778622" indent="-254089" algn="l" defTabSz="508178" rtl="0" eaLnBrk="1" latinLnBrk="0" hangingPunct="1">
              <a:spcBef>
                <a:spcPct val="20000"/>
              </a:spcBef>
              <a:buFont typeface="Arial"/>
              <a:buChar char="–"/>
              <a:defRPr sz="2200" kern="1200">
                <a:solidFill>
                  <a:schemeClr val="tx1"/>
                </a:solidFill>
                <a:latin typeface="+mn-lt"/>
                <a:ea typeface="+mn-ea"/>
                <a:cs typeface="+mn-cs"/>
              </a:defRPr>
            </a:lvl4pPr>
            <a:lvl5pPr marL="2286800" indent="-254089" algn="l" defTabSz="508178" rtl="0" eaLnBrk="1" latinLnBrk="0" hangingPunct="1">
              <a:spcBef>
                <a:spcPct val="20000"/>
              </a:spcBef>
              <a:buFont typeface="Arial"/>
              <a:buChar char="»"/>
              <a:defRPr sz="2200" kern="1200">
                <a:solidFill>
                  <a:schemeClr val="tx1"/>
                </a:solidFill>
                <a:latin typeface="+mn-lt"/>
                <a:ea typeface="+mn-ea"/>
                <a:cs typeface="+mn-cs"/>
              </a:defRPr>
            </a:lvl5pPr>
            <a:lvl6pPr marL="2794978" indent="-254089" algn="l" defTabSz="508178" rtl="0" eaLnBrk="1" latinLnBrk="0" hangingPunct="1">
              <a:spcBef>
                <a:spcPct val="20000"/>
              </a:spcBef>
              <a:buFont typeface="Arial"/>
              <a:buChar char="•"/>
              <a:defRPr sz="2200" kern="1200">
                <a:solidFill>
                  <a:schemeClr val="tx1"/>
                </a:solidFill>
                <a:latin typeface="+mn-lt"/>
                <a:ea typeface="+mn-ea"/>
                <a:cs typeface="+mn-cs"/>
              </a:defRPr>
            </a:lvl6pPr>
            <a:lvl7pPr marL="3303156" indent="-254089" algn="l" defTabSz="508178" rtl="0" eaLnBrk="1" latinLnBrk="0" hangingPunct="1">
              <a:spcBef>
                <a:spcPct val="20000"/>
              </a:spcBef>
              <a:buFont typeface="Arial"/>
              <a:buChar char="•"/>
              <a:defRPr sz="2200" kern="1200">
                <a:solidFill>
                  <a:schemeClr val="tx1"/>
                </a:solidFill>
                <a:latin typeface="+mn-lt"/>
                <a:ea typeface="+mn-ea"/>
                <a:cs typeface="+mn-cs"/>
              </a:defRPr>
            </a:lvl7pPr>
            <a:lvl8pPr marL="3811334" indent="-254089" algn="l" defTabSz="508178" rtl="0" eaLnBrk="1" latinLnBrk="0" hangingPunct="1">
              <a:spcBef>
                <a:spcPct val="20000"/>
              </a:spcBef>
              <a:buFont typeface="Arial"/>
              <a:buChar char="•"/>
              <a:defRPr sz="2200" kern="1200">
                <a:solidFill>
                  <a:schemeClr val="tx1"/>
                </a:solidFill>
                <a:latin typeface="+mn-lt"/>
                <a:ea typeface="+mn-ea"/>
                <a:cs typeface="+mn-cs"/>
              </a:defRPr>
            </a:lvl8pPr>
            <a:lvl9pPr marL="4319511" indent="-254089" algn="l" defTabSz="508178" rtl="0" eaLnBrk="1" latinLnBrk="0" hangingPunct="1">
              <a:spcBef>
                <a:spcPct val="20000"/>
              </a:spcBef>
              <a:buFont typeface="Arial"/>
              <a:buChar char="•"/>
              <a:defRPr sz="2200" kern="1200">
                <a:solidFill>
                  <a:schemeClr val="tx1"/>
                </a:solidFill>
                <a:latin typeface="+mn-lt"/>
                <a:ea typeface="+mn-ea"/>
                <a:cs typeface="+mn-cs"/>
              </a:defRPr>
            </a:lvl9pPr>
          </a:lstStyle>
          <a:p>
            <a:pPr>
              <a:buFont typeface="Arial" charset="0"/>
              <a:buChar char="•"/>
              <a:defRPr/>
            </a:pPr>
            <a:r>
              <a:rPr lang="en-US" sz="2800" smtClean="0">
                <a:solidFill>
                  <a:schemeClr val="bg1"/>
                </a:solidFill>
                <a:cs typeface="ＭＳ Ｐゴシック" charset="0"/>
              </a:rPr>
              <a:t>Traditional competitors</a:t>
            </a:r>
          </a:p>
          <a:p>
            <a:pPr lvl="1">
              <a:buFont typeface="Arial" charset="0"/>
              <a:buChar char="–"/>
              <a:defRPr/>
            </a:pPr>
            <a:r>
              <a:rPr lang="en-US" sz="2400" smtClean="0">
                <a:solidFill>
                  <a:schemeClr val="bg1"/>
                </a:solidFill>
              </a:rPr>
              <a:t>All firms share market space with competitors who are continuously devising new products, services, efficiencies, and switching costs.</a:t>
            </a:r>
          </a:p>
          <a:p>
            <a:pPr>
              <a:buFont typeface="Arial" charset="0"/>
              <a:buChar char="•"/>
              <a:defRPr/>
            </a:pPr>
            <a:r>
              <a:rPr lang="en-US" sz="2800" smtClean="0">
                <a:solidFill>
                  <a:schemeClr val="bg1"/>
                </a:solidFill>
                <a:cs typeface="ＭＳ Ｐゴシック" charset="0"/>
              </a:rPr>
              <a:t>New market entrants </a:t>
            </a:r>
          </a:p>
          <a:p>
            <a:pPr lvl="1">
              <a:buFont typeface="Arial" charset="0"/>
              <a:buChar char="–"/>
              <a:defRPr/>
            </a:pPr>
            <a:r>
              <a:rPr lang="en-US" sz="2400" smtClean="0">
                <a:solidFill>
                  <a:schemeClr val="bg1"/>
                </a:solidFill>
              </a:rPr>
              <a:t>Some industries have high barriers to entry, for example, computer chip business.</a:t>
            </a:r>
          </a:p>
          <a:p>
            <a:pPr lvl="1">
              <a:buFont typeface="Arial" charset="0"/>
              <a:buChar char="–"/>
              <a:defRPr/>
            </a:pPr>
            <a:r>
              <a:rPr lang="en-US" sz="2400" smtClean="0">
                <a:solidFill>
                  <a:schemeClr val="bg1"/>
                </a:solidFill>
              </a:rPr>
              <a:t>New companies have new equipment, younger workers, but little brand recognition.</a:t>
            </a:r>
            <a:endParaRPr lang="en-US" sz="2400" dirty="0">
              <a:solidFill>
                <a:schemeClr val="bg1"/>
              </a:solidFill>
            </a:endParaRPr>
          </a:p>
        </p:txBody>
      </p:sp>
    </p:spTree>
    <p:extLst>
      <p:ext uri="{BB962C8B-B14F-4D97-AF65-F5344CB8AC3E}">
        <p14:creationId xmlns:p14="http://schemas.microsoft.com/office/powerpoint/2010/main" val="72069468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868997" y="1952332"/>
            <a:ext cx="9144635" cy="553998"/>
          </a:xfrm>
          <a:prstGeom prst="rect">
            <a:avLst/>
          </a:prstGeom>
          <a:noFill/>
        </p:spPr>
        <p:txBody>
          <a:bodyPr wrap="square" rtlCol="0">
            <a:spAutoFit/>
          </a:bodyPr>
          <a:lstStyle/>
          <a:p>
            <a:r>
              <a:rPr lang="en-US" sz="3000" dirty="0" smtClean="0">
                <a:solidFill>
                  <a:srgbClr val="FFFFFF"/>
                </a:solidFill>
              </a:rPr>
              <a:t>Porter’s Competitive Forces Model</a:t>
            </a:r>
            <a:endParaRPr lang="en-US" sz="3000" dirty="0">
              <a:solidFill>
                <a:srgbClr val="FFFFFF"/>
              </a:solidFill>
            </a:endParaRPr>
          </a:p>
        </p:txBody>
      </p:sp>
      <p:sp>
        <p:nvSpPr>
          <p:cNvPr id="5" name="TextBox 4"/>
          <p:cNvSpPr txBox="1"/>
          <p:nvPr/>
        </p:nvSpPr>
        <p:spPr>
          <a:xfrm>
            <a:off x="1366524" y="1383897"/>
            <a:ext cx="8008917" cy="400110"/>
          </a:xfrm>
          <a:prstGeom prst="rect">
            <a:avLst/>
          </a:prstGeom>
          <a:noFill/>
        </p:spPr>
        <p:txBody>
          <a:bodyPr wrap="square" rtlCol="0">
            <a:spAutoFit/>
          </a:bodyPr>
          <a:lstStyle/>
          <a:p>
            <a:pPr marR="0" algn="l" rtl="0"/>
            <a:r>
              <a:rPr lang="en-US" sz="2000" b="1" i="0" u="none" strike="noStrike" baseline="0" dirty="0" smtClean="0">
                <a:solidFill>
                  <a:srgbClr val="FFFFFF"/>
                </a:solidFill>
                <a:latin typeface="RopaSoftPro-Regular"/>
              </a:rPr>
              <a:t>Faculty</a:t>
            </a:r>
            <a:r>
              <a:rPr lang="en-US" sz="2000" b="1" i="0" u="none" strike="noStrike" dirty="0" smtClean="0">
                <a:solidFill>
                  <a:srgbClr val="FFFFFF"/>
                </a:solidFill>
                <a:latin typeface="RopaSoftPro-Regular"/>
              </a:rPr>
              <a:t> of </a:t>
            </a:r>
            <a:r>
              <a:rPr lang="en-US" b="1" dirty="0">
                <a:solidFill>
                  <a:srgbClr val="FFFFFF"/>
                </a:solidFill>
                <a:latin typeface="RopaSoftPro-Regular"/>
              </a:rPr>
              <a:t> </a:t>
            </a:r>
            <a:r>
              <a:rPr lang="en-US" b="1" dirty="0" smtClean="0">
                <a:solidFill>
                  <a:srgbClr val="FFFFFF"/>
                </a:solidFill>
                <a:latin typeface="RopaSoftPro-Regular"/>
              </a:rPr>
              <a:t>Computing and Informatics</a:t>
            </a:r>
            <a:endParaRPr lang="en-US" sz="2000" b="1" i="0" u="none" strike="noStrike" baseline="0" dirty="0" smtClean="0">
              <a:solidFill>
                <a:srgbClr val="FFFFFF"/>
              </a:solidFill>
              <a:latin typeface="RopaSoftPro-Regular"/>
            </a:endParaRPr>
          </a:p>
        </p:txBody>
      </p:sp>
      <p:sp>
        <p:nvSpPr>
          <p:cNvPr id="6" name="Content Placeholder 1"/>
          <p:cNvSpPr txBox="1">
            <a:spLocks/>
          </p:cNvSpPr>
          <p:nvPr/>
        </p:nvSpPr>
        <p:spPr bwMode="auto">
          <a:xfrm>
            <a:off x="622570" y="2811294"/>
            <a:ext cx="8229600" cy="44958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81133" indent="-381133" algn="l" defTabSz="508178" rtl="0" eaLnBrk="1" latinLnBrk="0" hangingPunct="1">
              <a:spcBef>
                <a:spcPct val="20000"/>
              </a:spcBef>
              <a:buFont typeface="Arial"/>
              <a:buChar char="•"/>
              <a:defRPr sz="3600" kern="1200">
                <a:solidFill>
                  <a:schemeClr val="tx1"/>
                </a:solidFill>
                <a:latin typeface="+mn-lt"/>
                <a:ea typeface="+mn-ea"/>
                <a:cs typeface="+mn-cs"/>
              </a:defRPr>
            </a:lvl1pPr>
            <a:lvl2pPr marL="825789" indent="-317611" algn="l" defTabSz="508178" rtl="0" eaLnBrk="1" latinLnBrk="0" hangingPunct="1">
              <a:spcBef>
                <a:spcPct val="20000"/>
              </a:spcBef>
              <a:buFont typeface="Arial"/>
              <a:buChar char="–"/>
              <a:defRPr sz="3100" kern="1200">
                <a:solidFill>
                  <a:schemeClr val="tx1"/>
                </a:solidFill>
                <a:latin typeface="+mn-lt"/>
                <a:ea typeface="+mn-ea"/>
                <a:cs typeface="+mn-cs"/>
              </a:defRPr>
            </a:lvl2pPr>
            <a:lvl3pPr marL="1270445" indent="-254089" algn="l" defTabSz="508178" rtl="0" eaLnBrk="1" latinLnBrk="0" hangingPunct="1">
              <a:spcBef>
                <a:spcPct val="20000"/>
              </a:spcBef>
              <a:buFont typeface="Arial"/>
              <a:buChar char="•"/>
              <a:defRPr sz="2700" kern="1200">
                <a:solidFill>
                  <a:schemeClr val="tx1"/>
                </a:solidFill>
                <a:latin typeface="+mn-lt"/>
                <a:ea typeface="+mn-ea"/>
                <a:cs typeface="+mn-cs"/>
              </a:defRPr>
            </a:lvl3pPr>
            <a:lvl4pPr marL="1778622" indent="-254089" algn="l" defTabSz="508178" rtl="0" eaLnBrk="1" latinLnBrk="0" hangingPunct="1">
              <a:spcBef>
                <a:spcPct val="20000"/>
              </a:spcBef>
              <a:buFont typeface="Arial"/>
              <a:buChar char="–"/>
              <a:defRPr sz="2200" kern="1200">
                <a:solidFill>
                  <a:schemeClr val="tx1"/>
                </a:solidFill>
                <a:latin typeface="+mn-lt"/>
                <a:ea typeface="+mn-ea"/>
                <a:cs typeface="+mn-cs"/>
              </a:defRPr>
            </a:lvl4pPr>
            <a:lvl5pPr marL="2286800" indent="-254089" algn="l" defTabSz="508178" rtl="0" eaLnBrk="1" latinLnBrk="0" hangingPunct="1">
              <a:spcBef>
                <a:spcPct val="20000"/>
              </a:spcBef>
              <a:buFont typeface="Arial"/>
              <a:buChar char="»"/>
              <a:defRPr sz="2200" kern="1200">
                <a:solidFill>
                  <a:schemeClr val="tx1"/>
                </a:solidFill>
                <a:latin typeface="+mn-lt"/>
                <a:ea typeface="+mn-ea"/>
                <a:cs typeface="+mn-cs"/>
              </a:defRPr>
            </a:lvl5pPr>
            <a:lvl6pPr marL="2794978" indent="-254089" algn="l" defTabSz="508178" rtl="0" eaLnBrk="1" latinLnBrk="0" hangingPunct="1">
              <a:spcBef>
                <a:spcPct val="20000"/>
              </a:spcBef>
              <a:buFont typeface="Arial"/>
              <a:buChar char="•"/>
              <a:defRPr sz="2200" kern="1200">
                <a:solidFill>
                  <a:schemeClr val="tx1"/>
                </a:solidFill>
                <a:latin typeface="+mn-lt"/>
                <a:ea typeface="+mn-ea"/>
                <a:cs typeface="+mn-cs"/>
              </a:defRPr>
            </a:lvl6pPr>
            <a:lvl7pPr marL="3303156" indent="-254089" algn="l" defTabSz="508178" rtl="0" eaLnBrk="1" latinLnBrk="0" hangingPunct="1">
              <a:spcBef>
                <a:spcPct val="20000"/>
              </a:spcBef>
              <a:buFont typeface="Arial"/>
              <a:buChar char="•"/>
              <a:defRPr sz="2200" kern="1200">
                <a:solidFill>
                  <a:schemeClr val="tx1"/>
                </a:solidFill>
                <a:latin typeface="+mn-lt"/>
                <a:ea typeface="+mn-ea"/>
                <a:cs typeface="+mn-cs"/>
              </a:defRPr>
            </a:lvl7pPr>
            <a:lvl8pPr marL="3811334" indent="-254089" algn="l" defTabSz="508178" rtl="0" eaLnBrk="1" latinLnBrk="0" hangingPunct="1">
              <a:spcBef>
                <a:spcPct val="20000"/>
              </a:spcBef>
              <a:buFont typeface="Arial"/>
              <a:buChar char="•"/>
              <a:defRPr sz="2200" kern="1200">
                <a:solidFill>
                  <a:schemeClr val="tx1"/>
                </a:solidFill>
                <a:latin typeface="+mn-lt"/>
                <a:ea typeface="+mn-ea"/>
                <a:cs typeface="+mn-cs"/>
              </a:defRPr>
            </a:lvl8pPr>
            <a:lvl9pPr marL="4319511" indent="-254089" algn="l" defTabSz="508178" rtl="0" eaLnBrk="1" latinLnBrk="0" hangingPunct="1">
              <a:spcBef>
                <a:spcPct val="20000"/>
              </a:spcBef>
              <a:buFont typeface="Arial"/>
              <a:buChar char="•"/>
              <a:defRPr sz="2200" kern="1200">
                <a:solidFill>
                  <a:schemeClr val="tx1"/>
                </a:solidFill>
                <a:latin typeface="+mn-lt"/>
                <a:ea typeface="+mn-ea"/>
                <a:cs typeface="+mn-cs"/>
              </a:defRPr>
            </a:lvl9pPr>
          </a:lstStyle>
          <a:p>
            <a:pPr>
              <a:lnSpc>
                <a:spcPct val="80000"/>
              </a:lnSpc>
            </a:pPr>
            <a:r>
              <a:rPr lang="en-US" altLang="en-US" sz="2800" smtClean="0">
                <a:solidFill>
                  <a:schemeClr val="bg1"/>
                </a:solidFill>
              </a:rPr>
              <a:t>Substitute products and services</a:t>
            </a:r>
          </a:p>
          <a:p>
            <a:pPr lvl="1">
              <a:lnSpc>
                <a:spcPct val="80000"/>
              </a:lnSpc>
            </a:pPr>
            <a:r>
              <a:rPr lang="en-US" altLang="en-US" sz="2400" smtClean="0">
                <a:solidFill>
                  <a:schemeClr val="bg1"/>
                </a:solidFill>
              </a:rPr>
              <a:t>Substitutes customers might use if your prices become too high, for example, iTunes substitutes for CDs</a:t>
            </a:r>
          </a:p>
          <a:p>
            <a:pPr>
              <a:lnSpc>
                <a:spcPct val="80000"/>
              </a:lnSpc>
            </a:pPr>
            <a:r>
              <a:rPr lang="en-US" altLang="en-US" sz="2800" smtClean="0">
                <a:solidFill>
                  <a:schemeClr val="bg1"/>
                </a:solidFill>
              </a:rPr>
              <a:t>Customers </a:t>
            </a:r>
          </a:p>
          <a:p>
            <a:pPr lvl="1">
              <a:lnSpc>
                <a:spcPct val="80000"/>
              </a:lnSpc>
            </a:pPr>
            <a:r>
              <a:rPr lang="en-US" altLang="en-US" sz="2400" smtClean="0">
                <a:solidFill>
                  <a:schemeClr val="bg1"/>
                </a:solidFill>
              </a:rPr>
              <a:t>Can customers easily switch to competitor</a:t>
            </a:r>
            <a:r>
              <a:rPr lang="en-US" altLang="ja-JP" sz="2400" smtClean="0">
                <a:solidFill>
                  <a:schemeClr val="bg1"/>
                </a:solidFill>
              </a:rPr>
              <a:t>'s products? Can they force businesses to compete on price alone in transparent marketplace?</a:t>
            </a:r>
          </a:p>
          <a:p>
            <a:pPr>
              <a:lnSpc>
                <a:spcPct val="80000"/>
              </a:lnSpc>
            </a:pPr>
            <a:r>
              <a:rPr lang="en-US" altLang="en-US" sz="2800" smtClean="0">
                <a:solidFill>
                  <a:schemeClr val="bg1"/>
                </a:solidFill>
              </a:rPr>
              <a:t>Suppliers</a:t>
            </a:r>
          </a:p>
          <a:p>
            <a:pPr lvl="1">
              <a:lnSpc>
                <a:spcPct val="80000"/>
              </a:lnSpc>
            </a:pPr>
            <a:r>
              <a:rPr lang="en-US" altLang="en-US" sz="2400" smtClean="0">
                <a:solidFill>
                  <a:schemeClr val="bg1"/>
                </a:solidFill>
              </a:rPr>
              <a:t>Market power of suppliers when firm cannot raise prices as fast as suppliers</a:t>
            </a:r>
            <a:endParaRPr lang="en-US" altLang="en-US" sz="2400" dirty="0" smtClean="0">
              <a:solidFill>
                <a:schemeClr val="bg1"/>
              </a:solidFill>
            </a:endParaRPr>
          </a:p>
        </p:txBody>
      </p:sp>
    </p:spTree>
    <p:extLst>
      <p:ext uri="{BB962C8B-B14F-4D97-AF65-F5344CB8AC3E}">
        <p14:creationId xmlns:p14="http://schemas.microsoft.com/office/powerpoint/2010/main" val="12274532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853440" y="1795775"/>
            <a:ext cx="9144635" cy="1015663"/>
          </a:xfrm>
          <a:prstGeom prst="rect">
            <a:avLst/>
          </a:prstGeom>
          <a:noFill/>
        </p:spPr>
        <p:txBody>
          <a:bodyPr wrap="square" rtlCol="0">
            <a:spAutoFit/>
          </a:bodyPr>
          <a:lstStyle/>
          <a:p>
            <a:r>
              <a:rPr lang="en-US" sz="3000" dirty="0" smtClean="0">
                <a:solidFill>
                  <a:srgbClr val="FFFFFF"/>
                </a:solidFill>
              </a:rPr>
              <a:t>Information systems strategies for dealing with competitive forces</a:t>
            </a:r>
            <a:endParaRPr lang="en-US" sz="3000" dirty="0">
              <a:solidFill>
                <a:srgbClr val="FFFFFF"/>
              </a:solidFill>
            </a:endParaRPr>
          </a:p>
        </p:txBody>
      </p:sp>
      <p:sp>
        <p:nvSpPr>
          <p:cNvPr id="4" name="TextBox 3"/>
          <p:cNvSpPr txBox="1"/>
          <p:nvPr/>
        </p:nvSpPr>
        <p:spPr>
          <a:xfrm>
            <a:off x="798664" y="2674655"/>
            <a:ext cx="9144635" cy="5262979"/>
          </a:xfrm>
          <a:prstGeom prst="rect">
            <a:avLst/>
          </a:prstGeom>
          <a:noFill/>
        </p:spPr>
        <p:txBody>
          <a:bodyPr wrap="square" rtlCol="0">
            <a:spAutoFit/>
          </a:bodyPr>
          <a:lstStyle/>
          <a:p>
            <a:pPr marL="342900" indent="-342900">
              <a:lnSpc>
                <a:spcPct val="140000"/>
              </a:lnSpc>
              <a:buFontTx/>
              <a:buChar char="-"/>
            </a:pPr>
            <a:r>
              <a:rPr lang="en-US" u="sng" dirty="0" smtClean="0">
                <a:solidFill>
                  <a:srgbClr val="FFFFFF"/>
                </a:solidFill>
              </a:rPr>
              <a:t>Low-cost leadership: </a:t>
            </a:r>
            <a:r>
              <a:rPr lang="en-US" dirty="0" smtClean="0">
                <a:solidFill>
                  <a:srgbClr val="FFFFFF"/>
                </a:solidFill>
              </a:rPr>
              <a:t>Using IS to achieve the lowest operational costs and prices, e.g. point-of-sale terminals link to a central computer so that inventory can be replenished at lightning speed and there is no need to keep large stock in warehouses</a:t>
            </a:r>
          </a:p>
          <a:p>
            <a:pPr marL="342900" indent="-342900">
              <a:lnSpc>
                <a:spcPct val="140000"/>
              </a:lnSpc>
              <a:buFontTx/>
              <a:buChar char="-"/>
            </a:pPr>
            <a:r>
              <a:rPr lang="en-US" u="sng" dirty="0" smtClean="0">
                <a:solidFill>
                  <a:srgbClr val="FFFFFF"/>
                </a:solidFill>
              </a:rPr>
              <a:t>Product differentiation: </a:t>
            </a:r>
            <a:r>
              <a:rPr lang="en-US" dirty="0" smtClean="0">
                <a:solidFill>
                  <a:srgbClr val="FFFFFF"/>
                </a:solidFill>
              </a:rPr>
              <a:t>Using  IS to make a product more attractive by contrasting its unique qualities with other competing products, e.g., packaging goods in a creative way, incorporating new functional features, new advertising campaigns or sales promotions</a:t>
            </a:r>
            <a:endParaRPr lang="en-US" u="sng" dirty="0" smtClean="0">
              <a:solidFill>
                <a:srgbClr val="FFFFFF"/>
              </a:solidFill>
            </a:endParaRPr>
          </a:p>
          <a:p>
            <a:pPr lvl="1">
              <a:lnSpc>
                <a:spcPct val="140000"/>
              </a:lnSpc>
            </a:pPr>
            <a:endParaRPr lang="en-US" dirty="0" smtClean="0">
              <a:solidFill>
                <a:srgbClr val="FFFFFF"/>
              </a:solidFill>
            </a:endParaRPr>
          </a:p>
          <a:p>
            <a:pPr marL="851078" lvl="1" indent="-342900">
              <a:lnSpc>
                <a:spcPct val="140000"/>
              </a:lnSpc>
              <a:buFont typeface="Arial" panose="020B0604020202020204" pitchFamily="34" charset="0"/>
              <a:buChar char="•"/>
            </a:pPr>
            <a:endParaRPr lang="en-US" dirty="0" smtClean="0">
              <a:solidFill>
                <a:srgbClr val="FFFFFF"/>
              </a:solidFill>
            </a:endParaRPr>
          </a:p>
          <a:p>
            <a:pPr marL="851078" lvl="1" indent="-342900">
              <a:lnSpc>
                <a:spcPct val="140000"/>
              </a:lnSpc>
              <a:buFont typeface="Arial" panose="020B0604020202020204" pitchFamily="34" charset="0"/>
              <a:buChar char="•"/>
            </a:pPr>
            <a:endParaRPr lang="en-US" dirty="0" smtClean="0">
              <a:solidFill>
                <a:srgbClr val="FFFFFF"/>
              </a:solidFill>
            </a:endParaRPr>
          </a:p>
          <a:p>
            <a:pPr marL="851078" lvl="1" indent="-342900">
              <a:lnSpc>
                <a:spcPct val="140000"/>
              </a:lnSpc>
              <a:buFont typeface="Arial" panose="020B0604020202020204" pitchFamily="34" charset="0"/>
              <a:buChar char="•"/>
            </a:pPr>
            <a:endParaRPr lang="en-US" dirty="0" smtClean="0">
              <a:solidFill>
                <a:srgbClr val="FFFFFF"/>
              </a:solidFill>
            </a:endParaRPr>
          </a:p>
        </p:txBody>
      </p:sp>
      <p:sp>
        <p:nvSpPr>
          <p:cNvPr id="5" name="TextBox 4"/>
          <p:cNvSpPr txBox="1"/>
          <p:nvPr/>
        </p:nvSpPr>
        <p:spPr>
          <a:xfrm>
            <a:off x="1366524" y="1383897"/>
            <a:ext cx="8008917" cy="400110"/>
          </a:xfrm>
          <a:prstGeom prst="rect">
            <a:avLst/>
          </a:prstGeom>
          <a:noFill/>
        </p:spPr>
        <p:txBody>
          <a:bodyPr wrap="square" rtlCol="0">
            <a:spAutoFit/>
          </a:bodyPr>
          <a:lstStyle/>
          <a:p>
            <a:pPr marR="0" algn="l" rtl="0"/>
            <a:r>
              <a:rPr lang="en-US" sz="2000" b="1" i="0" u="none" strike="noStrike" baseline="0" dirty="0" smtClean="0">
                <a:solidFill>
                  <a:srgbClr val="FFFFFF"/>
                </a:solidFill>
                <a:latin typeface="RopaSoftPro-Regular"/>
              </a:rPr>
              <a:t>Faculty</a:t>
            </a:r>
            <a:r>
              <a:rPr lang="en-US" sz="2000" b="1" i="0" u="none" strike="noStrike" dirty="0" smtClean="0">
                <a:solidFill>
                  <a:srgbClr val="FFFFFF"/>
                </a:solidFill>
                <a:latin typeface="RopaSoftPro-Regular"/>
              </a:rPr>
              <a:t> of </a:t>
            </a:r>
            <a:r>
              <a:rPr lang="en-US" b="1" dirty="0">
                <a:solidFill>
                  <a:srgbClr val="FFFFFF"/>
                </a:solidFill>
                <a:latin typeface="RopaSoftPro-Regular"/>
              </a:rPr>
              <a:t> </a:t>
            </a:r>
            <a:r>
              <a:rPr lang="en-US" b="1" dirty="0" smtClean="0">
                <a:solidFill>
                  <a:srgbClr val="FFFFFF"/>
                </a:solidFill>
                <a:latin typeface="RopaSoftPro-Regular"/>
              </a:rPr>
              <a:t>Computing and Informatics</a:t>
            </a:r>
            <a:endParaRPr lang="en-US" sz="2000" b="1" i="0" u="none" strike="noStrike" baseline="0" dirty="0" smtClean="0">
              <a:solidFill>
                <a:srgbClr val="FFFFFF"/>
              </a:solidFill>
              <a:latin typeface="RopaSoftPro-Regular"/>
            </a:endParaRPr>
          </a:p>
        </p:txBody>
      </p:sp>
    </p:spTree>
    <p:extLst>
      <p:ext uri="{BB962C8B-B14F-4D97-AF65-F5344CB8AC3E}">
        <p14:creationId xmlns:p14="http://schemas.microsoft.com/office/powerpoint/2010/main" val="26977141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853440" y="1795775"/>
            <a:ext cx="9144635" cy="1015663"/>
          </a:xfrm>
          <a:prstGeom prst="rect">
            <a:avLst/>
          </a:prstGeom>
          <a:noFill/>
        </p:spPr>
        <p:txBody>
          <a:bodyPr wrap="square" rtlCol="0">
            <a:spAutoFit/>
          </a:bodyPr>
          <a:lstStyle/>
          <a:p>
            <a:r>
              <a:rPr lang="en-US" sz="3000" dirty="0" smtClean="0">
                <a:solidFill>
                  <a:srgbClr val="FFFFFF"/>
                </a:solidFill>
              </a:rPr>
              <a:t>Information systems strategies for dealing with competitive forces</a:t>
            </a:r>
            <a:endParaRPr lang="en-US" sz="3000" dirty="0">
              <a:solidFill>
                <a:srgbClr val="FFFFFF"/>
              </a:solidFill>
            </a:endParaRPr>
          </a:p>
        </p:txBody>
      </p:sp>
      <p:sp>
        <p:nvSpPr>
          <p:cNvPr id="4" name="TextBox 3"/>
          <p:cNvSpPr txBox="1"/>
          <p:nvPr/>
        </p:nvSpPr>
        <p:spPr>
          <a:xfrm>
            <a:off x="798664" y="2674655"/>
            <a:ext cx="9144635" cy="4832092"/>
          </a:xfrm>
          <a:prstGeom prst="rect">
            <a:avLst/>
          </a:prstGeom>
          <a:noFill/>
        </p:spPr>
        <p:txBody>
          <a:bodyPr wrap="square" rtlCol="0">
            <a:spAutoFit/>
          </a:bodyPr>
          <a:lstStyle/>
          <a:p>
            <a:pPr marL="342900" indent="-342900">
              <a:lnSpc>
                <a:spcPct val="140000"/>
              </a:lnSpc>
              <a:buFontTx/>
              <a:buChar char="-"/>
            </a:pPr>
            <a:r>
              <a:rPr lang="en-US" u="sng" dirty="0" smtClean="0">
                <a:solidFill>
                  <a:srgbClr val="FFFFFF"/>
                </a:solidFill>
              </a:rPr>
              <a:t>Focus on market niche: </a:t>
            </a:r>
            <a:r>
              <a:rPr lang="en-US" dirty="0" smtClean="0">
                <a:solidFill>
                  <a:srgbClr val="FFFFFF"/>
                </a:solidFill>
              </a:rPr>
              <a:t>Using IS to enable a specific market focus and narrow the target market better than competitors, e.g., by producing and analyzing data for finely-tuned sales and marketing techniques</a:t>
            </a:r>
          </a:p>
          <a:p>
            <a:pPr marL="342900" indent="-342900">
              <a:lnSpc>
                <a:spcPct val="140000"/>
              </a:lnSpc>
              <a:buFontTx/>
              <a:buChar char="-"/>
            </a:pPr>
            <a:endParaRPr lang="en-US" dirty="0" smtClean="0">
              <a:solidFill>
                <a:srgbClr val="FFFFFF"/>
              </a:solidFill>
            </a:endParaRPr>
          </a:p>
          <a:p>
            <a:pPr marL="342900" indent="-342900">
              <a:lnSpc>
                <a:spcPct val="140000"/>
              </a:lnSpc>
              <a:buFontTx/>
              <a:buChar char="-"/>
            </a:pPr>
            <a:r>
              <a:rPr lang="en-US" u="sng" dirty="0" smtClean="0">
                <a:solidFill>
                  <a:srgbClr val="FFFFFF"/>
                </a:solidFill>
              </a:rPr>
              <a:t>Customer and supplier intimacy: </a:t>
            </a:r>
            <a:r>
              <a:rPr lang="en-US" dirty="0" smtClean="0">
                <a:solidFill>
                  <a:srgbClr val="FFFFFF"/>
                </a:solidFill>
              </a:rPr>
              <a:t>Using IS to develop strong ties and loyalty with customers and suppliers</a:t>
            </a:r>
          </a:p>
          <a:p>
            <a:pPr marL="342900" indent="-342900">
              <a:lnSpc>
                <a:spcPct val="140000"/>
              </a:lnSpc>
              <a:buFontTx/>
              <a:buChar char="-"/>
            </a:pPr>
            <a:r>
              <a:rPr lang="en-US" altLang="en-US" dirty="0">
                <a:solidFill>
                  <a:schemeClr val="bg1"/>
                </a:solidFill>
              </a:rPr>
              <a:t>Increase </a:t>
            </a:r>
            <a:r>
              <a:rPr lang="en-US" altLang="en-US" i="1" dirty="0">
                <a:solidFill>
                  <a:schemeClr val="bg1"/>
                </a:solidFill>
              </a:rPr>
              <a:t>switching costs</a:t>
            </a:r>
          </a:p>
          <a:p>
            <a:pPr marL="342900" indent="-342900">
              <a:lnSpc>
                <a:spcPct val="140000"/>
              </a:lnSpc>
              <a:buFontTx/>
              <a:buChar char="-"/>
            </a:pPr>
            <a:endParaRPr lang="en-US" dirty="0" smtClean="0">
              <a:solidFill>
                <a:srgbClr val="FFFFFF"/>
              </a:solidFill>
            </a:endParaRPr>
          </a:p>
          <a:p>
            <a:pPr marL="851078" lvl="1" indent="-342900">
              <a:lnSpc>
                <a:spcPct val="140000"/>
              </a:lnSpc>
              <a:buFont typeface="Arial" panose="020B0604020202020204" pitchFamily="34" charset="0"/>
              <a:buChar char="•"/>
            </a:pPr>
            <a:endParaRPr lang="en-US" dirty="0" smtClean="0">
              <a:solidFill>
                <a:srgbClr val="FFFFFF"/>
              </a:solidFill>
            </a:endParaRPr>
          </a:p>
          <a:p>
            <a:pPr marL="851078" lvl="1" indent="-342900">
              <a:lnSpc>
                <a:spcPct val="140000"/>
              </a:lnSpc>
              <a:buFont typeface="Arial" panose="020B0604020202020204" pitchFamily="34" charset="0"/>
              <a:buChar char="•"/>
            </a:pPr>
            <a:endParaRPr lang="en-US" dirty="0" smtClean="0">
              <a:solidFill>
                <a:srgbClr val="FFFFFF"/>
              </a:solidFill>
            </a:endParaRPr>
          </a:p>
          <a:p>
            <a:pPr marL="851078" lvl="1" indent="-342900">
              <a:lnSpc>
                <a:spcPct val="140000"/>
              </a:lnSpc>
              <a:buFont typeface="Arial" panose="020B0604020202020204" pitchFamily="34" charset="0"/>
              <a:buChar char="•"/>
            </a:pPr>
            <a:endParaRPr lang="en-US" dirty="0" smtClean="0">
              <a:solidFill>
                <a:srgbClr val="FFFFFF"/>
              </a:solidFill>
            </a:endParaRPr>
          </a:p>
        </p:txBody>
      </p:sp>
      <p:sp>
        <p:nvSpPr>
          <p:cNvPr id="5" name="TextBox 4"/>
          <p:cNvSpPr txBox="1"/>
          <p:nvPr/>
        </p:nvSpPr>
        <p:spPr>
          <a:xfrm>
            <a:off x="1366524" y="1383897"/>
            <a:ext cx="8008917" cy="400110"/>
          </a:xfrm>
          <a:prstGeom prst="rect">
            <a:avLst/>
          </a:prstGeom>
          <a:noFill/>
        </p:spPr>
        <p:txBody>
          <a:bodyPr wrap="square" rtlCol="0">
            <a:spAutoFit/>
          </a:bodyPr>
          <a:lstStyle/>
          <a:p>
            <a:pPr marR="0" algn="l" rtl="0"/>
            <a:r>
              <a:rPr lang="en-US" sz="2000" b="1" i="0" u="none" strike="noStrike" baseline="0" dirty="0" smtClean="0">
                <a:solidFill>
                  <a:srgbClr val="FFFFFF"/>
                </a:solidFill>
                <a:latin typeface="RopaSoftPro-Regular"/>
              </a:rPr>
              <a:t>Faculty</a:t>
            </a:r>
            <a:r>
              <a:rPr lang="en-US" sz="2000" b="1" i="0" u="none" strike="noStrike" dirty="0" smtClean="0">
                <a:solidFill>
                  <a:srgbClr val="FFFFFF"/>
                </a:solidFill>
                <a:latin typeface="RopaSoftPro-Regular"/>
              </a:rPr>
              <a:t> of </a:t>
            </a:r>
            <a:r>
              <a:rPr lang="en-US" b="1" dirty="0">
                <a:solidFill>
                  <a:srgbClr val="FFFFFF"/>
                </a:solidFill>
                <a:latin typeface="RopaSoftPro-Regular"/>
              </a:rPr>
              <a:t> </a:t>
            </a:r>
            <a:r>
              <a:rPr lang="en-US" b="1" dirty="0" smtClean="0">
                <a:solidFill>
                  <a:srgbClr val="FFFFFF"/>
                </a:solidFill>
                <a:latin typeface="RopaSoftPro-Regular"/>
              </a:rPr>
              <a:t>Computing and Informatics</a:t>
            </a:r>
            <a:endParaRPr lang="en-US" sz="2000" b="1" i="0" u="none" strike="noStrike" baseline="0" dirty="0" smtClean="0">
              <a:solidFill>
                <a:srgbClr val="FFFFFF"/>
              </a:solidFill>
              <a:latin typeface="RopaSoftPro-Regular"/>
            </a:endParaRPr>
          </a:p>
        </p:txBody>
      </p:sp>
    </p:spTree>
    <p:extLst>
      <p:ext uri="{BB962C8B-B14F-4D97-AF65-F5344CB8AC3E}">
        <p14:creationId xmlns:p14="http://schemas.microsoft.com/office/powerpoint/2010/main" val="201202412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853440" y="1795775"/>
            <a:ext cx="9144635" cy="553998"/>
          </a:xfrm>
          <a:prstGeom prst="rect">
            <a:avLst/>
          </a:prstGeom>
          <a:noFill/>
        </p:spPr>
        <p:txBody>
          <a:bodyPr wrap="square" rtlCol="0">
            <a:spAutoFit/>
          </a:bodyPr>
          <a:lstStyle/>
          <a:p>
            <a:r>
              <a:rPr lang="en-US" sz="3000" dirty="0" smtClean="0">
                <a:solidFill>
                  <a:srgbClr val="FFFFFF"/>
                </a:solidFill>
              </a:rPr>
              <a:t>Business value chain model</a:t>
            </a:r>
            <a:endParaRPr lang="en-US" sz="3000" dirty="0">
              <a:solidFill>
                <a:srgbClr val="FFFFFF"/>
              </a:solidFill>
            </a:endParaRPr>
          </a:p>
        </p:txBody>
      </p:sp>
      <p:sp>
        <p:nvSpPr>
          <p:cNvPr id="4" name="TextBox 3"/>
          <p:cNvSpPr txBox="1"/>
          <p:nvPr/>
        </p:nvSpPr>
        <p:spPr>
          <a:xfrm>
            <a:off x="853440" y="2349773"/>
            <a:ext cx="9144635" cy="6986528"/>
          </a:xfrm>
          <a:prstGeom prst="rect">
            <a:avLst/>
          </a:prstGeom>
          <a:noFill/>
        </p:spPr>
        <p:txBody>
          <a:bodyPr wrap="square" rtlCol="0">
            <a:spAutoFit/>
          </a:bodyPr>
          <a:lstStyle/>
          <a:p>
            <a:pPr marL="342900" indent="-342900">
              <a:lnSpc>
                <a:spcPct val="140000"/>
              </a:lnSpc>
              <a:buFontTx/>
              <a:buChar char="-"/>
            </a:pPr>
            <a:r>
              <a:rPr lang="en-US" dirty="0" smtClean="0">
                <a:solidFill>
                  <a:srgbClr val="FFFFFF"/>
                </a:solidFill>
              </a:rPr>
              <a:t>The model highlights the specific activities in the business where competitive strategies can be best applied and where information systems are most likely to have a strategic impact</a:t>
            </a:r>
          </a:p>
          <a:p>
            <a:pPr marL="342900" indent="-342900">
              <a:lnSpc>
                <a:spcPct val="140000"/>
              </a:lnSpc>
              <a:buFontTx/>
              <a:buChar char="-"/>
            </a:pPr>
            <a:r>
              <a:rPr lang="en-US" dirty="0" smtClean="0">
                <a:solidFill>
                  <a:srgbClr val="FFFFFF"/>
                </a:solidFill>
              </a:rPr>
              <a:t>It  has critical leverage points where a firm can use IT to enhance its competitive position</a:t>
            </a:r>
          </a:p>
          <a:p>
            <a:pPr marL="342900" indent="-342900">
              <a:lnSpc>
                <a:spcPct val="140000"/>
              </a:lnSpc>
              <a:buFontTx/>
              <a:buChar char="-"/>
            </a:pPr>
            <a:r>
              <a:rPr lang="en-US" dirty="0" smtClean="0">
                <a:solidFill>
                  <a:srgbClr val="FFFFFF"/>
                </a:solidFill>
              </a:rPr>
              <a:t>The model is subdivided into primary activities and support activities</a:t>
            </a:r>
          </a:p>
          <a:p>
            <a:pPr marL="342900" indent="-342900">
              <a:lnSpc>
                <a:spcPct val="140000"/>
              </a:lnSpc>
              <a:buFontTx/>
              <a:buChar char="-"/>
            </a:pPr>
            <a:r>
              <a:rPr lang="en-US" dirty="0" smtClean="0">
                <a:solidFill>
                  <a:srgbClr val="FFFFFF"/>
                </a:solidFill>
              </a:rPr>
              <a:t>The primary activities are related to the production and distribution of the firm’s products and services which create value for the customer, i.e. inbound logistics, operations, outbound activities, sales and marketing and services</a:t>
            </a:r>
          </a:p>
          <a:p>
            <a:pPr marL="342900" indent="-342900">
              <a:lnSpc>
                <a:spcPct val="140000"/>
              </a:lnSpc>
              <a:buFontTx/>
              <a:buChar char="-"/>
            </a:pPr>
            <a:r>
              <a:rPr lang="en-US" dirty="0" smtClean="0">
                <a:solidFill>
                  <a:srgbClr val="FFFFFF"/>
                </a:solidFill>
              </a:rPr>
              <a:t>The support activities make the delivery of the primary activities possible, i.e. administration and management, human resource management, technology development and procurement</a:t>
            </a:r>
          </a:p>
          <a:p>
            <a:pPr marL="342900" indent="-342900">
              <a:lnSpc>
                <a:spcPct val="140000"/>
              </a:lnSpc>
              <a:buFontTx/>
              <a:buChar char="-"/>
            </a:pPr>
            <a:endParaRPr lang="en-US" dirty="0" smtClean="0">
              <a:solidFill>
                <a:srgbClr val="FFFFFF"/>
              </a:solidFill>
            </a:endParaRPr>
          </a:p>
          <a:p>
            <a:pPr marL="851078" lvl="1" indent="-342900">
              <a:lnSpc>
                <a:spcPct val="140000"/>
              </a:lnSpc>
              <a:buFont typeface="Arial" panose="020B0604020202020204" pitchFamily="34" charset="0"/>
              <a:buChar char="•"/>
            </a:pPr>
            <a:endParaRPr lang="en-US" dirty="0" smtClean="0">
              <a:solidFill>
                <a:srgbClr val="FFFFFF"/>
              </a:solidFill>
            </a:endParaRPr>
          </a:p>
          <a:p>
            <a:pPr marL="851078" lvl="1" indent="-342900">
              <a:lnSpc>
                <a:spcPct val="140000"/>
              </a:lnSpc>
              <a:buFont typeface="Arial" panose="020B0604020202020204" pitchFamily="34" charset="0"/>
              <a:buChar char="•"/>
            </a:pPr>
            <a:endParaRPr lang="en-US" dirty="0" smtClean="0">
              <a:solidFill>
                <a:srgbClr val="FFFFFF"/>
              </a:solidFill>
            </a:endParaRPr>
          </a:p>
          <a:p>
            <a:pPr marL="851078" lvl="1" indent="-342900">
              <a:lnSpc>
                <a:spcPct val="140000"/>
              </a:lnSpc>
              <a:buFont typeface="Arial" panose="020B0604020202020204" pitchFamily="34" charset="0"/>
              <a:buChar char="•"/>
            </a:pPr>
            <a:endParaRPr lang="en-US" dirty="0" smtClean="0">
              <a:solidFill>
                <a:srgbClr val="FFFFFF"/>
              </a:solidFill>
            </a:endParaRPr>
          </a:p>
        </p:txBody>
      </p:sp>
      <p:sp>
        <p:nvSpPr>
          <p:cNvPr id="5" name="TextBox 4"/>
          <p:cNvSpPr txBox="1"/>
          <p:nvPr/>
        </p:nvSpPr>
        <p:spPr>
          <a:xfrm>
            <a:off x="1366524" y="1383897"/>
            <a:ext cx="8008917" cy="400110"/>
          </a:xfrm>
          <a:prstGeom prst="rect">
            <a:avLst/>
          </a:prstGeom>
          <a:noFill/>
        </p:spPr>
        <p:txBody>
          <a:bodyPr wrap="square" rtlCol="0">
            <a:spAutoFit/>
          </a:bodyPr>
          <a:lstStyle/>
          <a:p>
            <a:pPr marR="0" algn="l" rtl="0"/>
            <a:r>
              <a:rPr lang="en-US" sz="2000" b="1" i="0" u="none" strike="noStrike" baseline="0" dirty="0" smtClean="0">
                <a:solidFill>
                  <a:srgbClr val="FFFFFF"/>
                </a:solidFill>
                <a:latin typeface="RopaSoftPro-Regular"/>
              </a:rPr>
              <a:t>Faculty</a:t>
            </a:r>
            <a:r>
              <a:rPr lang="en-US" sz="2000" b="1" i="0" u="none" strike="noStrike" dirty="0" smtClean="0">
                <a:solidFill>
                  <a:srgbClr val="FFFFFF"/>
                </a:solidFill>
                <a:latin typeface="RopaSoftPro-Regular"/>
              </a:rPr>
              <a:t> of </a:t>
            </a:r>
            <a:r>
              <a:rPr lang="en-US" b="1" dirty="0">
                <a:solidFill>
                  <a:srgbClr val="FFFFFF"/>
                </a:solidFill>
                <a:latin typeface="RopaSoftPro-Regular"/>
              </a:rPr>
              <a:t> </a:t>
            </a:r>
            <a:r>
              <a:rPr lang="en-US" b="1" dirty="0" smtClean="0">
                <a:solidFill>
                  <a:srgbClr val="FFFFFF"/>
                </a:solidFill>
                <a:latin typeface="RopaSoftPro-Regular"/>
              </a:rPr>
              <a:t>Computing and Informatics</a:t>
            </a:r>
            <a:endParaRPr lang="en-US" sz="2000" b="1" i="0" u="none" strike="noStrike" baseline="0" dirty="0" smtClean="0">
              <a:solidFill>
                <a:srgbClr val="FFFFFF"/>
              </a:solidFill>
              <a:latin typeface="RopaSoftPro-Regular"/>
            </a:endParaRPr>
          </a:p>
        </p:txBody>
      </p:sp>
    </p:spTree>
    <p:extLst>
      <p:ext uri="{BB962C8B-B14F-4D97-AF65-F5344CB8AC3E}">
        <p14:creationId xmlns:p14="http://schemas.microsoft.com/office/powerpoint/2010/main" val="3932020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853440" y="1795775"/>
            <a:ext cx="9144635" cy="553998"/>
          </a:xfrm>
          <a:prstGeom prst="rect">
            <a:avLst/>
          </a:prstGeom>
          <a:noFill/>
        </p:spPr>
        <p:txBody>
          <a:bodyPr wrap="square" rtlCol="0">
            <a:spAutoFit/>
          </a:bodyPr>
          <a:lstStyle/>
          <a:p>
            <a:r>
              <a:rPr lang="en-US" sz="3000" dirty="0" smtClean="0">
                <a:solidFill>
                  <a:srgbClr val="FFFFFF"/>
                </a:solidFill>
              </a:rPr>
              <a:t>Business value chain model</a:t>
            </a:r>
            <a:endParaRPr lang="en-US" sz="3000" dirty="0">
              <a:solidFill>
                <a:srgbClr val="FFFFFF"/>
              </a:solidFill>
            </a:endParaRPr>
          </a:p>
        </p:txBody>
      </p:sp>
      <p:sp>
        <p:nvSpPr>
          <p:cNvPr id="4" name="TextBox 3"/>
          <p:cNvSpPr txBox="1"/>
          <p:nvPr/>
        </p:nvSpPr>
        <p:spPr>
          <a:xfrm>
            <a:off x="853440" y="2349773"/>
            <a:ext cx="2339102" cy="2174633"/>
          </a:xfrm>
          <a:prstGeom prst="rect">
            <a:avLst/>
          </a:prstGeom>
          <a:noFill/>
        </p:spPr>
        <p:txBody>
          <a:bodyPr vert="vert270" wrap="square" rtlCol="0">
            <a:spAutoFit/>
          </a:bodyPr>
          <a:lstStyle/>
          <a:p>
            <a:pPr marL="342900" indent="-342900">
              <a:lnSpc>
                <a:spcPct val="140000"/>
              </a:lnSpc>
              <a:buFontTx/>
              <a:buChar char="-"/>
            </a:pPr>
            <a:endParaRPr lang="en-US" dirty="0" smtClean="0">
              <a:solidFill>
                <a:srgbClr val="FFFFFF"/>
              </a:solidFill>
            </a:endParaRPr>
          </a:p>
          <a:p>
            <a:pPr marL="851078" lvl="1" indent="-342900">
              <a:lnSpc>
                <a:spcPct val="140000"/>
              </a:lnSpc>
              <a:buFont typeface="Arial" panose="020B0604020202020204" pitchFamily="34" charset="0"/>
              <a:buChar char="•"/>
            </a:pPr>
            <a:endParaRPr lang="en-US" dirty="0" smtClean="0">
              <a:solidFill>
                <a:srgbClr val="FFFFFF"/>
              </a:solidFill>
            </a:endParaRPr>
          </a:p>
          <a:p>
            <a:pPr marL="851078" lvl="1" indent="-342900">
              <a:lnSpc>
                <a:spcPct val="140000"/>
              </a:lnSpc>
              <a:buFont typeface="Arial" panose="020B0604020202020204" pitchFamily="34" charset="0"/>
              <a:buChar char="•"/>
            </a:pPr>
            <a:endParaRPr lang="en-US" dirty="0" smtClean="0">
              <a:solidFill>
                <a:srgbClr val="FFFFFF"/>
              </a:solidFill>
            </a:endParaRPr>
          </a:p>
          <a:p>
            <a:pPr marL="851078" lvl="1" indent="-342900">
              <a:lnSpc>
                <a:spcPct val="140000"/>
              </a:lnSpc>
              <a:buFont typeface="Arial" panose="020B0604020202020204" pitchFamily="34" charset="0"/>
              <a:buChar char="•"/>
            </a:pPr>
            <a:r>
              <a:rPr lang="en-US" dirty="0" smtClean="0">
                <a:solidFill>
                  <a:srgbClr val="FFFFFF"/>
                </a:solidFill>
              </a:rPr>
              <a:t>Support activities</a:t>
            </a:r>
          </a:p>
        </p:txBody>
      </p:sp>
      <p:sp>
        <p:nvSpPr>
          <p:cNvPr id="5" name="TextBox 4"/>
          <p:cNvSpPr txBox="1"/>
          <p:nvPr/>
        </p:nvSpPr>
        <p:spPr>
          <a:xfrm>
            <a:off x="1366524" y="1383897"/>
            <a:ext cx="8008917" cy="400110"/>
          </a:xfrm>
          <a:prstGeom prst="rect">
            <a:avLst/>
          </a:prstGeom>
          <a:noFill/>
        </p:spPr>
        <p:txBody>
          <a:bodyPr wrap="square" rtlCol="0">
            <a:spAutoFit/>
          </a:bodyPr>
          <a:lstStyle/>
          <a:p>
            <a:pPr marR="0" algn="l" rtl="0"/>
            <a:r>
              <a:rPr lang="en-US" sz="2000" b="1" i="0" u="none" strike="noStrike" baseline="0" dirty="0" smtClean="0">
                <a:solidFill>
                  <a:srgbClr val="FFFFFF"/>
                </a:solidFill>
                <a:latin typeface="RopaSoftPro-Regular"/>
              </a:rPr>
              <a:t>Faculty</a:t>
            </a:r>
            <a:r>
              <a:rPr lang="en-US" sz="2000" b="1" i="0" u="none" strike="noStrike" dirty="0" smtClean="0">
                <a:solidFill>
                  <a:srgbClr val="FFFFFF"/>
                </a:solidFill>
                <a:latin typeface="RopaSoftPro-Regular"/>
              </a:rPr>
              <a:t> of </a:t>
            </a:r>
            <a:r>
              <a:rPr lang="en-US" b="1" dirty="0">
                <a:solidFill>
                  <a:srgbClr val="FFFFFF"/>
                </a:solidFill>
                <a:latin typeface="RopaSoftPro-Regular"/>
              </a:rPr>
              <a:t> </a:t>
            </a:r>
            <a:r>
              <a:rPr lang="en-US" b="1" dirty="0" smtClean="0">
                <a:solidFill>
                  <a:srgbClr val="FFFFFF"/>
                </a:solidFill>
                <a:latin typeface="RopaSoftPro-Regular"/>
              </a:rPr>
              <a:t>Computing and Informatics</a:t>
            </a:r>
            <a:endParaRPr lang="en-US" sz="2000" b="1" i="0" u="none" strike="noStrike" baseline="0" dirty="0" smtClean="0">
              <a:solidFill>
                <a:srgbClr val="FFFFFF"/>
              </a:solidFill>
              <a:latin typeface="RopaSoftPro-Regular"/>
            </a:endParaRPr>
          </a:p>
        </p:txBody>
      </p:sp>
      <p:sp>
        <p:nvSpPr>
          <p:cNvPr id="2" name="Rectangle 1"/>
          <p:cNvSpPr/>
          <p:nvPr/>
        </p:nvSpPr>
        <p:spPr>
          <a:xfrm>
            <a:off x="3315017" y="2337241"/>
            <a:ext cx="4221480" cy="500107"/>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smtClean="0"/>
              <a:t>Administration and management</a:t>
            </a:r>
            <a:endParaRPr lang="en-US" dirty="0"/>
          </a:p>
        </p:txBody>
      </p:sp>
      <p:sp>
        <p:nvSpPr>
          <p:cNvPr id="6" name="Rectangle 5"/>
          <p:cNvSpPr/>
          <p:nvPr/>
        </p:nvSpPr>
        <p:spPr>
          <a:xfrm>
            <a:off x="3315017" y="2891239"/>
            <a:ext cx="4221480" cy="500107"/>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smtClean="0"/>
              <a:t>Human resource management</a:t>
            </a:r>
            <a:endParaRPr lang="en-US" dirty="0"/>
          </a:p>
        </p:txBody>
      </p:sp>
      <p:sp>
        <p:nvSpPr>
          <p:cNvPr id="7" name="Rectangle 6"/>
          <p:cNvSpPr/>
          <p:nvPr/>
        </p:nvSpPr>
        <p:spPr>
          <a:xfrm>
            <a:off x="3315017" y="3457769"/>
            <a:ext cx="4221480" cy="500107"/>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smtClean="0"/>
              <a:t>Technology development</a:t>
            </a:r>
            <a:endParaRPr lang="en-US" dirty="0"/>
          </a:p>
        </p:txBody>
      </p:sp>
      <p:sp>
        <p:nvSpPr>
          <p:cNvPr id="8" name="Rectangle 7"/>
          <p:cNvSpPr/>
          <p:nvPr/>
        </p:nvSpPr>
        <p:spPr>
          <a:xfrm>
            <a:off x="3315017" y="4024299"/>
            <a:ext cx="4221480" cy="500107"/>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smtClean="0"/>
              <a:t>Procurement</a:t>
            </a:r>
            <a:endParaRPr lang="en-US" dirty="0"/>
          </a:p>
        </p:txBody>
      </p:sp>
      <p:sp>
        <p:nvSpPr>
          <p:cNvPr id="9" name="Rectangle 8"/>
          <p:cNvSpPr/>
          <p:nvPr/>
        </p:nvSpPr>
        <p:spPr>
          <a:xfrm>
            <a:off x="1630680" y="4746065"/>
            <a:ext cx="1508760" cy="2172895"/>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smtClean="0"/>
              <a:t>Inbound logistics e.g. warehousing</a:t>
            </a:r>
            <a:endParaRPr lang="en-US" dirty="0"/>
          </a:p>
        </p:txBody>
      </p:sp>
      <p:sp>
        <p:nvSpPr>
          <p:cNvPr id="10" name="Rectangle 9"/>
          <p:cNvSpPr/>
          <p:nvPr/>
        </p:nvSpPr>
        <p:spPr>
          <a:xfrm>
            <a:off x="3398520" y="4746065"/>
            <a:ext cx="1484782" cy="2172895"/>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smtClean="0"/>
              <a:t>Operations, e.g. CAD</a:t>
            </a:r>
            <a:endParaRPr lang="en-US" dirty="0"/>
          </a:p>
        </p:txBody>
      </p:sp>
      <p:sp>
        <p:nvSpPr>
          <p:cNvPr id="11" name="Rectangle 10"/>
          <p:cNvSpPr/>
          <p:nvPr/>
        </p:nvSpPr>
        <p:spPr>
          <a:xfrm>
            <a:off x="5149700" y="4746065"/>
            <a:ext cx="1371600" cy="2172895"/>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smtClean="0"/>
              <a:t>Sales and marketing, e.g. ordering systems</a:t>
            </a:r>
            <a:endParaRPr lang="en-US" dirty="0"/>
          </a:p>
        </p:txBody>
      </p:sp>
      <p:sp>
        <p:nvSpPr>
          <p:cNvPr id="12" name="Rectangle 11"/>
          <p:cNvSpPr/>
          <p:nvPr/>
        </p:nvSpPr>
        <p:spPr>
          <a:xfrm>
            <a:off x="6736080" y="4746065"/>
            <a:ext cx="1432560" cy="2172895"/>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smtClean="0"/>
              <a:t>Outbound logistics, e.g. shipment scheduling</a:t>
            </a:r>
            <a:endParaRPr lang="en-US" dirty="0"/>
          </a:p>
        </p:txBody>
      </p:sp>
      <p:sp>
        <p:nvSpPr>
          <p:cNvPr id="13" name="Rectangle 12"/>
          <p:cNvSpPr/>
          <p:nvPr/>
        </p:nvSpPr>
        <p:spPr>
          <a:xfrm>
            <a:off x="8446117" y="4746065"/>
            <a:ext cx="1551957" cy="2172895"/>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smtClean="0"/>
              <a:t>Services e.g. equipment maintenance</a:t>
            </a:r>
            <a:endParaRPr lang="en-US" dirty="0"/>
          </a:p>
        </p:txBody>
      </p:sp>
      <p:sp>
        <p:nvSpPr>
          <p:cNvPr id="15" name="TextBox 14"/>
          <p:cNvSpPr txBox="1"/>
          <p:nvPr/>
        </p:nvSpPr>
        <p:spPr>
          <a:xfrm>
            <a:off x="-847160" y="4746065"/>
            <a:ext cx="2299091" cy="2174633"/>
          </a:xfrm>
          <a:prstGeom prst="rect">
            <a:avLst/>
          </a:prstGeom>
          <a:noFill/>
        </p:spPr>
        <p:txBody>
          <a:bodyPr vert="vert270" wrap="square" rtlCol="0">
            <a:spAutoFit/>
          </a:bodyPr>
          <a:lstStyle/>
          <a:p>
            <a:pPr marL="342900" indent="-342900">
              <a:lnSpc>
                <a:spcPct val="140000"/>
              </a:lnSpc>
              <a:buFontTx/>
              <a:buChar char="-"/>
            </a:pPr>
            <a:endParaRPr lang="en-US" dirty="0" smtClean="0">
              <a:solidFill>
                <a:srgbClr val="FFFFFF"/>
              </a:solidFill>
            </a:endParaRPr>
          </a:p>
          <a:p>
            <a:pPr marL="851078" lvl="1" indent="-342900">
              <a:lnSpc>
                <a:spcPct val="140000"/>
              </a:lnSpc>
              <a:buFont typeface="Arial" panose="020B0604020202020204" pitchFamily="34" charset="0"/>
              <a:buChar char="•"/>
            </a:pPr>
            <a:endParaRPr lang="en-US" dirty="0" smtClean="0">
              <a:solidFill>
                <a:srgbClr val="FFFFFF"/>
              </a:solidFill>
            </a:endParaRPr>
          </a:p>
          <a:p>
            <a:pPr marL="851078" lvl="1" indent="-342900">
              <a:lnSpc>
                <a:spcPct val="140000"/>
              </a:lnSpc>
              <a:buFont typeface="Arial" panose="020B0604020202020204" pitchFamily="34" charset="0"/>
              <a:buChar char="•"/>
            </a:pPr>
            <a:endParaRPr lang="en-US" dirty="0" smtClean="0">
              <a:solidFill>
                <a:srgbClr val="FFFFFF"/>
              </a:solidFill>
            </a:endParaRPr>
          </a:p>
          <a:p>
            <a:pPr marL="851078" lvl="1" indent="-342900">
              <a:lnSpc>
                <a:spcPct val="140000"/>
              </a:lnSpc>
              <a:buFont typeface="Arial" panose="020B0604020202020204" pitchFamily="34" charset="0"/>
              <a:buChar char="•"/>
            </a:pPr>
            <a:r>
              <a:rPr lang="en-US" dirty="0" smtClean="0">
                <a:solidFill>
                  <a:srgbClr val="FFFFFF"/>
                </a:solidFill>
              </a:rPr>
              <a:t>Primary activities</a:t>
            </a:r>
          </a:p>
        </p:txBody>
      </p:sp>
    </p:spTree>
    <p:extLst>
      <p:ext uri="{BB962C8B-B14F-4D97-AF65-F5344CB8AC3E}">
        <p14:creationId xmlns:p14="http://schemas.microsoft.com/office/powerpoint/2010/main" val="76803975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853440" y="1795775"/>
            <a:ext cx="9144635" cy="553998"/>
          </a:xfrm>
          <a:prstGeom prst="rect">
            <a:avLst/>
          </a:prstGeom>
          <a:noFill/>
        </p:spPr>
        <p:txBody>
          <a:bodyPr wrap="square" rtlCol="0">
            <a:spAutoFit/>
          </a:bodyPr>
          <a:lstStyle/>
          <a:p>
            <a:r>
              <a:rPr lang="en-US" sz="3000" dirty="0" smtClean="0">
                <a:solidFill>
                  <a:srgbClr val="FFFFFF"/>
                </a:solidFill>
              </a:rPr>
              <a:t>Business value chain model</a:t>
            </a:r>
            <a:endParaRPr lang="en-US" sz="3000" dirty="0">
              <a:solidFill>
                <a:srgbClr val="FFFFFF"/>
              </a:solidFill>
            </a:endParaRPr>
          </a:p>
        </p:txBody>
      </p:sp>
      <p:sp>
        <p:nvSpPr>
          <p:cNvPr id="4" name="TextBox 3"/>
          <p:cNvSpPr txBox="1"/>
          <p:nvPr/>
        </p:nvSpPr>
        <p:spPr>
          <a:xfrm>
            <a:off x="853440" y="2349773"/>
            <a:ext cx="9144635" cy="6986528"/>
          </a:xfrm>
          <a:prstGeom prst="rect">
            <a:avLst/>
          </a:prstGeom>
          <a:noFill/>
        </p:spPr>
        <p:txBody>
          <a:bodyPr wrap="square" rtlCol="0">
            <a:spAutoFit/>
          </a:bodyPr>
          <a:lstStyle/>
          <a:p>
            <a:pPr marL="342900" indent="-342900">
              <a:lnSpc>
                <a:spcPct val="140000"/>
              </a:lnSpc>
              <a:buFontTx/>
              <a:buChar char="-"/>
            </a:pPr>
            <a:r>
              <a:rPr lang="en-US" u="sng" dirty="0" smtClean="0">
                <a:solidFill>
                  <a:srgbClr val="FFFFFF"/>
                </a:solidFill>
              </a:rPr>
              <a:t>Primary activities</a:t>
            </a:r>
          </a:p>
          <a:p>
            <a:pPr marL="851078" lvl="1" indent="-342900">
              <a:lnSpc>
                <a:spcPct val="140000"/>
              </a:lnSpc>
              <a:buFontTx/>
              <a:buChar char="-"/>
            </a:pPr>
            <a:r>
              <a:rPr lang="en-US" dirty="0" smtClean="0">
                <a:solidFill>
                  <a:srgbClr val="FFFFFF"/>
                </a:solidFill>
              </a:rPr>
              <a:t>Inbound logistics – receiving and storing materials from distribution to production, e.g. receiving, storing, inventory control, transportation</a:t>
            </a:r>
          </a:p>
          <a:p>
            <a:pPr marL="851078" lvl="1" indent="-342900">
              <a:lnSpc>
                <a:spcPct val="140000"/>
              </a:lnSpc>
              <a:buFontTx/>
              <a:buChar char="-"/>
            </a:pPr>
            <a:r>
              <a:rPr lang="en-US" dirty="0" smtClean="0">
                <a:solidFill>
                  <a:srgbClr val="FFFFFF"/>
                </a:solidFill>
              </a:rPr>
              <a:t>Operations – inputs into finished goods, e.g. machining, packaging, assembly</a:t>
            </a:r>
          </a:p>
          <a:p>
            <a:pPr marL="851078" lvl="1" indent="-342900">
              <a:lnSpc>
                <a:spcPct val="140000"/>
              </a:lnSpc>
              <a:buFontTx/>
              <a:buChar char="-"/>
            </a:pPr>
            <a:r>
              <a:rPr lang="en-US" dirty="0" smtClean="0">
                <a:solidFill>
                  <a:srgbClr val="FFFFFF"/>
                </a:solidFill>
              </a:rPr>
              <a:t>Outbound activities – entails storing and distributing finished products to customers, e.g., warehousing, order fulfilment, distribution, transportation</a:t>
            </a:r>
          </a:p>
          <a:p>
            <a:pPr marL="851078" lvl="1" indent="-342900">
              <a:lnSpc>
                <a:spcPct val="140000"/>
              </a:lnSpc>
              <a:buFontTx/>
              <a:buChar char="-"/>
            </a:pPr>
            <a:r>
              <a:rPr lang="en-US" dirty="0" smtClean="0">
                <a:solidFill>
                  <a:srgbClr val="FFFFFF"/>
                </a:solidFill>
              </a:rPr>
              <a:t>Sales and marketing – getting buyers to purchase products or promoting and selling the firm’s products including advertising, promotion, pricing</a:t>
            </a:r>
          </a:p>
          <a:p>
            <a:pPr marL="851078" lvl="1" indent="-342900">
              <a:lnSpc>
                <a:spcPct val="140000"/>
              </a:lnSpc>
              <a:buFontTx/>
              <a:buChar char="-"/>
            </a:pPr>
            <a:r>
              <a:rPr lang="en-US" dirty="0" smtClean="0">
                <a:solidFill>
                  <a:srgbClr val="FFFFFF"/>
                </a:solidFill>
              </a:rPr>
              <a:t>Services – maintenance and repair of the firm’s goods and services, e.g., customer support, repair services, installation, training, spare parts management, upgrading</a:t>
            </a:r>
          </a:p>
          <a:p>
            <a:pPr marL="851078" lvl="1" indent="-342900">
              <a:lnSpc>
                <a:spcPct val="140000"/>
              </a:lnSpc>
              <a:buFontTx/>
              <a:buChar char="-"/>
            </a:pPr>
            <a:endParaRPr lang="en-US" dirty="0" smtClean="0">
              <a:solidFill>
                <a:srgbClr val="FFFFFF"/>
              </a:solidFill>
            </a:endParaRPr>
          </a:p>
          <a:p>
            <a:pPr marL="342900" indent="-342900">
              <a:lnSpc>
                <a:spcPct val="140000"/>
              </a:lnSpc>
              <a:buFontTx/>
              <a:buChar char="-"/>
            </a:pPr>
            <a:endParaRPr lang="en-US" dirty="0" smtClean="0">
              <a:solidFill>
                <a:srgbClr val="FFFFFF"/>
              </a:solidFill>
            </a:endParaRPr>
          </a:p>
          <a:p>
            <a:pPr marL="851078" lvl="1" indent="-342900">
              <a:lnSpc>
                <a:spcPct val="140000"/>
              </a:lnSpc>
              <a:buFont typeface="Arial" panose="020B0604020202020204" pitchFamily="34" charset="0"/>
              <a:buChar char="•"/>
            </a:pPr>
            <a:endParaRPr lang="en-US" dirty="0" smtClean="0">
              <a:solidFill>
                <a:srgbClr val="FFFFFF"/>
              </a:solidFill>
            </a:endParaRPr>
          </a:p>
          <a:p>
            <a:pPr marL="851078" lvl="1" indent="-342900">
              <a:lnSpc>
                <a:spcPct val="140000"/>
              </a:lnSpc>
              <a:buFont typeface="Arial" panose="020B0604020202020204" pitchFamily="34" charset="0"/>
              <a:buChar char="•"/>
            </a:pPr>
            <a:endParaRPr lang="en-US" dirty="0" smtClean="0">
              <a:solidFill>
                <a:srgbClr val="FFFFFF"/>
              </a:solidFill>
            </a:endParaRPr>
          </a:p>
          <a:p>
            <a:pPr marL="851078" lvl="1" indent="-342900">
              <a:lnSpc>
                <a:spcPct val="140000"/>
              </a:lnSpc>
              <a:buFont typeface="Arial" panose="020B0604020202020204" pitchFamily="34" charset="0"/>
              <a:buChar char="•"/>
            </a:pPr>
            <a:endParaRPr lang="en-US" dirty="0" smtClean="0">
              <a:solidFill>
                <a:srgbClr val="FFFFFF"/>
              </a:solidFill>
            </a:endParaRPr>
          </a:p>
        </p:txBody>
      </p:sp>
      <p:sp>
        <p:nvSpPr>
          <p:cNvPr id="5" name="TextBox 4"/>
          <p:cNvSpPr txBox="1"/>
          <p:nvPr/>
        </p:nvSpPr>
        <p:spPr>
          <a:xfrm>
            <a:off x="1366524" y="1383897"/>
            <a:ext cx="8008917" cy="400110"/>
          </a:xfrm>
          <a:prstGeom prst="rect">
            <a:avLst/>
          </a:prstGeom>
          <a:noFill/>
        </p:spPr>
        <p:txBody>
          <a:bodyPr wrap="square" rtlCol="0">
            <a:spAutoFit/>
          </a:bodyPr>
          <a:lstStyle/>
          <a:p>
            <a:pPr marR="0" algn="l" rtl="0"/>
            <a:r>
              <a:rPr lang="en-US" sz="2000" b="1" i="0" u="none" strike="noStrike" baseline="0" dirty="0" smtClean="0">
                <a:solidFill>
                  <a:srgbClr val="FFFFFF"/>
                </a:solidFill>
                <a:latin typeface="RopaSoftPro-Regular"/>
              </a:rPr>
              <a:t>Faculty</a:t>
            </a:r>
            <a:r>
              <a:rPr lang="en-US" sz="2000" b="1" i="0" u="none" strike="noStrike" dirty="0" smtClean="0">
                <a:solidFill>
                  <a:srgbClr val="FFFFFF"/>
                </a:solidFill>
                <a:latin typeface="RopaSoftPro-Regular"/>
              </a:rPr>
              <a:t> of </a:t>
            </a:r>
            <a:r>
              <a:rPr lang="en-US" b="1" dirty="0">
                <a:solidFill>
                  <a:srgbClr val="FFFFFF"/>
                </a:solidFill>
                <a:latin typeface="RopaSoftPro-Regular"/>
              </a:rPr>
              <a:t> </a:t>
            </a:r>
            <a:r>
              <a:rPr lang="en-US" b="1" dirty="0" smtClean="0">
                <a:solidFill>
                  <a:srgbClr val="FFFFFF"/>
                </a:solidFill>
                <a:latin typeface="RopaSoftPro-Regular"/>
              </a:rPr>
              <a:t>Computing and Informatics</a:t>
            </a:r>
            <a:endParaRPr lang="en-US" sz="2000" b="1" i="0" u="none" strike="noStrike" baseline="0" dirty="0" smtClean="0">
              <a:solidFill>
                <a:srgbClr val="FFFFFF"/>
              </a:solidFill>
              <a:latin typeface="RopaSoftPro-Regular"/>
            </a:endParaRPr>
          </a:p>
        </p:txBody>
      </p:sp>
    </p:spTree>
    <p:extLst>
      <p:ext uri="{BB962C8B-B14F-4D97-AF65-F5344CB8AC3E}">
        <p14:creationId xmlns:p14="http://schemas.microsoft.com/office/powerpoint/2010/main" val="59802063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853440" y="1795775"/>
            <a:ext cx="9144635" cy="553998"/>
          </a:xfrm>
          <a:prstGeom prst="rect">
            <a:avLst/>
          </a:prstGeom>
          <a:noFill/>
        </p:spPr>
        <p:txBody>
          <a:bodyPr wrap="square" rtlCol="0">
            <a:spAutoFit/>
          </a:bodyPr>
          <a:lstStyle/>
          <a:p>
            <a:r>
              <a:rPr lang="en-US" sz="3000" dirty="0" smtClean="0">
                <a:solidFill>
                  <a:srgbClr val="FFFFFF"/>
                </a:solidFill>
              </a:rPr>
              <a:t>Business value chain model</a:t>
            </a:r>
            <a:endParaRPr lang="en-US" sz="3000" dirty="0">
              <a:solidFill>
                <a:srgbClr val="FFFFFF"/>
              </a:solidFill>
            </a:endParaRPr>
          </a:p>
        </p:txBody>
      </p:sp>
      <p:sp>
        <p:nvSpPr>
          <p:cNvPr id="4" name="TextBox 3"/>
          <p:cNvSpPr txBox="1"/>
          <p:nvPr/>
        </p:nvSpPr>
        <p:spPr>
          <a:xfrm>
            <a:off x="853440" y="2349773"/>
            <a:ext cx="9144635" cy="6986528"/>
          </a:xfrm>
          <a:prstGeom prst="rect">
            <a:avLst/>
          </a:prstGeom>
          <a:noFill/>
        </p:spPr>
        <p:txBody>
          <a:bodyPr wrap="square" rtlCol="0">
            <a:spAutoFit/>
          </a:bodyPr>
          <a:lstStyle/>
          <a:p>
            <a:pPr marL="342900" indent="-342900">
              <a:lnSpc>
                <a:spcPct val="140000"/>
              </a:lnSpc>
              <a:buFontTx/>
              <a:buChar char="-"/>
            </a:pPr>
            <a:r>
              <a:rPr lang="en-US" u="sng" dirty="0" smtClean="0">
                <a:solidFill>
                  <a:srgbClr val="FFFFFF"/>
                </a:solidFill>
              </a:rPr>
              <a:t>Support activities</a:t>
            </a:r>
          </a:p>
          <a:p>
            <a:pPr marL="851078" lvl="1" indent="-342900">
              <a:lnSpc>
                <a:spcPct val="140000"/>
              </a:lnSpc>
              <a:buFontTx/>
              <a:buChar char="-"/>
            </a:pPr>
            <a:r>
              <a:rPr lang="en-US" dirty="0" smtClean="0">
                <a:solidFill>
                  <a:srgbClr val="FFFFFF"/>
                </a:solidFill>
              </a:rPr>
              <a:t>Procurement – procurement of raw materials, servicing spare parts, buildings, machines</a:t>
            </a:r>
            <a:r>
              <a:rPr lang="en-US" smtClean="0">
                <a:solidFill>
                  <a:srgbClr val="FFFFFF"/>
                </a:solidFill>
              </a:rPr>
              <a:t>, etc.</a:t>
            </a:r>
            <a:endParaRPr lang="en-US" dirty="0" smtClean="0">
              <a:solidFill>
                <a:srgbClr val="FFFFFF"/>
              </a:solidFill>
            </a:endParaRPr>
          </a:p>
          <a:p>
            <a:pPr marL="851078" lvl="1" indent="-342900">
              <a:lnSpc>
                <a:spcPct val="140000"/>
              </a:lnSpc>
              <a:buFontTx/>
              <a:buChar char="-"/>
            </a:pPr>
            <a:r>
              <a:rPr lang="en-US" dirty="0" smtClean="0">
                <a:solidFill>
                  <a:srgbClr val="FFFFFF"/>
                </a:solidFill>
              </a:rPr>
              <a:t>Technology development – includes development of technology to support the value chain activities such as research and development, process automation, design, redesign</a:t>
            </a:r>
          </a:p>
          <a:p>
            <a:pPr marL="851078" lvl="1" indent="-342900">
              <a:lnSpc>
                <a:spcPct val="140000"/>
              </a:lnSpc>
              <a:buFontTx/>
              <a:buChar char="-"/>
            </a:pPr>
            <a:r>
              <a:rPr lang="en-US" dirty="0" smtClean="0">
                <a:solidFill>
                  <a:srgbClr val="FFFFFF"/>
                </a:solidFill>
              </a:rPr>
              <a:t>Human resource management – activities associated with recruiting, development (education), retention and compensation of employees and managers</a:t>
            </a:r>
          </a:p>
          <a:p>
            <a:pPr marL="851078" lvl="1" indent="-342900">
              <a:lnSpc>
                <a:spcPct val="140000"/>
              </a:lnSpc>
              <a:buFontTx/>
              <a:buChar char="-"/>
            </a:pPr>
            <a:r>
              <a:rPr lang="en-US" dirty="0" smtClean="0">
                <a:solidFill>
                  <a:srgbClr val="FFFFFF"/>
                </a:solidFill>
              </a:rPr>
              <a:t>Administration and management – includes general management, planning management, legal, finance, accounting, quality management</a:t>
            </a:r>
          </a:p>
          <a:p>
            <a:pPr marL="851078" lvl="1" indent="-342900">
              <a:lnSpc>
                <a:spcPct val="140000"/>
              </a:lnSpc>
              <a:buFontTx/>
              <a:buChar char="-"/>
            </a:pPr>
            <a:endParaRPr lang="en-US" dirty="0" smtClean="0">
              <a:solidFill>
                <a:srgbClr val="FFFFFF"/>
              </a:solidFill>
            </a:endParaRPr>
          </a:p>
          <a:p>
            <a:pPr marL="342900" indent="-342900">
              <a:lnSpc>
                <a:spcPct val="140000"/>
              </a:lnSpc>
              <a:buFontTx/>
              <a:buChar char="-"/>
            </a:pPr>
            <a:endParaRPr lang="en-US" dirty="0" smtClean="0">
              <a:solidFill>
                <a:srgbClr val="FFFFFF"/>
              </a:solidFill>
            </a:endParaRPr>
          </a:p>
          <a:p>
            <a:pPr marL="851078" lvl="1" indent="-342900">
              <a:lnSpc>
                <a:spcPct val="140000"/>
              </a:lnSpc>
              <a:buFont typeface="Arial" panose="020B0604020202020204" pitchFamily="34" charset="0"/>
              <a:buChar char="•"/>
            </a:pPr>
            <a:endParaRPr lang="en-US" dirty="0" smtClean="0">
              <a:solidFill>
                <a:srgbClr val="FFFFFF"/>
              </a:solidFill>
            </a:endParaRPr>
          </a:p>
          <a:p>
            <a:pPr marL="851078" lvl="1" indent="-342900">
              <a:lnSpc>
                <a:spcPct val="140000"/>
              </a:lnSpc>
              <a:buFont typeface="Arial" panose="020B0604020202020204" pitchFamily="34" charset="0"/>
              <a:buChar char="•"/>
            </a:pPr>
            <a:endParaRPr lang="en-US" dirty="0" smtClean="0">
              <a:solidFill>
                <a:srgbClr val="FFFFFF"/>
              </a:solidFill>
            </a:endParaRPr>
          </a:p>
          <a:p>
            <a:pPr marL="851078" lvl="1" indent="-342900">
              <a:lnSpc>
                <a:spcPct val="140000"/>
              </a:lnSpc>
              <a:buFont typeface="Arial" panose="020B0604020202020204" pitchFamily="34" charset="0"/>
              <a:buChar char="•"/>
            </a:pPr>
            <a:endParaRPr lang="en-US" dirty="0" smtClean="0">
              <a:solidFill>
                <a:srgbClr val="FFFFFF"/>
              </a:solidFill>
            </a:endParaRPr>
          </a:p>
        </p:txBody>
      </p:sp>
      <p:sp>
        <p:nvSpPr>
          <p:cNvPr id="5" name="TextBox 4"/>
          <p:cNvSpPr txBox="1"/>
          <p:nvPr/>
        </p:nvSpPr>
        <p:spPr>
          <a:xfrm>
            <a:off x="1366524" y="1383897"/>
            <a:ext cx="8008917" cy="400110"/>
          </a:xfrm>
          <a:prstGeom prst="rect">
            <a:avLst/>
          </a:prstGeom>
          <a:noFill/>
        </p:spPr>
        <p:txBody>
          <a:bodyPr wrap="square" rtlCol="0">
            <a:spAutoFit/>
          </a:bodyPr>
          <a:lstStyle/>
          <a:p>
            <a:pPr marR="0" algn="l" rtl="0"/>
            <a:r>
              <a:rPr lang="en-US" sz="2000" b="1" i="0" u="none" strike="noStrike" baseline="0" dirty="0" smtClean="0">
                <a:solidFill>
                  <a:srgbClr val="FFFFFF"/>
                </a:solidFill>
                <a:latin typeface="RopaSoftPro-Regular"/>
              </a:rPr>
              <a:t>Faculty</a:t>
            </a:r>
            <a:r>
              <a:rPr lang="en-US" sz="2000" b="1" i="0" u="none" strike="noStrike" dirty="0" smtClean="0">
                <a:solidFill>
                  <a:srgbClr val="FFFFFF"/>
                </a:solidFill>
                <a:latin typeface="RopaSoftPro-Regular"/>
              </a:rPr>
              <a:t> of </a:t>
            </a:r>
            <a:r>
              <a:rPr lang="en-US" b="1" dirty="0">
                <a:solidFill>
                  <a:srgbClr val="FFFFFF"/>
                </a:solidFill>
                <a:latin typeface="RopaSoftPro-Regular"/>
              </a:rPr>
              <a:t> </a:t>
            </a:r>
            <a:r>
              <a:rPr lang="en-US" b="1" dirty="0" smtClean="0">
                <a:solidFill>
                  <a:srgbClr val="FFFFFF"/>
                </a:solidFill>
                <a:latin typeface="RopaSoftPro-Regular"/>
              </a:rPr>
              <a:t>Computing and Informatics</a:t>
            </a:r>
            <a:endParaRPr lang="en-US" sz="2000" b="1" i="0" u="none" strike="noStrike" baseline="0" dirty="0" smtClean="0">
              <a:solidFill>
                <a:srgbClr val="FFFFFF"/>
              </a:solidFill>
              <a:latin typeface="RopaSoftPro-Regular"/>
            </a:endParaRPr>
          </a:p>
        </p:txBody>
      </p:sp>
    </p:spTree>
    <p:extLst>
      <p:ext uri="{BB962C8B-B14F-4D97-AF65-F5344CB8AC3E}">
        <p14:creationId xmlns:p14="http://schemas.microsoft.com/office/powerpoint/2010/main" val="149564642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669925" y="2938793"/>
            <a:ext cx="8980182" cy="923330"/>
          </a:xfrm>
          <a:prstGeom prst="rect">
            <a:avLst/>
          </a:prstGeom>
          <a:noFill/>
        </p:spPr>
        <p:txBody>
          <a:bodyPr wrap="square" rtlCol="0">
            <a:spAutoFit/>
          </a:bodyPr>
          <a:lstStyle/>
          <a:p>
            <a:pPr algn="ctr"/>
            <a:r>
              <a:rPr lang="en-US" sz="5400" dirty="0" smtClean="0">
                <a:solidFill>
                  <a:srgbClr val="FFFFFF"/>
                </a:solidFill>
              </a:rPr>
              <a:t>Thank You.</a:t>
            </a:r>
            <a:endParaRPr lang="en-US" sz="5400" dirty="0">
              <a:solidFill>
                <a:srgbClr val="FFFFFF"/>
              </a:solidFill>
            </a:endParaRPr>
          </a:p>
        </p:txBody>
      </p:sp>
      <p:sp>
        <p:nvSpPr>
          <p:cNvPr id="4" name="TextBox 3"/>
          <p:cNvSpPr txBox="1"/>
          <p:nvPr/>
        </p:nvSpPr>
        <p:spPr>
          <a:xfrm>
            <a:off x="7205026" y="583405"/>
            <a:ext cx="2002081" cy="646331"/>
          </a:xfrm>
          <a:prstGeom prst="rect">
            <a:avLst/>
          </a:prstGeom>
          <a:noFill/>
        </p:spPr>
        <p:txBody>
          <a:bodyPr wrap="square" rtlCol="0">
            <a:spAutoFit/>
          </a:bodyPr>
          <a:lstStyle/>
          <a:p>
            <a:r>
              <a:rPr lang="en-US" sz="900" dirty="0">
                <a:solidFill>
                  <a:schemeClr val="bg1"/>
                </a:solidFill>
              </a:rPr>
              <a:t>13 </a:t>
            </a:r>
            <a:r>
              <a:rPr lang="en-US" sz="900" dirty="0" err="1">
                <a:solidFill>
                  <a:schemeClr val="bg1"/>
                </a:solidFill>
              </a:rPr>
              <a:t>Storch</a:t>
            </a:r>
            <a:r>
              <a:rPr lang="en-US" sz="900" dirty="0">
                <a:solidFill>
                  <a:schemeClr val="bg1"/>
                </a:solidFill>
              </a:rPr>
              <a:t> Street </a:t>
            </a:r>
          </a:p>
          <a:p>
            <a:r>
              <a:rPr lang="it-IT" sz="900" dirty="0" smtClean="0">
                <a:solidFill>
                  <a:schemeClr val="bg1"/>
                </a:solidFill>
              </a:rPr>
              <a:t>Private </a:t>
            </a:r>
            <a:r>
              <a:rPr lang="it-IT" sz="900" dirty="0" err="1">
                <a:solidFill>
                  <a:schemeClr val="bg1"/>
                </a:solidFill>
              </a:rPr>
              <a:t>Bag</a:t>
            </a:r>
            <a:r>
              <a:rPr lang="it-IT" sz="900" dirty="0">
                <a:solidFill>
                  <a:schemeClr val="bg1"/>
                </a:solidFill>
              </a:rPr>
              <a:t> 13388 </a:t>
            </a:r>
          </a:p>
          <a:p>
            <a:r>
              <a:rPr lang="nl-NL" sz="900" dirty="0" smtClean="0">
                <a:solidFill>
                  <a:schemeClr val="bg1"/>
                </a:solidFill>
              </a:rPr>
              <a:t>Windhoek</a:t>
            </a:r>
            <a:endParaRPr lang="nl-NL" sz="900" dirty="0">
              <a:solidFill>
                <a:schemeClr val="bg1"/>
              </a:solidFill>
            </a:endParaRPr>
          </a:p>
          <a:p>
            <a:r>
              <a:rPr lang="nl-NL" sz="900" dirty="0" smtClean="0">
                <a:solidFill>
                  <a:schemeClr val="bg1"/>
                </a:solidFill>
              </a:rPr>
              <a:t>NAMIBIA</a:t>
            </a:r>
            <a:endParaRPr lang="en-US" sz="900" dirty="0">
              <a:solidFill>
                <a:schemeClr val="bg1"/>
              </a:solidFill>
            </a:endParaRPr>
          </a:p>
        </p:txBody>
      </p:sp>
      <p:sp>
        <p:nvSpPr>
          <p:cNvPr id="6" name="TextBox 5"/>
          <p:cNvSpPr txBox="1"/>
          <p:nvPr/>
        </p:nvSpPr>
        <p:spPr>
          <a:xfrm>
            <a:off x="8552699" y="583405"/>
            <a:ext cx="1580744" cy="646331"/>
          </a:xfrm>
          <a:prstGeom prst="rect">
            <a:avLst/>
          </a:prstGeom>
          <a:noFill/>
        </p:spPr>
        <p:txBody>
          <a:bodyPr wrap="square" rtlCol="0">
            <a:spAutoFit/>
          </a:bodyPr>
          <a:lstStyle/>
          <a:p>
            <a:pPr marL="173038" indent="-173038"/>
            <a:r>
              <a:rPr lang="fi-FI" sz="900" dirty="0" smtClean="0">
                <a:solidFill>
                  <a:schemeClr val="bg1"/>
                </a:solidFill>
              </a:rPr>
              <a:t>T:	+264 61 207 2258</a:t>
            </a:r>
          </a:p>
          <a:p>
            <a:pPr marL="173038" indent="-173038"/>
            <a:r>
              <a:rPr lang="fi-FI" sz="900" dirty="0" smtClean="0">
                <a:solidFill>
                  <a:schemeClr val="bg1"/>
                </a:solidFill>
              </a:rPr>
              <a:t>F:	+264 61 207 9258</a:t>
            </a:r>
          </a:p>
          <a:p>
            <a:pPr marL="173038" indent="-173038"/>
            <a:r>
              <a:rPr lang="fi-FI" sz="900" dirty="0" smtClean="0">
                <a:solidFill>
                  <a:schemeClr val="bg1"/>
                </a:solidFill>
              </a:rPr>
              <a:t>E:	</a:t>
            </a:r>
            <a:r>
              <a:rPr lang="fi-FI" sz="900" dirty="0" err="1" smtClean="0">
                <a:solidFill>
                  <a:schemeClr val="bg1"/>
                </a:solidFill>
              </a:rPr>
              <a:t>fci@nust.na</a:t>
            </a:r>
            <a:endParaRPr lang="fi-FI" sz="900" dirty="0" smtClean="0">
              <a:solidFill>
                <a:schemeClr val="bg1"/>
              </a:solidFill>
            </a:endParaRPr>
          </a:p>
          <a:p>
            <a:pPr marL="173038" indent="-173038"/>
            <a:r>
              <a:rPr lang="fi-FI" sz="900" dirty="0">
                <a:solidFill>
                  <a:schemeClr val="bg1"/>
                </a:solidFill>
              </a:rPr>
              <a:t>W</a:t>
            </a:r>
            <a:r>
              <a:rPr lang="fi-FI" sz="900" dirty="0" smtClean="0">
                <a:solidFill>
                  <a:schemeClr val="bg1"/>
                </a:solidFill>
              </a:rPr>
              <a:t>:	</a:t>
            </a:r>
            <a:r>
              <a:rPr lang="fi-FI" sz="900" dirty="0" err="1" smtClean="0">
                <a:solidFill>
                  <a:schemeClr val="bg1"/>
                </a:solidFill>
              </a:rPr>
              <a:t>www.nust.na</a:t>
            </a:r>
            <a:endParaRPr lang="en-US" sz="900" dirty="0">
              <a:solidFill>
                <a:schemeClr val="bg1"/>
              </a:solidFill>
            </a:endParaRPr>
          </a:p>
        </p:txBody>
      </p:sp>
      <p:sp>
        <p:nvSpPr>
          <p:cNvPr id="5" name="TextBox 4"/>
          <p:cNvSpPr txBox="1"/>
          <p:nvPr/>
        </p:nvSpPr>
        <p:spPr>
          <a:xfrm>
            <a:off x="1366524" y="1383897"/>
            <a:ext cx="8008917" cy="400110"/>
          </a:xfrm>
          <a:prstGeom prst="rect">
            <a:avLst/>
          </a:prstGeom>
          <a:noFill/>
        </p:spPr>
        <p:txBody>
          <a:bodyPr wrap="square" rtlCol="0">
            <a:spAutoFit/>
          </a:bodyPr>
          <a:lstStyle/>
          <a:p>
            <a:pPr marR="0" algn="l" rtl="0"/>
            <a:r>
              <a:rPr lang="en-US" sz="2000" b="1" i="0" u="none" strike="noStrike" baseline="0" dirty="0" smtClean="0">
                <a:solidFill>
                  <a:srgbClr val="FFFFFF"/>
                </a:solidFill>
                <a:latin typeface="RopaSoftPro-Regular"/>
              </a:rPr>
              <a:t>Faculty of Computing and </a:t>
            </a:r>
            <a:r>
              <a:rPr lang="en-US" sz="2000" b="1" i="0" u="none" strike="noStrike" dirty="0" smtClean="0">
                <a:solidFill>
                  <a:srgbClr val="FFFFFF"/>
                </a:solidFill>
                <a:latin typeface="RopaSoftPro-Regular"/>
              </a:rPr>
              <a:t> Informatics</a:t>
            </a:r>
            <a:endParaRPr lang="en-US" sz="2000" b="1" i="0" u="none" strike="noStrike" baseline="0" dirty="0" smtClean="0">
              <a:solidFill>
                <a:srgbClr val="FFFFFF"/>
              </a:solidFill>
              <a:latin typeface="RopaSoftPro-Regular"/>
            </a:endParaRPr>
          </a:p>
        </p:txBody>
      </p:sp>
    </p:spTree>
    <p:extLst>
      <p:ext uri="{BB962C8B-B14F-4D97-AF65-F5344CB8AC3E}">
        <p14:creationId xmlns:p14="http://schemas.microsoft.com/office/powerpoint/2010/main" val="302826989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E513B53D5EC04F4DAACC2E3DC49C4E82" ma:contentTypeVersion="15" ma:contentTypeDescription="Create a new document." ma:contentTypeScope="" ma:versionID="f2a70e75471bf28343e4ddfce8289ade">
  <xsd:schema xmlns:xsd="http://www.w3.org/2001/XMLSchema" xmlns:xs="http://www.w3.org/2001/XMLSchema" xmlns:p="http://schemas.microsoft.com/office/2006/metadata/properties" xmlns:ns3="ff360b5c-1491-4de7-9038-42ebdf865dbe" xmlns:ns4="95e470c5-d555-45ea-b7d4-7b5e2c49540b" targetNamespace="http://schemas.microsoft.com/office/2006/metadata/properties" ma:root="true" ma:fieldsID="b4a17d1288e1fcff8b9ca522a72fcd2b" ns3:_="" ns4:_="">
    <xsd:import namespace="ff360b5c-1491-4de7-9038-42ebdf865dbe"/>
    <xsd:import namespace="95e470c5-d555-45ea-b7d4-7b5e2c49540b"/>
    <xsd:element name="properties">
      <xsd:complexType>
        <xsd:sequence>
          <xsd:element name="documentManagement">
            <xsd:complexType>
              <xsd:all>
                <xsd:element ref="ns3:SharedWithUsers" minOccurs="0"/>
                <xsd:element ref="ns3:SharedWithDetails" minOccurs="0"/>
                <xsd:element ref="ns3:SharingHintHash" minOccurs="0"/>
                <xsd:element ref="ns4:MediaServiceMetadata" minOccurs="0"/>
                <xsd:element ref="ns4:MediaServiceFastMetadata" minOccurs="0"/>
                <xsd:element ref="ns4:MediaServiceAutoTags" minOccurs="0"/>
                <xsd:element ref="ns4:MediaServiceGenerationTime" minOccurs="0"/>
                <xsd:element ref="ns4:MediaServiceEventHashCode" minOccurs="0"/>
                <xsd:element ref="ns4:MediaServiceDateTaken" minOccurs="0"/>
                <xsd:element ref="ns4:MediaServiceOCR" minOccurs="0"/>
                <xsd:element ref="ns4:MediaServiceAutoKeyPoints" minOccurs="0"/>
                <xsd:element ref="ns4:MediaServiceKeyPoints" minOccurs="0"/>
                <xsd:element ref="ns4:MediaServiceLocation" minOccurs="0"/>
                <xsd:element ref="ns4:MediaLengthInSeconds" minOccurs="0"/>
                <xsd:element ref="ns4: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f360b5c-1491-4de7-9038-42ebdf865dbe"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internalName="SharedWithDetails" ma:readOnly="true">
      <xsd:simpleType>
        <xsd:restriction base="dms:Note">
          <xsd:maxLength value="255"/>
        </xsd:restriction>
      </xsd:simpleType>
    </xsd:element>
    <xsd:element name="SharingHintHash" ma:index="10" nillable="true" ma:displayName="Sharing Hint Hash" ma:hidden="true" ma:internalName="SharingHintHash"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95e470c5-d555-45ea-b7d4-7b5e2c49540b" elementFormDefault="qualified">
    <xsd:import namespace="http://schemas.microsoft.com/office/2006/documentManagement/types"/>
    <xsd:import namespace="http://schemas.microsoft.com/office/infopath/2007/PartnerControls"/>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AutoTags" ma:index="13" nillable="true" ma:displayName="Tags" ma:internalName="MediaServiceAutoTags" ma:readOnly="true">
      <xsd:simpleType>
        <xsd:restriction base="dms:Text"/>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DateTaken" ma:index="16" nillable="true" ma:displayName="MediaServiceDateTaken" ma:hidden="true" ma:internalName="MediaServiceDateTaken"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AutoKeyPoints" ma:index="18" nillable="true" ma:displayName="MediaServiceAutoKeyPoints" ma:hidden="true" ma:internalName="MediaServiceAutoKeyPoints" ma:readOnly="true">
      <xsd:simpleType>
        <xsd:restriction base="dms:Note"/>
      </xsd:simpleType>
    </xsd:element>
    <xsd:element name="MediaServiceKeyPoints" ma:index="19" nillable="true" ma:displayName="KeyPoints" ma:internalName="MediaServiceKeyPoints" ma:readOnly="true">
      <xsd:simpleType>
        <xsd:restriction base="dms:Note">
          <xsd:maxLength value="255"/>
        </xsd:restriction>
      </xsd:simpleType>
    </xsd:element>
    <xsd:element name="MediaServiceLocation" ma:index="20" nillable="true" ma:displayName="Location" ma:internalName="MediaServiceLocation" ma:readOnly="true">
      <xsd:simpleType>
        <xsd:restriction base="dms:Text"/>
      </xsd:simpleType>
    </xsd:element>
    <xsd:element name="MediaLengthInSeconds" ma:index="21" nillable="true" ma:displayName="MediaLengthInSeconds" ma:hidden="true" ma:internalName="MediaLengthInSeconds" ma:readOnly="true">
      <xsd:simpleType>
        <xsd:restriction base="dms:Unknown"/>
      </xsd:simpleType>
    </xsd:element>
    <xsd:element name="MediaServiceSearchProperties" ma:index="22"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984CEA16-4D90-42F1-9E11-F1D95312068D}">
  <ds:schemaRefs>
    <ds:schemaRef ds:uri="http://schemas.microsoft.com/sharepoint/v3/contenttype/forms"/>
  </ds:schemaRefs>
</ds:datastoreItem>
</file>

<file path=customXml/itemProps2.xml><?xml version="1.0" encoding="utf-8"?>
<ds:datastoreItem xmlns:ds="http://schemas.openxmlformats.org/officeDocument/2006/customXml" ds:itemID="{52F21011-1783-4D1E-A3E1-E251A135EEF9}">
  <ds:schemaRefs>
    <ds:schemaRef ds:uri="95e470c5-d555-45ea-b7d4-7b5e2c49540b"/>
    <ds:schemaRef ds:uri="http://schemas.microsoft.com/office/2006/documentManagement/types"/>
    <ds:schemaRef ds:uri="http://purl.org/dc/terms/"/>
    <ds:schemaRef ds:uri="http://purl.org/dc/elements/1.1/"/>
    <ds:schemaRef ds:uri="http://schemas.microsoft.com/office/infopath/2007/PartnerControls"/>
    <ds:schemaRef ds:uri="http://www.w3.org/XML/1998/namespace"/>
    <ds:schemaRef ds:uri="ff360b5c-1491-4de7-9038-42ebdf865dbe"/>
    <ds:schemaRef ds:uri="http://schemas.openxmlformats.org/package/2006/metadata/core-properties"/>
    <ds:schemaRef ds:uri="http://schemas.microsoft.com/office/2006/metadata/properties"/>
    <ds:schemaRef ds:uri="http://purl.org/dc/dcmitype/"/>
  </ds:schemaRefs>
</ds:datastoreItem>
</file>

<file path=customXml/itemProps3.xml><?xml version="1.0" encoding="utf-8"?>
<ds:datastoreItem xmlns:ds="http://schemas.openxmlformats.org/officeDocument/2006/customXml" ds:itemID="{23DCE7E0-A025-4F39-9559-60EDE5A50725}">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ff360b5c-1491-4de7-9038-42ebdf865dbe"/>
    <ds:schemaRef ds:uri="95e470c5-d555-45ea-b7d4-7b5e2c49540b"/>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2692</TotalTime>
  <Words>1472</Words>
  <Application>Microsoft Office PowerPoint</Application>
  <PresentationFormat>Custom</PresentationFormat>
  <Paragraphs>158</Paragraphs>
  <Slides>20</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20</vt:i4>
      </vt:variant>
    </vt:vector>
  </HeadingPairs>
  <TitlesOfParts>
    <vt:vector size="26" baseType="lpstr">
      <vt:lpstr>ＭＳ Ｐゴシック</vt:lpstr>
      <vt:lpstr>Arial</vt:lpstr>
      <vt:lpstr>Calibri</vt:lpstr>
      <vt:lpstr>RopaSoftPro-Regular</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CDP</dc:creator>
  <cp:lastModifiedBy>Mthembo, Nkululeko</cp:lastModifiedBy>
  <cp:revision>152</cp:revision>
  <dcterms:created xsi:type="dcterms:W3CDTF">2015-11-09T03:14:54Z</dcterms:created>
  <dcterms:modified xsi:type="dcterms:W3CDTF">2023-02-27T05:03:41Z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0x010100E513B53D5EC04F4DAACC2E3DC49C4E82</vt:lpwstr>
  </property>
</Properties>
</file>