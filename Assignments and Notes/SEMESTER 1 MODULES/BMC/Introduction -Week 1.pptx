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8" r:id="rId2"/>
    <p:sldId id="257" r:id="rId3"/>
    <p:sldId id="258" r:id="rId4"/>
    <p:sldId id="259" r:id="rId5"/>
    <p:sldId id="261" r:id="rId6"/>
    <p:sldId id="262" r:id="rId7"/>
    <p:sldId id="263" r:id="rId8"/>
    <p:sldId id="260" r:id="rId9"/>
    <p:sldId id="267" r:id="rId10"/>
    <p:sldId id="265" r:id="rId11"/>
    <p:sldId id="264"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83" d="100"/>
          <a:sy n="83" d="100"/>
        </p:scale>
        <p:origin x="437"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1" y="0"/>
            <a:ext cx="12192000" cy="3432240"/>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2E64C3-1926-4DE7-A1FA-D3EEF4BB9803}" type="datetimeFigureOut">
              <a:rPr lang="en-GB" smtClean="0"/>
              <a:t>07/02/2025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24C582C-E1A1-4F06-B8CA-E87840C2B748}" type="slidenum">
              <a:rPr lang="en-GB" smtClean="0"/>
              <a:t>‹#›</a:t>
            </a:fld>
            <a:endParaRPr lang="en-GB"/>
          </a:p>
        </p:txBody>
      </p:sp>
    </p:spTree>
    <p:extLst>
      <p:ext uri="{BB962C8B-B14F-4D97-AF65-F5344CB8AC3E}">
        <p14:creationId xmlns:p14="http://schemas.microsoft.com/office/powerpoint/2010/main" val="22101070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1" cy="1143000"/>
          </a:xfrm>
          <a:prstGeom prst="rect">
            <a:avLst/>
          </a:prstGeom>
        </p:spPr>
        <p:txBody>
          <a:bodyPr vert="horz" lIns="101636" tIns="50818" rIns="101636" bIns="50818"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1" cy="4525963"/>
          </a:xfrm>
          <a:prstGeom prst="rect">
            <a:avLst/>
          </a:prstGeom>
        </p:spPr>
        <p:txBody>
          <a:bodyPr vert="horz" lIns="101636" tIns="50818" rIns="101636" bIns="50818"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0"/>
            <a:ext cx="2844800" cy="365125"/>
          </a:xfrm>
          <a:prstGeom prst="rect">
            <a:avLst/>
          </a:prstGeom>
        </p:spPr>
        <p:txBody>
          <a:bodyPr vert="horz" lIns="101636" tIns="50818" rIns="101636" bIns="50818" rtlCol="0" anchor="ctr"/>
          <a:lstStyle>
            <a:lvl1pPr algn="l">
              <a:defRPr sz="1168">
                <a:solidFill>
                  <a:schemeClr val="tx1">
                    <a:tint val="75000"/>
                  </a:schemeClr>
                </a:solidFill>
              </a:defRPr>
            </a:lvl1pPr>
          </a:lstStyle>
          <a:p>
            <a:fld id="{7D9619E1-8D7B-8148-82B0-908DBEC4CE4D}" type="datetimeFigureOut">
              <a:rPr lang="en-US" smtClean="0"/>
              <a:t>2/7/2025</a:t>
            </a:fld>
            <a:endParaRPr lang="en-US"/>
          </a:p>
        </p:txBody>
      </p:sp>
      <p:sp>
        <p:nvSpPr>
          <p:cNvPr id="5" name="Footer Placeholder 4"/>
          <p:cNvSpPr>
            <a:spLocks noGrp="1"/>
          </p:cNvSpPr>
          <p:nvPr>
            <p:ph type="ftr" sz="quarter" idx="3"/>
          </p:nvPr>
        </p:nvSpPr>
        <p:spPr>
          <a:xfrm>
            <a:off x="4165601" y="6356350"/>
            <a:ext cx="3860800" cy="365125"/>
          </a:xfrm>
          <a:prstGeom prst="rect">
            <a:avLst/>
          </a:prstGeom>
        </p:spPr>
        <p:txBody>
          <a:bodyPr vert="horz" lIns="101636" tIns="50818" rIns="101636" bIns="50818" rtlCol="0" anchor="ctr"/>
          <a:lstStyle>
            <a:lvl1pPr algn="ctr">
              <a:defRPr sz="116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101636" tIns="50818" rIns="101636" bIns="50818" rtlCol="0" anchor="ctr"/>
          <a:lstStyle>
            <a:lvl1pPr algn="r">
              <a:defRPr sz="1168">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78" r:id="rId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sqliteonline.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liyambo@nust.na" TargetMode="External"/><Relationship Id="rId2" Type="http://schemas.openxmlformats.org/officeDocument/2006/relationships/hyperlink" Target="mailto:schivuno@nust.na" TargetMode="External"/><Relationship Id="rId1" Type="http://schemas.openxmlformats.org/officeDocument/2006/relationships/slideLayout" Target="../slideLayouts/slideLayout2.xml"/><Relationship Id="rId4" Type="http://schemas.openxmlformats.org/officeDocument/2006/relationships/hyperlink" Target="mailto:nekandjo@nust.na"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video" Target="https://www.youtube.com/embed/3CQusoJSh0E?feature=oemb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578617" y="3434615"/>
            <a:ext cx="9132489" cy="3423386"/>
          </a:xfrm>
          <a:prstGeom prst="rect">
            <a:avLst/>
          </a:prstGeom>
        </p:spPr>
      </p:pic>
      <p:sp>
        <p:nvSpPr>
          <p:cNvPr id="5" name="TextBox 4"/>
          <p:cNvSpPr txBox="1"/>
          <p:nvPr/>
        </p:nvSpPr>
        <p:spPr>
          <a:xfrm>
            <a:off x="1936133" y="1952398"/>
            <a:ext cx="8319734" cy="921534"/>
          </a:xfrm>
          <a:prstGeom prst="rect">
            <a:avLst/>
          </a:prstGeom>
          <a:noFill/>
        </p:spPr>
        <p:txBody>
          <a:bodyPr wrap="square" rtlCol="0">
            <a:spAutoFit/>
          </a:bodyPr>
          <a:lstStyle/>
          <a:p>
            <a:pPr algn="ctr"/>
            <a:r>
              <a:rPr lang="en-ZA" sz="2694" dirty="0">
                <a:solidFill>
                  <a:srgbClr val="FFFFFF"/>
                </a:solidFill>
              </a:rPr>
              <a:t>Introduction</a:t>
            </a:r>
          </a:p>
          <a:p>
            <a:r>
              <a:rPr lang="en-ZA" sz="2694" dirty="0">
                <a:solidFill>
                  <a:srgbClr val="FFFFFF"/>
                </a:solidFill>
              </a:rPr>
              <a:t>				Database Fundamentals (DBF510S) </a:t>
            </a:r>
            <a:endParaRPr lang="en-US" sz="3233" dirty="0">
              <a:solidFill>
                <a:srgbClr val="FFFFFF"/>
              </a:solidFill>
            </a:endParaRPr>
          </a:p>
        </p:txBody>
      </p:sp>
      <p:sp>
        <p:nvSpPr>
          <p:cNvPr id="7" name="TextBox 6"/>
          <p:cNvSpPr txBox="1"/>
          <p:nvPr/>
        </p:nvSpPr>
        <p:spPr>
          <a:xfrm>
            <a:off x="2765098" y="1242919"/>
            <a:ext cx="7193040" cy="368691"/>
          </a:xfrm>
          <a:prstGeom prst="rect">
            <a:avLst/>
          </a:prstGeom>
          <a:noFill/>
        </p:spPr>
        <p:txBody>
          <a:bodyPr wrap="square" rtlCol="0">
            <a:spAutoFit/>
          </a:bodyPr>
          <a:lstStyle/>
          <a:p>
            <a:pPr marR="0" algn="l" rtl="0"/>
            <a:r>
              <a:rPr lang="en-US" sz="1796" b="1" i="0" u="none" strike="noStrike" baseline="0">
                <a:solidFill>
                  <a:srgbClr val="FFFFFF"/>
                </a:solidFill>
                <a:latin typeface="RopaSoftPro-Regular"/>
              </a:rPr>
              <a:t>Faculty</a:t>
            </a:r>
            <a:r>
              <a:rPr lang="en-US" sz="1796" b="1">
                <a:solidFill>
                  <a:srgbClr val="FFFFFF"/>
                </a:solidFill>
                <a:latin typeface="RopaSoftPro-Regular"/>
              </a:rPr>
              <a:t> of Computing and Informatics</a:t>
            </a:r>
            <a:endParaRPr lang="en-US" sz="1796" b="1" i="0" u="none" strike="noStrike" baseline="0">
              <a:solidFill>
                <a:srgbClr val="FFFFFF"/>
              </a:solidFill>
              <a:latin typeface="RopaSoftPro-Regular"/>
            </a:endParaRPr>
          </a:p>
        </p:txBody>
      </p:sp>
      <p:pic>
        <p:nvPicPr>
          <p:cNvPr id="9" name="Picture 8"/>
          <p:cNvPicPr>
            <a:picLocks noChangeAspect="1"/>
          </p:cNvPicPr>
          <p:nvPr/>
        </p:nvPicPr>
        <p:blipFill>
          <a:blip r:embed="rId3"/>
          <a:stretch>
            <a:fillRect/>
          </a:stretch>
        </p:blipFill>
        <p:spPr>
          <a:xfrm>
            <a:off x="8615736" y="3857374"/>
            <a:ext cx="2144373" cy="2634841"/>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25182-D548-4517-A04F-682256C3F22F}"/>
              </a:ext>
            </a:extLst>
          </p:cNvPr>
          <p:cNvSpPr>
            <a:spLocks noGrp="1"/>
          </p:cNvSpPr>
          <p:nvPr>
            <p:ph type="title"/>
          </p:nvPr>
        </p:nvSpPr>
        <p:spPr/>
        <p:txBody>
          <a:bodyPr/>
          <a:lstStyle/>
          <a:p>
            <a:r>
              <a:rPr lang="en-US" dirty="0"/>
              <a:t>Course Overview</a:t>
            </a:r>
            <a:endParaRPr lang="en-GB" dirty="0"/>
          </a:p>
        </p:txBody>
      </p:sp>
      <p:sp>
        <p:nvSpPr>
          <p:cNvPr id="3" name="Content Placeholder 2">
            <a:extLst>
              <a:ext uri="{FF2B5EF4-FFF2-40B4-BE49-F238E27FC236}">
                <a16:creationId xmlns:a16="http://schemas.microsoft.com/office/drawing/2014/main" id="{33D47AF5-781D-4A82-B962-4177959E43E9}"/>
              </a:ext>
            </a:extLst>
          </p:cNvPr>
          <p:cNvSpPr>
            <a:spLocks noGrp="1"/>
          </p:cNvSpPr>
          <p:nvPr>
            <p:ph idx="1"/>
          </p:nvPr>
        </p:nvSpPr>
        <p:spPr>
          <a:xfrm>
            <a:off x="609599" y="1417638"/>
            <a:ext cx="10972801" cy="4525963"/>
          </a:xfrm>
        </p:spPr>
        <p:txBody>
          <a:bodyPr>
            <a:normAutofit fontScale="92500" lnSpcReduction="20000"/>
          </a:bodyPr>
          <a:lstStyle/>
          <a:p>
            <a:pPr marL="0" indent="0">
              <a:buNone/>
            </a:pPr>
            <a:r>
              <a:rPr lang="en-GB" dirty="0">
                <a:solidFill>
                  <a:srgbClr val="000000"/>
                </a:solidFill>
                <a:effectLst/>
                <a:latin typeface="+mj-lt"/>
                <a:ea typeface="Times New Roman" panose="02020603050405020304" pitchFamily="18" charset="0"/>
              </a:rPr>
              <a:t>The aim of this course is to equip students with the knowledge and skills needed to design a database following a standard development process. </a:t>
            </a:r>
          </a:p>
          <a:p>
            <a:pPr marR="23495" algn="just" fontAlgn="base">
              <a:lnSpc>
                <a:spcPct val="104000"/>
              </a:lnSpc>
              <a:spcAft>
                <a:spcPts val="1160"/>
              </a:spcAft>
              <a:buClr>
                <a:srgbClr val="000000"/>
              </a:buClr>
              <a:buSzPts val="1050"/>
              <a:buFont typeface="Wingdings" panose="05000000000000000000" pitchFamily="2" charset="2"/>
              <a:buChar char="q"/>
            </a:pPr>
            <a:r>
              <a:rPr lang="en-GB" dirty="0">
                <a:solidFill>
                  <a:srgbClr val="000000"/>
                </a:solidFill>
                <a:latin typeface="+mj-lt"/>
              </a:rPr>
              <a:t>Describe, define and apply major components of a relational database model.</a:t>
            </a:r>
          </a:p>
          <a:p>
            <a:pPr marR="23495" algn="just" fontAlgn="base">
              <a:lnSpc>
                <a:spcPct val="107000"/>
              </a:lnSpc>
              <a:spcAft>
                <a:spcPts val="1130"/>
              </a:spcAft>
              <a:buClr>
                <a:srgbClr val="000000"/>
              </a:buClr>
              <a:buSzPts val="1050"/>
              <a:buFont typeface="Wingdings" panose="05000000000000000000" pitchFamily="2" charset="2"/>
              <a:buChar char="q"/>
            </a:pPr>
            <a:r>
              <a:rPr lang="en-GB" dirty="0">
                <a:solidFill>
                  <a:srgbClr val="000000"/>
                </a:solidFill>
                <a:latin typeface="+mj-lt"/>
              </a:rPr>
              <a:t>Design logical and physical databases; </a:t>
            </a:r>
          </a:p>
          <a:p>
            <a:pPr marR="23495" algn="just" fontAlgn="base">
              <a:lnSpc>
                <a:spcPct val="104000"/>
              </a:lnSpc>
              <a:spcAft>
                <a:spcPts val="1160"/>
              </a:spcAft>
              <a:buClr>
                <a:srgbClr val="000000"/>
              </a:buClr>
              <a:buSzPts val="1050"/>
              <a:buFont typeface="Wingdings" panose="05000000000000000000" pitchFamily="2" charset="2"/>
              <a:buChar char="q"/>
            </a:pPr>
            <a:r>
              <a:rPr lang="en-GB" dirty="0">
                <a:solidFill>
                  <a:srgbClr val="000000"/>
                </a:solidFill>
                <a:latin typeface="+mj-lt"/>
              </a:rPr>
              <a:t>Learn </a:t>
            </a:r>
            <a:r>
              <a:rPr lang="en-GB" u="none" strike="noStrike" dirty="0">
                <a:solidFill>
                  <a:srgbClr val="000000"/>
                </a:solidFill>
                <a:effectLst/>
                <a:uFill>
                  <a:solidFill>
                    <a:srgbClr val="000000"/>
                  </a:solidFill>
                </a:uFill>
                <a:latin typeface="+mj-lt"/>
                <a:ea typeface="Times New Roman" panose="02020603050405020304" pitchFamily="18" charset="0"/>
                <a:cs typeface="Times New Roman" panose="02020603050405020304" pitchFamily="18" charset="0"/>
              </a:rPr>
              <a:t>and apply the SQL for database definition and manipulation.</a:t>
            </a:r>
          </a:p>
          <a:p>
            <a:pPr marL="0" indent="0">
              <a:buNone/>
            </a:pPr>
            <a:endParaRPr lang="en-GB" dirty="0"/>
          </a:p>
        </p:txBody>
      </p:sp>
    </p:spTree>
    <p:extLst>
      <p:ext uri="{BB962C8B-B14F-4D97-AF65-F5344CB8AC3E}">
        <p14:creationId xmlns:p14="http://schemas.microsoft.com/office/powerpoint/2010/main" val="40535994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DB59C-0CD8-4CC0-9B9E-FE949EA158AC}"/>
              </a:ext>
            </a:extLst>
          </p:cNvPr>
          <p:cNvSpPr>
            <a:spLocks noGrp="1"/>
          </p:cNvSpPr>
          <p:nvPr>
            <p:ph type="title"/>
          </p:nvPr>
        </p:nvSpPr>
        <p:spPr/>
        <p:txBody>
          <a:bodyPr/>
          <a:lstStyle/>
          <a:p>
            <a:r>
              <a:rPr lang="en-US" dirty="0"/>
              <a:t>Lecturers</a:t>
            </a:r>
            <a:endParaRPr lang="en-GB" dirty="0"/>
          </a:p>
        </p:txBody>
      </p:sp>
      <p:sp>
        <p:nvSpPr>
          <p:cNvPr id="3" name="Content Placeholder 2">
            <a:extLst>
              <a:ext uri="{FF2B5EF4-FFF2-40B4-BE49-F238E27FC236}">
                <a16:creationId xmlns:a16="http://schemas.microsoft.com/office/drawing/2014/main" id="{3BA62944-84D2-40CB-B77A-16AAC00A9A12}"/>
              </a:ext>
            </a:extLst>
          </p:cNvPr>
          <p:cNvSpPr>
            <a:spLocks noGrp="1"/>
          </p:cNvSpPr>
          <p:nvPr>
            <p:ph idx="1"/>
          </p:nvPr>
        </p:nvSpPr>
        <p:spPr>
          <a:xfrm>
            <a:off x="609600" y="3500582"/>
            <a:ext cx="10972801" cy="2625582"/>
          </a:xfrm>
        </p:spPr>
        <p:txBody>
          <a:bodyPr/>
          <a:lstStyle/>
          <a:p>
            <a:endParaRPr lang="en-US" dirty="0"/>
          </a:p>
          <a:p>
            <a:endParaRPr lang="en-GB" dirty="0"/>
          </a:p>
        </p:txBody>
      </p:sp>
      <p:graphicFrame>
        <p:nvGraphicFramePr>
          <p:cNvPr id="5" name="Table 4">
            <a:extLst>
              <a:ext uri="{FF2B5EF4-FFF2-40B4-BE49-F238E27FC236}">
                <a16:creationId xmlns:a16="http://schemas.microsoft.com/office/drawing/2014/main" id="{6250506A-3DF8-766F-60B6-F924715A5D19}"/>
              </a:ext>
            </a:extLst>
          </p:cNvPr>
          <p:cNvGraphicFramePr>
            <a:graphicFrameLocks noGrp="1"/>
          </p:cNvGraphicFramePr>
          <p:nvPr>
            <p:extLst>
              <p:ext uri="{D42A27DB-BD31-4B8C-83A1-F6EECF244321}">
                <p14:modId xmlns:p14="http://schemas.microsoft.com/office/powerpoint/2010/main" val="2912312555"/>
              </p:ext>
            </p:extLst>
          </p:nvPr>
        </p:nvGraphicFramePr>
        <p:xfrm>
          <a:off x="748145" y="2009833"/>
          <a:ext cx="9411856" cy="2682240"/>
        </p:xfrm>
        <a:graphic>
          <a:graphicData uri="http://schemas.openxmlformats.org/drawingml/2006/table">
            <a:tbl>
              <a:tblPr firstRow="1" bandRow="1">
                <a:tableStyleId>{5C22544A-7EE6-4342-B048-85BDC9FD1C3A}</a:tableStyleId>
              </a:tblPr>
              <a:tblGrid>
                <a:gridCol w="2352964">
                  <a:extLst>
                    <a:ext uri="{9D8B030D-6E8A-4147-A177-3AD203B41FA5}">
                      <a16:colId xmlns:a16="http://schemas.microsoft.com/office/drawing/2014/main" val="2581355538"/>
                    </a:ext>
                  </a:extLst>
                </a:gridCol>
                <a:gridCol w="2352964">
                  <a:extLst>
                    <a:ext uri="{9D8B030D-6E8A-4147-A177-3AD203B41FA5}">
                      <a16:colId xmlns:a16="http://schemas.microsoft.com/office/drawing/2014/main" val="2574523064"/>
                    </a:ext>
                  </a:extLst>
                </a:gridCol>
                <a:gridCol w="2352964">
                  <a:extLst>
                    <a:ext uri="{9D8B030D-6E8A-4147-A177-3AD203B41FA5}">
                      <a16:colId xmlns:a16="http://schemas.microsoft.com/office/drawing/2014/main" val="3351829696"/>
                    </a:ext>
                  </a:extLst>
                </a:gridCol>
                <a:gridCol w="2352964">
                  <a:extLst>
                    <a:ext uri="{9D8B030D-6E8A-4147-A177-3AD203B41FA5}">
                      <a16:colId xmlns:a16="http://schemas.microsoft.com/office/drawing/2014/main" val="2263763140"/>
                    </a:ext>
                  </a:extLst>
                </a:gridCol>
              </a:tblGrid>
              <a:tr h="344824">
                <a:tc>
                  <a:txBody>
                    <a:bodyPr/>
                    <a:lstStyle/>
                    <a:p>
                      <a:r>
                        <a:rPr lang="en-US" dirty="0"/>
                        <a:t>Name</a:t>
                      </a:r>
                      <a:endParaRPr lang="en-NA" dirty="0"/>
                    </a:p>
                  </a:txBody>
                  <a:tcPr/>
                </a:tc>
                <a:tc>
                  <a:txBody>
                    <a:bodyPr/>
                    <a:lstStyle/>
                    <a:p>
                      <a:r>
                        <a:rPr lang="en-US" dirty="0"/>
                        <a:t>Email Address</a:t>
                      </a:r>
                      <a:endParaRPr lang="en-NA" dirty="0"/>
                    </a:p>
                  </a:txBody>
                  <a:tcPr/>
                </a:tc>
                <a:tc>
                  <a:txBody>
                    <a:bodyPr/>
                    <a:lstStyle/>
                    <a:p>
                      <a:r>
                        <a:rPr lang="en-US" dirty="0"/>
                        <a:t>Office Details</a:t>
                      </a:r>
                      <a:endParaRPr lang="en-NA" dirty="0"/>
                    </a:p>
                  </a:txBody>
                  <a:tcPr/>
                </a:tc>
                <a:tc>
                  <a:txBody>
                    <a:bodyPr/>
                    <a:lstStyle/>
                    <a:p>
                      <a:r>
                        <a:rPr lang="en-US" dirty="0"/>
                        <a:t>Role</a:t>
                      </a:r>
                      <a:endParaRPr lang="en-NA" dirty="0"/>
                    </a:p>
                  </a:txBody>
                  <a:tcPr/>
                </a:tc>
                <a:extLst>
                  <a:ext uri="{0D108BD9-81ED-4DB2-BD59-A6C34878D82A}">
                    <a16:rowId xmlns:a16="http://schemas.microsoft.com/office/drawing/2014/main" val="2064587062"/>
                  </a:ext>
                </a:extLst>
              </a:tr>
              <a:tr h="344824">
                <a:tc>
                  <a:txBody>
                    <a:bodyPr/>
                    <a:lstStyle/>
                    <a:p>
                      <a:r>
                        <a:rPr lang="en-US" dirty="0"/>
                        <a:t>Shilumbe Chivuno-Kuria</a:t>
                      </a:r>
                      <a:endParaRPr lang="en-NA" dirty="0"/>
                    </a:p>
                  </a:txBody>
                  <a:tcPr/>
                </a:tc>
                <a:tc>
                  <a:txBody>
                    <a:bodyPr/>
                    <a:lstStyle/>
                    <a:p>
                      <a:r>
                        <a:rPr lang="en-US" dirty="0"/>
                        <a:t>schivuno@nust.na</a:t>
                      </a:r>
                      <a:endParaRPr lang="en-NA" dirty="0"/>
                    </a:p>
                  </a:txBody>
                  <a:tcPr/>
                </a:tc>
                <a:tc>
                  <a:txBody>
                    <a:bodyPr/>
                    <a:lstStyle/>
                    <a:p>
                      <a:r>
                        <a:rPr lang="en-US" dirty="0"/>
                        <a:t>#404, 4</a:t>
                      </a:r>
                      <a:r>
                        <a:rPr lang="en-US" baseline="30000" dirty="0"/>
                        <a:t>th</a:t>
                      </a:r>
                      <a:r>
                        <a:rPr lang="en-US" dirty="0"/>
                        <a:t> Floor, Poly Heights</a:t>
                      </a:r>
                      <a:endParaRPr lang="en-NA" dirty="0"/>
                    </a:p>
                  </a:txBody>
                  <a:tcPr/>
                </a:tc>
                <a:tc>
                  <a:txBody>
                    <a:bodyPr/>
                    <a:lstStyle/>
                    <a:p>
                      <a:r>
                        <a:rPr lang="en-US" dirty="0"/>
                        <a:t>Course Coordinator</a:t>
                      </a:r>
                      <a:endParaRPr lang="en-NA" dirty="0"/>
                    </a:p>
                  </a:txBody>
                  <a:tcPr/>
                </a:tc>
                <a:extLst>
                  <a:ext uri="{0D108BD9-81ED-4DB2-BD59-A6C34878D82A}">
                    <a16:rowId xmlns:a16="http://schemas.microsoft.com/office/drawing/2014/main" val="2096149953"/>
                  </a:ext>
                </a:extLst>
              </a:tr>
              <a:tr h="344824">
                <a:tc>
                  <a:txBody>
                    <a:bodyPr/>
                    <a:lstStyle/>
                    <a:p>
                      <a:endParaRPr lang="en-NA"/>
                    </a:p>
                  </a:txBody>
                  <a:tcPr/>
                </a:tc>
                <a:tc>
                  <a:txBody>
                    <a:bodyPr/>
                    <a:lstStyle/>
                    <a:p>
                      <a:endParaRPr lang="en-NA"/>
                    </a:p>
                  </a:txBody>
                  <a:tcPr/>
                </a:tc>
                <a:tc>
                  <a:txBody>
                    <a:bodyPr/>
                    <a:lstStyle/>
                    <a:p>
                      <a:endParaRPr lang="en-NA"/>
                    </a:p>
                  </a:txBody>
                  <a:tcPr/>
                </a:tc>
                <a:tc>
                  <a:txBody>
                    <a:bodyPr/>
                    <a:lstStyle/>
                    <a:p>
                      <a:endParaRPr lang="en-NA"/>
                    </a:p>
                  </a:txBody>
                  <a:tcPr/>
                </a:tc>
                <a:extLst>
                  <a:ext uri="{0D108BD9-81ED-4DB2-BD59-A6C34878D82A}">
                    <a16:rowId xmlns:a16="http://schemas.microsoft.com/office/drawing/2014/main" val="500825105"/>
                  </a:ext>
                </a:extLst>
              </a:tr>
              <a:tr h="344824">
                <a:tc>
                  <a:txBody>
                    <a:bodyPr/>
                    <a:lstStyle/>
                    <a:p>
                      <a:endParaRPr lang="en-NA"/>
                    </a:p>
                  </a:txBody>
                  <a:tcPr/>
                </a:tc>
                <a:tc>
                  <a:txBody>
                    <a:bodyPr/>
                    <a:lstStyle/>
                    <a:p>
                      <a:endParaRPr lang="en-NA"/>
                    </a:p>
                  </a:txBody>
                  <a:tcPr/>
                </a:tc>
                <a:tc>
                  <a:txBody>
                    <a:bodyPr/>
                    <a:lstStyle/>
                    <a:p>
                      <a:endParaRPr lang="en-NA"/>
                    </a:p>
                  </a:txBody>
                  <a:tcPr/>
                </a:tc>
                <a:tc>
                  <a:txBody>
                    <a:bodyPr/>
                    <a:lstStyle/>
                    <a:p>
                      <a:endParaRPr lang="en-NA"/>
                    </a:p>
                  </a:txBody>
                  <a:tcPr/>
                </a:tc>
                <a:extLst>
                  <a:ext uri="{0D108BD9-81ED-4DB2-BD59-A6C34878D82A}">
                    <a16:rowId xmlns:a16="http://schemas.microsoft.com/office/drawing/2014/main" val="1108328878"/>
                  </a:ext>
                </a:extLst>
              </a:tr>
              <a:tr h="344824">
                <a:tc>
                  <a:txBody>
                    <a:bodyPr/>
                    <a:lstStyle/>
                    <a:p>
                      <a:endParaRPr lang="en-NA"/>
                    </a:p>
                  </a:txBody>
                  <a:tcPr/>
                </a:tc>
                <a:tc>
                  <a:txBody>
                    <a:bodyPr/>
                    <a:lstStyle/>
                    <a:p>
                      <a:endParaRPr lang="en-NA"/>
                    </a:p>
                  </a:txBody>
                  <a:tcPr/>
                </a:tc>
                <a:tc>
                  <a:txBody>
                    <a:bodyPr/>
                    <a:lstStyle/>
                    <a:p>
                      <a:endParaRPr lang="en-NA"/>
                    </a:p>
                  </a:txBody>
                  <a:tcPr/>
                </a:tc>
                <a:tc>
                  <a:txBody>
                    <a:bodyPr/>
                    <a:lstStyle/>
                    <a:p>
                      <a:endParaRPr lang="en-NA"/>
                    </a:p>
                  </a:txBody>
                  <a:tcPr/>
                </a:tc>
                <a:extLst>
                  <a:ext uri="{0D108BD9-81ED-4DB2-BD59-A6C34878D82A}">
                    <a16:rowId xmlns:a16="http://schemas.microsoft.com/office/drawing/2014/main" val="1238361769"/>
                  </a:ext>
                </a:extLst>
              </a:tr>
              <a:tr h="344824">
                <a:tc>
                  <a:txBody>
                    <a:bodyPr/>
                    <a:lstStyle/>
                    <a:p>
                      <a:endParaRPr lang="en-NA"/>
                    </a:p>
                  </a:txBody>
                  <a:tcPr/>
                </a:tc>
                <a:tc>
                  <a:txBody>
                    <a:bodyPr/>
                    <a:lstStyle/>
                    <a:p>
                      <a:endParaRPr lang="en-NA"/>
                    </a:p>
                  </a:txBody>
                  <a:tcPr/>
                </a:tc>
                <a:tc>
                  <a:txBody>
                    <a:bodyPr/>
                    <a:lstStyle/>
                    <a:p>
                      <a:endParaRPr lang="en-NA"/>
                    </a:p>
                  </a:txBody>
                  <a:tcPr/>
                </a:tc>
                <a:tc>
                  <a:txBody>
                    <a:bodyPr/>
                    <a:lstStyle/>
                    <a:p>
                      <a:endParaRPr lang="en-NA" dirty="0"/>
                    </a:p>
                  </a:txBody>
                  <a:tcPr/>
                </a:tc>
                <a:extLst>
                  <a:ext uri="{0D108BD9-81ED-4DB2-BD59-A6C34878D82A}">
                    <a16:rowId xmlns:a16="http://schemas.microsoft.com/office/drawing/2014/main" val="3116002462"/>
                  </a:ext>
                </a:extLst>
              </a:tr>
            </a:tbl>
          </a:graphicData>
        </a:graphic>
      </p:graphicFrame>
    </p:spTree>
    <p:extLst>
      <p:ext uri="{BB962C8B-B14F-4D97-AF65-F5344CB8AC3E}">
        <p14:creationId xmlns:p14="http://schemas.microsoft.com/office/powerpoint/2010/main" val="147992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101BE-4A24-4160-9A84-EDDA5971C329}"/>
              </a:ext>
            </a:extLst>
          </p:cNvPr>
          <p:cNvSpPr>
            <a:spLocks noGrp="1"/>
          </p:cNvSpPr>
          <p:nvPr>
            <p:ph type="title"/>
          </p:nvPr>
        </p:nvSpPr>
        <p:spPr/>
        <p:txBody>
          <a:bodyPr/>
          <a:lstStyle/>
          <a:p>
            <a:r>
              <a:rPr lang="en-US" dirty="0"/>
              <a:t>Course Outline</a:t>
            </a:r>
            <a:endParaRPr lang="en-GB" dirty="0"/>
          </a:p>
        </p:txBody>
      </p:sp>
      <p:sp>
        <p:nvSpPr>
          <p:cNvPr id="3" name="Content Placeholder 2">
            <a:extLst>
              <a:ext uri="{FF2B5EF4-FFF2-40B4-BE49-F238E27FC236}">
                <a16:creationId xmlns:a16="http://schemas.microsoft.com/office/drawing/2014/main" id="{358D12FE-85C9-4096-8709-CB16817C8E49}"/>
              </a:ext>
            </a:extLst>
          </p:cNvPr>
          <p:cNvSpPr>
            <a:spLocks noGrp="1"/>
          </p:cNvSpPr>
          <p:nvPr>
            <p:ph idx="1"/>
          </p:nvPr>
        </p:nvSpPr>
        <p:spPr/>
        <p:txBody>
          <a:bodyPr/>
          <a:lstStyle/>
          <a:p>
            <a:pPr>
              <a:lnSpc>
                <a:spcPct val="150000"/>
              </a:lnSpc>
            </a:pPr>
            <a:r>
              <a:rPr lang="en-US" dirty="0"/>
              <a:t>All content to be covered and associated dates</a:t>
            </a:r>
          </a:p>
          <a:p>
            <a:pPr>
              <a:lnSpc>
                <a:spcPct val="150000"/>
              </a:lnSpc>
            </a:pPr>
            <a:r>
              <a:rPr lang="en-US" dirty="0"/>
              <a:t>Recommended texts</a:t>
            </a:r>
          </a:p>
          <a:p>
            <a:pPr>
              <a:lnSpc>
                <a:spcPct val="150000"/>
              </a:lnSpc>
            </a:pPr>
            <a:r>
              <a:rPr lang="en-US" dirty="0"/>
              <a:t>Assessment criteria and proposed dates </a:t>
            </a:r>
          </a:p>
          <a:p>
            <a:pPr>
              <a:lnSpc>
                <a:spcPct val="150000"/>
              </a:lnSpc>
            </a:pPr>
            <a:r>
              <a:rPr lang="en-GB" dirty="0"/>
              <a:t>Lab sessions/ </a:t>
            </a:r>
            <a:r>
              <a:rPr lang="en-GB" dirty="0" err="1"/>
              <a:t>practicals</a:t>
            </a:r>
            <a:endParaRPr lang="en-GB" dirty="0"/>
          </a:p>
          <a:p>
            <a:pPr marL="0" indent="0">
              <a:lnSpc>
                <a:spcPct val="150000"/>
              </a:lnSpc>
              <a:buNone/>
            </a:pPr>
            <a:endParaRPr lang="en-GB" dirty="0"/>
          </a:p>
          <a:p>
            <a:endParaRPr lang="en-GB" dirty="0"/>
          </a:p>
        </p:txBody>
      </p:sp>
    </p:spTree>
    <p:extLst>
      <p:ext uri="{BB962C8B-B14F-4D97-AF65-F5344CB8AC3E}">
        <p14:creationId xmlns:p14="http://schemas.microsoft.com/office/powerpoint/2010/main" val="1504628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2EC8-BAA4-46EF-A96C-A897DF39CDBC}"/>
              </a:ext>
            </a:extLst>
          </p:cNvPr>
          <p:cNvSpPr>
            <a:spLocks noGrp="1"/>
          </p:cNvSpPr>
          <p:nvPr>
            <p:ph type="title"/>
          </p:nvPr>
        </p:nvSpPr>
        <p:spPr/>
        <p:txBody>
          <a:bodyPr/>
          <a:lstStyle/>
          <a:p>
            <a:r>
              <a:rPr lang="en-US" dirty="0"/>
              <a:t>Communication and Learning Platforms</a:t>
            </a:r>
            <a:endParaRPr lang="en-GB" dirty="0"/>
          </a:p>
        </p:txBody>
      </p:sp>
      <p:sp>
        <p:nvSpPr>
          <p:cNvPr id="3" name="Content Placeholder 2">
            <a:extLst>
              <a:ext uri="{FF2B5EF4-FFF2-40B4-BE49-F238E27FC236}">
                <a16:creationId xmlns:a16="http://schemas.microsoft.com/office/drawing/2014/main" id="{722D81B6-27C9-4D5E-BF77-541069DAB76A}"/>
              </a:ext>
            </a:extLst>
          </p:cNvPr>
          <p:cNvSpPr>
            <a:spLocks noGrp="1"/>
          </p:cNvSpPr>
          <p:nvPr>
            <p:ph idx="1"/>
          </p:nvPr>
        </p:nvSpPr>
        <p:spPr/>
        <p:txBody>
          <a:bodyPr>
            <a:normAutofit fontScale="77500" lnSpcReduction="20000"/>
          </a:bodyPr>
          <a:lstStyle/>
          <a:p>
            <a:r>
              <a:rPr lang="en-US" dirty="0"/>
              <a:t>Microsoft Teams (click on the link provided on the course page on </a:t>
            </a:r>
            <a:r>
              <a:rPr lang="en-US" dirty="0" err="1"/>
              <a:t>elearning</a:t>
            </a:r>
            <a:r>
              <a:rPr lang="en-US" dirty="0"/>
              <a:t>)</a:t>
            </a:r>
          </a:p>
          <a:p>
            <a:r>
              <a:rPr lang="en-US" dirty="0"/>
              <a:t>E-learning </a:t>
            </a:r>
          </a:p>
          <a:p>
            <a:pPr lvl="1"/>
            <a:r>
              <a:rPr lang="en-US" dirty="0"/>
              <a:t>Self enrolment (use the enrolment key for your practical group)</a:t>
            </a:r>
          </a:p>
          <a:p>
            <a:r>
              <a:rPr lang="en-US" dirty="0"/>
              <a:t>Lab activities as shown on course outline</a:t>
            </a:r>
          </a:p>
          <a:p>
            <a:r>
              <a:rPr lang="en-US" dirty="0"/>
              <a:t>Telegram/ WhatsApp group for communication amongst yourselves (students)</a:t>
            </a:r>
          </a:p>
          <a:p>
            <a:r>
              <a:rPr lang="en-US" dirty="0"/>
              <a:t>Email is another tool we can use for communication</a:t>
            </a:r>
          </a:p>
          <a:p>
            <a:r>
              <a:rPr lang="en-US" dirty="0"/>
              <a:t>Group representatives for communication</a:t>
            </a:r>
          </a:p>
          <a:p>
            <a:pPr marL="0" indent="0">
              <a:buNone/>
            </a:pPr>
            <a:r>
              <a:rPr lang="en-US" dirty="0"/>
              <a:t>NB: ensure you connect to these channels so that you do not miss any course details</a:t>
            </a:r>
          </a:p>
          <a:p>
            <a:pPr marL="0" indent="0">
              <a:buNone/>
            </a:pPr>
            <a:endParaRPr lang="en-US" dirty="0"/>
          </a:p>
          <a:p>
            <a:pPr marL="0" indent="0">
              <a:buNone/>
            </a:pPr>
            <a:endParaRPr lang="en-GB" dirty="0"/>
          </a:p>
        </p:txBody>
      </p:sp>
    </p:spTree>
    <p:extLst>
      <p:ext uri="{BB962C8B-B14F-4D97-AF65-F5344CB8AC3E}">
        <p14:creationId xmlns:p14="http://schemas.microsoft.com/office/powerpoint/2010/main" val="1410964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99048-B114-43A3-8EBD-D6BC4DAB27A3}"/>
              </a:ext>
            </a:extLst>
          </p:cNvPr>
          <p:cNvSpPr>
            <a:spLocks noGrp="1"/>
          </p:cNvSpPr>
          <p:nvPr>
            <p:ph type="title"/>
          </p:nvPr>
        </p:nvSpPr>
        <p:spPr/>
        <p:txBody>
          <a:bodyPr/>
          <a:lstStyle/>
          <a:p>
            <a:r>
              <a:rPr lang="en-US" dirty="0"/>
              <a:t>Software </a:t>
            </a:r>
            <a:endParaRPr lang="en-GB" dirty="0"/>
          </a:p>
        </p:txBody>
      </p:sp>
      <p:sp>
        <p:nvSpPr>
          <p:cNvPr id="3" name="Content Placeholder 2">
            <a:extLst>
              <a:ext uri="{FF2B5EF4-FFF2-40B4-BE49-F238E27FC236}">
                <a16:creationId xmlns:a16="http://schemas.microsoft.com/office/drawing/2014/main" id="{B394EA6C-FAC1-4EF3-86BB-E795C0C7A300}"/>
              </a:ext>
            </a:extLst>
          </p:cNvPr>
          <p:cNvSpPr>
            <a:spLocks noGrp="1"/>
          </p:cNvSpPr>
          <p:nvPr>
            <p:ph idx="1"/>
          </p:nvPr>
        </p:nvSpPr>
        <p:spPr/>
        <p:txBody>
          <a:bodyPr>
            <a:normAutofit/>
          </a:bodyPr>
          <a:lstStyle/>
          <a:p>
            <a:r>
              <a:rPr lang="en-US" dirty="0"/>
              <a:t>SQL Server Management Studio</a:t>
            </a:r>
          </a:p>
          <a:p>
            <a:r>
              <a:rPr lang="en-US" dirty="0"/>
              <a:t>Guidelines on how to use it will be shared during practical sessions</a:t>
            </a:r>
          </a:p>
          <a:p>
            <a:r>
              <a:rPr lang="en-US" dirty="0"/>
              <a:t>SQLite- </a:t>
            </a:r>
            <a:r>
              <a:rPr lang="en-US" dirty="0">
                <a:solidFill>
                  <a:schemeClr val="tx1"/>
                </a:solidFill>
                <a:hlinkClick r:id="rId2">
                  <a:extLst>
                    <a:ext uri="{A12FA001-AC4F-418D-AE19-62706E023703}">
                      <ahyp:hlinkClr xmlns:ahyp="http://schemas.microsoft.com/office/drawing/2018/hyperlinkcolor" val="tx"/>
                    </a:ext>
                  </a:extLst>
                </a:hlinkClick>
              </a:rPr>
              <a:t>https://sqliteonline.com/</a:t>
            </a:r>
            <a:r>
              <a:rPr lang="en-US" dirty="0">
                <a:solidFill>
                  <a:schemeClr val="tx1"/>
                </a:solidFill>
              </a:rPr>
              <a:t> may be used, it is accessible on the internet</a:t>
            </a:r>
          </a:p>
          <a:p>
            <a:endParaRPr lang="en-US" dirty="0"/>
          </a:p>
          <a:p>
            <a:pPr marL="0" indent="0">
              <a:buNone/>
            </a:pPr>
            <a:r>
              <a:rPr lang="en-GB" dirty="0"/>
              <a:t> </a:t>
            </a:r>
          </a:p>
        </p:txBody>
      </p:sp>
    </p:spTree>
    <p:extLst>
      <p:ext uri="{BB962C8B-B14F-4D97-AF65-F5344CB8AC3E}">
        <p14:creationId xmlns:p14="http://schemas.microsoft.com/office/powerpoint/2010/main" val="33678034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166CC-1148-4C34-8CBA-D7F68F1BF169}"/>
              </a:ext>
            </a:extLst>
          </p:cNvPr>
          <p:cNvSpPr>
            <a:spLocks noGrp="1"/>
          </p:cNvSpPr>
          <p:nvPr>
            <p:ph type="title"/>
          </p:nvPr>
        </p:nvSpPr>
        <p:spPr/>
        <p:txBody>
          <a:bodyPr/>
          <a:lstStyle/>
          <a:p>
            <a:r>
              <a:rPr lang="en-US" dirty="0"/>
              <a:t>Class Times </a:t>
            </a:r>
            <a:endParaRPr lang="en-GB" dirty="0"/>
          </a:p>
        </p:txBody>
      </p:sp>
      <p:sp>
        <p:nvSpPr>
          <p:cNvPr id="3" name="Content Placeholder 2">
            <a:extLst>
              <a:ext uri="{FF2B5EF4-FFF2-40B4-BE49-F238E27FC236}">
                <a16:creationId xmlns:a16="http://schemas.microsoft.com/office/drawing/2014/main" id="{50FCA920-54A3-47DA-9785-AC60CB7C8A53}"/>
              </a:ext>
            </a:extLst>
          </p:cNvPr>
          <p:cNvSpPr>
            <a:spLocks noGrp="1"/>
          </p:cNvSpPr>
          <p:nvPr>
            <p:ph idx="1"/>
          </p:nvPr>
        </p:nvSpPr>
        <p:spPr/>
        <p:txBody>
          <a:bodyPr>
            <a:normAutofit fontScale="25000" lnSpcReduction="20000"/>
          </a:bodyPr>
          <a:lstStyle/>
          <a:p>
            <a:pPr marL="0" indent="0">
              <a:lnSpc>
                <a:spcPct val="170000"/>
              </a:lnSpc>
              <a:buNone/>
            </a:pPr>
            <a:r>
              <a:rPr lang="en-US" sz="11200" dirty="0"/>
              <a:t>Theory  Slots</a:t>
            </a:r>
          </a:p>
          <a:p>
            <a:pPr>
              <a:lnSpc>
                <a:spcPct val="170000"/>
              </a:lnSpc>
            </a:pPr>
            <a:r>
              <a:rPr lang="en-US" sz="11200" dirty="0"/>
              <a:t>Mondays 1500hrs Auditorium 1</a:t>
            </a:r>
          </a:p>
          <a:p>
            <a:pPr>
              <a:lnSpc>
                <a:spcPct val="170000"/>
              </a:lnSpc>
            </a:pPr>
            <a:r>
              <a:rPr lang="en-US" sz="11200" dirty="0"/>
              <a:t>Tuesday 18:40 Auditorium 2</a:t>
            </a:r>
          </a:p>
          <a:p>
            <a:pPr>
              <a:lnSpc>
                <a:spcPct val="170000"/>
              </a:lnSpc>
            </a:pPr>
            <a:r>
              <a:rPr lang="en-US" sz="11200" dirty="0"/>
              <a:t>Thursday  0730hrs, 1400hrs Auditorium  1</a:t>
            </a:r>
          </a:p>
          <a:p>
            <a:pPr>
              <a:lnSpc>
                <a:spcPct val="170000"/>
              </a:lnSpc>
            </a:pPr>
            <a:r>
              <a:rPr lang="en-US" sz="11200" dirty="0"/>
              <a:t>Practical – check your timetable, will differ per group</a:t>
            </a:r>
          </a:p>
          <a:p>
            <a:pPr>
              <a:lnSpc>
                <a:spcPct val="170000"/>
              </a:lnSpc>
            </a:pPr>
            <a:r>
              <a:rPr lang="en-US" sz="11200" dirty="0"/>
              <a:t>Timetable subject to changes</a:t>
            </a:r>
          </a:p>
          <a:p>
            <a:pPr marL="0" indent="0">
              <a:lnSpc>
                <a:spcPct val="170000"/>
              </a:lnSpc>
              <a:buNone/>
            </a:pPr>
            <a:endParaRPr lang="en-US" dirty="0"/>
          </a:p>
          <a:p>
            <a:pPr marL="0" indent="0">
              <a:lnSpc>
                <a:spcPct val="170000"/>
              </a:lnSpc>
              <a:buNone/>
            </a:pPr>
            <a:endParaRPr lang="en-US" dirty="0"/>
          </a:p>
          <a:p>
            <a:pPr marL="0" indent="0">
              <a:lnSpc>
                <a:spcPct val="170000"/>
              </a:lnSpc>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endParaRPr lang="en-US" dirty="0"/>
          </a:p>
          <a:p>
            <a:r>
              <a:rPr lang="en-US" dirty="0"/>
              <a:t>Practical- check schedule for your group and MS Teams link</a:t>
            </a:r>
          </a:p>
          <a:p>
            <a:r>
              <a:rPr lang="en-US" dirty="0"/>
              <a:t>Group 5 – Friday 1030hrs-1230hrs</a:t>
            </a:r>
            <a:endParaRPr lang="en-GB" dirty="0"/>
          </a:p>
        </p:txBody>
      </p:sp>
    </p:spTree>
    <p:extLst>
      <p:ext uri="{BB962C8B-B14F-4D97-AF65-F5344CB8AC3E}">
        <p14:creationId xmlns:p14="http://schemas.microsoft.com/office/powerpoint/2010/main" val="537344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4E8D6-4FFC-4797-BAF6-85F4A9750862}"/>
              </a:ext>
            </a:extLst>
          </p:cNvPr>
          <p:cNvSpPr>
            <a:spLocks noGrp="1"/>
          </p:cNvSpPr>
          <p:nvPr>
            <p:ph type="title"/>
          </p:nvPr>
        </p:nvSpPr>
        <p:spPr/>
        <p:txBody>
          <a:bodyPr/>
          <a:lstStyle/>
          <a:p>
            <a:r>
              <a:rPr lang="en-US"/>
              <a:t>Assessments</a:t>
            </a:r>
            <a:endParaRPr lang="en-GB" dirty="0"/>
          </a:p>
        </p:txBody>
      </p:sp>
      <p:graphicFrame>
        <p:nvGraphicFramePr>
          <p:cNvPr id="12" name="Content Placeholder 11">
            <a:extLst>
              <a:ext uri="{FF2B5EF4-FFF2-40B4-BE49-F238E27FC236}">
                <a16:creationId xmlns:a16="http://schemas.microsoft.com/office/drawing/2014/main" id="{02C4526F-5199-1257-1E92-77482E3E7DCE}"/>
              </a:ext>
            </a:extLst>
          </p:cNvPr>
          <p:cNvGraphicFramePr>
            <a:graphicFrameLocks noGrp="1"/>
          </p:cNvGraphicFramePr>
          <p:nvPr>
            <p:ph idx="1"/>
            <p:extLst>
              <p:ext uri="{D42A27DB-BD31-4B8C-83A1-F6EECF244321}">
                <p14:modId xmlns:p14="http://schemas.microsoft.com/office/powerpoint/2010/main" val="1197202135"/>
              </p:ext>
            </p:extLst>
          </p:nvPr>
        </p:nvGraphicFramePr>
        <p:xfrm>
          <a:off x="609600" y="1600200"/>
          <a:ext cx="10972800" cy="4194662"/>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130522357"/>
                    </a:ext>
                  </a:extLst>
                </a:gridCol>
                <a:gridCol w="2743200">
                  <a:extLst>
                    <a:ext uri="{9D8B030D-6E8A-4147-A177-3AD203B41FA5}">
                      <a16:colId xmlns:a16="http://schemas.microsoft.com/office/drawing/2014/main" val="1616087588"/>
                    </a:ext>
                  </a:extLst>
                </a:gridCol>
                <a:gridCol w="2743200">
                  <a:extLst>
                    <a:ext uri="{9D8B030D-6E8A-4147-A177-3AD203B41FA5}">
                      <a16:colId xmlns:a16="http://schemas.microsoft.com/office/drawing/2014/main" val="1020615271"/>
                    </a:ext>
                  </a:extLst>
                </a:gridCol>
                <a:gridCol w="2743200">
                  <a:extLst>
                    <a:ext uri="{9D8B030D-6E8A-4147-A177-3AD203B41FA5}">
                      <a16:colId xmlns:a16="http://schemas.microsoft.com/office/drawing/2014/main" val="1881611827"/>
                    </a:ext>
                  </a:extLst>
                </a:gridCol>
              </a:tblGrid>
              <a:tr h="628502">
                <a:tc>
                  <a:txBody>
                    <a:bodyPr/>
                    <a:lstStyle/>
                    <a:p>
                      <a:r>
                        <a:rPr lang="en-GB" dirty="0" err="1"/>
                        <a:t>Assesment</a:t>
                      </a:r>
                      <a:endParaRPr lang="en-GB" dirty="0"/>
                    </a:p>
                  </a:txBody>
                  <a:tcPr/>
                </a:tc>
                <a:tc>
                  <a:txBody>
                    <a:bodyPr/>
                    <a:lstStyle/>
                    <a:p>
                      <a:r>
                        <a:rPr lang="en-GB" dirty="0"/>
                        <a:t>Weight</a:t>
                      </a:r>
                    </a:p>
                  </a:txBody>
                  <a:tcPr/>
                </a:tc>
                <a:tc>
                  <a:txBody>
                    <a:bodyPr/>
                    <a:lstStyle/>
                    <a:p>
                      <a:r>
                        <a:rPr lang="en-GB" dirty="0"/>
                        <a:t>Date</a:t>
                      </a:r>
                    </a:p>
                  </a:txBody>
                  <a:tcPr/>
                </a:tc>
                <a:tc>
                  <a:txBody>
                    <a:bodyPr/>
                    <a:lstStyle/>
                    <a:p>
                      <a:r>
                        <a:rPr lang="en-GB" dirty="0"/>
                        <a:t>Venue</a:t>
                      </a:r>
                    </a:p>
                  </a:txBody>
                  <a:tcPr/>
                </a:tc>
                <a:extLst>
                  <a:ext uri="{0D108BD9-81ED-4DB2-BD59-A6C34878D82A}">
                    <a16:rowId xmlns:a16="http://schemas.microsoft.com/office/drawing/2014/main" val="1414676915"/>
                  </a:ext>
                </a:extLst>
              </a:tr>
              <a:tr h="370840">
                <a:tc>
                  <a:txBody>
                    <a:bodyPr/>
                    <a:lstStyle/>
                    <a:p>
                      <a:r>
                        <a:rPr lang="en-GB" dirty="0"/>
                        <a:t>Quiz 1</a:t>
                      </a:r>
                    </a:p>
                  </a:txBody>
                  <a:tcPr/>
                </a:tc>
                <a:tc>
                  <a:txBody>
                    <a:bodyPr/>
                    <a:lstStyle/>
                    <a:p>
                      <a:r>
                        <a:rPr lang="en-GB" dirty="0"/>
                        <a:t>10%</a:t>
                      </a:r>
                    </a:p>
                  </a:txBody>
                  <a:tcPr/>
                </a:tc>
                <a:tc>
                  <a:txBody>
                    <a:bodyPr/>
                    <a:lstStyle/>
                    <a:p>
                      <a:r>
                        <a:rPr lang="en-GB" dirty="0"/>
                        <a:t>13</a:t>
                      </a:r>
                      <a:r>
                        <a:rPr lang="en-GB" baseline="30000" dirty="0"/>
                        <a:t>-</a:t>
                      </a:r>
                      <a:r>
                        <a:rPr lang="en-GB" dirty="0"/>
                        <a:t> 14</a:t>
                      </a:r>
                      <a:r>
                        <a:rPr lang="en-GB" baseline="30000" dirty="0"/>
                        <a:t>th</a:t>
                      </a:r>
                      <a:r>
                        <a:rPr lang="en-GB" dirty="0"/>
                        <a:t>  March 2025</a:t>
                      </a:r>
                    </a:p>
                  </a:txBody>
                  <a:tcPr/>
                </a:tc>
                <a:tc>
                  <a:txBody>
                    <a:bodyPr/>
                    <a:lstStyle/>
                    <a:p>
                      <a:r>
                        <a:rPr lang="en-GB" dirty="0"/>
                        <a:t>E-</a:t>
                      </a:r>
                      <a:r>
                        <a:rPr lang="en-GB" dirty="0" err="1"/>
                        <a:t>Nust</a:t>
                      </a:r>
                      <a:r>
                        <a:rPr lang="en-GB" dirty="0"/>
                        <a:t> (Online)</a:t>
                      </a:r>
                    </a:p>
                  </a:txBody>
                  <a:tcPr/>
                </a:tc>
                <a:extLst>
                  <a:ext uri="{0D108BD9-81ED-4DB2-BD59-A6C34878D82A}">
                    <a16:rowId xmlns:a16="http://schemas.microsoft.com/office/drawing/2014/main" val="3198416979"/>
                  </a:ext>
                </a:extLst>
              </a:tr>
              <a:tr h="370840">
                <a:tc>
                  <a:txBody>
                    <a:bodyPr/>
                    <a:lstStyle/>
                    <a:p>
                      <a:r>
                        <a:rPr lang="en-GB" dirty="0"/>
                        <a:t>Quiz 2</a:t>
                      </a:r>
                    </a:p>
                  </a:txBody>
                  <a:tcPr/>
                </a:tc>
                <a:tc>
                  <a:txBody>
                    <a:bodyPr/>
                    <a:lstStyle/>
                    <a:p>
                      <a:r>
                        <a:rPr lang="en-GB" dirty="0"/>
                        <a:t>10%</a:t>
                      </a:r>
                    </a:p>
                  </a:txBody>
                  <a:tcPr/>
                </a:tc>
                <a:tc>
                  <a:txBody>
                    <a:bodyPr/>
                    <a:lstStyle/>
                    <a:p>
                      <a:r>
                        <a:rPr lang="en-GB" dirty="0"/>
                        <a:t>27-28</a:t>
                      </a:r>
                      <a:r>
                        <a:rPr lang="en-GB" baseline="30000" dirty="0"/>
                        <a:t>th</a:t>
                      </a:r>
                      <a:r>
                        <a:rPr lang="en-GB" dirty="0"/>
                        <a:t>  March 2025</a:t>
                      </a:r>
                    </a:p>
                  </a:txBody>
                  <a:tcPr/>
                </a:tc>
                <a:tc>
                  <a:txBody>
                    <a:bodyPr/>
                    <a:lstStyle/>
                    <a:p>
                      <a:r>
                        <a:rPr lang="en-GB" dirty="0"/>
                        <a:t>E-</a:t>
                      </a:r>
                      <a:r>
                        <a:rPr lang="en-GB" dirty="0" err="1"/>
                        <a:t>Nust</a:t>
                      </a:r>
                      <a:r>
                        <a:rPr lang="en-GB" dirty="0"/>
                        <a:t> (Online)</a:t>
                      </a:r>
                    </a:p>
                  </a:txBody>
                  <a:tcPr/>
                </a:tc>
                <a:extLst>
                  <a:ext uri="{0D108BD9-81ED-4DB2-BD59-A6C34878D82A}">
                    <a16:rowId xmlns:a16="http://schemas.microsoft.com/office/drawing/2014/main" val="137028506"/>
                  </a:ext>
                </a:extLst>
              </a:tr>
              <a:tr h="370840">
                <a:tc>
                  <a:txBody>
                    <a:bodyPr/>
                    <a:lstStyle/>
                    <a:p>
                      <a:r>
                        <a:rPr lang="en-GB" dirty="0"/>
                        <a:t>Quiz 3</a:t>
                      </a:r>
                    </a:p>
                  </a:txBody>
                  <a:tcPr/>
                </a:tc>
                <a:tc>
                  <a:txBody>
                    <a:bodyPr/>
                    <a:lstStyle/>
                    <a:p>
                      <a:r>
                        <a:rPr lang="en-GB" dirty="0"/>
                        <a:t>10%</a:t>
                      </a:r>
                    </a:p>
                  </a:txBody>
                  <a:tcPr/>
                </a:tc>
                <a:tc>
                  <a:txBody>
                    <a:bodyPr/>
                    <a:lstStyle/>
                    <a:p>
                      <a:r>
                        <a:rPr lang="en-GB" dirty="0"/>
                        <a:t>8-9</a:t>
                      </a:r>
                      <a:r>
                        <a:rPr lang="en-GB" baseline="30000" dirty="0"/>
                        <a:t>th</a:t>
                      </a:r>
                      <a:r>
                        <a:rPr lang="en-GB" dirty="0"/>
                        <a:t>  May 2025</a:t>
                      </a:r>
                    </a:p>
                  </a:txBody>
                  <a:tcPr/>
                </a:tc>
                <a:tc>
                  <a:txBody>
                    <a:bodyPr/>
                    <a:lstStyle/>
                    <a:p>
                      <a:r>
                        <a:rPr lang="en-GB" dirty="0"/>
                        <a:t>E-</a:t>
                      </a:r>
                      <a:r>
                        <a:rPr lang="en-GB" dirty="0" err="1"/>
                        <a:t>Nust</a:t>
                      </a:r>
                      <a:r>
                        <a:rPr lang="en-GB" dirty="0"/>
                        <a:t> (Online)</a:t>
                      </a:r>
                    </a:p>
                  </a:txBody>
                  <a:tcPr/>
                </a:tc>
                <a:extLst>
                  <a:ext uri="{0D108BD9-81ED-4DB2-BD59-A6C34878D82A}">
                    <a16:rowId xmlns:a16="http://schemas.microsoft.com/office/drawing/2014/main" val="3641864319"/>
                  </a:ext>
                </a:extLst>
              </a:tr>
              <a:tr h="370840">
                <a:tc>
                  <a:txBody>
                    <a:bodyPr/>
                    <a:lstStyle/>
                    <a:p>
                      <a:r>
                        <a:rPr lang="en-GB" dirty="0"/>
                        <a:t>Lab X</a:t>
                      </a:r>
                    </a:p>
                  </a:txBody>
                  <a:tcPr/>
                </a:tc>
                <a:tc>
                  <a:txBody>
                    <a:bodyPr/>
                    <a:lstStyle/>
                    <a:p>
                      <a:r>
                        <a:rPr lang="en-GB" dirty="0"/>
                        <a:t>10%</a:t>
                      </a:r>
                    </a:p>
                  </a:txBody>
                  <a:tcPr/>
                </a:tc>
                <a:tc>
                  <a:txBody>
                    <a:bodyPr/>
                    <a:lstStyle/>
                    <a:p>
                      <a:r>
                        <a:rPr lang="en-GB" dirty="0"/>
                        <a:t>TBD</a:t>
                      </a:r>
                    </a:p>
                  </a:txBody>
                  <a:tcPr/>
                </a:tc>
                <a:tc>
                  <a:txBody>
                    <a:bodyPr/>
                    <a:lstStyle/>
                    <a:p>
                      <a:r>
                        <a:rPr lang="en-GB" dirty="0"/>
                        <a:t>E-</a:t>
                      </a:r>
                      <a:r>
                        <a:rPr lang="en-GB" dirty="0" err="1"/>
                        <a:t>Nust</a:t>
                      </a:r>
                      <a:r>
                        <a:rPr lang="en-GB" dirty="0"/>
                        <a:t> (online)</a:t>
                      </a:r>
                    </a:p>
                  </a:txBody>
                  <a:tcPr/>
                </a:tc>
                <a:extLst>
                  <a:ext uri="{0D108BD9-81ED-4DB2-BD59-A6C34878D82A}">
                    <a16:rowId xmlns:a16="http://schemas.microsoft.com/office/drawing/2014/main" val="3390203224"/>
                  </a:ext>
                </a:extLst>
              </a:tr>
              <a:tr h="370840">
                <a:tc>
                  <a:txBody>
                    <a:bodyPr/>
                    <a:lstStyle/>
                    <a:p>
                      <a:r>
                        <a:rPr lang="en-GB" dirty="0"/>
                        <a:t>Lab Y</a:t>
                      </a:r>
                    </a:p>
                  </a:txBody>
                  <a:tcPr/>
                </a:tc>
                <a:tc>
                  <a:txBody>
                    <a:bodyPr/>
                    <a:lstStyle/>
                    <a:p>
                      <a:r>
                        <a:rPr lang="en-GB" dirty="0"/>
                        <a:t>10%</a:t>
                      </a:r>
                    </a:p>
                  </a:txBody>
                  <a:tcPr/>
                </a:tc>
                <a:tc>
                  <a:txBody>
                    <a:bodyPr/>
                    <a:lstStyle/>
                    <a:p>
                      <a:r>
                        <a:rPr lang="en-GB" dirty="0"/>
                        <a:t>TBD</a:t>
                      </a:r>
                    </a:p>
                  </a:txBody>
                  <a:tcPr/>
                </a:tc>
                <a:tc>
                  <a:txBody>
                    <a:bodyPr/>
                    <a:lstStyle/>
                    <a:p>
                      <a:r>
                        <a:rPr lang="en-GB" dirty="0"/>
                        <a:t>E-</a:t>
                      </a:r>
                      <a:r>
                        <a:rPr lang="en-GB" dirty="0" err="1"/>
                        <a:t>Nust</a:t>
                      </a:r>
                      <a:r>
                        <a:rPr lang="en-GB" dirty="0"/>
                        <a:t> (Online)</a:t>
                      </a:r>
                    </a:p>
                  </a:txBody>
                  <a:tcPr/>
                </a:tc>
                <a:extLst>
                  <a:ext uri="{0D108BD9-81ED-4DB2-BD59-A6C34878D82A}">
                    <a16:rowId xmlns:a16="http://schemas.microsoft.com/office/drawing/2014/main" val="3764578172"/>
                  </a:ext>
                </a:extLst>
              </a:tr>
              <a:tr h="370840">
                <a:tc>
                  <a:txBody>
                    <a:bodyPr/>
                    <a:lstStyle/>
                    <a:p>
                      <a:r>
                        <a:rPr lang="en-GB" dirty="0"/>
                        <a:t>Test 1</a:t>
                      </a:r>
                    </a:p>
                  </a:txBody>
                  <a:tcPr/>
                </a:tc>
                <a:tc>
                  <a:txBody>
                    <a:bodyPr/>
                    <a:lstStyle/>
                    <a:p>
                      <a:r>
                        <a:rPr lang="en-GB" dirty="0"/>
                        <a:t>50%</a:t>
                      </a:r>
                    </a:p>
                  </a:txBody>
                  <a:tcPr/>
                </a:tc>
                <a:tc>
                  <a:txBody>
                    <a:bodyPr/>
                    <a:lstStyle/>
                    <a:p>
                      <a:r>
                        <a:rPr lang="en-GB" dirty="0"/>
                        <a:t>11</a:t>
                      </a:r>
                      <a:r>
                        <a:rPr lang="en-GB" baseline="30000" dirty="0"/>
                        <a:t>th</a:t>
                      </a:r>
                      <a:r>
                        <a:rPr lang="en-GB" dirty="0"/>
                        <a:t> April 2025</a:t>
                      </a:r>
                    </a:p>
                  </a:txBody>
                  <a:tcPr/>
                </a:tc>
                <a:tc>
                  <a:txBody>
                    <a:bodyPr/>
                    <a:lstStyle/>
                    <a:p>
                      <a:r>
                        <a:rPr lang="en-GB" dirty="0"/>
                        <a:t>TBD</a:t>
                      </a:r>
                    </a:p>
                  </a:txBody>
                  <a:tcPr/>
                </a:tc>
                <a:extLst>
                  <a:ext uri="{0D108BD9-81ED-4DB2-BD59-A6C34878D82A}">
                    <a16:rowId xmlns:a16="http://schemas.microsoft.com/office/drawing/2014/main" val="943078854"/>
                  </a:ext>
                </a:extLst>
              </a:tr>
              <a:tr h="370840">
                <a:tc>
                  <a:txBody>
                    <a:bodyPr/>
                    <a:lstStyle/>
                    <a:p>
                      <a:r>
                        <a:rPr lang="en-GB" dirty="0"/>
                        <a:t>Make-Up Test</a:t>
                      </a:r>
                    </a:p>
                  </a:txBody>
                  <a:tcPr/>
                </a:tc>
                <a:tc>
                  <a:txBody>
                    <a:bodyPr/>
                    <a:lstStyle/>
                    <a:p>
                      <a:endParaRPr lang="en-GB" dirty="0"/>
                    </a:p>
                  </a:txBody>
                  <a:tcPr/>
                </a:tc>
                <a:tc>
                  <a:txBody>
                    <a:bodyPr/>
                    <a:lstStyle/>
                    <a:p>
                      <a:r>
                        <a:rPr lang="en-GB" dirty="0"/>
                        <a:t>28</a:t>
                      </a:r>
                      <a:r>
                        <a:rPr lang="en-GB" baseline="30000" dirty="0"/>
                        <a:t>th</a:t>
                      </a:r>
                      <a:r>
                        <a:rPr lang="en-GB" dirty="0"/>
                        <a:t> April 2025</a:t>
                      </a:r>
                    </a:p>
                  </a:txBody>
                  <a:tcPr/>
                </a:tc>
                <a:tc>
                  <a:txBody>
                    <a:bodyPr/>
                    <a:lstStyle/>
                    <a:p>
                      <a:r>
                        <a:rPr lang="en-GB" dirty="0"/>
                        <a:t>TBD</a:t>
                      </a:r>
                    </a:p>
                  </a:txBody>
                  <a:tcPr/>
                </a:tc>
                <a:extLst>
                  <a:ext uri="{0D108BD9-81ED-4DB2-BD59-A6C34878D82A}">
                    <a16:rowId xmlns:a16="http://schemas.microsoft.com/office/drawing/2014/main" val="1539237487"/>
                  </a:ext>
                </a:extLst>
              </a:tr>
              <a:tr h="370840">
                <a:tc>
                  <a:txBody>
                    <a:bodyPr/>
                    <a:lstStyle/>
                    <a:p>
                      <a:r>
                        <a:rPr lang="en-GB" dirty="0"/>
                        <a:t>Supplementary Test</a:t>
                      </a:r>
                    </a:p>
                  </a:txBody>
                  <a:tcPr/>
                </a:tc>
                <a:tc>
                  <a:txBody>
                    <a:bodyPr/>
                    <a:lstStyle/>
                    <a:p>
                      <a:endParaRPr lang="en-GB"/>
                    </a:p>
                  </a:txBody>
                  <a:tcPr/>
                </a:tc>
                <a:tc>
                  <a:txBody>
                    <a:bodyPr/>
                    <a:lstStyle/>
                    <a:p>
                      <a:r>
                        <a:rPr lang="en-GB" dirty="0"/>
                        <a:t>2</a:t>
                      </a:r>
                      <a:r>
                        <a:rPr lang="en-GB" baseline="30000" dirty="0"/>
                        <a:t>nd</a:t>
                      </a:r>
                      <a:r>
                        <a:rPr lang="en-GB" dirty="0"/>
                        <a:t> May 2025</a:t>
                      </a:r>
                    </a:p>
                  </a:txBody>
                  <a:tcPr/>
                </a:tc>
                <a:tc>
                  <a:txBody>
                    <a:bodyPr/>
                    <a:lstStyle/>
                    <a:p>
                      <a:r>
                        <a:rPr lang="en-GB" dirty="0"/>
                        <a:t>TBD</a:t>
                      </a:r>
                    </a:p>
                  </a:txBody>
                  <a:tcPr/>
                </a:tc>
                <a:extLst>
                  <a:ext uri="{0D108BD9-81ED-4DB2-BD59-A6C34878D82A}">
                    <a16:rowId xmlns:a16="http://schemas.microsoft.com/office/drawing/2014/main" val="1757904355"/>
                  </a:ext>
                </a:extLst>
              </a:tr>
              <a:tr h="37084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dirty="0"/>
                    </a:p>
                  </a:txBody>
                  <a:tcPr/>
                </a:tc>
                <a:extLst>
                  <a:ext uri="{0D108BD9-81ED-4DB2-BD59-A6C34878D82A}">
                    <a16:rowId xmlns:a16="http://schemas.microsoft.com/office/drawing/2014/main" val="1569409743"/>
                  </a:ext>
                </a:extLst>
              </a:tr>
            </a:tbl>
          </a:graphicData>
        </a:graphic>
      </p:graphicFrame>
    </p:spTree>
    <p:extLst>
      <p:ext uri="{BB962C8B-B14F-4D97-AF65-F5344CB8AC3E}">
        <p14:creationId xmlns:p14="http://schemas.microsoft.com/office/powerpoint/2010/main" val="4100751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C863D-E036-484B-A3FF-1564A0756C9C}"/>
              </a:ext>
            </a:extLst>
          </p:cNvPr>
          <p:cNvSpPr>
            <a:spLocks noGrp="1"/>
          </p:cNvSpPr>
          <p:nvPr>
            <p:ph type="title"/>
          </p:nvPr>
        </p:nvSpPr>
        <p:spPr/>
        <p:txBody>
          <a:bodyPr/>
          <a:lstStyle/>
          <a:p>
            <a:r>
              <a:rPr lang="en-US" dirty="0"/>
              <a:t>Recommended texts</a:t>
            </a:r>
            <a:endParaRPr lang="en-GB" dirty="0"/>
          </a:p>
        </p:txBody>
      </p:sp>
      <p:sp>
        <p:nvSpPr>
          <p:cNvPr id="3" name="Content Placeholder 2">
            <a:extLst>
              <a:ext uri="{FF2B5EF4-FFF2-40B4-BE49-F238E27FC236}">
                <a16:creationId xmlns:a16="http://schemas.microsoft.com/office/drawing/2014/main" id="{18FC8B7B-3331-46A3-8710-2AE90413FA61}"/>
              </a:ext>
            </a:extLst>
          </p:cNvPr>
          <p:cNvSpPr>
            <a:spLocks noGrp="1"/>
          </p:cNvSpPr>
          <p:nvPr>
            <p:ph idx="1"/>
          </p:nvPr>
        </p:nvSpPr>
        <p:spPr/>
        <p:txBody>
          <a:bodyPr/>
          <a:lstStyle/>
          <a:p>
            <a:pPr marL="0" indent="0">
              <a:buNone/>
            </a:pPr>
            <a:r>
              <a:rPr lang="en-GB" sz="1800" dirty="0">
                <a:solidFill>
                  <a:srgbClr val="000000"/>
                </a:solidFill>
                <a:effectLst/>
                <a:latin typeface="Times New Roman" panose="02020603050405020304" pitchFamily="18" charset="0"/>
                <a:ea typeface="Times New Roman" panose="02020603050405020304" pitchFamily="18" charset="0"/>
              </a:rPr>
              <a:t> </a:t>
            </a:r>
          </a:p>
          <a:p>
            <a:pPr marL="0" indent="0">
              <a:buNone/>
            </a:pPr>
            <a:r>
              <a:rPr lang="en-GB" sz="1800" dirty="0">
                <a:solidFill>
                  <a:srgbClr val="000000"/>
                </a:solidFill>
                <a:effectLst/>
                <a:latin typeface="Times New Roman" panose="02020603050405020304" pitchFamily="18" charset="0"/>
                <a:ea typeface="Times New Roman" panose="02020603050405020304" pitchFamily="18" charset="0"/>
              </a:rPr>
              <a:t>Kroenke, D. M. &amp; Auer, D. (2018). Database concepts (8th ed.), Pearson </a:t>
            </a:r>
          </a:p>
          <a:p>
            <a:pPr marL="114167" marR="343535" indent="0" algn="just">
              <a:lnSpc>
                <a:spcPct val="104000"/>
              </a:lnSpc>
              <a:spcAft>
                <a:spcPts val="1160"/>
              </a:spcAft>
              <a:buNone/>
            </a:pPr>
            <a:endParaRPr lang="en-GB" sz="1800" dirty="0">
              <a:solidFill>
                <a:srgbClr val="000000"/>
              </a:solidFill>
              <a:latin typeface="Times New Roman" panose="02020603050405020304" pitchFamily="18" charset="0"/>
              <a:ea typeface="Times New Roman" panose="02020603050405020304" pitchFamily="18" charset="0"/>
            </a:endParaRPr>
          </a:p>
          <a:p>
            <a:pPr marL="114167" marR="343535" indent="0" algn="just">
              <a:lnSpc>
                <a:spcPct val="104000"/>
              </a:lnSpc>
              <a:spcAft>
                <a:spcPts val="1160"/>
              </a:spcAft>
              <a:buNone/>
            </a:pPr>
            <a:r>
              <a:rPr lang="en-GB" sz="1800" dirty="0">
                <a:solidFill>
                  <a:srgbClr val="000000"/>
                </a:solidFill>
                <a:effectLst/>
                <a:latin typeface="Times New Roman" panose="02020603050405020304" pitchFamily="18" charset="0"/>
                <a:ea typeface="Times New Roman" panose="02020603050405020304" pitchFamily="18" charset="0"/>
              </a:rPr>
              <a:t>Connolly, T. M. &amp; </a:t>
            </a:r>
            <a:r>
              <a:rPr lang="en-GB" sz="1800" dirty="0" err="1">
                <a:solidFill>
                  <a:srgbClr val="000000"/>
                </a:solidFill>
                <a:effectLst/>
                <a:latin typeface="Times New Roman" panose="02020603050405020304" pitchFamily="18" charset="0"/>
                <a:ea typeface="Times New Roman" panose="02020603050405020304" pitchFamily="18" charset="0"/>
              </a:rPr>
              <a:t>Begg</a:t>
            </a:r>
            <a:r>
              <a:rPr lang="en-GB" sz="1800" dirty="0">
                <a:solidFill>
                  <a:srgbClr val="000000"/>
                </a:solidFill>
                <a:effectLst/>
                <a:latin typeface="Times New Roman" panose="02020603050405020304" pitchFamily="18" charset="0"/>
                <a:ea typeface="Times New Roman" panose="02020603050405020304" pitchFamily="18" charset="0"/>
              </a:rPr>
              <a:t>, C. E. (2009). Database systems: A practical approach to design, implementation and management (5th ed.), Addison Wesley </a:t>
            </a:r>
          </a:p>
          <a:p>
            <a:pPr marL="114167" marR="23495" indent="0" algn="just">
              <a:lnSpc>
                <a:spcPct val="104000"/>
              </a:lnSpc>
              <a:spcAft>
                <a:spcPts val="880"/>
              </a:spcAft>
              <a:buNone/>
            </a:pPr>
            <a:r>
              <a:rPr lang="en-GB" sz="1800" dirty="0" err="1">
                <a:solidFill>
                  <a:srgbClr val="000000"/>
                </a:solidFill>
                <a:effectLst/>
                <a:latin typeface="Times New Roman" panose="02020603050405020304" pitchFamily="18" charset="0"/>
                <a:ea typeface="Times New Roman" panose="02020603050405020304" pitchFamily="18" charset="0"/>
              </a:rPr>
              <a:t>Kifer</a:t>
            </a:r>
            <a:r>
              <a:rPr lang="en-GB" sz="1800" dirty="0">
                <a:solidFill>
                  <a:srgbClr val="000000"/>
                </a:solidFill>
                <a:effectLst/>
                <a:latin typeface="Times New Roman" panose="02020603050405020304" pitchFamily="18" charset="0"/>
                <a:ea typeface="Times New Roman" panose="02020603050405020304" pitchFamily="18" charset="0"/>
              </a:rPr>
              <a:t>, M., Bernstein, A. &amp; Lewis, P. M. (2006). Database systems: An application - oriented approach (2nd ed.), Pearson Int'l </a:t>
            </a:r>
          </a:p>
          <a:p>
            <a:pPr marL="114167" marR="201295" indent="0" algn="just">
              <a:lnSpc>
                <a:spcPct val="104000"/>
              </a:lnSpc>
              <a:spcAft>
                <a:spcPts val="975"/>
              </a:spcAft>
              <a:buNone/>
            </a:pPr>
            <a:r>
              <a:rPr lang="en-GB" sz="1800" dirty="0" err="1">
                <a:solidFill>
                  <a:srgbClr val="000000"/>
                </a:solidFill>
                <a:effectLst/>
                <a:latin typeface="Times New Roman" panose="02020603050405020304" pitchFamily="18" charset="0"/>
                <a:ea typeface="Times New Roman" panose="02020603050405020304" pitchFamily="18" charset="0"/>
              </a:rPr>
              <a:t>Teorey</a:t>
            </a:r>
            <a:r>
              <a:rPr lang="en-GB" sz="1800" dirty="0">
                <a:solidFill>
                  <a:srgbClr val="000000"/>
                </a:solidFill>
                <a:effectLst/>
                <a:latin typeface="Times New Roman" panose="02020603050405020304" pitchFamily="18" charset="0"/>
                <a:ea typeface="Times New Roman" panose="02020603050405020304" pitchFamily="18" charset="0"/>
              </a:rPr>
              <a:t>, T. J. (2005). Database modelling and design: Logical design (4thed.), The Morgan Kaufmann Series in Data Management Systems </a:t>
            </a:r>
          </a:p>
          <a:p>
            <a:endParaRPr lang="en-GB" dirty="0"/>
          </a:p>
        </p:txBody>
      </p:sp>
    </p:spTree>
    <p:extLst>
      <p:ext uri="{BB962C8B-B14F-4D97-AF65-F5344CB8AC3E}">
        <p14:creationId xmlns:p14="http://schemas.microsoft.com/office/powerpoint/2010/main" val="3520443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FFE75-302D-43EC-85A0-E0D34104357A}"/>
              </a:ext>
            </a:extLst>
          </p:cNvPr>
          <p:cNvSpPr>
            <a:spLocks noGrp="1"/>
          </p:cNvSpPr>
          <p:nvPr>
            <p:ph type="title"/>
          </p:nvPr>
        </p:nvSpPr>
        <p:spPr/>
        <p:txBody>
          <a:bodyPr/>
          <a:lstStyle/>
          <a:p>
            <a:r>
              <a:rPr lang="en-US" dirty="0"/>
              <a:t>Next Lecture (Theory)</a:t>
            </a:r>
            <a:endParaRPr lang="en-GB" dirty="0"/>
          </a:p>
        </p:txBody>
      </p:sp>
      <p:sp>
        <p:nvSpPr>
          <p:cNvPr id="3" name="Content Placeholder 2">
            <a:extLst>
              <a:ext uri="{FF2B5EF4-FFF2-40B4-BE49-F238E27FC236}">
                <a16:creationId xmlns:a16="http://schemas.microsoft.com/office/drawing/2014/main" id="{8EF11202-74DD-4821-9899-C365D6FED026}"/>
              </a:ext>
            </a:extLst>
          </p:cNvPr>
          <p:cNvSpPr>
            <a:spLocks noGrp="1"/>
          </p:cNvSpPr>
          <p:nvPr>
            <p:ph idx="1"/>
          </p:nvPr>
        </p:nvSpPr>
        <p:spPr/>
        <p:txBody>
          <a:bodyPr/>
          <a:lstStyle/>
          <a:p>
            <a:pPr>
              <a:lnSpc>
                <a:spcPct val="150000"/>
              </a:lnSpc>
            </a:pPr>
            <a:r>
              <a:rPr lang="en-US" dirty="0"/>
              <a:t>Database and database users</a:t>
            </a:r>
          </a:p>
          <a:p>
            <a:pPr>
              <a:lnSpc>
                <a:spcPct val="150000"/>
              </a:lnSpc>
            </a:pPr>
            <a:r>
              <a:rPr lang="en-US" dirty="0"/>
              <a:t>History of database applications</a:t>
            </a:r>
          </a:p>
          <a:p>
            <a:pPr>
              <a:lnSpc>
                <a:spcPct val="150000"/>
              </a:lnSpc>
            </a:pPr>
            <a:r>
              <a:rPr lang="en-US" dirty="0"/>
              <a:t>Characteristics of database approach</a:t>
            </a:r>
          </a:p>
          <a:p>
            <a:pPr>
              <a:lnSpc>
                <a:spcPct val="150000"/>
              </a:lnSpc>
            </a:pPr>
            <a:r>
              <a:rPr lang="en-US" dirty="0"/>
              <a:t>An example database</a:t>
            </a:r>
            <a:endParaRPr lang="en-GB" dirty="0"/>
          </a:p>
        </p:txBody>
      </p:sp>
    </p:spTree>
    <p:extLst>
      <p:ext uri="{BB962C8B-B14F-4D97-AF65-F5344CB8AC3E}">
        <p14:creationId xmlns:p14="http://schemas.microsoft.com/office/powerpoint/2010/main" val="973303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D21C1-B613-4C0B-A9CC-330D07ED691B}"/>
              </a:ext>
            </a:extLst>
          </p:cNvPr>
          <p:cNvSpPr>
            <a:spLocks noGrp="1"/>
          </p:cNvSpPr>
          <p:nvPr>
            <p:ph type="title"/>
          </p:nvPr>
        </p:nvSpPr>
        <p:spPr/>
        <p:txBody>
          <a:bodyPr/>
          <a:lstStyle/>
          <a:p>
            <a:r>
              <a:rPr lang="en-US" dirty="0"/>
              <a:t>Questions </a:t>
            </a:r>
            <a:endParaRPr lang="en-GB" dirty="0"/>
          </a:p>
        </p:txBody>
      </p:sp>
      <p:sp>
        <p:nvSpPr>
          <p:cNvPr id="3" name="Content Placeholder 2">
            <a:extLst>
              <a:ext uri="{FF2B5EF4-FFF2-40B4-BE49-F238E27FC236}">
                <a16:creationId xmlns:a16="http://schemas.microsoft.com/office/drawing/2014/main" id="{4489926A-D8D9-4028-91CB-D53FFAA2291F}"/>
              </a:ext>
            </a:extLst>
          </p:cNvPr>
          <p:cNvSpPr>
            <a:spLocks noGrp="1"/>
          </p:cNvSpPr>
          <p:nvPr>
            <p:ph idx="1"/>
          </p:nvPr>
        </p:nvSpPr>
        <p:spPr/>
        <p:txBody>
          <a:bodyPr>
            <a:normAutofit/>
          </a:bodyPr>
          <a:lstStyle/>
          <a:p>
            <a:r>
              <a:rPr lang="en-US" dirty="0"/>
              <a:t>Questions may be communicated on MS Teams, e-learning, email if it is outside classroom times</a:t>
            </a:r>
          </a:p>
          <a:p>
            <a:r>
              <a:rPr lang="en-US" dirty="0"/>
              <a:t>Do not expect prompt responses, lecturers may be busy with other tasks</a:t>
            </a:r>
          </a:p>
          <a:p>
            <a:r>
              <a:rPr lang="en-US" dirty="0"/>
              <a:t>Let us respect time and communicate at appropriate times (e.g. no night calls </a:t>
            </a:r>
            <a:r>
              <a:rPr lang="en-US" dirty="0" err="1"/>
              <a:t>etc</a:t>
            </a:r>
            <a:r>
              <a:rPr lang="en-US" dirty="0"/>
              <a:t>)</a:t>
            </a:r>
          </a:p>
        </p:txBody>
      </p:sp>
    </p:spTree>
    <p:extLst>
      <p:ext uri="{BB962C8B-B14F-4D97-AF65-F5344CB8AC3E}">
        <p14:creationId xmlns:p14="http://schemas.microsoft.com/office/powerpoint/2010/main" val="3765245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D91DD-7B27-BCE1-A530-9DC982A0FEE0}"/>
              </a:ext>
            </a:extLst>
          </p:cNvPr>
          <p:cNvSpPr>
            <a:spLocks noGrp="1"/>
          </p:cNvSpPr>
          <p:nvPr>
            <p:ph type="title"/>
          </p:nvPr>
        </p:nvSpPr>
        <p:spPr/>
        <p:txBody>
          <a:bodyPr/>
          <a:lstStyle/>
          <a:p>
            <a:r>
              <a:rPr lang="en-US" dirty="0"/>
              <a:t>Course Resources</a:t>
            </a:r>
            <a:endParaRPr lang="en-NA" dirty="0"/>
          </a:p>
        </p:txBody>
      </p:sp>
      <p:sp>
        <p:nvSpPr>
          <p:cNvPr id="3" name="Content Placeholder 2">
            <a:extLst>
              <a:ext uri="{FF2B5EF4-FFF2-40B4-BE49-F238E27FC236}">
                <a16:creationId xmlns:a16="http://schemas.microsoft.com/office/drawing/2014/main" id="{E119D622-95AF-C2CF-E4A3-373ACB055CF6}"/>
              </a:ext>
            </a:extLst>
          </p:cNvPr>
          <p:cNvSpPr>
            <a:spLocks noGrp="1"/>
          </p:cNvSpPr>
          <p:nvPr>
            <p:ph idx="1"/>
          </p:nvPr>
        </p:nvSpPr>
        <p:spPr/>
        <p:txBody>
          <a:bodyPr/>
          <a:lstStyle/>
          <a:p>
            <a:pPr marL="457200" algn="just">
              <a:lnSpc>
                <a:spcPct val="104000"/>
              </a:lnSpc>
              <a:spcBef>
                <a:spcPts val="600"/>
              </a:spcBef>
              <a:spcAft>
                <a:spcPts val="600"/>
              </a:spcAft>
            </a:pPr>
            <a:r>
              <a:rPr lang="en-GB" sz="2000"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There are several facilities that students can use as a course resource at NUST and at home.</a:t>
            </a:r>
            <a:r>
              <a:rPr lang="en-GB" sz="2000" b="1" dirty="0">
                <a:solidFill>
                  <a:srgbClr val="000000"/>
                </a:solidFill>
                <a:effectLst/>
                <a:latin typeface="Times New Roman" panose="02020603050405020304" pitchFamily="18" charset="0"/>
                <a:ea typeface="Times New Roman" panose="02020603050405020304" pitchFamily="18" charset="0"/>
                <a:cs typeface="Calibri" panose="020F0502020204030204" pitchFamily="34" charset="0"/>
              </a:rPr>
              <a:t> </a:t>
            </a:r>
            <a:endParaRPr lang="en-NA" sz="20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04000"/>
              </a:lnSpc>
              <a:spcBef>
                <a:spcPts val="600"/>
              </a:spcBef>
              <a:spcAft>
                <a:spcPts val="600"/>
              </a:spcAft>
              <a:buFont typeface="+mj-lt"/>
              <a:buAutoNum type="alphaLcParenR"/>
            </a:pPr>
            <a:r>
              <a:rPr lang="en-GB" sz="2000" b="1" dirty="0">
                <a:solidFill>
                  <a:srgbClr val="000000"/>
                </a:solidFill>
                <a:effectLst/>
                <a:latin typeface="Calibri" panose="020F0502020204030204" pitchFamily="34" charset="0"/>
                <a:ea typeface="Times New Roman" panose="02020603050405020304" pitchFamily="18" charset="0"/>
              </a:rPr>
              <a:t>NUST Level: </a:t>
            </a:r>
            <a:r>
              <a:rPr lang="en-GB" sz="2000" dirty="0">
                <a:solidFill>
                  <a:srgbClr val="000000"/>
                </a:solidFill>
                <a:effectLst/>
                <a:latin typeface="Calibri" panose="020F0502020204030204" pitchFamily="34" charset="0"/>
                <a:ea typeface="Calibri" panose="020F0502020204030204" pitchFamily="34" charset="0"/>
              </a:rPr>
              <a:t>The main library, Department of Student Services, Writing centre and student academic problems - Teaching &amp; Learning Unit (TLU), Campus Health and Wellness Centre (CHWC) - NUST Clinic, Early alert staff.</a:t>
            </a:r>
            <a:endParaRPr lang="en-NA" sz="20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04000"/>
              </a:lnSpc>
              <a:spcBef>
                <a:spcPts val="600"/>
              </a:spcBef>
              <a:spcAft>
                <a:spcPts val="600"/>
              </a:spcAft>
              <a:buFont typeface="+mj-lt"/>
              <a:buAutoNum type="alphaLcParenR"/>
            </a:pPr>
            <a:r>
              <a:rPr lang="en-GB" sz="2000" b="1" dirty="0">
                <a:solidFill>
                  <a:srgbClr val="000000"/>
                </a:solidFill>
                <a:effectLst/>
                <a:latin typeface="Calibri" panose="020F0502020204030204" pitchFamily="34" charset="0"/>
                <a:ea typeface="Times New Roman" panose="02020603050405020304" pitchFamily="18" charset="0"/>
              </a:rPr>
              <a:t>Faculty Level: </a:t>
            </a:r>
            <a:r>
              <a:rPr lang="en-GB" sz="2000" dirty="0">
                <a:solidFill>
                  <a:srgbClr val="000000"/>
                </a:solidFill>
                <a:effectLst/>
                <a:latin typeface="Calibri" panose="020F0502020204030204" pitchFamily="34" charset="0"/>
                <a:ea typeface="Calibri" panose="020F0502020204030204" pitchFamily="34" charset="0"/>
              </a:rPr>
              <a:t>Faculty-based induction, learning support units, and tutor systems, computer laboratories. Lecturers are available for consultation and the hours are shown on their doors. Emails can be sent to the lecturers as well.</a:t>
            </a:r>
            <a:endParaRPr lang="en-NA" sz="2000" dirty="0">
              <a:solidFill>
                <a:srgbClr val="000000"/>
              </a:solidFill>
              <a:effectLst/>
              <a:latin typeface="Times New Roman" panose="02020603050405020304" pitchFamily="18" charset="0"/>
              <a:ea typeface="Times New Roman" panose="02020603050405020304" pitchFamily="18" charset="0"/>
            </a:endParaRPr>
          </a:p>
          <a:p>
            <a:pPr marL="342900" lvl="0" indent="-342900" algn="just">
              <a:lnSpc>
                <a:spcPct val="104000"/>
              </a:lnSpc>
              <a:spcBef>
                <a:spcPts val="600"/>
              </a:spcBef>
              <a:spcAft>
                <a:spcPts val="600"/>
              </a:spcAft>
              <a:buFont typeface="+mj-lt"/>
              <a:buAutoNum type="alphaLcParenR"/>
            </a:pPr>
            <a:r>
              <a:rPr lang="en-GB" sz="2000" b="1" dirty="0">
                <a:solidFill>
                  <a:srgbClr val="000000"/>
                </a:solidFill>
                <a:effectLst/>
                <a:latin typeface="Calibri" panose="020F0502020204030204" pitchFamily="34" charset="0"/>
                <a:ea typeface="Times New Roman" panose="02020603050405020304" pitchFamily="18" charset="0"/>
              </a:rPr>
              <a:t>Course Level: </a:t>
            </a:r>
            <a:r>
              <a:rPr lang="en-GB" sz="2000" dirty="0">
                <a:solidFill>
                  <a:srgbClr val="000000"/>
                </a:solidFill>
                <a:effectLst/>
                <a:latin typeface="Calibri" panose="020F0502020204030204" pitchFamily="34" charset="0"/>
                <a:ea typeface="Calibri" panose="020F0502020204030204" pitchFamily="34" charset="0"/>
              </a:rPr>
              <a:t>Course Outline; Electronic learning resources in the course folder on E-learning. Make use of the </a:t>
            </a:r>
            <a:r>
              <a:rPr lang="en-GB" sz="2000" dirty="0" err="1">
                <a:solidFill>
                  <a:srgbClr val="000000"/>
                </a:solidFill>
                <a:effectLst/>
                <a:latin typeface="Calibri" panose="020F0502020204030204" pitchFamily="34" charset="0"/>
                <a:ea typeface="Calibri" panose="020F0502020204030204" pitchFamily="34" charset="0"/>
              </a:rPr>
              <a:t>MyNUST</a:t>
            </a:r>
            <a:r>
              <a:rPr lang="en-GB" sz="2000" dirty="0">
                <a:solidFill>
                  <a:srgbClr val="000000"/>
                </a:solidFill>
                <a:effectLst/>
                <a:latin typeface="Calibri" panose="020F0502020204030204" pitchFamily="34" charset="0"/>
                <a:ea typeface="Calibri" panose="020F0502020204030204" pitchFamily="34" charset="0"/>
              </a:rPr>
              <a:t> eLearning platform as the learning management application.</a:t>
            </a:r>
            <a:endParaRPr lang="en-NA" sz="2000" dirty="0">
              <a:solidFill>
                <a:srgbClr val="000000"/>
              </a:solidFill>
              <a:effectLst/>
              <a:latin typeface="Times New Roman" panose="02020603050405020304" pitchFamily="18" charset="0"/>
              <a:ea typeface="Times New Roman" panose="02020603050405020304" pitchFamily="18" charset="0"/>
            </a:endParaRPr>
          </a:p>
          <a:p>
            <a:pPr marL="0" indent="0">
              <a:buNone/>
            </a:pPr>
            <a:endParaRPr lang="en-NA" dirty="0"/>
          </a:p>
        </p:txBody>
      </p:sp>
    </p:spTree>
    <p:extLst>
      <p:ext uri="{BB962C8B-B14F-4D97-AF65-F5344CB8AC3E}">
        <p14:creationId xmlns:p14="http://schemas.microsoft.com/office/powerpoint/2010/main" val="1504598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C802-4AF3-C5DC-F1DD-B66F8541BB5A}"/>
              </a:ext>
            </a:extLst>
          </p:cNvPr>
          <p:cNvSpPr>
            <a:spLocks noGrp="1"/>
          </p:cNvSpPr>
          <p:nvPr>
            <p:ph type="title"/>
          </p:nvPr>
        </p:nvSpPr>
        <p:spPr/>
        <p:txBody>
          <a:bodyPr/>
          <a:lstStyle/>
          <a:p>
            <a:r>
              <a:rPr lang="en-GB" sz="5400" dirty="0">
                <a:solidFill>
                  <a:srgbClr val="000000"/>
                </a:solidFill>
                <a:effectLst/>
                <a:latin typeface="Calibri" panose="020F0502020204030204" pitchFamily="34" charset="0"/>
                <a:ea typeface="Calibri" panose="020F0502020204030204" pitchFamily="34" charset="0"/>
              </a:rPr>
              <a:t>Early alert staff</a:t>
            </a:r>
            <a:endParaRPr lang="en-NA" dirty="0"/>
          </a:p>
        </p:txBody>
      </p:sp>
      <p:sp>
        <p:nvSpPr>
          <p:cNvPr id="3" name="Content Placeholder 2">
            <a:extLst>
              <a:ext uri="{FF2B5EF4-FFF2-40B4-BE49-F238E27FC236}">
                <a16:creationId xmlns:a16="http://schemas.microsoft.com/office/drawing/2014/main" id="{BF2C28EF-40E6-0CD4-CEFC-458FE45A56DC}"/>
              </a:ext>
            </a:extLst>
          </p:cNvPr>
          <p:cNvSpPr>
            <a:spLocks noGrp="1"/>
          </p:cNvSpPr>
          <p:nvPr>
            <p:ph idx="1"/>
          </p:nvPr>
        </p:nvSpPr>
        <p:spPr/>
        <p:txBody>
          <a:bodyPr>
            <a:normAutofit/>
          </a:bodyPr>
          <a:lstStyle/>
          <a:p>
            <a:pPr marL="0" indent="0">
              <a:buNone/>
            </a:pPr>
            <a:r>
              <a:rPr lang="en-US" dirty="0"/>
              <a:t>Are you struggling with academic schoolwork or have some emotional or well being challenges, please contact any of the following faculty:</a:t>
            </a:r>
          </a:p>
          <a:p>
            <a:r>
              <a:rPr lang="en-US" dirty="0" err="1"/>
              <a:t>Mrs</a:t>
            </a:r>
            <a:r>
              <a:rPr lang="en-US" dirty="0"/>
              <a:t> Shilumbe Chivuno-Kuria, </a:t>
            </a:r>
            <a:r>
              <a:rPr lang="en-US" dirty="0">
                <a:hlinkClick r:id="rId2"/>
              </a:rPr>
              <a:t>schivuno@nust.na</a:t>
            </a:r>
            <a:endParaRPr lang="en-US" dirty="0"/>
          </a:p>
          <a:p>
            <a:pPr algn="l">
              <a:spcAft>
                <a:spcPts val="2250"/>
              </a:spcAft>
            </a:pPr>
            <a:r>
              <a:rPr lang="en-US" dirty="0" err="1"/>
              <a:t>Mrs</a:t>
            </a:r>
            <a:r>
              <a:rPr lang="en-US" dirty="0"/>
              <a:t> </a:t>
            </a:r>
            <a:r>
              <a:rPr lang="en-US" dirty="0" err="1"/>
              <a:t>Loini</a:t>
            </a:r>
            <a:r>
              <a:rPr lang="en-US" dirty="0"/>
              <a:t> </a:t>
            </a:r>
            <a:r>
              <a:rPr lang="en-US" dirty="0" err="1"/>
              <a:t>Iiyambo</a:t>
            </a:r>
            <a:r>
              <a:rPr lang="en-US" dirty="0"/>
              <a:t>, </a:t>
            </a:r>
            <a:r>
              <a:rPr lang="en-US" dirty="0">
                <a:solidFill>
                  <a:srgbClr val="0078D7"/>
                </a:solidFill>
                <a:latin typeface="wf_segoe-ui_normal"/>
              </a:rPr>
              <a:t>Ii</a:t>
            </a:r>
            <a:r>
              <a:rPr lang="en-US" b="0" i="0" dirty="0">
                <a:solidFill>
                  <a:srgbClr val="0078D7"/>
                </a:solidFill>
                <a:effectLst/>
                <a:latin typeface="wf_segoe-ui_normal"/>
                <a:hlinkClick r:id="rId3"/>
              </a:rPr>
              <a:t>yambo@nust.na</a:t>
            </a:r>
            <a:endParaRPr lang="en-US" b="0" i="0" dirty="0">
              <a:solidFill>
                <a:srgbClr val="0078D7"/>
              </a:solidFill>
              <a:effectLst/>
              <a:latin typeface="wf_segoe-ui_normal"/>
            </a:endParaRPr>
          </a:p>
          <a:p>
            <a:pPr algn="l">
              <a:spcAft>
                <a:spcPts val="2250"/>
              </a:spcAft>
            </a:pPr>
            <a:r>
              <a:rPr lang="en-US" dirty="0" err="1"/>
              <a:t>Mr</a:t>
            </a:r>
            <a:r>
              <a:rPr lang="en-US" dirty="0"/>
              <a:t> </a:t>
            </a:r>
            <a:r>
              <a:rPr lang="en-US" dirty="0" err="1"/>
              <a:t>Nasimane</a:t>
            </a:r>
            <a:r>
              <a:rPr lang="en-US" dirty="0"/>
              <a:t> </a:t>
            </a:r>
            <a:r>
              <a:rPr lang="en-US" dirty="0" err="1"/>
              <a:t>Ekandjo</a:t>
            </a:r>
            <a:r>
              <a:rPr lang="en-US" dirty="0"/>
              <a:t>, </a:t>
            </a:r>
            <a:r>
              <a:rPr lang="en-US" dirty="0">
                <a:hlinkClick r:id="rId4"/>
              </a:rPr>
              <a:t>nekandjo@nust.na</a:t>
            </a:r>
            <a:endParaRPr lang="en-US" dirty="0"/>
          </a:p>
          <a:p>
            <a:pPr algn="l">
              <a:spcAft>
                <a:spcPts val="2250"/>
              </a:spcAft>
            </a:pPr>
            <a:endParaRPr lang="en-US" b="0" i="0" dirty="0">
              <a:solidFill>
                <a:srgbClr val="000000"/>
              </a:solidFill>
              <a:effectLst/>
              <a:latin typeface="wf_segoe-ui_normal"/>
            </a:endParaRPr>
          </a:p>
          <a:p>
            <a:endParaRPr lang="en-US" dirty="0"/>
          </a:p>
          <a:p>
            <a:endParaRPr lang="en-NA" dirty="0"/>
          </a:p>
        </p:txBody>
      </p:sp>
    </p:spTree>
    <p:extLst>
      <p:ext uri="{BB962C8B-B14F-4D97-AF65-F5344CB8AC3E}">
        <p14:creationId xmlns:p14="http://schemas.microsoft.com/office/powerpoint/2010/main" val="216514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5AA03EDC-7067-4DFF-B672-541D016AA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0EBF3E39-B0BE-496A-8604-9007470FFA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65473"/>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CFD891-13AB-35D0-5AED-7C685F993271}"/>
              </a:ext>
            </a:extLst>
          </p:cNvPr>
          <p:cNvSpPr>
            <a:spLocks noGrp="1"/>
          </p:cNvSpPr>
          <p:nvPr>
            <p:ph type="title"/>
          </p:nvPr>
        </p:nvSpPr>
        <p:spPr>
          <a:xfrm>
            <a:off x="871442" y="685800"/>
            <a:ext cx="4353116" cy="1474666"/>
          </a:xfrm>
        </p:spPr>
        <p:txBody>
          <a:bodyPr anchor="b">
            <a:normAutofit/>
          </a:bodyPr>
          <a:lstStyle/>
          <a:p>
            <a:r>
              <a:rPr lang="en-US" sz="3200">
                <a:solidFill>
                  <a:srgbClr val="595959"/>
                </a:solidFill>
              </a:rPr>
              <a:t>Key to passing</a:t>
            </a:r>
            <a:endParaRPr lang="en-NA" sz="3200">
              <a:solidFill>
                <a:srgbClr val="595959"/>
              </a:solidFill>
            </a:endParaRPr>
          </a:p>
        </p:txBody>
      </p:sp>
      <p:sp>
        <p:nvSpPr>
          <p:cNvPr id="3" name="Content Placeholder 2">
            <a:extLst>
              <a:ext uri="{FF2B5EF4-FFF2-40B4-BE49-F238E27FC236}">
                <a16:creationId xmlns:a16="http://schemas.microsoft.com/office/drawing/2014/main" id="{E2E0085D-BB7B-CBEC-FFC7-A784786EF658}"/>
              </a:ext>
            </a:extLst>
          </p:cNvPr>
          <p:cNvSpPr>
            <a:spLocks noGrp="1"/>
          </p:cNvSpPr>
          <p:nvPr>
            <p:ph idx="1"/>
          </p:nvPr>
        </p:nvSpPr>
        <p:spPr>
          <a:xfrm>
            <a:off x="871442" y="2447337"/>
            <a:ext cx="4353116" cy="3770434"/>
          </a:xfrm>
        </p:spPr>
        <p:txBody>
          <a:bodyPr anchor="t">
            <a:normAutofit/>
          </a:bodyPr>
          <a:lstStyle/>
          <a:p>
            <a:r>
              <a:rPr lang="en-US" sz="2000" i="1">
                <a:solidFill>
                  <a:srgbClr val="595959"/>
                </a:solidFill>
              </a:rPr>
              <a:t>Attend 1 theory class and the practical group assigned to you. </a:t>
            </a:r>
          </a:p>
          <a:p>
            <a:r>
              <a:rPr lang="en-US" sz="2000" i="1">
                <a:solidFill>
                  <a:srgbClr val="595959"/>
                </a:solidFill>
              </a:rPr>
              <a:t>Do all the assessments assigned</a:t>
            </a:r>
          </a:p>
          <a:p>
            <a:r>
              <a:rPr lang="en-US" sz="2000" i="1">
                <a:solidFill>
                  <a:srgbClr val="595959"/>
                </a:solidFill>
              </a:rPr>
              <a:t>Ask Questions </a:t>
            </a:r>
          </a:p>
          <a:p>
            <a:endParaRPr lang="en-US" sz="2000" i="1">
              <a:solidFill>
                <a:srgbClr val="595959"/>
              </a:solidFill>
            </a:endParaRPr>
          </a:p>
          <a:p>
            <a:pPr marL="0" indent="0">
              <a:buNone/>
            </a:pPr>
            <a:r>
              <a:rPr lang="en-US" sz="2000" b="1" i="1">
                <a:solidFill>
                  <a:srgbClr val="595959"/>
                </a:solidFill>
              </a:rPr>
              <a:t>All the best in your studies, enjoy it , keep focused and attain your objective/s</a:t>
            </a:r>
            <a:endParaRPr lang="en-GB" sz="2000" b="1" i="1">
              <a:solidFill>
                <a:srgbClr val="595959"/>
              </a:solidFill>
            </a:endParaRPr>
          </a:p>
          <a:p>
            <a:endParaRPr lang="en-NA" sz="2000">
              <a:solidFill>
                <a:srgbClr val="595959"/>
              </a:solidFill>
            </a:endParaRPr>
          </a:p>
        </p:txBody>
      </p:sp>
      <p:pic>
        <p:nvPicPr>
          <p:cNvPr id="4" name="Online Media 3" title="Never give up , Believe in yourself!">
            <a:hlinkClick r:id="" action="ppaction://media"/>
            <a:extLst>
              <a:ext uri="{FF2B5EF4-FFF2-40B4-BE49-F238E27FC236}">
                <a16:creationId xmlns:a16="http://schemas.microsoft.com/office/drawing/2014/main" id="{EF65F431-2DD0-E73B-B0C9-256D1D9E546C}"/>
              </a:ext>
            </a:extLst>
          </p:cNvPr>
          <p:cNvPicPr>
            <a:picLocks noRot="1" noChangeAspect="1"/>
          </p:cNvPicPr>
          <p:nvPr>
            <a:videoFile r:link="rId1"/>
          </p:nvPr>
        </p:nvPicPr>
        <p:blipFill>
          <a:blip r:embed="rId3"/>
          <a:stretch>
            <a:fillRect/>
          </a:stretch>
        </p:blipFill>
        <p:spPr>
          <a:xfrm>
            <a:off x="4922982" y="221673"/>
            <a:ext cx="7176654" cy="5283200"/>
          </a:xfrm>
          <a:prstGeom prst="rect">
            <a:avLst/>
          </a:prstGeom>
        </p:spPr>
      </p:pic>
    </p:spTree>
    <p:extLst>
      <p:ext uri="{BB962C8B-B14F-4D97-AF65-F5344CB8AC3E}">
        <p14:creationId xmlns:p14="http://schemas.microsoft.com/office/powerpoint/2010/main" val="4123050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3156</TotalTime>
  <Words>768</Words>
  <Application>Microsoft Office PowerPoint</Application>
  <PresentationFormat>Widescreen</PresentationFormat>
  <Paragraphs>141</Paragraphs>
  <Slides>14</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RopaSoftPro-Regular</vt:lpstr>
      <vt:lpstr>Times New Roman</vt:lpstr>
      <vt:lpstr>wf_segoe-ui_normal</vt:lpstr>
      <vt:lpstr>Wingdings</vt:lpstr>
      <vt:lpstr>Office Theme</vt:lpstr>
      <vt:lpstr>PowerPoint Presentation</vt:lpstr>
      <vt:lpstr>Course Overview</vt:lpstr>
      <vt:lpstr>Lecturers</vt:lpstr>
      <vt:lpstr>Course Outline</vt:lpstr>
      <vt:lpstr>Communication and Learning Platforms</vt:lpstr>
      <vt:lpstr>Software </vt:lpstr>
      <vt:lpstr>Class Times </vt:lpstr>
      <vt:lpstr>Assessments</vt:lpstr>
      <vt:lpstr>Recommended texts</vt:lpstr>
      <vt:lpstr>Next Lecture (Theory)</vt:lpstr>
      <vt:lpstr>Questions </vt:lpstr>
      <vt:lpstr>Course Resources</vt:lpstr>
      <vt:lpstr>Early alert staff</vt:lpstr>
      <vt:lpstr>Key to passing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Chikohora, Teressa (INT)</dc:creator>
  <cp:lastModifiedBy>Chivuno-Kuria, Shilumbe</cp:lastModifiedBy>
  <cp:revision>12</cp:revision>
  <dcterms:created xsi:type="dcterms:W3CDTF">2021-03-11T07:24:24Z</dcterms:created>
  <dcterms:modified xsi:type="dcterms:W3CDTF">2025-02-07T14:11:07Z</dcterms:modified>
</cp:coreProperties>
</file>