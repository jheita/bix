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70" r:id="rId7"/>
    <p:sldId id="273" r:id="rId8"/>
    <p:sldId id="261" r:id="rId9"/>
    <p:sldId id="275" r:id="rId10"/>
    <p:sldId id="264" r:id="rId11"/>
    <p:sldId id="272" r:id="rId12"/>
    <p:sldId id="262" r:id="rId13"/>
    <p:sldId id="263" r:id="rId14"/>
    <p:sldId id="265" r:id="rId15"/>
    <p:sldId id="274" r:id="rId16"/>
    <p:sldId id="266" r:id="rId17"/>
    <p:sldId id="267" r:id="rId18"/>
    <p:sldId id="268" r:id="rId19"/>
    <p:sldId id="269" r:id="rId20"/>
    <p:sldId id="276" r:id="rId21"/>
    <p:sldId id="259" r:id="rId22"/>
  </p:sldIdLst>
  <p:sldSz cx="10150475" cy="7635875"/>
  <p:notesSz cx="6858000" cy="9144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A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430" y="48"/>
      </p:cViewPr>
      <p:guideLst>
        <p:guide orient="horz" pos="462"/>
        <p:guide pos="42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0" y="-1"/>
            <a:ext cx="10150475" cy="3821545"/>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301"/>
          <a:stretch/>
        </p:blipFill>
        <p:spPr>
          <a:xfrm>
            <a:off x="0" y="0"/>
            <a:ext cx="10150475" cy="7635875"/>
          </a:xfrm>
          <a:prstGeom prst="rect">
            <a:avLst/>
          </a:prstGeom>
        </p:spPr>
      </p:pic>
    </p:spTree>
    <p:extLst>
      <p:ext uri="{BB962C8B-B14F-4D97-AF65-F5344CB8AC3E}">
        <p14:creationId xmlns:p14="http://schemas.microsoft.com/office/powerpoint/2010/main" val="1639071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302" y="296078"/>
            <a:ext cx="4140200" cy="1295400"/>
          </a:xfrm>
          <a:prstGeom prst="rect">
            <a:avLst/>
          </a:prstGeom>
        </p:spPr>
      </p:pic>
      <p:sp>
        <p:nvSpPr>
          <p:cNvPr id="4" name="TextBox 3"/>
          <p:cNvSpPr txBox="1"/>
          <p:nvPr userDrawn="1"/>
        </p:nvSpPr>
        <p:spPr>
          <a:xfrm>
            <a:off x="1438871" y="1406916"/>
            <a:ext cx="4453268" cy="400110"/>
          </a:xfrm>
          <a:prstGeom prst="rect">
            <a:avLst/>
          </a:prstGeom>
          <a:noFill/>
        </p:spPr>
        <p:txBody>
          <a:bodyPr wrap="square" rtlCol="0">
            <a:spAutoFit/>
          </a:bodyPr>
          <a:lstStyle/>
          <a:p>
            <a:pPr marR="0" algn="l" rtl="0"/>
            <a:r>
              <a:rPr lang="en-US" sz="2000" b="1" i="0" u="none" strike="noStrike" baseline="0" dirty="0" smtClean="0">
                <a:solidFill>
                  <a:srgbClr val="141A37"/>
                </a:solidFill>
                <a:latin typeface="RopaSoftPro-Regular"/>
              </a:rPr>
              <a:t>Faculty of Computing and Informatics</a:t>
            </a:r>
          </a:p>
        </p:txBody>
      </p:sp>
    </p:spTree>
    <p:extLst>
      <p:ext uri="{BB962C8B-B14F-4D97-AF65-F5344CB8AC3E}">
        <p14:creationId xmlns:p14="http://schemas.microsoft.com/office/powerpoint/2010/main" val="366105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6231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3915" y="1983207"/>
            <a:ext cx="4985364"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8454"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9619E1-8D7B-8148-82B0-908DBEC4CE4D}"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5220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7524"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7524" y="2421562"/>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56301"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56301" y="2421562"/>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9619E1-8D7B-8148-82B0-908DBEC4CE4D}"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95771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155045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1907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68554"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7524" y="1597878"/>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54393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4" y="5345112"/>
            <a:ext cx="6090285" cy="631021"/>
          </a:xfrm>
        </p:spPr>
        <p:txBody>
          <a:bodyPr anchor="b"/>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89564" y="682280"/>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4"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36784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22407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0"/>
            <a:ext cx="2534094" cy="725408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3915" y="341140"/>
            <a:ext cx="7436633" cy="72540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253493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07524" y="1781704"/>
            <a:ext cx="9135428" cy="5039325"/>
          </a:xfrm>
          <a:prstGeom prst="rect">
            <a:avLst/>
          </a:prstGeom>
        </p:spPr>
        <p:txBody>
          <a:bodyPr vert="horz" lIns="101636" tIns="50818" rIns="101636" bIns="508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3/21/2025</a:t>
            </a:fld>
            <a:endParaRPr lang="en-US"/>
          </a:p>
        </p:txBody>
      </p:sp>
      <p:sp>
        <p:nvSpPr>
          <p:cNvPr id="5" name="Footer Placeholder 4"/>
          <p:cNvSpPr>
            <a:spLocks noGrp="1"/>
          </p:cNvSpPr>
          <p:nvPr>
            <p:ph type="ftr" sz="quarter" idx="3"/>
          </p:nvPr>
        </p:nvSpPr>
        <p:spPr>
          <a:xfrm>
            <a:off x="3468079"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7876" y="3824187"/>
            <a:ext cx="10168350" cy="3811687"/>
          </a:xfrm>
          <a:prstGeom prst="rect">
            <a:avLst/>
          </a:prstGeom>
        </p:spPr>
      </p:pic>
      <p:sp>
        <p:nvSpPr>
          <p:cNvPr id="7" name="TextBox 6"/>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b="1" dirty="0" smtClean="0">
                <a:solidFill>
                  <a:srgbClr val="FFFFFF"/>
                </a:solidFill>
                <a:latin typeface="RopaSoftPro-Regular"/>
              </a:rPr>
              <a:t> of Computing and Informatics</a:t>
            </a:r>
            <a:endParaRPr lang="en-US" sz="2000" b="1" i="0" u="none" strike="noStrike" baseline="0" dirty="0" smtClean="0">
              <a:solidFill>
                <a:srgbClr val="FFFFFF"/>
              </a:solidFill>
              <a:latin typeface="RopaSoftPro-Regular"/>
            </a:endParaRPr>
          </a:p>
        </p:txBody>
      </p:sp>
      <p:sp>
        <p:nvSpPr>
          <p:cNvPr id="11" name="TextBox 10"/>
          <p:cNvSpPr txBox="1"/>
          <p:nvPr/>
        </p:nvSpPr>
        <p:spPr>
          <a:xfrm>
            <a:off x="372902" y="1784007"/>
            <a:ext cx="8135667" cy="1938992"/>
          </a:xfrm>
          <a:prstGeom prst="rect">
            <a:avLst/>
          </a:prstGeom>
          <a:noFill/>
        </p:spPr>
        <p:txBody>
          <a:bodyPr wrap="square" rtlCol="0">
            <a:spAutoFit/>
          </a:bodyPr>
          <a:lstStyle/>
          <a:p>
            <a:pPr algn="ctr"/>
            <a:r>
              <a:rPr lang="en-US" sz="3000" dirty="0" smtClean="0">
                <a:solidFill>
                  <a:schemeClr val="bg1"/>
                </a:solidFill>
              </a:rPr>
              <a:t>Business Management Information Systems – BMC511S</a:t>
            </a:r>
          </a:p>
          <a:p>
            <a:pPr algn="ctr"/>
            <a:r>
              <a:rPr lang="en-US" sz="3000" dirty="0" smtClean="0">
                <a:solidFill>
                  <a:schemeClr val="bg1"/>
                </a:solidFill>
              </a:rPr>
              <a:t>Lesson </a:t>
            </a:r>
            <a:r>
              <a:rPr lang="en-US" sz="3000" dirty="0" smtClean="0">
                <a:solidFill>
                  <a:schemeClr val="bg1"/>
                </a:solidFill>
              </a:rPr>
              <a:t>6 </a:t>
            </a:r>
            <a:r>
              <a:rPr lang="en-US" sz="3000" dirty="0" smtClean="0">
                <a:solidFill>
                  <a:schemeClr val="bg1"/>
                </a:solidFill>
              </a:rPr>
              <a:t>– Ethical,  social and privacy issues in information systems </a:t>
            </a:r>
          </a:p>
        </p:txBody>
      </p:sp>
      <p:pic>
        <p:nvPicPr>
          <p:cNvPr id="9" name="Picture 8"/>
          <p:cNvPicPr>
            <a:picLocks noChangeAspect="1"/>
          </p:cNvPicPr>
          <p:nvPr/>
        </p:nvPicPr>
        <p:blipFill>
          <a:blip r:embed="rId3"/>
          <a:stretch>
            <a:fillRect/>
          </a:stretch>
        </p:blipFill>
        <p:spPr>
          <a:xfrm>
            <a:off x="7880777" y="4294900"/>
            <a:ext cx="2387600" cy="2933700"/>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Ethical, social and privacy issues in information systems</a:t>
            </a:r>
            <a:endParaRPr lang="en-US" sz="3000" dirty="0">
              <a:solidFill>
                <a:srgbClr val="FFFFFF"/>
              </a:solidFill>
            </a:endParaRPr>
          </a:p>
        </p:txBody>
      </p:sp>
      <p:sp>
        <p:nvSpPr>
          <p:cNvPr id="4" name="TextBox 3"/>
          <p:cNvSpPr txBox="1"/>
          <p:nvPr/>
        </p:nvSpPr>
        <p:spPr>
          <a:xfrm>
            <a:off x="1349153" y="2801693"/>
            <a:ext cx="8801322" cy="3108543"/>
          </a:xfrm>
          <a:prstGeom prst="rect">
            <a:avLst/>
          </a:prstGeom>
          <a:noFill/>
        </p:spPr>
        <p:txBody>
          <a:bodyPr wrap="square" rtlCol="0">
            <a:spAutoFit/>
          </a:bodyPr>
          <a:lstStyle/>
          <a:p>
            <a:pPr marL="457200" indent="-457200">
              <a:lnSpc>
                <a:spcPct val="140000"/>
              </a:lnSpc>
              <a:buFont typeface="+mj-lt"/>
              <a:buAutoNum type="arabicPeriod"/>
            </a:pPr>
            <a:r>
              <a:rPr lang="en-US" dirty="0" smtClean="0">
                <a:solidFill>
                  <a:srgbClr val="FFFFFF"/>
                </a:solidFill>
              </a:rPr>
              <a:t>An introduction to ethics</a:t>
            </a:r>
          </a:p>
          <a:p>
            <a:pPr marL="457200" indent="-457200">
              <a:lnSpc>
                <a:spcPct val="140000"/>
              </a:lnSpc>
              <a:buFont typeface="+mj-lt"/>
              <a:buAutoNum type="arabicPeriod"/>
            </a:pPr>
            <a:r>
              <a:rPr lang="en-US" dirty="0" smtClean="0">
                <a:solidFill>
                  <a:srgbClr val="FFFFFF"/>
                </a:solidFill>
              </a:rPr>
              <a:t>Five moral dimensions of the information age</a:t>
            </a:r>
          </a:p>
          <a:p>
            <a:pPr marL="457200" indent="-457200">
              <a:lnSpc>
                <a:spcPct val="140000"/>
              </a:lnSpc>
              <a:buFont typeface="+mj-lt"/>
              <a:buAutoNum type="arabicPeriod"/>
            </a:pPr>
            <a:r>
              <a:rPr lang="en-US" dirty="0" smtClean="0">
                <a:solidFill>
                  <a:srgbClr val="FFFFFF"/>
                </a:solidFill>
              </a:rPr>
              <a:t>Ethics principles</a:t>
            </a:r>
          </a:p>
          <a:p>
            <a:pPr marL="457200" indent="-457200">
              <a:lnSpc>
                <a:spcPct val="140000"/>
              </a:lnSpc>
              <a:buFont typeface="+mj-lt"/>
              <a:buAutoNum type="arabicPeriod"/>
            </a:pPr>
            <a:r>
              <a:rPr lang="en-US" dirty="0" smtClean="0">
                <a:solidFill>
                  <a:srgbClr val="FFFFFF"/>
                </a:solidFill>
              </a:rPr>
              <a:t>Information systems and privacy</a:t>
            </a:r>
          </a:p>
          <a:p>
            <a:pPr marL="457200" indent="-457200">
              <a:lnSpc>
                <a:spcPct val="140000"/>
              </a:lnSpc>
              <a:buFont typeface="+mj-lt"/>
              <a:buAutoNum type="arabicPeriod"/>
            </a:pPr>
            <a:r>
              <a:rPr lang="en-US" dirty="0" smtClean="0">
                <a:solidFill>
                  <a:srgbClr val="FFFFFF"/>
                </a:solidFill>
              </a:rPr>
              <a:t>Property rights and intellectual property (IP)</a:t>
            </a:r>
          </a:p>
          <a:p>
            <a:pPr marL="457200" indent="-457200">
              <a:lnSpc>
                <a:spcPct val="140000"/>
              </a:lnSpc>
              <a:buFont typeface="+mj-lt"/>
              <a:buAutoNum type="arabicPeriod"/>
            </a:pPr>
            <a:r>
              <a:rPr lang="en-US" dirty="0" smtClean="0">
                <a:solidFill>
                  <a:srgbClr val="FFFFFF"/>
                </a:solidFill>
              </a:rPr>
              <a:t>Examples of liability laws in information systems</a:t>
            </a:r>
          </a:p>
          <a:p>
            <a:pPr marL="457200" indent="-457200">
              <a:lnSpc>
                <a:spcPct val="140000"/>
              </a:lnSpc>
              <a:buFont typeface="+mj-lt"/>
              <a:buAutoNum type="arabicPeriod"/>
            </a:pPr>
            <a:r>
              <a:rPr lang="en-US" dirty="0" smtClean="0">
                <a:solidFill>
                  <a:srgbClr val="FFFFFF"/>
                </a:solidFill>
              </a:rPr>
              <a:t>Social costs of introducing information technology</a:t>
            </a:r>
            <a:endParaRPr lang="en-US"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17482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220" y="2079001"/>
            <a:ext cx="7918315" cy="2862322"/>
          </a:xfrm>
          <a:prstGeom prst="rect">
            <a:avLst/>
          </a:prstGeom>
        </p:spPr>
        <p:txBody>
          <a:bodyPr wrap="square">
            <a:spAutoFit/>
          </a:bodyPr>
          <a:lstStyle/>
          <a:p>
            <a:pPr marL="457200" indent="-457200">
              <a:buFont typeface="+mj-lt"/>
              <a:buAutoNum type="arabicPeriod"/>
              <a:defRPr/>
            </a:pPr>
            <a:r>
              <a:rPr lang="en-US" dirty="0">
                <a:solidFill>
                  <a:schemeClr val="bg1"/>
                </a:solidFill>
                <a:cs typeface="ＭＳ Ｐゴシック" charset="0"/>
              </a:rPr>
              <a:t>What ethical, social, and political issues are raised by information systems?</a:t>
            </a:r>
          </a:p>
          <a:p>
            <a:pPr marL="457200" indent="-457200">
              <a:buFont typeface="+mj-lt"/>
              <a:buAutoNum type="arabicPeriod"/>
              <a:defRPr/>
            </a:pPr>
            <a:r>
              <a:rPr lang="en-US" dirty="0">
                <a:solidFill>
                  <a:schemeClr val="bg1"/>
                </a:solidFill>
                <a:cs typeface="ＭＳ Ｐゴシック" charset="0"/>
              </a:rPr>
              <a:t>What specific principles for conduct can be used to guide ethical decisions?</a:t>
            </a:r>
          </a:p>
          <a:p>
            <a:pPr marL="457200" indent="-457200">
              <a:buFont typeface="+mj-lt"/>
              <a:buAutoNum type="arabicPeriod"/>
              <a:defRPr/>
            </a:pPr>
            <a:r>
              <a:rPr lang="en-US" dirty="0">
                <a:solidFill>
                  <a:schemeClr val="bg1"/>
                </a:solidFill>
                <a:cs typeface="ＭＳ Ｐゴシック" charset="0"/>
              </a:rPr>
              <a:t>Why do contemporary information systems technology and the Internet pose challenges to the protection of individual privacy and intellectual property?</a:t>
            </a:r>
          </a:p>
          <a:p>
            <a:pPr marL="457200" indent="-457200">
              <a:buFont typeface="+mj-lt"/>
              <a:buAutoNum type="arabicPeriod"/>
              <a:defRPr/>
            </a:pPr>
            <a:r>
              <a:rPr lang="en-US" dirty="0">
                <a:solidFill>
                  <a:schemeClr val="bg1"/>
                </a:solidFill>
                <a:cs typeface="ＭＳ Ｐゴシック" charset="0"/>
              </a:rPr>
              <a:t>How have information systems affected laws for establishing accountability, liability, and the quality of everyday life?</a:t>
            </a:r>
          </a:p>
        </p:txBody>
      </p:sp>
      <p:sp>
        <p:nvSpPr>
          <p:cNvPr id="3" name="TextBox 2"/>
          <p:cNvSpPr txBox="1"/>
          <p:nvPr/>
        </p:nvSpPr>
        <p:spPr>
          <a:xfrm>
            <a:off x="856034" y="1332689"/>
            <a:ext cx="5505856" cy="707886"/>
          </a:xfrm>
          <a:prstGeom prst="rect">
            <a:avLst/>
          </a:prstGeom>
          <a:noFill/>
        </p:spPr>
        <p:txBody>
          <a:bodyPr wrap="square" rtlCol="0">
            <a:spAutoFit/>
          </a:bodyPr>
          <a:lstStyle/>
          <a:p>
            <a:r>
              <a:rPr lang="en-ZA" dirty="0" smtClean="0">
                <a:solidFill>
                  <a:schemeClr val="bg1"/>
                </a:solidFill>
              </a:rPr>
              <a:t>By the end of this lesson students should be able to answer the questions:</a:t>
            </a:r>
            <a:endParaRPr lang="en-ZA" dirty="0">
              <a:solidFill>
                <a:schemeClr val="bg1"/>
              </a:solidFill>
            </a:endParaRPr>
          </a:p>
        </p:txBody>
      </p:sp>
    </p:spTree>
    <p:extLst>
      <p:ext uri="{BB962C8B-B14F-4D97-AF65-F5344CB8AC3E}">
        <p14:creationId xmlns:p14="http://schemas.microsoft.com/office/powerpoint/2010/main" val="3659937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6268" y="2869092"/>
            <a:ext cx="7957731" cy="3170099"/>
          </a:xfrm>
          <a:prstGeom prst="rect">
            <a:avLst/>
          </a:prstGeom>
        </p:spPr>
        <p:txBody>
          <a:bodyPr wrap="square">
            <a:spAutoFit/>
          </a:bodyPr>
          <a:lstStyle/>
          <a:p>
            <a:r>
              <a:rPr lang="en-US" dirty="0">
                <a:solidFill>
                  <a:schemeClr val="bg1"/>
                </a:solidFill>
                <a:latin typeface="Times New Roman" panose="02020603050405020304" pitchFamily="18" charset="0"/>
                <a:ea typeface="Times New Roman" panose="02020603050405020304" pitchFamily="18" charset="0"/>
              </a:rPr>
              <a:t>One of the capabilities of Internet communication is the ability of the individual to appear essentially anonymous by using made-up user names</a:t>
            </a:r>
            <a:r>
              <a:rPr lang="en-US" dirty="0" smtClean="0">
                <a:solidFill>
                  <a:schemeClr val="bg1"/>
                </a:solidFill>
                <a:latin typeface="Times New Roman" panose="02020603050405020304" pitchFamily="18" charset="0"/>
                <a:ea typeface="Times New Roman" panose="02020603050405020304" pitchFamily="18" charset="0"/>
              </a:rPr>
              <a:t>.</a:t>
            </a:r>
          </a:p>
          <a:p>
            <a:endParaRPr lang="en-US" dirty="0" smtClean="0">
              <a:solidFill>
                <a:schemeClr val="bg1"/>
              </a:solidFill>
              <a:latin typeface="Times New Roman" panose="02020603050405020304" pitchFamily="18" charset="0"/>
              <a:ea typeface="Times New Roman" panose="02020603050405020304" pitchFamily="18" charset="0"/>
            </a:endParaRPr>
          </a:p>
          <a:p>
            <a:r>
              <a:rPr lang="en-US" dirty="0" smtClean="0">
                <a:solidFill>
                  <a:schemeClr val="bg1"/>
                </a:solidFill>
                <a:latin typeface="Times New Roman" panose="02020603050405020304" pitchFamily="18" charset="0"/>
                <a:ea typeface="Times New Roman" panose="02020603050405020304" pitchFamily="18" charset="0"/>
              </a:rPr>
              <a:t>e.g.    bones@gmail.com        desertrider@yahoo.com</a:t>
            </a:r>
            <a:endParaRPr lang="en-US" dirty="0">
              <a:solidFill>
                <a:schemeClr val="bg1"/>
              </a:solidFill>
              <a:latin typeface="Times New Roman" panose="02020603050405020304" pitchFamily="18" charset="0"/>
              <a:ea typeface="Times New Roman" panose="02020603050405020304" pitchFamily="18" charset="0"/>
            </a:endParaRPr>
          </a:p>
          <a:p>
            <a:endParaRPr lang="en-US" dirty="0" smtClean="0">
              <a:solidFill>
                <a:schemeClr val="bg1"/>
              </a:solidFill>
              <a:latin typeface="Times New Roman" panose="02020603050405020304" pitchFamily="18" charset="0"/>
              <a:ea typeface="Times New Roman" panose="02020603050405020304" pitchFamily="18" charset="0"/>
            </a:endParaRPr>
          </a:p>
          <a:p>
            <a:endParaRPr lang="en-US" dirty="0">
              <a:solidFill>
                <a:schemeClr val="bg1"/>
              </a:solidFill>
              <a:latin typeface="Times New Roman" panose="02020603050405020304" pitchFamily="18" charset="0"/>
              <a:ea typeface="Times New Roman" panose="02020603050405020304" pitchFamily="18" charset="0"/>
            </a:endParaRPr>
          </a:p>
          <a:p>
            <a:pPr marL="457200" indent="-457200">
              <a:buFont typeface="+mj-lt"/>
              <a:buAutoNum type="arabicPeriod"/>
            </a:pPr>
            <a:r>
              <a:rPr lang="en-US" i="1" dirty="0" smtClean="0">
                <a:solidFill>
                  <a:schemeClr val="bg1"/>
                </a:solidFill>
                <a:latin typeface="Times New Roman" panose="02020603050405020304" pitchFamily="18" charset="0"/>
                <a:ea typeface="Times New Roman" panose="02020603050405020304" pitchFamily="18" charset="0"/>
              </a:rPr>
              <a:t> </a:t>
            </a:r>
            <a:r>
              <a:rPr lang="en-US" i="1" dirty="0">
                <a:solidFill>
                  <a:schemeClr val="bg1"/>
                </a:solidFill>
                <a:latin typeface="Times New Roman" panose="02020603050405020304" pitchFamily="18" charset="0"/>
                <a:ea typeface="Times New Roman" panose="02020603050405020304" pitchFamily="18" charset="0"/>
              </a:rPr>
              <a:t>Is anonymity the same thing as privacy, and should it be a right? </a:t>
            </a:r>
            <a:endParaRPr lang="en-US" i="1" dirty="0" smtClean="0">
              <a:solidFill>
                <a:schemeClr val="bg1"/>
              </a:solidFill>
              <a:latin typeface="Times New Roman" panose="02020603050405020304" pitchFamily="18" charset="0"/>
              <a:ea typeface="Times New Roman" panose="02020603050405020304" pitchFamily="18" charset="0"/>
            </a:endParaRPr>
          </a:p>
          <a:p>
            <a:pPr marL="457200" indent="-457200">
              <a:buFont typeface="+mj-lt"/>
              <a:buAutoNum type="arabicPeriod"/>
            </a:pPr>
            <a:r>
              <a:rPr lang="en-US" i="1" dirty="0" smtClean="0">
                <a:solidFill>
                  <a:schemeClr val="bg1"/>
                </a:solidFill>
                <a:latin typeface="Times New Roman" panose="02020603050405020304" pitchFamily="18" charset="0"/>
                <a:ea typeface="Times New Roman" panose="02020603050405020304" pitchFamily="18" charset="0"/>
              </a:rPr>
              <a:t>What </a:t>
            </a:r>
            <a:r>
              <a:rPr lang="en-US" i="1" dirty="0">
                <a:solidFill>
                  <a:schemeClr val="bg1"/>
                </a:solidFill>
                <a:latin typeface="Times New Roman" panose="02020603050405020304" pitchFamily="18" charset="0"/>
                <a:ea typeface="Times New Roman" panose="02020603050405020304" pitchFamily="18" charset="0"/>
              </a:rPr>
              <a:t>ethical issues are raised by increased anonymity</a:t>
            </a:r>
            <a:r>
              <a:rPr lang="en-US" i="1" dirty="0" smtClean="0">
                <a:solidFill>
                  <a:schemeClr val="bg1"/>
                </a:solidFill>
                <a:latin typeface="Times New Roman" panose="02020603050405020304" pitchFamily="18" charset="0"/>
                <a:ea typeface="Times New Roman" panose="02020603050405020304" pitchFamily="18" charset="0"/>
              </a:rPr>
              <a:t>?</a:t>
            </a:r>
          </a:p>
          <a:p>
            <a:pPr marL="457200" indent="-457200">
              <a:buFont typeface="+mj-lt"/>
              <a:buAutoNum type="arabicPeriod"/>
            </a:pPr>
            <a:endParaRPr lang="en-US" i="1" dirty="0">
              <a:solidFill>
                <a:schemeClr val="bg1"/>
              </a:solidFill>
              <a:latin typeface="Times New Roman" panose="02020603050405020304" pitchFamily="18" charset="0"/>
            </a:endParaRPr>
          </a:p>
          <a:p>
            <a:endParaRPr lang="en-ZA" i="1" dirty="0">
              <a:solidFill>
                <a:schemeClr val="bg1"/>
              </a:solidFill>
            </a:endParaRPr>
          </a:p>
        </p:txBody>
      </p:sp>
      <p:sp>
        <p:nvSpPr>
          <p:cNvPr id="3" name="TextBox 2"/>
          <p:cNvSpPr txBox="1"/>
          <p:nvPr/>
        </p:nvSpPr>
        <p:spPr>
          <a:xfrm>
            <a:off x="1974715" y="1332689"/>
            <a:ext cx="6147881" cy="646331"/>
          </a:xfrm>
          <a:prstGeom prst="rect">
            <a:avLst/>
          </a:prstGeom>
          <a:noFill/>
        </p:spPr>
        <p:txBody>
          <a:bodyPr wrap="square" rtlCol="0">
            <a:spAutoFit/>
          </a:bodyPr>
          <a:lstStyle/>
          <a:p>
            <a:r>
              <a:rPr lang="en-ZA" sz="3600" dirty="0" smtClean="0">
                <a:solidFill>
                  <a:schemeClr val="bg1"/>
                </a:solidFill>
              </a:rPr>
              <a:t>QUESTION BLANK</a:t>
            </a:r>
            <a:endParaRPr lang="en-ZA" sz="3600" dirty="0">
              <a:solidFill>
                <a:schemeClr val="bg1"/>
              </a:solidFill>
            </a:endParaRPr>
          </a:p>
        </p:txBody>
      </p:sp>
    </p:spTree>
    <p:extLst>
      <p:ext uri="{BB962C8B-B14F-4D97-AF65-F5344CB8AC3E}">
        <p14:creationId xmlns:p14="http://schemas.microsoft.com/office/powerpoint/2010/main" val="207936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An introduction to ethics</a:t>
            </a:r>
            <a:endParaRPr lang="en-US" sz="3000" dirty="0">
              <a:solidFill>
                <a:srgbClr val="FFFFFF"/>
              </a:solidFill>
            </a:endParaRPr>
          </a:p>
        </p:txBody>
      </p:sp>
      <p:sp>
        <p:nvSpPr>
          <p:cNvPr id="4" name="TextBox 3"/>
          <p:cNvSpPr txBox="1"/>
          <p:nvPr/>
        </p:nvSpPr>
        <p:spPr>
          <a:xfrm>
            <a:off x="853440" y="2801693"/>
            <a:ext cx="9297035" cy="4832092"/>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dirty="0" smtClean="0">
                <a:solidFill>
                  <a:srgbClr val="FFFFFF"/>
                </a:solidFill>
              </a:rPr>
              <a:t>Ethics – the principles of right and wrong that individuals use to make choices that guide their behavior</a:t>
            </a:r>
          </a:p>
          <a:p>
            <a:pPr marL="342900" indent="-342900">
              <a:lnSpc>
                <a:spcPct val="140000"/>
              </a:lnSpc>
              <a:buFont typeface="Arial" panose="020B0604020202020204" pitchFamily="34" charset="0"/>
              <a:buChar char="•"/>
            </a:pPr>
            <a:r>
              <a:rPr lang="en-US" dirty="0" smtClean="0">
                <a:solidFill>
                  <a:srgbClr val="FFFFFF"/>
                </a:solidFill>
              </a:rPr>
              <a:t>Information systems create opportunities for social change, thus threatening the distribution of power, money, rights and obligations</a:t>
            </a:r>
          </a:p>
          <a:p>
            <a:pPr marL="342900" indent="-342900">
              <a:lnSpc>
                <a:spcPct val="140000"/>
              </a:lnSpc>
              <a:buFont typeface="Arial" panose="020B0604020202020204" pitchFamily="34" charset="0"/>
              <a:buChar char="•"/>
            </a:pPr>
            <a:r>
              <a:rPr lang="en-US" dirty="0" smtClean="0">
                <a:solidFill>
                  <a:srgbClr val="FFFFFF"/>
                </a:solidFill>
              </a:rPr>
              <a:t>ICTs can be used to achieve not only social progress but to commit crimes and threaten values</a:t>
            </a:r>
          </a:p>
          <a:p>
            <a:pPr marL="342900" indent="-342900">
              <a:lnSpc>
                <a:spcPct val="140000"/>
              </a:lnSpc>
              <a:buFont typeface="Arial" panose="020B0604020202020204" pitchFamily="34" charset="0"/>
              <a:buChar char="•"/>
            </a:pPr>
            <a:r>
              <a:rPr lang="en-US" dirty="0" smtClean="0">
                <a:solidFill>
                  <a:srgbClr val="FFFFFF"/>
                </a:solidFill>
              </a:rPr>
              <a:t>Ethical issues occur in the areas of:</a:t>
            </a:r>
          </a:p>
          <a:p>
            <a:pPr marL="851078" lvl="1" indent="-342900">
              <a:lnSpc>
                <a:spcPct val="140000"/>
              </a:lnSpc>
              <a:buFontTx/>
              <a:buChar char="-"/>
            </a:pPr>
            <a:r>
              <a:rPr lang="en-US" dirty="0" smtClean="0">
                <a:solidFill>
                  <a:srgbClr val="FFFFFF"/>
                </a:solidFill>
              </a:rPr>
              <a:t>Internet and commerce; assemble, integration and distribution of information</a:t>
            </a:r>
          </a:p>
          <a:p>
            <a:pPr marL="851078" lvl="1" indent="-342900">
              <a:lnSpc>
                <a:spcPct val="140000"/>
              </a:lnSpc>
              <a:buFontTx/>
              <a:buChar char="-"/>
            </a:pPr>
            <a:r>
              <a:rPr lang="en-US" dirty="0" smtClean="0">
                <a:solidFill>
                  <a:srgbClr val="FFFFFF"/>
                </a:solidFill>
              </a:rPr>
              <a:t>Personal privacy; protection of intellectual property</a:t>
            </a:r>
          </a:p>
          <a:p>
            <a:pPr marL="851078" lvl="1" indent="-342900">
              <a:lnSpc>
                <a:spcPct val="140000"/>
              </a:lnSpc>
              <a:buFontTx/>
              <a:buChar char="-"/>
            </a:pPr>
            <a:r>
              <a:rPr lang="en-US" dirty="0" smtClean="0">
                <a:solidFill>
                  <a:srgbClr val="FFFFFF"/>
                </a:solidFill>
              </a:rPr>
              <a:t>Accountability for the consequences of information systems</a:t>
            </a:r>
          </a:p>
          <a:p>
            <a:pPr marL="851078" lvl="1" indent="-342900">
              <a:lnSpc>
                <a:spcPct val="140000"/>
              </a:lnSpc>
              <a:buFontTx/>
              <a:buChar char="-"/>
            </a:pPr>
            <a:r>
              <a:rPr lang="en-US" dirty="0" smtClean="0">
                <a:solidFill>
                  <a:srgbClr val="FFFFFF"/>
                </a:solidFill>
              </a:rPr>
              <a:t>Standards to safeguard systems quality</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703255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216" y="1859797"/>
            <a:ext cx="9418208" cy="420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264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An introduction to ethics -examples</a:t>
            </a:r>
            <a:endParaRPr lang="en-US" sz="3000" dirty="0">
              <a:solidFill>
                <a:srgbClr val="FFFFFF"/>
              </a:solidFill>
            </a:endParaRPr>
          </a:p>
        </p:txBody>
      </p:sp>
      <p:sp>
        <p:nvSpPr>
          <p:cNvPr id="4" name="TextBox 3"/>
          <p:cNvSpPr txBox="1"/>
          <p:nvPr/>
        </p:nvSpPr>
        <p:spPr>
          <a:xfrm>
            <a:off x="853440" y="2801693"/>
            <a:ext cx="9297035" cy="4228850"/>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sz="2400" dirty="0" smtClean="0">
                <a:solidFill>
                  <a:srgbClr val="FFFFFF"/>
                </a:solidFill>
              </a:rPr>
              <a:t>Profiling – all the ways that you generate information about yourself on Facebook, telephone calls, banking records, web site visits reveal information about you – this has privacy implications</a:t>
            </a:r>
          </a:p>
          <a:p>
            <a:pPr marL="342900" indent="-342900">
              <a:lnSpc>
                <a:spcPct val="140000"/>
              </a:lnSpc>
              <a:buFont typeface="Arial" panose="020B0604020202020204" pitchFamily="34" charset="0"/>
              <a:buChar char="•"/>
            </a:pPr>
            <a:r>
              <a:rPr lang="en-US" sz="2400" dirty="0" smtClean="0">
                <a:solidFill>
                  <a:srgbClr val="FFFFFF"/>
                </a:solidFill>
              </a:rPr>
              <a:t>Non-obvious relationship awareness (NORA) – hidden connections</a:t>
            </a:r>
          </a:p>
          <a:p>
            <a:pPr marL="342900" indent="-342900">
              <a:lnSpc>
                <a:spcPct val="140000"/>
              </a:lnSpc>
              <a:buFont typeface="Arial" panose="020B0604020202020204" pitchFamily="34" charset="0"/>
              <a:buChar char="•"/>
            </a:pPr>
            <a:r>
              <a:rPr lang="en-US" sz="2400" dirty="0" smtClean="0">
                <a:solidFill>
                  <a:srgbClr val="FFFFFF"/>
                </a:solidFill>
              </a:rPr>
              <a:t>Using ICT to reduce the size of the workforce</a:t>
            </a:r>
          </a:p>
          <a:p>
            <a:pPr marL="342900" indent="-342900">
              <a:lnSpc>
                <a:spcPct val="140000"/>
              </a:lnSpc>
              <a:buFont typeface="Arial" panose="020B0604020202020204" pitchFamily="34" charset="0"/>
              <a:buChar char="•"/>
            </a:pPr>
            <a:r>
              <a:rPr lang="en-US" sz="2400" dirty="0" smtClean="0">
                <a:solidFill>
                  <a:srgbClr val="FFFFFF"/>
                </a:solidFill>
              </a:rPr>
              <a:t>Monitoring employees on the internet</a:t>
            </a:r>
          </a:p>
          <a:p>
            <a:pPr marL="342900" indent="-342900">
              <a:lnSpc>
                <a:spcPct val="140000"/>
              </a:lnSpc>
              <a:buFont typeface="Arial" panose="020B0604020202020204" pitchFamily="34" charset="0"/>
              <a:buChar char="•"/>
            </a:pPr>
            <a:r>
              <a:rPr lang="en-US" sz="2400" dirty="0" smtClean="0">
                <a:solidFill>
                  <a:srgbClr val="FFFFFF"/>
                </a:solidFill>
              </a:rPr>
              <a:t>Social networking sites monitor subscribers and sell information to advertisers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138917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descr="D:\Chapter 12\fig12.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319" y="2235740"/>
            <a:ext cx="5826125"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p:cNvSpPr txBox="1">
            <a:spLocks/>
          </p:cNvSpPr>
          <p:nvPr/>
        </p:nvSpPr>
        <p:spPr>
          <a:xfrm>
            <a:off x="642025" y="1369979"/>
            <a:ext cx="8122595" cy="381000"/>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marL="0" indent="0">
              <a:buNone/>
              <a:defRPr/>
            </a:pPr>
            <a:r>
              <a:rPr lang="en-US" sz="1600" smtClean="0">
                <a:solidFill>
                  <a:schemeClr val="bg1"/>
                </a:solidFill>
                <a:effectLst>
                  <a:outerShdw blurRad="38100" dist="38100" dir="2700000" algn="tl">
                    <a:srgbClr val="C0C0C0"/>
                  </a:outerShdw>
                </a:effectLst>
                <a:cs typeface="Times New Roman" panose="02020603050405020304" pitchFamily="18" charset="0"/>
              </a:rPr>
              <a:t>THE RELATIONSHIP AMONG ETHICAL, SOCIAL, POLITICAL ISSUES IN AN INFORMATION SOCIETY</a:t>
            </a:r>
          </a:p>
          <a:p>
            <a:pPr marL="0" indent="0">
              <a:buNone/>
              <a:defRPr/>
            </a:pPr>
            <a:endParaRPr lang="en-US" sz="1600" dirty="0">
              <a:solidFill>
                <a:schemeClr val="bg1"/>
              </a:solidFill>
            </a:endParaRPr>
          </a:p>
        </p:txBody>
      </p:sp>
    </p:spTree>
    <p:extLst>
      <p:ext uri="{BB962C8B-B14F-4D97-AF65-F5344CB8AC3E}">
        <p14:creationId xmlns:p14="http://schemas.microsoft.com/office/powerpoint/2010/main" val="137657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Five moral dimensions of the information age</a:t>
            </a:r>
            <a:endParaRPr lang="en-US" sz="3000" dirty="0">
              <a:solidFill>
                <a:srgbClr val="FFFFFF"/>
              </a:solidFill>
            </a:endParaRPr>
          </a:p>
        </p:txBody>
      </p:sp>
      <p:sp>
        <p:nvSpPr>
          <p:cNvPr id="4" name="TextBox 3"/>
          <p:cNvSpPr txBox="1"/>
          <p:nvPr/>
        </p:nvSpPr>
        <p:spPr>
          <a:xfrm>
            <a:off x="853440" y="2801693"/>
            <a:ext cx="9297035" cy="5262979"/>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u="sng" dirty="0" smtClean="0">
                <a:solidFill>
                  <a:srgbClr val="FFFFFF"/>
                </a:solidFill>
              </a:rPr>
              <a:t>Information rights and obligations</a:t>
            </a:r>
            <a:r>
              <a:rPr lang="en-US" dirty="0" smtClean="0">
                <a:solidFill>
                  <a:srgbClr val="FFFFFF"/>
                </a:solidFill>
              </a:rPr>
              <a:t>: What information rights do individuals and organisations possess that they can protect?</a:t>
            </a:r>
          </a:p>
          <a:p>
            <a:pPr marL="342900" indent="-342900">
              <a:lnSpc>
                <a:spcPct val="140000"/>
              </a:lnSpc>
              <a:buFont typeface="Arial" panose="020B0604020202020204" pitchFamily="34" charset="0"/>
              <a:buChar char="•"/>
            </a:pPr>
            <a:r>
              <a:rPr lang="en-US" u="sng" dirty="0" smtClean="0">
                <a:solidFill>
                  <a:srgbClr val="FFFFFF"/>
                </a:solidFill>
              </a:rPr>
              <a:t>Property rights and obligations:</a:t>
            </a:r>
            <a:r>
              <a:rPr lang="en-US" dirty="0" smtClean="0">
                <a:solidFill>
                  <a:srgbClr val="FFFFFF"/>
                </a:solidFill>
              </a:rPr>
              <a:t> How will intellectual property (IP) be protected in a digital society in which tracing and accounting for ownership are difficult?</a:t>
            </a:r>
          </a:p>
          <a:p>
            <a:pPr marL="342900" indent="-342900">
              <a:lnSpc>
                <a:spcPct val="140000"/>
              </a:lnSpc>
              <a:buFont typeface="Arial" panose="020B0604020202020204" pitchFamily="34" charset="0"/>
              <a:buChar char="•"/>
            </a:pPr>
            <a:r>
              <a:rPr lang="en-US" u="sng" dirty="0" smtClean="0">
                <a:solidFill>
                  <a:srgbClr val="FFFFFF"/>
                </a:solidFill>
              </a:rPr>
              <a:t>Accountability and control: </a:t>
            </a:r>
            <a:r>
              <a:rPr lang="en-US" dirty="0" smtClean="0">
                <a:solidFill>
                  <a:srgbClr val="FFFFFF"/>
                </a:solidFill>
              </a:rPr>
              <a:t>Who will be held accountable for harm done to individuals, collective information and property rights?</a:t>
            </a:r>
          </a:p>
          <a:p>
            <a:pPr marL="342900" indent="-342900">
              <a:lnSpc>
                <a:spcPct val="140000"/>
              </a:lnSpc>
              <a:buFont typeface="Arial" panose="020B0604020202020204" pitchFamily="34" charset="0"/>
              <a:buChar char="•"/>
            </a:pPr>
            <a:r>
              <a:rPr lang="en-US" u="sng" dirty="0" smtClean="0">
                <a:solidFill>
                  <a:srgbClr val="FFFFFF"/>
                </a:solidFill>
              </a:rPr>
              <a:t>Systems quality: </a:t>
            </a:r>
            <a:r>
              <a:rPr lang="en-US" dirty="0" smtClean="0">
                <a:solidFill>
                  <a:srgbClr val="FFFFFF"/>
                </a:solidFill>
              </a:rPr>
              <a:t>What standards of data and systems quality should we demand to protect individual rights and safety?</a:t>
            </a:r>
          </a:p>
          <a:p>
            <a:pPr marL="342900" indent="-342900">
              <a:lnSpc>
                <a:spcPct val="140000"/>
              </a:lnSpc>
              <a:buFont typeface="Arial" panose="020B0604020202020204" pitchFamily="34" charset="0"/>
              <a:buChar char="•"/>
            </a:pPr>
            <a:r>
              <a:rPr lang="en-US" u="sng" dirty="0" smtClean="0">
                <a:solidFill>
                  <a:srgbClr val="FFFFFF"/>
                </a:solidFill>
              </a:rPr>
              <a:t>Quality of life: </a:t>
            </a:r>
            <a:r>
              <a:rPr lang="en-US" dirty="0" smtClean="0">
                <a:solidFill>
                  <a:srgbClr val="FFFFFF"/>
                </a:solidFill>
              </a:rPr>
              <a:t>What values should be preserved in the knowledge society? Which institutions, cultural values and practices should be protected?</a:t>
            </a: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299548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Ethics principles</a:t>
            </a:r>
            <a:endParaRPr lang="en-US" sz="3000" dirty="0">
              <a:solidFill>
                <a:srgbClr val="FFFFFF"/>
              </a:solidFill>
            </a:endParaRPr>
          </a:p>
        </p:txBody>
      </p:sp>
      <p:sp>
        <p:nvSpPr>
          <p:cNvPr id="4" name="TextBox 3"/>
          <p:cNvSpPr txBox="1"/>
          <p:nvPr/>
        </p:nvSpPr>
        <p:spPr>
          <a:xfrm>
            <a:off x="853440" y="2801693"/>
            <a:ext cx="9297035" cy="5262979"/>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u="sng" dirty="0" smtClean="0">
                <a:solidFill>
                  <a:srgbClr val="FFFFFF"/>
                </a:solidFill>
              </a:rPr>
              <a:t>The golden rule</a:t>
            </a:r>
            <a:r>
              <a:rPr lang="en-US" dirty="0" smtClean="0">
                <a:solidFill>
                  <a:srgbClr val="FFFFFF"/>
                </a:solidFill>
              </a:rPr>
              <a:t>: Do unto others as you would have them do unto you</a:t>
            </a:r>
          </a:p>
          <a:p>
            <a:pPr marL="342900" indent="-342900">
              <a:lnSpc>
                <a:spcPct val="140000"/>
              </a:lnSpc>
              <a:buFont typeface="Arial" panose="020B0604020202020204" pitchFamily="34" charset="0"/>
              <a:buChar char="•"/>
            </a:pPr>
            <a:r>
              <a:rPr lang="en-US" u="sng" dirty="0" smtClean="0">
                <a:solidFill>
                  <a:srgbClr val="FFFFFF"/>
                </a:solidFill>
              </a:rPr>
              <a:t>Immanuel Kant’s categorical imperative:</a:t>
            </a:r>
            <a:r>
              <a:rPr lang="en-US" dirty="0" smtClean="0">
                <a:solidFill>
                  <a:srgbClr val="FFFFFF"/>
                </a:solidFill>
              </a:rPr>
              <a:t> If an action is not right for everyone to take, it is not right for anyone, e.g. if everyone did this could the organisation survive?</a:t>
            </a:r>
          </a:p>
          <a:p>
            <a:pPr marL="342900" indent="-342900">
              <a:lnSpc>
                <a:spcPct val="140000"/>
              </a:lnSpc>
              <a:buFont typeface="Arial" panose="020B0604020202020204" pitchFamily="34" charset="0"/>
              <a:buChar char="•"/>
            </a:pPr>
            <a:r>
              <a:rPr lang="en-US" u="sng" dirty="0" smtClean="0">
                <a:solidFill>
                  <a:srgbClr val="FFFFFF"/>
                </a:solidFill>
              </a:rPr>
              <a:t>The slippery slope rule: </a:t>
            </a:r>
            <a:r>
              <a:rPr lang="en-US" dirty="0" smtClean="0">
                <a:solidFill>
                  <a:srgbClr val="FFFFFF"/>
                </a:solidFill>
              </a:rPr>
              <a:t>If an action cannot be taken repeatedly, it is not right to take at all. An action may bring about a small change now that is acceptable, but if repeated it would bring unacceptable change in the long run</a:t>
            </a:r>
          </a:p>
          <a:p>
            <a:pPr marL="342900" indent="-342900">
              <a:lnSpc>
                <a:spcPct val="140000"/>
              </a:lnSpc>
              <a:buFont typeface="Arial" panose="020B0604020202020204" pitchFamily="34" charset="0"/>
              <a:buChar char="•"/>
            </a:pPr>
            <a:r>
              <a:rPr lang="en-US" u="sng" dirty="0" smtClean="0">
                <a:solidFill>
                  <a:srgbClr val="FFFFFF"/>
                </a:solidFill>
              </a:rPr>
              <a:t>Utilitarian principle: </a:t>
            </a:r>
            <a:r>
              <a:rPr lang="en-US" dirty="0" smtClean="0">
                <a:solidFill>
                  <a:srgbClr val="FFFFFF"/>
                </a:solidFill>
              </a:rPr>
              <a:t>Take action that achieves the higher or greater value</a:t>
            </a:r>
          </a:p>
          <a:p>
            <a:pPr marL="342900" indent="-342900">
              <a:lnSpc>
                <a:spcPct val="140000"/>
              </a:lnSpc>
              <a:buFont typeface="Arial" panose="020B0604020202020204" pitchFamily="34" charset="0"/>
              <a:buChar char="•"/>
            </a:pPr>
            <a:r>
              <a:rPr lang="en-US" u="sng" dirty="0" smtClean="0">
                <a:solidFill>
                  <a:srgbClr val="FFFFFF"/>
                </a:solidFill>
              </a:rPr>
              <a:t>Risk aversion principle: </a:t>
            </a:r>
            <a:r>
              <a:rPr lang="en-US" dirty="0" smtClean="0">
                <a:solidFill>
                  <a:srgbClr val="FFFFFF"/>
                </a:solidFill>
              </a:rPr>
              <a:t>Take action that produces the least harm or the least potential risk, e.g. building a nuclear generator in the city </a:t>
            </a:r>
            <a:r>
              <a:rPr lang="en-US" dirty="0" err="1" smtClean="0">
                <a:solidFill>
                  <a:srgbClr val="FFFFFF"/>
                </a:solidFill>
              </a:rPr>
              <a:t>centre</a:t>
            </a:r>
            <a:endParaRPr lang="en-US" dirty="0" smtClean="0">
              <a:solidFill>
                <a:srgbClr val="FFFFFF"/>
              </a:solidFill>
            </a:endParaRPr>
          </a:p>
          <a:p>
            <a:pPr marL="342900" indent="-342900">
              <a:lnSpc>
                <a:spcPct val="140000"/>
              </a:lnSpc>
              <a:buFont typeface="Arial" panose="020B0604020202020204" pitchFamily="34" charset="0"/>
              <a:buChar char="•"/>
            </a:pPr>
            <a:r>
              <a:rPr lang="en-US" u="sng" dirty="0" smtClean="0">
                <a:solidFill>
                  <a:srgbClr val="FFFFFF"/>
                </a:solidFill>
              </a:rPr>
              <a:t>Ethical “no free” lunch rule</a:t>
            </a:r>
            <a:r>
              <a:rPr lang="en-US" dirty="0" smtClean="0">
                <a:solidFill>
                  <a:srgbClr val="FFFFFF"/>
                </a:solidFill>
              </a:rPr>
              <a:t>: compensate the creator for his work if it is useful to you</a:t>
            </a: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810094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939991"/>
            <a:ext cx="9144635" cy="553998"/>
          </a:xfrm>
          <a:prstGeom prst="rect">
            <a:avLst/>
          </a:prstGeom>
          <a:noFill/>
        </p:spPr>
        <p:txBody>
          <a:bodyPr wrap="square" rtlCol="0">
            <a:spAutoFit/>
          </a:bodyPr>
          <a:lstStyle/>
          <a:p>
            <a:r>
              <a:rPr lang="en-US" sz="3000" dirty="0" smtClean="0">
                <a:solidFill>
                  <a:srgbClr val="FFFFFF"/>
                </a:solidFill>
              </a:rPr>
              <a:t>Information systems and privacy</a:t>
            </a:r>
            <a:endParaRPr lang="en-US" sz="3000" dirty="0">
              <a:solidFill>
                <a:srgbClr val="FFFFFF"/>
              </a:solidFill>
            </a:endParaRPr>
          </a:p>
        </p:txBody>
      </p:sp>
      <p:sp>
        <p:nvSpPr>
          <p:cNvPr id="4" name="TextBox 3"/>
          <p:cNvSpPr txBox="1"/>
          <p:nvPr/>
        </p:nvSpPr>
        <p:spPr>
          <a:xfrm>
            <a:off x="853440" y="2801693"/>
            <a:ext cx="9297035" cy="5456878"/>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sz="1900" dirty="0" smtClean="0">
                <a:solidFill>
                  <a:srgbClr val="FFFFFF"/>
                </a:solidFill>
              </a:rPr>
              <a:t>Privacy is the claim of individuals to be left alone, free from surveillance or interference from other individuals, e.g. –information sent over internet is monitored, captured and stored</a:t>
            </a:r>
            <a:endParaRPr lang="en-US" sz="1900" dirty="0">
              <a:solidFill>
                <a:srgbClr val="FFFFFF"/>
              </a:solidFill>
            </a:endParaRPr>
          </a:p>
          <a:p>
            <a:pPr marL="342900" indent="-342900">
              <a:lnSpc>
                <a:spcPct val="140000"/>
              </a:lnSpc>
              <a:buFont typeface="Arial" panose="020B0604020202020204" pitchFamily="34" charset="0"/>
              <a:buChar char="•"/>
            </a:pPr>
            <a:r>
              <a:rPr lang="en-US" sz="1900" dirty="0" smtClean="0">
                <a:solidFill>
                  <a:srgbClr val="FFFFFF"/>
                </a:solidFill>
              </a:rPr>
              <a:t>Cookies – small text files deposited on a computer hard drive that identify a visitor’s web browser software and tracks visits to the web site</a:t>
            </a:r>
          </a:p>
          <a:p>
            <a:pPr marL="342900" indent="-342900">
              <a:lnSpc>
                <a:spcPct val="140000"/>
              </a:lnSpc>
              <a:buFont typeface="Arial" panose="020B0604020202020204" pitchFamily="34" charset="0"/>
              <a:buChar char="•"/>
            </a:pPr>
            <a:r>
              <a:rPr lang="en-US" sz="1900" dirty="0" smtClean="0">
                <a:solidFill>
                  <a:srgbClr val="FFFFFF"/>
                </a:solidFill>
              </a:rPr>
              <a:t>Spyware – secretly installs itself on an internet user’s computer resulting in websites sending ads and unsolicited material</a:t>
            </a:r>
          </a:p>
          <a:p>
            <a:pPr marL="342900" indent="-342900">
              <a:lnSpc>
                <a:spcPct val="140000"/>
              </a:lnSpc>
              <a:buFont typeface="Arial" panose="020B0604020202020204" pitchFamily="34" charset="0"/>
              <a:buChar char="•"/>
            </a:pPr>
            <a:r>
              <a:rPr lang="en-US" sz="1900" dirty="0" smtClean="0">
                <a:solidFill>
                  <a:srgbClr val="FFFFFF"/>
                </a:solidFill>
              </a:rPr>
              <a:t>Opt-out model of informed consents permits the collection of personal information until consumer requests that data should not be collected</a:t>
            </a:r>
          </a:p>
          <a:p>
            <a:pPr marL="342900" indent="-342900">
              <a:lnSpc>
                <a:spcPct val="140000"/>
              </a:lnSpc>
              <a:buFont typeface="Arial" panose="020B0604020202020204" pitchFamily="34" charset="0"/>
              <a:buChar char="•"/>
            </a:pPr>
            <a:r>
              <a:rPr lang="en-US" sz="1900" dirty="0" smtClean="0">
                <a:solidFill>
                  <a:srgbClr val="FFFFFF"/>
                </a:solidFill>
              </a:rPr>
              <a:t>Opt-in model – businesses prohibited from collecting personal information unless the consumer specifically takes action to approve information collection</a:t>
            </a: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607688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5239" y="3048000"/>
            <a:ext cx="44640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4"/>
          <p:cNvSpPr txBox="1">
            <a:spLocks/>
          </p:cNvSpPr>
          <p:nvPr/>
        </p:nvSpPr>
        <p:spPr bwMode="auto">
          <a:xfrm>
            <a:off x="846306" y="1620771"/>
            <a:ext cx="8054502" cy="32527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buFontTx/>
              <a:buNone/>
            </a:pPr>
            <a:r>
              <a:rPr lang="en-US" altLang="en-US" sz="2000" dirty="0" smtClean="0">
                <a:solidFill>
                  <a:schemeClr val="bg1"/>
                </a:solidFill>
              </a:rPr>
              <a:t>NORA technology can take information about people from disparate sources and find obscure, nonobvious relationships. It might discover, for example, that an applicant for a job at a casino shares a telephone number with a known criminal and issue an alert to the hiring manager.</a:t>
            </a:r>
          </a:p>
          <a:p>
            <a:pPr>
              <a:buFontTx/>
              <a:buNone/>
            </a:pPr>
            <a:endParaRPr lang="en-US" altLang="en-US" sz="2000" dirty="0" smtClean="0">
              <a:solidFill>
                <a:schemeClr val="bg1"/>
              </a:solidFill>
            </a:endParaRPr>
          </a:p>
        </p:txBody>
      </p:sp>
      <p:sp>
        <p:nvSpPr>
          <p:cNvPr id="4" name="Text Placeholder 6"/>
          <p:cNvSpPr txBox="1">
            <a:spLocks/>
          </p:cNvSpPr>
          <p:nvPr/>
        </p:nvSpPr>
        <p:spPr bwMode="auto">
          <a:xfrm>
            <a:off x="1485900" y="1239771"/>
            <a:ext cx="7726194"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marL="0" indent="0">
              <a:buNone/>
            </a:pPr>
            <a:r>
              <a:rPr lang="en-US" altLang="en-US" sz="2400" dirty="0" smtClean="0">
                <a:solidFill>
                  <a:schemeClr val="bg1"/>
                </a:solidFill>
              </a:rPr>
              <a:t>NONOBVIOUS RELATIONSHIP AWARENESS (NORA)</a:t>
            </a:r>
          </a:p>
          <a:p>
            <a:pPr marL="0" indent="0">
              <a:buNone/>
            </a:pPr>
            <a:endParaRPr lang="en-US" altLang="en-US" sz="2400" dirty="0" smtClean="0">
              <a:solidFill>
                <a:schemeClr val="bg1"/>
              </a:solidFill>
            </a:endParaRPr>
          </a:p>
        </p:txBody>
      </p:sp>
    </p:spTree>
    <p:extLst>
      <p:ext uri="{BB962C8B-B14F-4D97-AF65-F5344CB8AC3E}">
        <p14:creationId xmlns:p14="http://schemas.microsoft.com/office/powerpoint/2010/main" val="260888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Property rights: intellectual property (IP)</a:t>
            </a:r>
            <a:endParaRPr lang="en-US" sz="3000" dirty="0">
              <a:solidFill>
                <a:srgbClr val="FFFFFF"/>
              </a:solidFill>
            </a:endParaRPr>
          </a:p>
        </p:txBody>
      </p:sp>
      <p:sp>
        <p:nvSpPr>
          <p:cNvPr id="4" name="TextBox 3"/>
          <p:cNvSpPr txBox="1"/>
          <p:nvPr/>
        </p:nvSpPr>
        <p:spPr>
          <a:xfrm>
            <a:off x="853440" y="2801693"/>
            <a:ext cx="9297035" cy="5090624"/>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sz="2400" u="sng" dirty="0" smtClean="0">
                <a:solidFill>
                  <a:srgbClr val="FFFFFF"/>
                </a:solidFill>
              </a:rPr>
              <a:t>IP </a:t>
            </a:r>
            <a:r>
              <a:rPr lang="en-US" sz="2400" dirty="0" smtClean="0">
                <a:solidFill>
                  <a:srgbClr val="FFFFFF"/>
                </a:solidFill>
              </a:rPr>
              <a:t>– intangible property created by individuals or corporations</a:t>
            </a:r>
          </a:p>
          <a:p>
            <a:pPr marL="342900" indent="-342900">
              <a:lnSpc>
                <a:spcPct val="140000"/>
              </a:lnSpc>
              <a:buFont typeface="Arial" panose="020B0604020202020204" pitchFamily="34" charset="0"/>
              <a:buChar char="•"/>
            </a:pPr>
            <a:r>
              <a:rPr lang="en-US" sz="2400" u="sng" dirty="0" smtClean="0">
                <a:solidFill>
                  <a:srgbClr val="FFFFFF"/>
                </a:solidFill>
              </a:rPr>
              <a:t>Trade secrets </a:t>
            </a:r>
            <a:r>
              <a:rPr lang="en-US" sz="2400" dirty="0" smtClean="0">
                <a:solidFill>
                  <a:srgbClr val="FFFFFF"/>
                </a:solidFill>
              </a:rPr>
              <a:t>– a formula, device, pattern or compilation of data – provided it is not based on information in the public domain</a:t>
            </a:r>
          </a:p>
          <a:p>
            <a:pPr marL="342900" indent="-342900">
              <a:lnSpc>
                <a:spcPct val="140000"/>
              </a:lnSpc>
              <a:buFont typeface="Arial" panose="020B0604020202020204" pitchFamily="34" charset="0"/>
              <a:buChar char="•"/>
            </a:pPr>
            <a:r>
              <a:rPr lang="en-US" sz="2400" u="sng" dirty="0" smtClean="0">
                <a:solidFill>
                  <a:srgbClr val="FFFFFF"/>
                </a:solidFill>
              </a:rPr>
              <a:t>Copyright</a:t>
            </a:r>
            <a:r>
              <a:rPr lang="en-US" sz="2400" dirty="0" smtClean="0">
                <a:solidFill>
                  <a:srgbClr val="FFFFFF"/>
                </a:solidFill>
              </a:rPr>
              <a:t> – Statutory grant that protects creators of IP from having their work copied by others for any purpose during the life of an author and an additional 70 years after author’s death</a:t>
            </a:r>
          </a:p>
          <a:p>
            <a:pPr marL="342900" indent="-342900">
              <a:lnSpc>
                <a:spcPct val="140000"/>
              </a:lnSpc>
              <a:buFont typeface="Arial" panose="020B0604020202020204" pitchFamily="34" charset="0"/>
              <a:buChar char="•"/>
            </a:pPr>
            <a:r>
              <a:rPr lang="en-US" sz="2400" u="sng" dirty="0" smtClean="0">
                <a:solidFill>
                  <a:srgbClr val="FFFFFF"/>
                </a:solidFill>
              </a:rPr>
              <a:t>Patent</a:t>
            </a:r>
            <a:r>
              <a:rPr lang="en-US" sz="2400" dirty="0" smtClean="0">
                <a:solidFill>
                  <a:srgbClr val="FFFFFF"/>
                </a:solidFill>
              </a:rPr>
              <a:t> – a patent grants the owner an exclusive monopoly of the idea behind an invention for 20 years</a:t>
            </a: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940498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Information systems and liability laws - examples</a:t>
            </a:r>
            <a:endParaRPr lang="en-US" sz="3000" dirty="0">
              <a:solidFill>
                <a:srgbClr val="FFFFFF"/>
              </a:solidFill>
            </a:endParaRPr>
          </a:p>
        </p:txBody>
      </p:sp>
      <p:sp>
        <p:nvSpPr>
          <p:cNvPr id="4" name="TextBox 3"/>
          <p:cNvSpPr txBox="1"/>
          <p:nvPr/>
        </p:nvSpPr>
        <p:spPr>
          <a:xfrm>
            <a:off x="853440" y="2801693"/>
            <a:ext cx="9297035" cy="5090624"/>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sz="2400" dirty="0" smtClean="0">
                <a:solidFill>
                  <a:srgbClr val="FFFFFF"/>
                </a:solidFill>
              </a:rPr>
              <a:t>If a person is injured by a machine that is controlled by software, who is liable?</a:t>
            </a:r>
          </a:p>
          <a:p>
            <a:pPr marL="342900" indent="-342900">
              <a:lnSpc>
                <a:spcPct val="140000"/>
              </a:lnSpc>
              <a:buFont typeface="Arial" panose="020B0604020202020204" pitchFamily="34" charset="0"/>
              <a:buChar char="•"/>
            </a:pPr>
            <a:r>
              <a:rPr lang="en-US" sz="2400" dirty="0" smtClean="0">
                <a:solidFill>
                  <a:srgbClr val="FFFFFF"/>
                </a:solidFill>
              </a:rPr>
              <a:t>Should a social networking site like Facebook be held liable for postings by users that are anti?</a:t>
            </a:r>
          </a:p>
          <a:p>
            <a:pPr marL="342900" indent="-342900">
              <a:lnSpc>
                <a:spcPct val="140000"/>
              </a:lnSpc>
              <a:buFont typeface="Arial" panose="020B0604020202020204" pitchFamily="34" charset="0"/>
              <a:buChar char="•"/>
            </a:pPr>
            <a:r>
              <a:rPr lang="en-US" sz="2400" dirty="0" smtClean="0">
                <a:solidFill>
                  <a:srgbClr val="FFFFFF"/>
                </a:solidFill>
              </a:rPr>
              <a:t>When credit card information is compromised and individuals or businesses are harmed, who is liable?</a:t>
            </a:r>
          </a:p>
          <a:p>
            <a:pPr marL="342900" indent="-342900">
              <a:lnSpc>
                <a:spcPct val="140000"/>
              </a:lnSpc>
              <a:buFont typeface="Arial" panose="020B0604020202020204" pitchFamily="34" charset="0"/>
              <a:buChar char="•"/>
            </a:pPr>
            <a:r>
              <a:rPr lang="en-US" sz="2400" dirty="0" smtClean="0">
                <a:solidFill>
                  <a:srgbClr val="FFFFFF"/>
                </a:solidFill>
              </a:rPr>
              <a:t>If an ATM fails and bank customers are inconvenienced, who is liable?</a:t>
            </a:r>
          </a:p>
          <a:p>
            <a:pPr marL="342900" indent="-342900">
              <a:lnSpc>
                <a:spcPct val="140000"/>
              </a:lnSpc>
              <a:buFont typeface="Arial" panose="020B0604020202020204" pitchFamily="34" charset="0"/>
              <a:buChar char="•"/>
            </a:pPr>
            <a:endParaRPr lang="en-US" sz="2400"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238287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Social costs of introducing ICT</a:t>
            </a:r>
            <a:endParaRPr lang="en-US" sz="3000" dirty="0">
              <a:solidFill>
                <a:srgbClr val="FFFFFF"/>
              </a:solidFill>
            </a:endParaRPr>
          </a:p>
        </p:txBody>
      </p:sp>
      <p:sp>
        <p:nvSpPr>
          <p:cNvPr id="4" name="TextBox 3"/>
          <p:cNvSpPr txBox="1"/>
          <p:nvPr/>
        </p:nvSpPr>
        <p:spPr>
          <a:xfrm>
            <a:off x="853440" y="2801693"/>
            <a:ext cx="9297035" cy="6060121"/>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sz="2100" dirty="0" smtClean="0">
                <a:solidFill>
                  <a:srgbClr val="FFFFFF"/>
                </a:solidFill>
              </a:rPr>
              <a:t>Power of centralized decision-making: decision-makers now have access to all information they require</a:t>
            </a:r>
          </a:p>
          <a:p>
            <a:pPr marL="342900" indent="-342900">
              <a:lnSpc>
                <a:spcPct val="140000"/>
              </a:lnSpc>
              <a:buFont typeface="Arial" panose="020B0604020202020204" pitchFamily="34" charset="0"/>
              <a:buChar char="•"/>
            </a:pPr>
            <a:r>
              <a:rPr lang="en-US" sz="2100" dirty="0" smtClean="0">
                <a:solidFill>
                  <a:srgbClr val="FFFFFF"/>
                </a:solidFill>
              </a:rPr>
              <a:t>Reduced response time to competition – Businesses no longer have time to adjust to competition – Just in time society</a:t>
            </a:r>
          </a:p>
          <a:p>
            <a:pPr marL="342900" indent="-342900">
              <a:lnSpc>
                <a:spcPct val="140000"/>
              </a:lnSpc>
              <a:buFont typeface="Arial" panose="020B0604020202020204" pitchFamily="34" charset="0"/>
              <a:buChar char="•"/>
            </a:pPr>
            <a:r>
              <a:rPr lang="en-US" sz="2100" dirty="0" smtClean="0">
                <a:solidFill>
                  <a:srgbClr val="FFFFFF"/>
                </a:solidFill>
              </a:rPr>
              <a:t>Family, work and leisure boundaries  non-existent – work is anytime, anywhere</a:t>
            </a:r>
          </a:p>
          <a:p>
            <a:pPr marL="342900" indent="-342900">
              <a:lnSpc>
                <a:spcPct val="140000"/>
              </a:lnSpc>
              <a:buFont typeface="Arial" panose="020B0604020202020204" pitchFamily="34" charset="0"/>
              <a:buChar char="•"/>
            </a:pPr>
            <a:r>
              <a:rPr lang="en-US" sz="2100" dirty="0" smtClean="0">
                <a:solidFill>
                  <a:srgbClr val="FFFFFF"/>
                </a:solidFill>
              </a:rPr>
              <a:t>Dependence and vulnerability – dependence on information systems means vulnerability when they fail</a:t>
            </a:r>
          </a:p>
          <a:p>
            <a:pPr marL="342900" indent="-342900">
              <a:lnSpc>
                <a:spcPct val="140000"/>
              </a:lnSpc>
              <a:buFont typeface="Arial" panose="020B0604020202020204" pitchFamily="34" charset="0"/>
              <a:buChar char="•"/>
            </a:pPr>
            <a:r>
              <a:rPr lang="en-US" sz="2100" dirty="0" smtClean="0">
                <a:solidFill>
                  <a:srgbClr val="FFFFFF"/>
                </a:solidFill>
              </a:rPr>
              <a:t>Computer crime – commission of illegal acts through a computer, e.g. </a:t>
            </a:r>
            <a:r>
              <a:rPr lang="en-US" sz="2200" dirty="0" smtClean="0">
                <a:solidFill>
                  <a:srgbClr val="FFFFFF"/>
                </a:solidFill>
              </a:rPr>
              <a:t>identity theft, fraud</a:t>
            </a:r>
          </a:p>
          <a:p>
            <a:pPr marL="342900" indent="-342900">
              <a:lnSpc>
                <a:spcPct val="140000"/>
              </a:lnSpc>
              <a:buFont typeface="Arial" panose="020B0604020202020204" pitchFamily="34" charset="0"/>
              <a:buChar char="•"/>
            </a:pPr>
            <a:endParaRPr lang="en-US" sz="2200" dirty="0" smtClean="0">
              <a:solidFill>
                <a:srgbClr val="FFFFFF"/>
              </a:solidFill>
            </a:endParaRPr>
          </a:p>
          <a:p>
            <a:pPr marL="342900" indent="-342900">
              <a:lnSpc>
                <a:spcPct val="140000"/>
              </a:lnSpc>
              <a:buFont typeface="Arial" panose="020B0604020202020204" pitchFamily="34" charset="0"/>
              <a:buChar char="•"/>
            </a:pPr>
            <a:endParaRPr lang="en-US" sz="2400"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843792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Social costs of introducing ICT</a:t>
            </a:r>
            <a:endParaRPr lang="en-US" sz="3000" dirty="0">
              <a:solidFill>
                <a:srgbClr val="FFFFFF"/>
              </a:solidFill>
            </a:endParaRPr>
          </a:p>
        </p:txBody>
      </p:sp>
      <p:sp>
        <p:nvSpPr>
          <p:cNvPr id="4" name="TextBox 3"/>
          <p:cNvSpPr txBox="1"/>
          <p:nvPr/>
        </p:nvSpPr>
        <p:spPr>
          <a:xfrm>
            <a:off x="853440" y="2801693"/>
            <a:ext cx="9297035" cy="6081665"/>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sz="2400" dirty="0" smtClean="0">
                <a:solidFill>
                  <a:srgbClr val="FFFFFF"/>
                </a:solidFill>
              </a:rPr>
              <a:t>Computer abuse – commission of acts involving a computer that may not be illegal but are considered unethical, e.g. spam, junk mail</a:t>
            </a:r>
          </a:p>
          <a:p>
            <a:pPr marL="342900" indent="-342900">
              <a:lnSpc>
                <a:spcPct val="140000"/>
              </a:lnSpc>
              <a:buFont typeface="Arial" panose="020B0604020202020204" pitchFamily="34" charset="0"/>
              <a:buChar char="•"/>
            </a:pPr>
            <a:r>
              <a:rPr lang="en-US" sz="2400" dirty="0" smtClean="0">
                <a:solidFill>
                  <a:srgbClr val="FFFFFF"/>
                </a:solidFill>
              </a:rPr>
              <a:t>Employment – Re-engineering work leading to job losses and unemployment</a:t>
            </a:r>
          </a:p>
          <a:p>
            <a:pPr marL="342900" indent="-342900">
              <a:lnSpc>
                <a:spcPct val="140000"/>
              </a:lnSpc>
              <a:buFont typeface="Arial" panose="020B0604020202020204" pitchFamily="34" charset="0"/>
              <a:buChar char="•"/>
            </a:pPr>
            <a:r>
              <a:rPr lang="en-US" sz="2400" dirty="0" smtClean="0">
                <a:solidFill>
                  <a:srgbClr val="FFFFFF"/>
                </a:solidFill>
              </a:rPr>
              <a:t>Equity and access – Will social, economic and cultural gaps be reduced by ICT or increased?. Poor communities are less likely to have access to computers and the internet – digital divide</a:t>
            </a:r>
          </a:p>
          <a:p>
            <a:pPr marL="342900" indent="-342900">
              <a:lnSpc>
                <a:spcPct val="140000"/>
              </a:lnSpc>
              <a:buFont typeface="Arial" panose="020B0604020202020204" pitchFamily="34" charset="0"/>
              <a:buChar char="•"/>
            </a:pPr>
            <a:r>
              <a:rPr lang="en-US" sz="2400" dirty="0" smtClean="0">
                <a:solidFill>
                  <a:srgbClr val="FFFFFF"/>
                </a:solidFill>
              </a:rPr>
              <a:t>Health risks – Ergonomics, radiation from computers, vison problems</a:t>
            </a:r>
          </a:p>
          <a:p>
            <a:pPr marL="342900" indent="-342900">
              <a:lnSpc>
                <a:spcPct val="140000"/>
              </a:lnSpc>
              <a:buFont typeface="Arial" panose="020B0604020202020204" pitchFamily="34" charset="0"/>
              <a:buChar char="•"/>
            </a:pPr>
            <a:endParaRPr lang="en-US" sz="2200" dirty="0" smtClean="0">
              <a:solidFill>
                <a:srgbClr val="FFFFFF"/>
              </a:solidFill>
            </a:endParaRPr>
          </a:p>
          <a:p>
            <a:pPr marL="342900" indent="-342900">
              <a:lnSpc>
                <a:spcPct val="140000"/>
              </a:lnSpc>
              <a:buFont typeface="Arial" panose="020B0604020202020204" pitchFamily="34" charset="0"/>
              <a:buChar char="•"/>
            </a:pPr>
            <a:endParaRPr lang="en-US" sz="2400"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071125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9932" y="1813302"/>
            <a:ext cx="9035512" cy="4401205"/>
          </a:xfrm>
          <a:prstGeom prst="rect">
            <a:avLst/>
          </a:prstGeom>
        </p:spPr>
        <p:txBody>
          <a:bodyPr wrap="square">
            <a:spAutoFit/>
          </a:bodyPr>
          <a:lstStyle/>
          <a:p>
            <a:pPr marL="342900" indent="-342900" hangingPunct="0">
              <a:spcAft>
                <a:spcPts val="0"/>
              </a:spcAft>
              <a:buFont typeface="Arial" panose="020B0604020202020204" pitchFamily="34" charset="0"/>
              <a:buChar char="•"/>
            </a:pPr>
            <a:r>
              <a:rPr lang="en-US" sz="2800" b="1" dirty="0" smtClean="0">
                <a:solidFill>
                  <a:schemeClr val="bg1"/>
                </a:solidFill>
                <a:ea typeface="Times New Roman" panose="02020603050405020304" pitchFamily="18" charset="0"/>
                <a:cs typeface="Segoe UI Light" panose="020B0502040204020203" pitchFamily="34" charset="0"/>
              </a:rPr>
              <a:t>Ethics </a:t>
            </a:r>
            <a:r>
              <a:rPr lang="en-US" sz="2800" b="1" dirty="0">
                <a:solidFill>
                  <a:schemeClr val="bg1"/>
                </a:solidFill>
                <a:ea typeface="Times New Roman" panose="02020603050405020304" pitchFamily="18" charset="0"/>
                <a:cs typeface="Segoe UI Light" panose="020B0502040204020203" pitchFamily="34" charset="0"/>
              </a:rPr>
              <a:t>in an information society holds each person responsible for his or her actions.</a:t>
            </a:r>
            <a:r>
              <a:rPr lang="en-US" sz="2800" dirty="0">
                <a:solidFill>
                  <a:schemeClr val="bg1"/>
                </a:solidFill>
                <a:ea typeface="Times New Roman" panose="02020603050405020304" pitchFamily="18" charset="0"/>
                <a:cs typeface="Segoe UI Light" panose="020B0502040204020203" pitchFamily="34" charset="0"/>
              </a:rPr>
              <a:t> </a:t>
            </a:r>
            <a:endParaRPr lang="en-US" sz="2800" dirty="0" smtClean="0">
              <a:solidFill>
                <a:schemeClr val="bg1"/>
              </a:solidFill>
              <a:ea typeface="Times New Roman" panose="02020603050405020304" pitchFamily="18" charset="0"/>
              <a:cs typeface="Segoe UI Light" panose="020B0502040204020203" pitchFamily="34" charset="0"/>
            </a:endParaRPr>
          </a:p>
          <a:p>
            <a:pPr marL="342900" indent="-342900" hangingPunct="0">
              <a:spcAft>
                <a:spcPts val="0"/>
              </a:spcAft>
              <a:buFont typeface="Arial" panose="020B0604020202020204" pitchFamily="34" charset="0"/>
              <a:buChar char="•"/>
            </a:pPr>
            <a:endParaRPr lang="en-US" sz="2800" dirty="0">
              <a:solidFill>
                <a:schemeClr val="bg1"/>
              </a:solidFill>
              <a:ea typeface="Times New Roman" panose="02020603050405020304" pitchFamily="18" charset="0"/>
              <a:cs typeface="Segoe UI Light" panose="020B0502040204020203" pitchFamily="34" charset="0"/>
            </a:endParaRPr>
          </a:p>
          <a:p>
            <a:pPr marL="342900" indent="-342900" hangingPunct="0">
              <a:spcAft>
                <a:spcPts val="0"/>
              </a:spcAft>
              <a:buFont typeface="Arial" panose="020B0604020202020204" pitchFamily="34" charset="0"/>
              <a:buChar char="•"/>
            </a:pPr>
            <a:endParaRPr lang="en-US" sz="2800" dirty="0" smtClean="0">
              <a:solidFill>
                <a:schemeClr val="bg1"/>
              </a:solidFill>
              <a:ea typeface="Times New Roman" panose="02020603050405020304" pitchFamily="18" charset="0"/>
              <a:cs typeface="Segoe UI Light" panose="020B0502040204020203" pitchFamily="34" charset="0"/>
            </a:endParaRPr>
          </a:p>
          <a:p>
            <a:pPr marL="342900" indent="-342900" hangingPunct="0">
              <a:spcAft>
                <a:spcPts val="0"/>
              </a:spcAft>
              <a:buFont typeface="Arial" panose="020B0604020202020204" pitchFamily="34" charset="0"/>
              <a:buChar char="•"/>
            </a:pPr>
            <a:r>
              <a:rPr lang="en-US" sz="2800" b="1" dirty="0" smtClean="0">
                <a:solidFill>
                  <a:schemeClr val="bg1"/>
                </a:solidFill>
                <a:ea typeface="Times New Roman" panose="02020603050405020304" pitchFamily="18" charset="0"/>
                <a:cs typeface="Segoe UI Light" panose="020B0502040204020203" pitchFamily="34" charset="0"/>
              </a:rPr>
              <a:t>Each </a:t>
            </a:r>
            <a:r>
              <a:rPr lang="en-US" sz="2800" b="1" dirty="0">
                <a:solidFill>
                  <a:schemeClr val="bg1"/>
                </a:solidFill>
                <a:ea typeface="Times New Roman" panose="02020603050405020304" pitchFamily="18" charset="0"/>
                <a:cs typeface="Segoe UI Light" panose="020B0502040204020203" pitchFamily="34" charset="0"/>
              </a:rPr>
              <a:t>person is accountable for everything he or she does, no matter how anonymous the action may seem</a:t>
            </a:r>
            <a:r>
              <a:rPr lang="en-US" sz="2800" b="1" dirty="0" smtClean="0">
                <a:solidFill>
                  <a:schemeClr val="bg1"/>
                </a:solidFill>
                <a:ea typeface="Times New Roman" panose="02020603050405020304" pitchFamily="18" charset="0"/>
                <a:cs typeface="Segoe UI Light" panose="020B0502040204020203" pitchFamily="34" charset="0"/>
              </a:rPr>
              <a:t>.</a:t>
            </a:r>
          </a:p>
          <a:p>
            <a:pPr hangingPunct="0">
              <a:spcAft>
                <a:spcPts val="0"/>
              </a:spcAft>
            </a:pPr>
            <a:endParaRPr lang="en-US" sz="2800" dirty="0" smtClean="0">
              <a:solidFill>
                <a:schemeClr val="bg1"/>
              </a:solidFill>
              <a:ea typeface="Times New Roman" panose="02020603050405020304" pitchFamily="18" charset="0"/>
              <a:cs typeface="Segoe UI Light" panose="020B0502040204020203" pitchFamily="34" charset="0"/>
            </a:endParaRPr>
          </a:p>
          <a:p>
            <a:pPr marL="342900" indent="-342900" hangingPunct="0">
              <a:spcAft>
                <a:spcPts val="0"/>
              </a:spcAft>
              <a:buFont typeface="Arial" panose="020B0604020202020204" pitchFamily="34" charset="0"/>
              <a:buChar char="•"/>
            </a:pPr>
            <a:r>
              <a:rPr lang="en-US" sz="2800" b="1" dirty="0" smtClean="0">
                <a:solidFill>
                  <a:schemeClr val="bg1"/>
                </a:solidFill>
                <a:ea typeface="Times New Roman" panose="02020603050405020304" pitchFamily="18" charset="0"/>
                <a:cs typeface="Segoe UI Light" panose="020B0502040204020203" pitchFamily="34" charset="0"/>
              </a:rPr>
              <a:t>Each </a:t>
            </a:r>
            <a:r>
              <a:rPr lang="en-US" sz="2800" b="1" dirty="0">
                <a:solidFill>
                  <a:schemeClr val="bg1"/>
                </a:solidFill>
                <a:ea typeface="Times New Roman" panose="02020603050405020304" pitchFamily="18" charset="0"/>
                <a:cs typeface="Segoe UI Light" panose="020B0502040204020203" pitchFamily="34" charset="0"/>
              </a:rPr>
              <a:t>person is liable for the consequences his or her actions may inflict on other people and society as a whole.</a:t>
            </a:r>
            <a:endParaRPr lang="en-GB" sz="2800" dirty="0">
              <a:solidFill>
                <a:schemeClr val="bg1"/>
              </a:solidFill>
              <a:ea typeface="Times New Roman" panose="02020603050405020304" pitchFamily="18" charset="0"/>
              <a:cs typeface="Segoe UI Light" panose="020B0502040204020203" pitchFamily="34" charset="0"/>
            </a:endParaRPr>
          </a:p>
        </p:txBody>
      </p:sp>
    </p:spTree>
    <p:extLst>
      <p:ext uri="{BB962C8B-B14F-4D97-AF65-F5344CB8AC3E}">
        <p14:creationId xmlns:p14="http://schemas.microsoft.com/office/powerpoint/2010/main" val="2379363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9925" y="2938793"/>
            <a:ext cx="8980182" cy="923330"/>
          </a:xfrm>
          <a:prstGeom prst="rect">
            <a:avLst/>
          </a:prstGeom>
          <a:noFill/>
        </p:spPr>
        <p:txBody>
          <a:bodyPr wrap="square" rtlCol="0">
            <a:spAutoFit/>
          </a:bodyPr>
          <a:lstStyle/>
          <a:p>
            <a:pPr algn="ctr"/>
            <a:r>
              <a:rPr lang="en-US" sz="5400" dirty="0" smtClean="0">
                <a:solidFill>
                  <a:srgbClr val="FFFFFF"/>
                </a:solidFill>
              </a:rPr>
              <a:t>Thank You.</a:t>
            </a:r>
            <a:endParaRPr lang="en-US" sz="5400" dirty="0">
              <a:solidFill>
                <a:srgbClr val="FFFFFF"/>
              </a:solidFill>
            </a:endParaRPr>
          </a:p>
        </p:txBody>
      </p:sp>
      <p:sp>
        <p:nvSpPr>
          <p:cNvPr id="4" name="TextBox 3"/>
          <p:cNvSpPr txBox="1"/>
          <p:nvPr/>
        </p:nvSpPr>
        <p:spPr>
          <a:xfrm>
            <a:off x="7205026" y="583405"/>
            <a:ext cx="2002081" cy="646331"/>
          </a:xfrm>
          <a:prstGeom prst="rect">
            <a:avLst/>
          </a:prstGeom>
          <a:noFill/>
        </p:spPr>
        <p:txBody>
          <a:bodyPr wrap="square" rtlCol="0">
            <a:spAutoFit/>
          </a:bodyPr>
          <a:lstStyle/>
          <a:p>
            <a:r>
              <a:rPr lang="en-US" sz="900" dirty="0">
                <a:solidFill>
                  <a:schemeClr val="bg1"/>
                </a:solidFill>
              </a:rPr>
              <a:t>13 </a:t>
            </a:r>
            <a:r>
              <a:rPr lang="en-US" sz="900" dirty="0" err="1">
                <a:solidFill>
                  <a:schemeClr val="bg1"/>
                </a:solidFill>
              </a:rPr>
              <a:t>Storch</a:t>
            </a:r>
            <a:r>
              <a:rPr lang="en-US" sz="900" dirty="0">
                <a:solidFill>
                  <a:schemeClr val="bg1"/>
                </a:solidFill>
              </a:rPr>
              <a:t> Street </a:t>
            </a:r>
          </a:p>
          <a:p>
            <a:r>
              <a:rPr lang="it-IT" sz="900" dirty="0" smtClean="0">
                <a:solidFill>
                  <a:schemeClr val="bg1"/>
                </a:solidFill>
              </a:rPr>
              <a:t>Private </a:t>
            </a:r>
            <a:r>
              <a:rPr lang="it-IT" sz="900" dirty="0" err="1">
                <a:solidFill>
                  <a:schemeClr val="bg1"/>
                </a:solidFill>
              </a:rPr>
              <a:t>Bag</a:t>
            </a:r>
            <a:r>
              <a:rPr lang="it-IT" sz="900" dirty="0">
                <a:solidFill>
                  <a:schemeClr val="bg1"/>
                </a:solidFill>
              </a:rPr>
              <a:t> 13388 </a:t>
            </a:r>
          </a:p>
          <a:p>
            <a:r>
              <a:rPr lang="nl-NL" sz="900" dirty="0" smtClean="0">
                <a:solidFill>
                  <a:schemeClr val="bg1"/>
                </a:solidFill>
              </a:rPr>
              <a:t>Windhoek</a:t>
            </a:r>
            <a:endParaRPr lang="nl-NL" sz="900" dirty="0">
              <a:solidFill>
                <a:schemeClr val="bg1"/>
              </a:solidFill>
            </a:endParaRPr>
          </a:p>
          <a:p>
            <a:r>
              <a:rPr lang="nl-NL" sz="900" dirty="0" smtClean="0">
                <a:solidFill>
                  <a:schemeClr val="bg1"/>
                </a:solidFill>
              </a:rPr>
              <a:t>NAMIBIA</a:t>
            </a:r>
            <a:endParaRPr lang="en-US" sz="900" dirty="0">
              <a:solidFill>
                <a:schemeClr val="bg1"/>
              </a:solidFill>
            </a:endParaRPr>
          </a:p>
        </p:txBody>
      </p:sp>
      <p:sp>
        <p:nvSpPr>
          <p:cNvPr id="6" name="TextBox 5"/>
          <p:cNvSpPr txBox="1"/>
          <p:nvPr/>
        </p:nvSpPr>
        <p:spPr>
          <a:xfrm>
            <a:off x="8552699" y="583405"/>
            <a:ext cx="1580744" cy="646331"/>
          </a:xfrm>
          <a:prstGeom prst="rect">
            <a:avLst/>
          </a:prstGeom>
          <a:noFill/>
        </p:spPr>
        <p:txBody>
          <a:bodyPr wrap="square" rtlCol="0">
            <a:spAutoFit/>
          </a:bodyPr>
          <a:lstStyle/>
          <a:p>
            <a:pPr marL="173038" indent="-173038"/>
            <a:r>
              <a:rPr lang="fi-FI" sz="900" dirty="0" smtClean="0">
                <a:solidFill>
                  <a:schemeClr val="bg1"/>
                </a:solidFill>
              </a:rPr>
              <a:t>T:	+264 61 207 2258</a:t>
            </a:r>
          </a:p>
          <a:p>
            <a:pPr marL="173038" indent="-173038"/>
            <a:r>
              <a:rPr lang="fi-FI" sz="900" dirty="0" smtClean="0">
                <a:solidFill>
                  <a:schemeClr val="bg1"/>
                </a:solidFill>
              </a:rPr>
              <a:t>F:	+264 61 207 9258</a:t>
            </a:r>
          </a:p>
          <a:p>
            <a:pPr marL="173038" indent="-173038"/>
            <a:r>
              <a:rPr lang="fi-FI" sz="900" dirty="0" smtClean="0">
                <a:solidFill>
                  <a:schemeClr val="bg1"/>
                </a:solidFill>
              </a:rPr>
              <a:t>E:	</a:t>
            </a:r>
            <a:r>
              <a:rPr lang="fi-FI" sz="900" dirty="0" err="1" smtClean="0">
                <a:solidFill>
                  <a:schemeClr val="bg1"/>
                </a:solidFill>
              </a:rPr>
              <a:t>fci@nust.na</a:t>
            </a:r>
            <a:endParaRPr lang="fi-FI" sz="900" dirty="0" smtClean="0">
              <a:solidFill>
                <a:schemeClr val="bg1"/>
              </a:solidFill>
            </a:endParaRPr>
          </a:p>
          <a:p>
            <a:pPr marL="173038" indent="-173038"/>
            <a:r>
              <a:rPr lang="fi-FI" sz="900" dirty="0">
                <a:solidFill>
                  <a:schemeClr val="bg1"/>
                </a:solidFill>
              </a:rPr>
              <a:t>W</a:t>
            </a:r>
            <a:r>
              <a:rPr lang="fi-FI" sz="900" dirty="0" smtClean="0">
                <a:solidFill>
                  <a:schemeClr val="bg1"/>
                </a:solidFill>
              </a:rPr>
              <a:t>:	</a:t>
            </a:r>
            <a:r>
              <a:rPr lang="fi-FI" sz="900" dirty="0" err="1" smtClean="0">
                <a:solidFill>
                  <a:schemeClr val="bg1"/>
                </a:solidFill>
              </a:rPr>
              <a:t>www.nust.na</a:t>
            </a:r>
            <a:endParaRPr lang="en-US" sz="900" dirty="0">
              <a:solidFill>
                <a:schemeClr val="bg1"/>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 of Computing and </a:t>
            </a:r>
            <a:r>
              <a:rPr lang="en-US" sz="2000" b="1" i="0" u="none" strike="noStrike" dirty="0" smtClean="0">
                <a:solidFill>
                  <a:srgbClr val="FFFFFF"/>
                </a:solidFill>
                <a:latin typeface="RopaSoftPro-Regular"/>
              </a:rPr>
              <a:t>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028269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5e470c5-d555-45ea-b7d4-7b5e2c49540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18" ma:contentTypeDescription="Create a new document." ma:contentTypeScope="" ma:versionID="a6d20e04a112aed12b6a54852c9965fc">
  <xsd:schema xmlns:xsd="http://www.w3.org/2001/XMLSchema" xmlns:xs="http://www.w3.org/2001/XMLSchema" xmlns:p="http://schemas.microsoft.com/office/2006/metadata/properties" xmlns:ns3="ff360b5c-1491-4de7-9038-42ebdf865dbe" xmlns:ns4="95e470c5-d555-45ea-b7d4-7b5e2c49540b" targetNamespace="http://schemas.microsoft.com/office/2006/metadata/properties" ma:root="true" ma:fieldsID="3670b74b3cd2f2706484e3aa08490ff2" ns3:_="" ns4:_="">
    <xsd:import namespace="ff360b5c-1491-4de7-9038-42ebdf865dbe"/>
    <xsd:import namespace="95e470c5-d555-45ea-b7d4-7b5e2c49540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AutoKeyPoints" minOccurs="0"/>
                <xsd:element ref="ns4:MediaServiceKeyPoints" minOccurs="0"/>
                <xsd:element ref="ns4:MediaServiceLocation" minOccurs="0"/>
                <xsd:element ref="ns4:MediaLengthInSeconds" minOccurs="0"/>
                <xsd:element ref="ns4:MediaServiceSearchProperties" minOccurs="0"/>
                <xsd:element ref="ns4:_activity"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60b5c-1491-4de7-9038-42ebdf865d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25789A-E2A8-4F1B-ABD5-C19FF91D3349}">
  <ds:schemaRefs>
    <ds:schemaRef ds:uri="http://schemas.microsoft.com/sharepoint/v3/contenttype/forms"/>
  </ds:schemaRefs>
</ds:datastoreItem>
</file>

<file path=customXml/itemProps2.xml><?xml version="1.0" encoding="utf-8"?>
<ds:datastoreItem xmlns:ds="http://schemas.openxmlformats.org/officeDocument/2006/customXml" ds:itemID="{F3BC5A60-C0C9-4566-9842-1500687F6955}">
  <ds:schemaRefs>
    <ds:schemaRef ds:uri="http://schemas.microsoft.com/office/infopath/2007/PartnerControls"/>
    <ds:schemaRef ds:uri="http://www.w3.org/XML/1998/namespace"/>
    <ds:schemaRef ds:uri="http://schemas.openxmlformats.org/package/2006/metadata/core-properties"/>
    <ds:schemaRef ds:uri="http://purl.org/dc/elements/1.1/"/>
    <ds:schemaRef ds:uri="http://schemas.microsoft.com/office/2006/documentManagement/types"/>
    <ds:schemaRef ds:uri="http://purl.org/dc/terms/"/>
    <ds:schemaRef ds:uri="http://purl.org/dc/dcmitype/"/>
    <ds:schemaRef ds:uri="95e470c5-d555-45ea-b7d4-7b5e2c49540b"/>
    <ds:schemaRef ds:uri="ff360b5c-1491-4de7-9038-42ebdf865dbe"/>
    <ds:schemaRef ds:uri="http://schemas.microsoft.com/office/2006/metadata/properties"/>
  </ds:schemaRefs>
</ds:datastoreItem>
</file>

<file path=customXml/itemProps3.xml><?xml version="1.0" encoding="utf-8"?>
<ds:datastoreItem xmlns:ds="http://schemas.openxmlformats.org/officeDocument/2006/customXml" ds:itemID="{BE12F934-02AC-4926-97A7-A5DDBBA739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60b5c-1491-4de7-9038-42ebdf865dbe"/>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3102</TotalTime>
  <Words>1320</Words>
  <Application>Microsoft Office PowerPoint</Application>
  <PresentationFormat>Custom</PresentationFormat>
  <Paragraphs>113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ＭＳ Ｐゴシック</vt:lpstr>
      <vt:lpstr>Arial</vt:lpstr>
      <vt:lpstr>Calibri</vt:lpstr>
      <vt:lpstr>RopaSoftPro-Regular</vt:lpstr>
      <vt:lpstr>Segoe UI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Mthembo, Nkululeko</cp:lastModifiedBy>
  <cp:revision>135</cp:revision>
  <dcterms:created xsi:type="dcterms:W3CDTF">2015-11-09T03:14:54Z</dcterms:created>
  <dcterms:modified xsi:type="dcterms:W3CDTF">2025-03-21T16:28:56Z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