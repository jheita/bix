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2" r:id="rId1"/>
    <p:sldMasterId id="2147483648" r:id="rId2"/>
    <p:sldMasterId id="2147483808" r:id="rId3"/>
  </p:sldMasterIdLst>
  <p:sldIdLst>
    <p:sldId id="286" r:id="rId4"/>
    <p:sldId id="257" r:id="rId5"/>
    <p:sldId id="259" r:id="rId6"/>
    <p:sldId id="285" r:id="rId7"/>
    <p:sldId id="277" r:id="rId8"/>
    <p:sldId id="278" r:id="rId9"/>
    <p:sldId id="258" r:id="rId10"/>
    <p:sldId id="260" r:id="rId11"/>
    <p:sldId id="263" r:id="rId12"/>
    <p:sldId id="267" r:id="rId13"/>
    <p:sldId id="270" r:id="rId14"/>
    <p:sldId id="265" r:id="rId15"/>
    <p:sldId id="266" r:id="rId16"/>
    <p:sldId id="269" r:id="rId17"/>
    <p:sldId id="268" r:id="rId18"/>
    <p:sldId id="275" r:id="rId19"/>
    <p:sldId id="279" r:id="rId20"/>
    <p:sldId id="271" r:id="rId21"/>
    <p:sldId id="274" r:id="rId22"/>
    <p:sldId id="262" r:id="rId23"/>
    <p:sldId id="273" r:id="rId24"/>
    <p:sldId id="282" r:id="rId25"/>
    <p:sldId id="280" r:id="rId26"/>
    <p:sldId id="281" r:id="rId27"/>
    <p:sldId id="283"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3" d="100"/>
          <a:sy n="83" d="100"/>
        </p:scale>
        <p:origin x="686"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viewProps" Target="view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4E8D9D1-9B62-4DDC-BDFE-8A7206991715}"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CCE2631F-3745-4413-B81F-B5ADF34C3AA4}">
      <dgm:prSet/>
      <dgm:spPr/>
      <dgm:t>
        <a:bodyPr/>
        <a:lstStyle/>
        <a:p>
          <a:pPr>
            <a:defRPr cap="all"/>
          </a:pPr>
          <a:r>
            <a:rPr lang="en-US"/>
            <a:t>Let’s discuss these questions.</a:t>
          </a:r>
        </a:p>
      </dgm:t>
    </dgm:pt>
    <dgm:pt modelId="{35CF3716-89AA-45CF-98A0-83957B307812}" type="parTrans" cxnId="{75B7492A-4C99-42B9-B019-488B0EA275DE}">
      <dgm:prSet/>
      <dgm:spPr/>
      <dgm:t>
        <a:bodyPr/>
        <a:lstStyle/>
        <a:p>
          <a:endParaRPr lang="en-US"/>
        </a:p>
      </dgm:t>
    </dgm:pt>
    <dgm:pt modelId="{7F2341FC-407B-4ABE-A736-AE1D8FFD50F2}" type="sibTrans" cxnId="{75B7492A-4C99-42B9-B019-488B0EA275DE}">
      <dgm:prSet/>
      <dgm:spPr/>
      <dgm:t>
        <a:bodyPr/>
        <a:lstStyle/>
        <a:p>
          <a:endParaRPr lang="en-US"/>
        </a:p>
      </dgm:t>
    </dgm:pt>
    <dgm:pt modelId="{DC83AEA5-FBDF-4885-9F0C-364CE08D5901}">
      <dgm:prSet/>
      <dgm:spPr/>
      <dgm:t>
        <a:bodyPr/>
        <a:lstStyle/>
        <a:p>
          <a:pPr>
            <a:defRPr cap="all"/>
          </a:pPr>
          <a:r>
            <a:rPr lang="en-US"/>
            <a:t>How are records stored in organisations ?</a:t>
          </a:r>
        </a:p>
      </dgm:t>
    </dgm:pt>
    <dgm:pt modelId="{FD77F54F-DD9F-4FCE-914F-73F01E668FA8}" type="parTrans" cxnId="{3E53F2B4-4053-42D3-B7DC-F83746E27B82}">
      <dgm:prSet/>
      <dgm:spPr/>
      <dgm:t>
        <a:bodyPr/>
        <a:lstStyle/>
        <a:p>
          <a:endParaRPr lang="en-US"/>
        </a:p>
      </dgm:t>
    </dgm:pt>
    <dgm:pt modelId="{2AF85F30-223A-4915-94B8-7397BE50B865}" type="sibTrans" cxnId="{3E53F2B4-4053-42D3-B7DC-F83746E27B82}">
      <dgm:prSet/>
      <dgm:spPr/>
      <dgm:t>
        <a:bodyPr/>
        <a:lstStyle/>
        <a:p>
          <a:endParaRPr lang="en-US"/>
        </a:p>
      </dgm:t>
    </dgm:pt>
    <dgm:pt modelId="{5B253BAF-2185-4D3D-83E2-1A49D3CB31CD}">
      <dgm:prSet/>
      <dgm:spPr/>
      <dgm:t>
        <a:bodyPr/>
        <a:lstStyle/>
        <a:p>
          <a:pPr>
            <a:defRPr cap="all"/>
          </a:pPr>
          <a:r>
            <a:rPr lang="en-US"/>
            <a:t>How easy is it to access and update the records?</a:t>
          </a:r>
        </a:p>
      </dgm:t>
    </dgm:pt>
    <dgm:pt modelId="{5BB19127-D436-4145-AFDA-8EF9DB1566C8}" type="parTrans" cxnId="{A58C0E2C-13CE-4E31-B41A-332E271A52BA}">
      <dgm:prSet/>
      <dgm:spPr/>
      <dgm:t>
        <a:bodyPr/>
        <a:lstStyle/>
        <a:p>
          <a:endParaRPr lang="en-US"/>
        </a:p>
      </dgm:t>
    </dgm:pt>
    <dgm:pt modelId="{A9EB8826-D822-4686-A6F7-969F3B14FCDC}" type="sibTrans" cxnId="{A58C0E2C-13CE-4E31-B41A-332E271A52BA}">
      <dgm:prSet/>
      <dgm:spPr/>
      <dgm:t>
        <a:bodyPr/>
        <a:lstStyle/>
        <a:p>
          <a:endParaRPr lang="en-US"/>
        </a:p>
      </dgm:t>
    </dgm:pt>
    <dgm:pt modelId="{212072F4-9761-4701-BD7C-182124A1EE73}">
      <dgm:prSet/>
      <dgm:spPr/>
      <dgm:t>
        <a:bodyPr/>
        <a:lstStyle/>
        <a:p>
          <a:pPr>
            <a:defRPr cap="all"/>
          </a:pPr>
          <a:r>
            <a:rPr lang="en-US"/>
            <a:t>Are there ways in which the current processes can be improved?</a:t>
          </a:r>
        </a:p>
      </dgm:t>
    </dgm:pt>
    <dgm:pt modelId="{A13CDFB1-7DF7-43CA-93DF-29AFDB9CEE4B}" type="parTrans" cxnId="{0D6C6A44-44C6-476C-BB1A-9BE42A50A732}">
      <dgm:prSet/>
      <dgm:spPr/>
      <dgm:t>
        <a:bodyPr/>
        <a:lstStyle/>
        <a:p>
          <a:endParaRPr lang="en-US"/>
        </a:p>
      </dgm:t>
    </dgm:pt>
    <dgm:pt modelId="{52E580A2-5D1A-4782-BED4-2FC5AB8243E4}" type="sibTrans" cxnId="{0D6C6A44-44C6-476C-BB1A-9BE42A50A732}">
      <dgm:prSet/>
      <dgm:spPr/>
      <dgm:t>
        <a:bodyPr/>
        <a:lstStyle/>
        <a:p>
          <a:endParaRPr lang="en-US"/>
        </a:p>
      </dgm:t>
    </dgm:pt>
    <dgm:pt modelId="{4C398A17-9B63-470E-BA36-77B36CB717D4}" type="pres">
      <dgm:prSet presAssocID="{04E8D9D1-9B62-4DDC-BDFE-8A7206991715}" presName="root" presStyleCnt="0">
        <dgm:presLayoutVars>
          <dgm:dir/>
          <dgm:resizeHandles val="exact"/>
        </dgm:presLayoutVars>
      </dgm:prSet>
      <dgm:spPr/>
    </dgm:pt>
    <dgm:pt modelId="{4CA32848-CD9B-40FF-A519-0F0E9F6BB6C1}" type="pres">
      <dgm:prSet presAssocID="{CCE2631F-3745-4413-B81F-B5ADF34C3AA4}" presName="compNode" presStyleCnt="0"/>
      <dgm:spPr/>
    </dgm:pt>
    <dgm:pt modelId="{F422050A-9741-45A7-9732-81A774AD54F0}" type="pres">
      <dgm:prSet presAssocID="{CCE2631F-3745-4413-B81F-B5ADF34C3AA4}" presName="iconBgRect" presStyleLbl="bgShp" presStyleIdx="0" presStyleCnt="4"/>
      <dgm:spPr/>
    </dgm:pt>
    <dgm:pt modelId="{727566BB-6DE7-4892-9CE7-76180143FB23}" type="pres">
      <dgm:prSet presAssocID="{CCE2631F-3745-4413-B81F-B5ADF34C3AA4}"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at"/>
        </a:ext>
      </dgm:extLst>
    </dgm:pt>
    <dgm:pt modelId="{7CBEB585-C1F4-4563-8E4F-ABC545CADB78}" type="pres">
      <dgm:prSet presAssocID="{CCE2631F-3745-4413-B81F-B5ADF34C3AA4}" presName="spaceRect" presStyleCnt="0"/>
      <dgm:spPr/>
    </dgm:pt>
    <dgm:pt modelId="{E472124E-40F2-453D-B421-0CF8968F1CAC}" type="pres">
      <dgm:prSet presAssocID="{CCE2631F-3745-4413-B81F-B5ADF34C3AA4}" presName="textRect" presStyleLbl="revTx" presStyleIdx="0" presStyleCnt="4">
        <dgm:presLayoutVars>
          <dgm:chMax val="1"/>
          <dgm:chPref val="1"/>
        </dgm:presLayoutVars>
      </dgm:prSet>
      <dgm:spPr/>
    </dgm:pt>
    <dgm:pt modelId="{8BF996AF-4E5D-4A97-8A06-4EFC54FCAE1D}" type="pres">
      <dgm:prSet presAssocID="{7F2341FC-407B-4ABE-A736-AE1D8FFD50F2}" presName="sibTrans" presStyleCnt="0"/>
      <dgm:spPr/>
    </dgm:pt>
    <dgm:pt modelId="{A20B6A74-6C9B-4199-82F2-3C78707CC8CD}" type="pres">
      <dgm:prSet presAssocID="{DC83AEA5-FBDF-4885-9F0C-364CE08D5901}" presName="compNode" presStyleCnt="0"/>
      <dgm:spPr/>
    </dgm:pt>
    <dgm:pt modelId="{810BC0BE-ADAB-4A10-AB52-7A0E3ECCFD1D}" type="pres">
      <dgm:prSet presAssocID="{DC83AEA5-FBDF-4885-9F0C-364CE08D5901}" presName="iconBgRect" presStyleLbl="bgShp" presStyleIdx="1" presStyleCnt="4"/>
      <dgm:spPr/>
    </dgm:pt>
    <dgm:pt modelId="{57E99B15-ACC6-4DFD-94DE-1690152E643A}" type="pres">
      <dgm:prSet presAssocID="{DC83AEA5-FBDF-4885-9F0C-364CE08D5901}"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Open Folder"/>
        </a:ext>
      </dgm:extLst>
    </dgm:pt>
    <dgm:pt modelId="{D4E5FE64-68B0-4BD3-AB4D-1301B3403864}" type="pres">
      <dgm:prSet presAssocID="{DC83AEA5-FBDF-4885-9F0C-364CE08D5901}" presName="spaceRect" presStyleCnt="0"/>
      <dgm:spPr/>
    </dgm:pt>
    <dgm:pt modelId="{4A4C7249-E267-420B-AA78-45D51E26F8B4}" type="pres">
      <dgm:prSet presAssocID="{DC83AEA5-FBDF-4885-9F0C-364CE08D5901}" presName="textRect" presStyleLbl="revTx" presStyleIdx="1" presStyleCnt="4">
        <dgm:presLayoutVars>
          <dgm:chMax val="1"/>
          <dgm:chPref val="1"/>
        </dgm:presLayoutVars>
      </dgm:prSet>
      <dgm:spPr/>
    </dgm:pt>
    <dgm:pt modelId="{EF411D1B-D3FD-4FB4-B38F-FB789A8B93C7}" type="pres">
      <dgm:prSet presAssocID="{2AF85F30-223A-4915-94B8-7397BE50B865}" presName="sibTrans" presStyleCnt="0"/>
      <dgm:spPr/>
    </dgm:pt>
    <dgm:pt modelId="{BE9EDD0C-0BC7-4690-B5FE-029D60372859}" type="pres">
      <dgm:prSet presAssocID="{5B253BAF-2185-4D3D-83E2-1A49D3CB31CD}" presName="compNode" presStyleCnt="0"/>
      <dgm:spPr/>
    </dgm:pt>
    <dgm:pt modelId="{1FE91841-94AF-42BF-AF4A-8A36030E9EBE}" type="pres">
      <dgm:prSet presAssocID="{5B253BAF-2185-4D3D-83E2-1A49D3CB31CD}" presName="iconBgRect" presStyleLbl="bgShp" presStyleIdx="2" presStyleCnt="4"/>
      <dgm:spPr/>
    </dgm:pt>
    <dgm:pt modelId="{22E60037-A059-41A8-93B8-033CF07B4F94}" type="pres">
      <dgm:prSet presAssocID="{5B253BAF-2185-4D3D-83E2-1A49D3CB31CD}"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ownload"/>
        </a:ext>
      </dgm:extLst>
    </dgm:pt>
    <dgm:pt modelId="{4609AD85-3FFD-4BD4-BF63-8530D6E223B5}" type="pres">
      <dgm:prSet presAssocID="{5B253BAF-2185-4D3D-83E2-1A49D3CB31CD}" presName="spaceRect" presStyleCnt="0"/>
      <dgm:spPr/>
    </dgm:pt>
    <dgm:pt modelId="{751A13D6-0A5C-4489-950E-507DE1B27832}" type="pres">
      <dgm:prSet presAssocID="{5B253BAF-2185-4D3D-83E2-1A49D3CB31CD}" presName="textRect" presStyleLbl="revTx" presStyleIdx="2" presStyleCnt="4">
        <dgm:presLayoutVars>
          <dgm:chMax val="1"/>
          <dgm:chPref val="1"/>
        </dgm:presLayoutVars>
      </dgm:prSet>
      <dgm:spPr/>
    </dgm:pt>
    <dgm:pt modelId="{7954432F-AFFB-4CD2-9DF3-F903D353DA5E}" type="pres">
      <dgm:prSet presAssocID="{A9EB8826-D822-4686-A6F7-969F3B14FCDC}" presName="sibTrans" presStyleCnt="0"/>
      <dgm:spPr/>
    </dgm:pt>
    <dgm:pt modelId="{4C6894C9-C822-42B0-AE43-CCB8951F3831}" type="pres">
      <dgm:prSet presAssocID="{212072F4-9761-4701-BD7C-182124A1EE73}" presName="compNode" presStyleCnt="0"/>
      <dgm:spPr/>
    </dgm:pt>
    <dgm:pt modelId="{1750D3A9-E466-4EDB-807A-D56934203B90}" type="pres">
      <dgm:prSet presAssocID="{212072F4-9761-4701-BD7C-182124A1EE73}" presName="iconBgRect" presStyleLbl="bgShp" presStyleIdx="3" presStyleCnt="4"/>
      <dgm:spPr/>
    </dgm:pt>
    <dgm:pt modelId="{9E51138E-48AE-4CD6-9CFF-2614F3C94900}" type="pres">
      <dgm:prSet presAssocID="{212072F4-9761-4701-BD7C-182124A1EE73}"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ranching Diagram"/>
        </a:ext>
      </dgm:extLst>
    </dgm:pt>
    <dgm:pt modelId="{DB9E960E-4793-4674-B1F8-9A70C3F6F4E1}" type="pres">
      <dgm:prSet presAssocID="{212072F4-9761-4701-BD7C-182124A1EE73}" presName="spaceRect" presStyleCnt="0"/>
      <dgm:spPr/>
    </dgm:pt>
    <dgm:pt modelId="{F46F6055-34A3-4400-82FC-FCD0FB319C95}" type="pres">
      <dgm:prSet presAssocID="{212072F4-9761-4701-BD7C-182124A1EE73}" presName="textRect" presStyleLbl="revTx" presStyleIdx="3" presStyleCnt="4">
        <dgm:presLayoutVars>
          <dgm:chMax val="1"/>
          <dgm:chPref val="1"/>
        </dgm:presLayoutVars>
      </dgm:prSet>
      <dgm:spPr/>
    </dgm:pt>
  </dgm:ptLst>
  <dgm:cxnLst>
    <dgm:cxn modelId="{75B7492A-4C99-42B9-B019-488B0EA275DE}" srcId="{04E8D9D1-9B62-4DDC-BDFE-8A7206991715}" destId="{CCE2631F-3745-4413-B81F-B5ADF34C3AA4}" srcOrd="0" destOrd="0" parTransId="{35CF3716-89AA-45CF-98A0-83957B307812}" sibTransId="{7F2341FC-407B-4ABE-A736-AE1D8FFD50F2}"/>
    <dgm:cxn modelId="{A58C0E2C-13CE-4E31-B41A-332E271A52BA}" srcId="{04E8D9D1-9B62-4DDC-BDFE-8A7206991715}" destId="{5B253BAF-2185-4D3D-83E2-1A49D3CB31CD}" srcOrd="2" destOrd="0" parTransId="{5BB19127-D436-4145-AFDA-8EF9DB1566C8}" sibTransId="{A9EB8826-D822-4686-A6F7-969F3B14FCDC}"/>
    <dgm:cxn modelId="{F980A75D-2168-48BD-AE3E-7D7C79B0460A}" type="presOf" srcId="{CCE2631F-3745-4413-B81F-B5ADF34C3AA4}" destId="{E472124E-40F2-453D-B421-0CF8968F1CAC}" srcOrd="0" destOrd="0" presId="urn:microsoft.com/office/officeart/2018/5/layout/IconCircleLabelList"/>
    <dgm:cxn modelId="{0D6C6A44-44C6-476C-BB1A-9BE42A50A732}" srcId="{04E8D9D1-9B62-4DDC-BDFE-8A7206991715}" destId="{212072F4-9761-4701-BD7C-182124A1EE73}" srcOrd="3" destOrd="0" parTransId="{A13CDFB1-7DF7-43CA-93DF-29AFDB9CEE4B}" sibTransId="{52E580A2-5D1A-4782-BED4-2FC5AB8243E4}"/>
    <dgm:cxn modelId="{1707094E-D4BE-4CBD-A1EF-E3CCCF341679}" type="presOf" srcId="{212072F4-9761-4701-BD7C-182124A1EE73}" destId="{F46F6055-34A3-4400-82FC-FCD0FB319C95}" srcOrd="0" destOrd="0" presId="urn:microsoft.com/office/officeart/2018/5/layout/IconCircleLabelList"/>
    <dgm:cxn modelId="{5A15D552-060E-40EE-AAAC-26EFC57B41A3}" type="presOf" srcId="{DC83AEA5-FBDF-4885-9F0C-364CE08D5901}" destId="{4A4C7249-E267-420B-AA78-45D51E26F8B4}" srcOrd="0" destOrd="0" presId="urn:microsoft.com/office/officeart/2018/5/layout/IconCircleLabelList"/>
    <dgm:cxn modelId="{14A42381-AEEC-4539-86F1-744C976BB269}" type="presOf" srcId="{5B253BAF-2185-4D3D-83E2-1A49D3CB31CD}" destId="{751A13D6-0A5C-4489-950E-507DE1B27832}" srcOrd="0" destOrd="0" presId="urn:microsoft.com/office/officeart/2018/5/layout/IconCircleLabelList"/>
    <dgm:cxn modelId="{3E53F2B4-4053-42D3-B7DC-F83746E27B82}" srcId="{04E8D9D1-9B62-4DDC-BDFE-8A7206991715}" destId="{DC83AEA5-FBDF-4885-9F0C-364CE08D5901}" srcOrd="1" destOrd="0" parTransId="{FD77F54F-DD9F-4FCE-914F-73F01E668FA8}" sibTransId="{2AF85F30-223A-4915-94B8-7397BE50B865}"/>
    <dgm:cxn modelId="{AAEDFADC-FAF7-4DC7-AD50-DD7BB1762992}" type="presOf" srcId="{04E8D9D1-9B62-4DDC-BDFE-8A7206991715}" destId="{4C398A17-9B63-470E-BA36-77B36CB717D4}" srcOrd="0" destOrd="0" presId="urn:microsoft.com/office/officeart/2018/5/layout/IconCircleLabelList"/>
    <dgm:cxn modelId="{6EB4F143-CD26-4C3F-95EC-F6A58ACB540B}" type="presParOf" srcId="{4C398A17-9B63-470E-BA36-77B36CB717D4}" destId="{4CA32848-CD9B-40FF-A519-0F0E9F6BB6C1}" srcOrd="0" destOrd="0" presId="urn:microsoft.com/office/officeart/2018/5/layout/IconCircleLabelList"/>
    <dgm:cxn modelId="{58BE6213-5926-4440-96B7-6B60FDA9FB52}" type="presParOf" srcId="{4CA32848-CD9B-40FF-A519-0F0E9F6BB6C1}" destId="{F422050A-9741-45A7-9732-81A774AD54F0}" srcOrd="0" destOrd="0" presId="urn:microsoft.com/office/officeart/2018/5/layout/IconCircleLabelList"/>
    <dgm:cxn modelId="{A5B15C83-37FF-4A34-8161-55AAC01973E0}" type="presParOf" srcId="{4CA32848-CD9B-40FF-A519-0F0E9F6BB6C1}" destId="{727566BB-6DE7-4892-9CE7-76180143FB23}" srcOrd="1" destOrd="0" presId="urn:microsoft.com/office/officeart/2018/5/layout/IconCircleLabelList"/>
    <dgm:cxn modelId="{2FC12B0D-FEC6-4F37-995D-3B73484F28BC}" type="presParOf" srcId="{4CA32848-CD9B-40FF-A519-0F0E9F6BB6C1}" destId="{7CBEB585-C1F4-4563-8E4F-ABC545CADB78}" srcOrd="2" destOrd="0" presId="urn:microsoft.com/office/officeart/2018/5/layout/IconCircleLabelList"/>
    <dgm:cxn modelId="{F929F2F7-7032-4739-A28D-B9994FB13B21}" type="presParOf" srcId="{4CA32848-CD9B-40FF-A519-0F0E9F6BB6C1}" destId="{E472124E-40F2-453D-B421-0CF8968F1CAC}" srcOrd="3" destOrd="0" presId="urn:microsoft.com/office/officeart/2018/5/layout/IconCircleLabelList"/>
    <dgm:cxn modelId="{4CBEFD34-8ACC-4E4D-953B-58FB594F2F44}" type="presParOf" srcId="{4C398A17-9B63-470E-BA36-77B36CB717D4}" destId="{8BF996AF-4E5D-4A97-8A06-4EFC54FCAE1D}" srcOrd="1" destOrd="0" presId="urn:microsoft.com/office/officeart/2018/5/layout/IconCircleLabelList"/>
    <dgm:cxn modelId="{D46BCD58-2879-405E-81C8-08E687C79216}" type="presParOf" srcId="{4C398A17-9B63-470E-BA36-77B36CB717D4}" destId="{A20B6A74-6C9B-4199-82F2-3C78707CC8CD}" srcOrd="2" destOrd="0" presId="urn:microsoft.com/office/officeart/2018/5/layout/IconCircleLabelList"/>
    <dgm:cxn modelId="{7E68BD4F-1063-46CE-910C-4425A1C6CCA0}" type="presParOf" srcId="{A20B6A74-6C9B-4199-82F2-3C78707CC8CD}" destId="{810BC0BE-ADAB-4A10-AB52-7A0E3ECCFD1D}" srcOrd="0" destOrd="0" presId="urn:microsoft.com/office/officeart/2018/5/layout/IconCircleLabelList"/>
    <dgm:cxn modelId="{76B29BBC-97ED-4630-8427-532BFD673CA7}" type="presParOf" srcId="{A20B6A74-6C9B-4199-82F2-3C78707CC8CD}" destId="{57E99B15-ACC6-4DFD-94DE-1690152E643A}" srcOrd="1" destOrd="0" presId="urn:microsoft.com/office/officeart/2018/5/layout/IconCircleLabelList"/>
    <dgm:cxn modelId="{B599CC0A-B02F-47D4-8535-C37411B849B0}" type="presParOf" srcId="{A20B6A74-6C9B-4199-82F2-3C78707CC8CD}" destId="{D4E5FE64-68B0-4BD3-AB4D-1301B3403864}" srcOrd="2" destOrd="0" presId="urn:microsoft.com/office/officeart/2018/5/layout/IconCircleLabelList"/>
    <dgm:cxn modelId="{B0C16391-64D5-4738-AC4A-23EA6016C594}" type="presParOf" srcId="{A20B6A74-6C9B-4199-82F2-3C78707CC8CD}" destId="{4A4C7249-E267-420B-AA78-45D51E26F8B4}" srcOrd="3" destOrd="0" presId="urn:microsoft.com/office/officeart/2018/5/layout/IconCircleLabelList"/>
    <dgm:cxn modelId="{C4547B66-6321-4F55-BECA-D90AC3CF9A74}" type="presParOf" srcId="{4C398A17-9B63-470E-BA36-77B36CB717D4}" destId="{EF411D1B-D3FD-4FB4-B38F-FB789A8B93C7}" srcOrd="3" destOrd="0" presId="urn:microsoft.com/office/officeart/2018/5/layout/IconCircleLabelList"/>
    <dgm:cxn modelId="{655B90E6-0DD3-45F7-BA62-660EFD674B05}" type="presParOf" srcId="{4C398A17-9B63-470E-BA36-77B36CB717D4}" destId="{BE9EDD0C-0BC7-4690-B5FE-029D60372859}" srcOrd="4" destOrd="0" presId="urn:microsoft.com/office/officeart/2018/5/layout/IconCircleLabelList"/>
    <dgm:cxn modelId="{31F11005-69DA-4C7B-96B4-F4950E0D41E6}" type="presParOf" srcId="{BE9EDD0C-0BC7-4690-B5FE-029D60372859}" destId="{1FE91841-94AF-42BF-AF4A-8A36030E9EBE}" srcOrd="0" destOrd="0" presId="urn:microsoft.com/office/officeart/2018/5/layout/IconCircleLabelList"/>
    <dgm:cxn modelId="{EEC464B7-2CD0-4F6E-902C-3A1466703320}" type="presParOf" srcId="{BE9EDD0C-0BC7-4690-B5FE-029D60372859}" destId="{22E60037-A059-41A8-93B8-033CF07B4F94}" srcOrd="1" destOrd="0" presId="urn:microsoft.com/office/officeart/2018/5/layout/IconCircleLabelList"/>
    <dgm:cxn modelId="{F717B507-EF53-4BB3-9C08-D3F06475F0F7}" type="presParOf" srcId="{BE9EDD0C-0BC7-4690-B5FE-029D60372859}" destId="{4609AD85-3FFD-4BD4-BF63-8530D6E223B5}" srcOrd="2" destOrd="0" presId="urn:microsoft.com/office/officeart/2018/5/layout/IconCircleLabelList"/>
    <dgm:cxn modelId="{886BC981-0D71-4BA8-9495-09EE3EEA729D}" type="presParOf" srcId="{BE9EDD0C-0BC7-4690-B5FE-029D60372859}" destId="{751A13D6-0A5C-4489-950E-507DE1B27832}" srcOrd="3" destOrd="0" presId="urn:microsoft.com/office/officeart/2018/5/layout/IconCircleLabelList"/>
    <dgm:cxn modelId="{441B810B-97A2-45C1-AB1E-E73BAFE2DE2C}" type="presParOf" srcId="{4C398A17-9B63-470E-BA36-77B36CB717D4}" destId="{7954432F-AFFB-4CD2-9DF3-F903D353DA5E}" srcOrd="5" destOrd="0" presId="urn:microsoft.com/office/officeart/2018/5/layout/IconCircleLabelList"/>
    <dgm:cxn modelId="{7733DD27-FE26-495F-985B-D542FE119B41}" type="presParOf" srcId="{4C398A17-9B63-470E-BA36-77B36CB717D4}" destId="{4C6894C9-C822-42B0-AE43-CCB8951F3831}" srcOrd="6" destOrd="0" presId="urn:microsoft.com/office/officeart/2018/5/layout/IconCircleLabelList"/>
    <dgm:cxn modelId="{10C61237-5D66-479D-BE20-37C2C447D94B}" type="presParOf" srcId="{4C6894C9-C822-42B0-AE43-CCB8951F3831}" destId="{1750D3A9-E466-4EDB-807A-D56934203B90}" srcOrd="0" destOrd="0" presId="urn:microsoft.com/office/officeart/2018/5/layout/IconCircleLabelList"/>
    <dgm:cxn modelId="{12B0FBAC-76F7-40C0-9B9C-876653D1BE3B}" type="presParOf" srcId="{4C6894C9-C822-42B0-AE43-CCB8951F3831}" destId="{9E51138E-48AE-4CD6-9CFF-2614F3C94900}" srcOrd="1" destOrd="0" presId="urn:microsoft.com/office/officeart/2018/5/layout/IconCircleLabelList"/>
    <dgm:cxn modelId="{4880493B-F701-4A9F-BA6F-AEBE4F719329}" type="presParOf" srcId="{4C6894C9-C822-42B0-AE43-CCB8951F3831}" destId="{DB9E960E-4793-4674-B1F8-9A70C3F6F4E1}" srcOrd="2" destOrd="0" presId="urn:microsoft.com/office/officeart/2018/5/layout/IconCircleLabelList"/>
    <dgm:cxn modelId="{42A53982-B914-473E-9C8E-4834EE35280B}" type="presParOf" srcId="{4C6894C9-C822-42B0-AE43-CCB8951F3831}" destId="{F46F6055-34A3-4400-82FC-FCD0FB319C95}"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22050A-9741-45A7-9732-81A774AD54F0}">
      <dsp:nvSpPr>
        <dsp:cNvPr id="0" name=""/>
        <dsp:cNvSpPr/>
      </dsp:nvSpPr>
      <dsp:spPr>
        <a:xfrm>
          <a:off x="1374172" y="6563"/>
          <a:ext cx="1383804" cy="1383804"/>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27566BB-6DE7-4892-9CE7-76180143FB23}">
      <dsp:nvSpPr>
        <dsp:cNvPr id="0" name=""/>
        <dsp:cNvSpPr/>
      </dsp:nvSpPr>
      <dsp:spPr>
        <a:xfrm>
          <a:off x="1669081" y="301473"/>
          <a:ext cx="793986" cy="79398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472124E-40F2-453D-B421-0CF8968F1CAC}">
      <dsp:nvSpPr>
        <dsp:cNvPr id="0" name=""/>
        <dsp:cNvSpPr/>
      </dsp:nvSpPr>
      <dsp:spPr>
        <a:xfrm>
          <a:off x="931808" y="1821389"/>
          <a:ext cx="226853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kern="1200"/>
            <a:t>Let’s discuss these questions.</a:t>
          </a:r>
        </a:p>
      </dsp:txBody>
      <dsp:txXfrm>
        <a:off x="931808" y="1821389"/>
        <a:ext cx="2268532" cy="720000"/>
      </dsp:txXfrm>
    </dsp:sp>
    <dsp:sp modelId="{810BC0BE-ADAB-4A10-AB52-7A0E3ECCFD1D}">
      <dsp:nvSpPr>
        <dsp:cNvPr id="0" name=""/>
        <dsp:cNvSpPr/>
      </dsp:nvSpPr>
      <dsp:spPr>
        <a:xfrm>
          <a:off x="4039697" y="6563"/>
          <a:ext cx="1383804" cy="1383804"/>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7E99B15-ACC6-4DFD-94DE-1690152E643A}">
      <dsp:nvSpPr>
        <dsp:cNvPr id="0" name=""/>
        <dsp:cNvSpPr/>
      </dsp:nvSpPr>
      <dsp:spPr>
        <a:xfrm>
          <a:off x="4334606" y="301473"/>
          <a:ext cx="793986" cy="79398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A4C7249-E267-420B-AA78-45D51E26F8B4}">
      <dsp:nvSpPr>
        <dsp:cNvPr id="0" name=""/>
        <dsp:cNvSpPr/>
      </dsp:nvSpPr>
      <dsp:spPr>
        <a:xfrm>
          <a:off x="3597334" y="1821389"/>
          <a:ext cx="226853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kern="1200"/>
            <a:t>How are records stored in organisations ?</a:t>
          </a:r>
        </a:p>
      </dsp:txBody>
      <dsp:txXfrm>
        <a:off x="3597334" y="1821389"/>
        <a:ext cx="2268532" cy="720000"/>
      </dsp:txXfrm>
    </dsp:sp>
    <dsp:sp modelId="{1FE91841-94AF-42BF-AF4A-8A36030E9EBE}">
      <dsp:nvSpPr>
        <dsp:cNvPr id="0" name=""/>
        <dsp:cNvSpPr/>
      </dsp:nvSpPr>
      <dsp:spPr>
        <a:xfrm>
          <a:off x="1374172" y="3108522"/>
          <a:ext cx="1383804" cy="1383804"/>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2E60037-A059-41A8-93B8-033CF07B4F94}">
      <dsp:nvSpPr>
        <dsp:cNvPr id="0" name=""/>
        <dsp:cNvSpPr/>
      </dsp:nvSpPr>
      <dsp:spPr>
        <a:xfrm>
          <a:off x="1669081" y="3403431"/>
          <a:ext cx="793986" cy="79398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51A13D6-0A5C-4489-950E-507DE1B27832}">
      <dsp:nvSpPr>
        <dsp:cNvPr id="0" name=""/>
        <dsp:cNvSpPr/>
      </dsp:nvSpPr>
      <dsp:spPr>
        <a:xfrm>
          <a:off x="931808" y="4923348"/>
          <a:ext cx="226853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kern="1200"/>
            <a:t>How easy is it to access and update the records?</a:t>
          </a:r>
        </a:p>
      </dsp:txBody>
      <dsp:txXfrm>
        <a:off x="931808" y="4923348"/>
        <a:ext cx="2268532" cy="720000"/>
      </dsp:txXfrm>
    </dsp:sp>
    <dsp:sp modelId="{1750D3A9-E466-4EDB-807A-D56934203B90}">
      <dsp:nvSpPr>
        <dsp:cNvPr id="0" name=""/>
        <dsp:cNvSpPr/>
      </dsp:nvSpPr>
      <dsp:spPr>
        <a:xfrm>
          <a:off x="4039697" y="3108522"/>
          <a:ext cx="1383804" cy="1383804"/>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E51138E-48AE-4CD6-9CFF-2614F3C94900}">
      <dsp:nvSpPr>
        <dsp:cNvPr id="0" name=""/>
        <dsp:cNvSpPr/>
      </dsp:nvSpPr>
      <dsp:spPr>
        <a:xfrm>
          <a:off x="4334606" y="3403431"/>
          <a:ext cx="793986" cy="79398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46F6055-34A3-4400-82FC-FCD0FB319C95}">
      <dsp:nvSpPr>
        <dsp:cNvPr id="0" name=""/>
        <dsp:cNvSpPr/>
      </dsp:nvSpPr>
      <dsp:spPr>
        <a:xfrm>
          <a:off x="3597334" y="4923348"/>
          <a:ext cx="226853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kern="1200"/>
            <a:t>Are there ways in which the current processes can be improved?</a:t>
          </a:r>
        </a:p>
      </dsp:txBody>
      <dsp:txXfrm>
        <a:off x="3597334" y="4923348"/>
        <a:ext cx="2268532" cy="720000"/>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BA4F4-33CC-4CAA-97FA-33C973A1D94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92D8848D-A0C6-4AC2-B03A-0403545E3B5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1BA9DC6B-94AF-43A4-BE84-4738B82BDBF9}"/>
              </a:ext>
            </a:extLst>
          </p:cNvPr>
          <p:cNvSpPr>
            <a:spLocks noGrp="1"/>
          </p:cNvSpPr>
          <p:nvPr>
            <p:ph type="dt" sz="half" idx="10"/>
          </p:nvPr>
        </p:nvSpPr>
        <p:spPr/>
        <p:txBody>
          <a:bodyPr/>
          <a:lstStyle/>
          <a:p>
            <a:fld id="{F8F7F16D-A328-4C7F-8A48-69FABC2C8422}" type="datetimeFigureOut">
              <a:rPr lang="en-GB" smtClean="0"/>
              <a:t>12/02/2025</a:t>
            </a:fld>
            <a:endParaRPr lang="en-GB"/>
          </a:p>
        </p:txBody>
      </p:sp>
      <p:sp>
        <p:nvSpPr>
          <p:cNvPr id="5" name="Footer Placeholder 4">
            <a:extLst>
              <a:ext uri="{FF2B5EF4-FFF2-40B4-BE49-F238E27FC236}">
                <a16:creationId xmlns:a16="http://schemas.microsoft.com/office/drawing/2014/main" id="{92608F9B-BF29-4C74-A87F-05C72536FB2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4316F1B-23E0-493C-9B5D-CB49C19D0A02}"/>
              </a:ext>
            </a:extLst>
          </p:cNvPr>
          <p:cNvSpPr>
            <a:spLocks noGrp="1"/>
          </p:cNvSpPr>
          <p:nvPr>
            <p:ph type="sldNum" sz="quarter" idx="12"/>
          </p:nvPr>
        </p:nvSpPr>
        <p:spPr/>
        <p:txBody>
          <a:bodyPr/>
          <a:lstStyle/>
          <a:p>
            <a:fld id="{9E6FA4D8-285B-4CD1-B42C-C691F24BDE92}" type="slidenum">
              <a:rPr lang="en-GB" smtClean="0"/>
              <a:t>‹#›</a:t>
            </a:fld>
            <a:endParaRPr lang="en-GB"/>
          </a:p>
        </p:txBody>
      </p:sp>
    </p:spTree>
    <p:extLst>
      <p:ext uri="{BB962C8B-B14F-4D97-AF65-F5344CB8AC3E}">
        <p14:creationId xmlns:p14="http://schemas.microsoft.com/office/powerpoint/2010/main" val="36368689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1E4FA-53AB-4C56-93E0-446A32F97A8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2EDD129-BA2E-45A6-BC8C-A4B8E78E394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96470C2-8A0D-49EE-B98A-68DA019A19D0}"/>
              </a:ext>
            </a:extLst>
          </p:cNvPr>
          <p:cNvSpPr>
            <a:spLocks noGrp="1"/>
          </p:cNvSpPr>
          <p:nvPr>
            <p:ph type="dt" sz="half" idx="10"/>
          </p:nvPr>
        </p:nvSpPr>
        <p:spPr/>
        <p:txBody>
          <a:bodyPr/>
          <a:lstStyle/>
          <a:p>
            <a:fld id="{F8F7F16D-A328-4C7F-8A48-69FABC2C8422}" type="datetimeFigureOut">
              <a:rPr lang="en-GB" smtClean="0"/>
              <a:t>12/02/2025</a:t>
            </a:fld>
            <a:endParaRPr lang="en-GB"/>
          </a:p>
        </p:txBody>
      </p:sp>
      <p:sp>
        <p:nvSpPr>
          <p:cNvPr id="5" name="Footer Placeholder 4">
            <a:extLst>
              <a:ext uri="{FF2B5EF4-FFF2-40B4-BE49-F238E27FC236}">
                <a16:creationId xmlns:a16="http://schemas.microsoft.com/office/drawing/2014/main" id="{C3203131-B2AA-4F2B-915F-B873CBC58BE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CB31DE0-1045-4803-8B0B-876C167E1EC7}"/>
              </a:ext>
            </a:extLst>
          </p:cNvPr>
          <p:cNvSpPr>
            <a:spLocks noGrp="1"/>
          </p:cNvSpPr>
          <p:nvPr>
            <p:ph type="sldNum" sz="quarter" idx="12"/>
          </p:nvPr>
        </p:nvSpPr>
        <p:spPr/>
        <p:txBody>
          <a:bodyPr/>
          <a:lstStyle/>
          <a:p>
            <a:fld id="{9E6FA4D8-285B-4CD1-B42C-C691F24BDE92}" type="slidenum">
              <a:rPr lang="en-GB" smtClean="0"/>
              <a:t>‹#›</a:t>
            </a:fld>
            <a:endParaRPr lang="en-GB"/>
          </a:p>
        </p:txBody>
      </p:sp>
    </p:spTree>
    <p:extLst>
      <p:ext uri="{BB962C8B-B14F-4D97-AF65-F5344CB8AC3E}">
        <p14:creationId xmlns:p14="http://schemas.microsoft.com/office/powerpoint/2010/main" val="38736347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0E53A-9972-4FAA-98D2-0B711A40DCC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E8FAB572-2772-4AB8-AC24-823DA65E797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0217591-79E1-45B8-AD7C-F345F09638DC}"/>
              </a:ext>
            </a:extLst>
          </p:cNvPr>
          <p:cNvSpPr>
            <a:spLocks noGrp="1"/>
          </p:cNvSpPr>
          <p:nvPr>
            <p:ph type="dt" sz="half" idx="10"/>
          </p:nvPr>
        </p:nvSpPr>
        <p:spPr/>
        <p:txBody>
          <a:bodyPr/>
          <a:lstStyle/>
          <a:p>
            <a:fld id="{F8F7F16D-A328-4C7F-8A48-69FABC2C8422}" type="datetimeFigureOut">
              <a:rPr lang="en-GB" smtClean="0"/>
              <a:t>12/02/2025</a:t>
            </a:fld>
            <a:endParaRPr lang="en-GB"/>
          </a:p>
        </p:txBody>
      </p:sp>
      <p:sp>
        <p:nvSpPr>
          <p:cNvPr id="5" name="Footer Placeholder 4">
            <a:extLst>
              <a:ext uri="{FF2B5EF4-FFF2-40B4-BE49-F238E27FC236}">
                <a16:creationId xmlns:a16="http://schemas.microsoft.com/office/drawing/2014/main" id="{49FB768A-F3A9-43C3-9D5C-858E62DCDB6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F63F71F-4BB8-4881-B825-7FB62805FB54}"/>
              </a:ext>
            </a:extLst>
          </p:cNvPr>
          <p:cNvSpPr>
            <a:spLocks noGrp="1"/>
          </p:cNvSpPr>
          <p:nvPr>
            <p:ph type="sldNum" sz="quarter" idx="12"/>
          </p:nvPr>
        </p:nvSpPr>
        <p:spPr/>
        <p:txBody>
          <a:bodyPr/>
          <a:lstStyle/>
          <a:p>
            <a:fld id="{9E6FA4D8-285B-4CD1-B42C-C691F24BDE92}" type="slidenum">
              <a:rPr lang="en-GB" smtClean="0"/>
              <a:t>‹#›</a:t>
            </a:fld>
            <a:endParaRPr lang="en-GB"/>
          </a:p>
        </p:txBody>
      </p:sp>
    </p:spTree>
    <p:extLst>
      <p:ext uri="{BB962C8B-B14F-4D97-AF65-F5344CB8AC3E}">
        <p14:creationId xmlns:p14="http://schemas.microsoft.com/office/powerpoint/2010/main" val="4741242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14907-4C8E-4EBC-B129-3D5403DBF94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A9A202D-8F35-4ADE-9041-E2165440391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0760E219-D1AA-4324-85CF-F4C34C292AD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5B9475A3-0E10-40A2-AAFA-A12DCF9FB1CF}"/>
              </a:ext>
            </a:extLst>
          </p:cNvPr>
          <p:cNvSpPr>
            <a:spLocks noGrp="1"/>
          </p:cNvSpPr>
          <p:nvPr>
            <p:ph type="dt" sz="half" idx="10"/>
          </p:nvPr>
        </p:nvSpPr>
        <p:spPr/>
        <p:txBody>
          <a:bodyPr/>
          <a:lstStyle/>
          <a:p>
            <a:fld id="{F8F7F16D-A328-4C7F-8A48-69FABC2C8422}" type="datetimeFigureOut">
              <a:rPr lang="en-GB" smtClean="0"/>
              <a:t>12/02/2025</a:t>
            </a:fld>
            <a:endParaRPr lang="en-GB"/>
          </a:p>
        </p:txBody>
      </p:sp>
      <p:sp>
        <p:nvSpPr>
          <p:cNvPr id="6" name="Footer Placeholder 5">
            <a:extLst>
              <a:ext uri="{FF2B5EF4-FFF2-40B4-BE49-F238E27FC236}">
                <a16:creationId xmlns:a16="http://schemas.microsoft.com/office/drawing/2014/main" id="{664C589C-24D8-4C59-B5CF-C3794DB9466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821BD6F-D4C5-4F49-AB12-1696FD0A09C7}"/>
              </a:ext>
            </a:extLst>
          </p:cNvPr>
          <p:cNvSpPr>
            <a:spLocks noGrp="1"/>
          </p:cNvSpPr>
          <p:nvPr>
            <p:ph type="sldNum" sz="quarter" idx="12"/>
          </p:nvPr>
        </p:nvSpPr>
        <p:spPr/>
        <p:txBody>
          <a:bodyPr/>
          <a:lstStyle/>
          <a:p>
            <a:fld id="{9E6FA4D8-285B-4CD1-B42C-C691F24BDE92}" type="slidenum">
              <a:rPr lang="en-GB" smtClean="0"/>
              <a:t>‹#›</a:t>
            </a:fld>
            <a:endParaRPr lang="en-GB"/>
          </a:p>
        </p:txBody>
      </p:sp>
    </p:spTree>
    <p:extLst>
      <p:ext uri="{BB962C8B-B14F-4D97-AF65-F5344CB8AC3E}">
        <p14:creationId xmlns:p14="http://schemas.microsoft.com/office/powerpoint/2010/main" val="4281489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C330E-40B5-40E5-BF28-422E88B6C0F4}"/>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5F0A77F-CD57-4C05-8350-71BBFCBAEE0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FDCEC6A-81E4-486B-A060-329C90C6178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E2641EDC-DCDD-4F57-A428-F3C485F7CE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6FAFA25-B575-48F8-A59A-E12B5926045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9C827052-6F41-49C8-B8A9-94CC55491C0B}"/>
              </a:ext>
            </a:extLst>
          </p:cNvPr>
          <p:cNvSpPr>
            <a:spLocks noGrp="1"/>
          </p:cNvSpPr>
          <p:nvPr>
            <p:ph type="dt" sz="half" idx="10"/>
          </p:nvPr>
        </p:nvSpPr>
        <p:spPr/>
        <p:txBody>
          <a:bodyPr/>
          <a:lstStyle/>
          <a:p>
            <a:fld id="{F8F7F16D-A328-4C7F-8A48-69FABC2C8422}" type="datetimeFigureOut">
              <a:rPr lang="en-GB" smtClean="0"/>
              <a:t>12/02/2025</a:t>
            </a:fld>
            <a:endParaRPr lang="en-GB"/>
          </a:p>
        </p:txBody>
      </p:sp>
      <p:sp>
        <p:nvSpPr>
          <p:cNvPr id="8" name="Footer Placeholder 7">
            <a:extLst>
              <a:ext uri="{FF2B5EF4-FFF2-40B4-BE49-F238E27FC236}">
                <a16:creationId xmlns:a16="http://schemas.microsoft.com/office/drawing/2014/main" id="{9FC2AF1A-367B-4885-A967-D2DD97950E06}"/>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115E227F-F927-44FD-8101-152E0D3529CF}"/>
              </a:ext>
            </a:extLst>
          </p:cNvPr>
          <p:cNvSpPr>
            <a:spLocks noGrp="1"/>
          </p:cNvSpPr>
          <p:nvPr>
            <p:ph type="sldNum" sz="quarter" idx="12"/>
          </p:nvPr>
        </p:nvSpPr>
        <p:spPr/>
        <p:txBody>
          <a:bodyPr/>
          <a:lstStyle/>
          <a:p>
            <a:fld id="{9E6FA4D8-285B-4CD1-B42C-C691F24BDE92}" type="slidenum">
              <a:rPr lang="en-GB" smtClean="0"/>
              <a:t>‹#›</a:t>
            </a:fld>
            <a:endParaRPr lang="en-GB"/>
          </a:p>
        </p:txBody>
      </p:sp>
    </p:spTree>
    <p:extLst>
      <p:ext uri="{BB962C8B-B14F-4D97-AF65-F5344CB8AC3E}">
        <p14:creationId xmlns:p14="http://schemas.microsoft.com/office/powerpoint/2010/main" val="7669005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1C981-2971-4681-8E01-E33BE3CA9B14}"/>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83D554A4-E353-424E-B97F-5F666FD4F718}"/>
              </a:ext>
            </a:extLst>
          </p:cNvPr>
          <p:cNvSpPr>
            <a:spLocks noGrp="1"/>
          </p:cNvSpPr>
          <p:nvPr>
            <p:ph type="dt" sz="half" idx="10"/>
          </p:nvPr>
        </p:nvSpPr>
        <p:spPr/>
        <p:txBody>
          <a:bodyPr/>
          <a:lstStyle/>
          <a:p>
            <a:fld id="{F8F7F16D-A328-4C7F-8A48-69FABC2C8422}" type="datetimeFigureOut">
              <a:rPr lang="en-GB" smtClean="0"/>
              <a:t>12/02/2025</a:t>
            </a:fld>
            <a:endParaRPr lang="en-GB"/>
          </a:p>
        </p:txBody>
      </p:sp>
      <p:sp>
        <p:nvSpPr>
          <p:cNvPr id="4" name="Footer Placeholder 3">
            <a:extLst>
              <a:ext uri="{FF2B5EF4-FFF2-40B4-BE49-F238E27FC236}">
                <a16:creationId xmlns:a16="http://schemas.microsoft.com/office/drawing/2014/main" id="{F16D2B73-EB8B-4FE8-811D-10159C6760BB}"/>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53E7F7DA-E9B7-480B-93CD-7B0EF755B92A}"/>
              </a:ext>
            </a:extLst>
          </p:cNvPr>
          <p:cNvSpPr>
            <a:spLocks noGrp="1"/>
          </p:cNvSpPr>
          <p:nvPr>
            <p:ph type="sldNum" sz="quarter" idx="12"/>
          </p:nvPr>
        </p:nvSpPr>
        <p:spPr/>
        <p:txBody>
          <a:bodyPr/>
          <a:lstStyle/>
          <a:p>
            <a:fld id="{9E6FA4D8-285B-4CD1-B42C-C691F24BDE92}" type="slidenum">
              <a:rPr lang="en-GB" smtClean="0"/>
              <a:t>‹#›</a:t>
            </a:fld>
            <a:endParaRPr lang="en-GB"/>
          </a:p>
        </p:txBody>
      </p:sp>
    </p:spTree>
    <p:extLst>
      <p:ext uri="{BB962C8B-B14F-4D97-AF65-F5344CB8AC3E}">
        <p14:creationId xmlns:p14="http://schemas.microsoft.com/office/powerpoint/2010/main" val="15212909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815D321-D20B-49C4-BA14-90220F8D221C}"/>
              </a:ext>
            </a:extLst>
          </p:cNvPr>
          <p:cNvSpPr>
            <a:spLocks noGrp="1"/>
          </p:cNvSpPr>
          <p:nvPr>
            <p:ph type="dt" sz="half" idx="10"/>
          </p:nvPr>
        </p:nvSpPr>
        <p:spPr/>
        <p:txBody>
          <a:bodyPr/>
          <a:lstStyle/>
          <a:p>
            <a:fld id="{F8F7F16D-A328-4C7F-8A48-69FABC2C8422}" type="datetimeFigureOut">
              <a:rPr lang="en-GB" smtClean="0"/>
              <a:t>12/02/2025</a:t>
            </a:fld>
            <a:endParaRPr lang="en-GB"/>
          </a:p>
        </p:txBody>
      </p:sp>
      <p:sp>
        <p:nvSpPr>
          <p:cNvPr id="3" name="Footer Placeholder 2">
            <a:extLst>
              <a:ext uri="{FF2B5EF4-FFF2-40B4-BE49-F238E27FC236}">
                <a16:creationId xmlns:a16="http://schemas.microsoft.com/office/drawing/2014/main" id="{DB335FF3-975E-4110-8D2C-36D4C6E30206}"/>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D7013456-F5B6-4FF6-BBE0-5EC478B0147D}"/>
              </a:ext>
            </a:extLst>
          </p:cNvPr>
          <p:cNvSpPr>
            <a:spLocks noGrp="1"/>
          </p:cNvSpPr>
          <p:nvPr>
            <p:ph type="sldNum" sz="quarter" idx="12"/>
          </p:nvPr>
        </p:nvSpPr>
        <p:spPr/>
        <p:txBody>
          <a:bodyPr/>
          <a:lstStyle/>
          <a:p>
            <a:fld id="{9E6FA4D8-285B-4CD1-B42C-C691F24BDE92}" type="slidenum">
              <a:rPr lang="en-GB" smtClean="0"/>
              <a:t>‹#›</a:t>
            </a:fld>
            <a:endParaRPr lang="en-GB"/>
          </a:p>
        </p:txBody>
      </p:sp>
    </p:spTree>
    <p:extLst>
      <p:ext uri="{BB962C8B-B14F-4D97-AF65-F5344CB8AC3E}">
        <p14:creationId xmlns:p14="http://schemas.microsoft.com/office/powerpoint/2010/main" val="41893389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8E7E9-E189-493F-9C2C-17B60F0BAA4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B923A677-4703-47D9-889C-9DF6BEDBA20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5F853F09-325B-4AC8-AAF7-549CB1ABB5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002FA2-C6AC-4F3A-8AF7-BC01CD37DCA2}"/>
              </a:ext>
            </a:extLst>
          </p:cNvPr>
          <p:cNvSpPr>
            <a:spLocks noGrp="1"/>
          </p:cNvSpPr>
          <p:nvPr>
            <p:ph type="dt" sz="half" idx="10"/>
          </p:nvPr>
        </p:nvSpPr>
        <p:spPr/>
        <p:txBody>
          <a:bodyPr/>
          <a:lstStyle/>
          <a:p>
            <a:fld id="{F8F7F16D-A328-4C7F-8A48-69FABC2C8422}" type="datetimeFigureOut">
              <a:rPr lang="en-GB" smtClean="0"/>
              <a:t>12/02/2025</a:t>
            </a:fld>
            <a:endParaRPr lang="en-GB"/>
          </a:p>
        </p:txBody>
      </p:sp>
      <p:sp>
        <p:nvSpPr>
          <p:cNvPr id="6" name="Footer Placeholder 5">
            <a:extLst>
              <a:ext uri="{FF2B5EF4-FFF2-40B4-BE49-F238E27FC236}">
                <a16:creationId xmlns:a16="http://schemas.microsoft.com/office/drawing/2014/main" id="{CBBC02E6-FDE7-4473-A255-DF021B248DE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5475C96-46EB-4E44-8722-1B8C509EC971}"/>
              </a:ext>
            </a:extLst>
          </p:cNvPr>
          <p:cNvSpPr>
            <a:spLocks noGrp="1"/>
          </p:cNvSpPr>
          <p:nvPr>
            <p:ph type="sldNum" sz="quarter" idx="12"/>
          </p:nvPr>
        </p:nvSpPr>
        <p:spPr/>
        <p:txBody>
          <a:bodyPr/>
          <a:lstStyle/>
          <a:p>
            <a:fld id="{9E6FA4D8-285B-4CD1-B42C-C691F24BDE92}" type="slidenum">
              <a:rPr lang="en-GB" smtClean="0"/>
              <a:t>‹#›</a:t>
            </a:fld>
            <a:endParaRPr lang="en-GB"/>
          </a:p>
        </p:txBody>
      </p:sp>
    </p:spTree>
    <p:extLst>
      <p:ext uri="{BB962C8B-B14F-4D97-AF65-F5344CB8AC3E}">
        <p14:creationId xmlns:p14="http://schemas.microsoft.com/office/powerpoint/2010/main" val="36192106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9A2C5-B622-45FB-9546-3C433B6409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D41270DB-F086-4CFF-8E8C-175497882D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B70112C3-F331-4DDF-866B-EFCF567860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BF28EE-4849-45BF-B6B6-B7014484B2DB}"/>
              </a:ext>
            </a:extLst>
          </p:cNvPr>
          <p:cNvSpPr>
            <a:spLocks noGrp="1"/>
          </p:cNvSpPr>
          <p:nvPr>
            <p:ph type="dt" sz="half" idx="10"/>
          </p:nvPr>
        </p:nvSpPr>
        <p:spPr/>
        <p:txBody>
          <a:bodyPr/>
          <a:lstStyle/>
          <a:p>
            <a:fld id="{F8F7F16D-A328-4C7F-8A48-69FABC2C8422}" type="datetimeFigureOut">
              <a:rPr lang="en-GB" smtClean="0"/>
              <a:t>12/02/2025</a:t>
            </a:fld>
            <a:endParaRPr lang="en-GB"/>
          </a:p>
        </p:txBody>
      </p:sp>
      <p:sp>
        <p:nvSpPr>
          <p:cNvPr id="6" name="Footer Placeholder 5">
            <a:extLst>
              <a:ext uri="{FF2B5EF4-FFF2-40B4-BE49-F238E27FC236}">
                <a16:creationId xmlns:a16="http://schemas.microsoft.com/office/drawing/2014/main" id="{4FCCCA90-1A37-4040-935A-B87A79DC3C4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D4E82EF-5190-4DA5-9B5F-556E96C1673A}"/>
              </a:ext>
            </a:extLst>
          </p:cNvPr>
          <p:cNvSpPr>
            <a:spLocks noGrp="1"/>
          </p:cNvSpPr>
          <p:nvPr>
            <p:ph type="sldNum" sz="quarter" idx="12"/>
          </p:nvPr>
        </p:nvSpPr>
        <p:spPr/>
        <p:txBody>
          <a:bodyPr/>
          <a:lstStyle/>
          <a:p>
            <a:fld id="{9E6FA4D8-285B-4CD1-B42C-C691F24BDE92}" type="slidenum">
              <a:rPr lang="en-GB" smtClean="0"/>
              <a:t>‹#›</a:t>
            </a:fld>
            <a:endParaRPr lang="en-GB"/>
          </a:p>
        </p:txBody>
      </p:sp>
    </p:spTree>
    <p:extLst>
      <p:ext uri="{BB962C8B-B14F-4D97-AF65-F5344CB8AC3E}">
        <p14:creationId xmlns:p14="http://schemas.microsoft.com/office/powerpoint/2010/main" val="4559717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A39E7-C2AE-48B7-8C69-B62F469689D7}"/>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1C16796-D143-4F1A-A486-11B4B38C687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666B27A-8437-415C-8911-F519D310E246}"/>
              </a:ext>
            </a:extLst>
          </p:cNvPr>
          <p:cNvSpPr>
            <a:spLocks noGrp="1"/>
          </p:cNvSpPr>
          <p:nvPr>
            <p:ph type="dt" sz="half" idx="10"/>
          </p:nvPr>
        </p:nvSpPr>
        <p:spPr/>
        <p:txBody>
          <a:bodyPr/>
          <a:lstStyle/>
          <a:p>
            <a:fld id="{F8F7F16D-A328-4C7F-8A48-69FABC2C8422}" type="datetimeFigureOut">
              <a:rPr lang="en-GB" smtClean="0"/>
              <a:t>12/02/2025</a:t>
            </a:fld>
            <a:endParaRPr lang="en-GB"/>
          </a:p>
        </p:txBody>
      </p:sp>
      <p:sp>
        <p:nvSpPr>
          <p:cNvPr id="5" name="Footer Placeholder 4">
            <a:extLst>
              <a:ext uri="{FF2B5EF4-FFF2-40B4-BE49-F238E27FC236}">
                <a16:creationId xmlns:a16="http://schemas.microsoft.com/office/drawing/2014/main" id="{672FFB7A-6A5A-4069-AEE0-7035B84E1FC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E12D001-D4BA-430C-BBB7-BEA79C9E8FFB}"/>
              </a:ext>
            </a:extLst>
          </p:cNvPr>
          <p:cNvSpPr>
            <a:spLocks noGrp="1"/>
          </p:cNvSpPr>
          <p:nvPr>
            <p:ph type="sldNum" sz="quarter" idx="12"/>
          </p:nvPr>
        </p:nvSpPr>
        <p:spPr/>
        <p:txBody>
          <a:bodyPr/>
          <a:lstStyle/>
          <a:p>
            <a:fld id="{9E6FA4D8-285B-4CD1-B42C-C691F24BDE92}" type="slidenum">
              <a:rPr lang="en-GB" smtClean="0"/>
              <a:t>‹#›</a:t>
            </a:fld>
            <a:endParaRPr lang="en-GB"/>
          </a:p>
        </p:txBody>
      </p:sp>
    </p:spTree>
    <p:extLst>
      <p:ext uri="{BB962C8B-B14F-4D97-AF65-F5344CB8AC3E}">
        <p14:creationId xmlns:p14="http://schemas.microsoft.com/office/powerpoint/2010/main" val="29434862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1F3208-CBE7-4C93-A78B-94D82CA86D0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09C6E7C-33AD-464E-8ADC-02AB0F370B4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46FA588-DA3E-40AE-8CE9-46AF52D873E1}"/>
              </a:ext>
            </a:extLst>
          </p:cNvPr>
          <p:cNvSpPr>
            <a:spLocks noGrp="1"/>
          </p:cNvSpPr>
          <p:nvPr>
            <p:ph type="dt" sz="half" idx="10"/>
          </p:nvPr>
        </p:nvSpPr>
        <p:spPr/>
        <p:txBody>
          <a:bodyPr/>
          <a:lstStyle/>
          <a:p>
            <a:fld id="{F8F7F16D-A328-4C7F-8A48-69FABC2C8422}" type="datetimeFigureOut">
              <a:rPr lang="en-GB" smtClean="0"/>
              <a:t>12/02/2025</a:t>
            </a:fld>
            <a:endParaRPr lang="en-GB"/>
          </a:p>
        </p:txBody>
      </p:sp>
      <p:sp>
        <p:nvSpPr>
          <p:cNvPr id="5" name="Footer Placeholder 4">
            <a:extLst>
              <a:ext uri="{FF2B5EF4-FFF2-40B4-BE49-F238E27FC236}">
                <a16:creationId xmlns:a16="http://schemas.microsoft.com/office/drawing/2014/main" id="{1D782B9E-9910-484F-BC0E-430E5BCE15B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A08EF60-7F9C-4A2D-835A-81CF965E3564}"/>
              </a:ext>
            </a:extLst>
          </p:cNvPr>
          <p:cNvSpPr>
            <a:spLocks noGrp="1"/>
          </p:cNvSpPr>
          <p:nvPr>
            <p:ph type="sldNum" sz="quarter" idx="12"/>
          </p:nvPr>
        </p:nvSpPr>
        <p:spPr/>
        <p:txBody>
          <a:bodyPr/>
          <a:lstStyle/>
          <a:p>
            <a:fld id="{9E6FA4D8-285B-4CD1-B42C-C691F24BDE92}" type="slidenum">
              <a:rPr lang="en-GB" smtClean="0"/>
              <a:t>‹#›</a:t>
            </a:fld>
            <a:endParaRPr lang="en-GB"/>
          </a:p>
        </p:txBody>
      </p:sp>
    </p:spTree>
    <p:extLst>
      <p:ext uri="{BB962C8B-B14F-4D97-AF65-F5344CB8AC3E}">
        <p14:creationId xmlns:p14="http://schemas.microsoft.com/office/powerpoint/2010/main" val="29350640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a:srcRect b="49802"/>
          <a:stretch/>
        </p:blipFill>
        <p:spPr>
          <a:xfrm>
            <a:off x="1" y="0"/>
            <a:ext cx="12192000" cy="3432240"/>
          </a:xfrm>
          <a:prstGeom prst="rect">
            <a:avLst/>
          </a:prstGeom>
        </p:spPr>
      </p:pic>
    </p:spTree>
    <p:extLst>
      <p:ext uri="{BB962C8B-B14F-4D97-AF65-F5344CB8AC3E}">
        <p14:creationId xmlns:p14="http://schemas.microsoft.com/office/powerpoint/2010/main" val="40131206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AD94C86-8C24-4E08-A3FB-5F0C1F76FF46}" type="datetimeFigureOut">
              <a:rPr lang="en-GB" smtClean="0"/>
              <a:t>12/02/2025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31DCC3A-CBA4-432B-8A52-D912DFF723DF}" type="slidenum">
              <a:rPr lang="en-GB" smtClean="0"/>
              <a:t>‹#›</a:t>
            </a:fld>
            <a:endParaRPr lang="en-GB"/>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55487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D94C86-8C24-4E08-A3FB-5F0C1F76FF46}" type="datetimeFigureOut">
              <a:rPr lang="en-GB" smtClean="0"/>
              <a:t>12/02/2025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31DCC3A-CBA4-432B-8A52-D912DFF723DF}" type="slidenum">
              <a:rPr lang="en-GB" smtClean="0"/>
              <a:t>‹#›</a:t>
            </a:fld>
            <a:endParaRPr lang="en-GB"/>
          </a:p>
        </p:txBody>
      </p:sp>
    </p:spTree>
    <p:extLst>
      <p:ext uri="{BB962C8B-B14F-4D97-AF65-F5344CB8AC3E}">
        <p14:creationId xmlns:p14="http://schemas.microsoft.com/office/powerpoint/2010/main" val="34989257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AD94C86-8C24-4E08-A3FB-5F0C1F76FF46}" type="datetimeFigureOut">
              <a:rPr lang="en-GB" smtClean="0"/>
              <a:t>12/02/2025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31DCC3A-CBA4-432B-8A52-D912DFF723DF}" type="slidenum">
              <a:rPr lang="en-GB" smtClean="0"/>
              <a:t>‹#›</a:t>
            </a:fld>
            <a:endParaRPr lang="en-GB"/>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66867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AD94C86-8C24-4E08-A3FB-5F0C1F76FF46}" type="datetimeFigureOut">
              <a:rPr lang="en-GB" smtClean="0"/>
              <a:t>12/02/2025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31DCC3A-CBA4-432B-8A52-D912DFF723DF}" type="slidenum">
              <a:rPr lang="en-GB" smtClean="0"/>
              <a:t>‹#›</a:t>
            </a:fld>
            <a:endParaRPr lang="en-GB"/>
          </a:p>
        </p:txBody>
      </p:sp>
    </p:spTree>
    <p:extLst>
      <p:ext uri="{BB962C8B-B14F-4D97-AF65-F5344CB8AC3E}">
        <p14:creationId xmlns:p14="http://schemas.microsoft.com/office/powerpoint/2010/main" val="3162732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AD94C86-8C24-4E08-A3FB-5F0C1F76FF46}" type="datetimeFigureOut">
              <a:rPr lang="en-GB" smtClean="0"/>
              <a:t>12/02/2025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A31DCC3A-CBA4-432B-8A52-D912DFF723DF}" type="slidenum">
              <a:rPr lang="en-GB" smtClean="0"/>
              <a:t>‹#›</a:t>
            </a:fld>
            <a:endParaRPr lang="en-GB"/>
          </a:p>
        </p:txBody>
      </p:sp>
    </p:spTree>
    <p:extLst>
      <p:ext uri="{BB962C8B-B14F-4D97-AF65-F5344CB8AC3E}">
        <p14:creationId xmlns:p14="http://schemas.microsoft.com/office/powerpoint/2010/main" val="31421502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AD94C86-8C24-4E08-A3FB-5F0C1F76FF46}" type="datetimeFigureOut">
              <a:rPr lang="en-GB" smtClean="0"/>
              <a:t>12/02/2025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A31DCC3A-CBA4-432B-8A52-D912DFF723DF}" type="slidenum">
              <a:rPr lang="en-GB" smtClean="0"/>
              <a:t>‹#›</a:t>
            </a:fld>
            <a:endParaRPr lang="en-GB"/>
          </a:p>
        </p:txBody>
      </p:sp>
    </p:spTree>
    <p:extLst>
      <p:ext uri="{BB962C8B-B14F-4D97-AF65-F5344CB8AC3E}">
        <p14:creationId xmlns:p14="http://schemas.microsoft.com/office/powerpoint/2010/main" val="120513581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FAD94C86-8C24-4E08-A3FB-5F0C1F76FF46}" type="datetimeFigureOut">
              <a:rPr lang="en-GB" smtClean="0"/>
              <a:t>12/02/2025</a:t>
            </a:fld>
            <a:endParaRPr lang="en-GB"/>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GB"/>
          </a:p>
        </p:txBody>
      </p:sp>
      <p:sp>
        <p:nvSpPr>
          <p:cNvPr id="9" name="Slide Number Placeholder 8"/>
          <p:cNvSpPr>
            <a:spLocks noGrp="1"/>
          </p:cNvSpPr>
          <p:nvPr>
            <p:ph type="sldNum" sz="quarter" idx="12"/>
          </p:nvPr>
        </p:nvSpPr>
        <p:spPr/>
        <p:txBody>
          <a:bodyPr/>
          <a:lstStyle/>
          <a:p>
            <a:fld id="{A31DCC3A-CBA4-432B-8A52-D912DFF723DF}" type="slidenum">
              <a:rPr lang="en-GB" smtClean="0"/>
              <a:t>‹#›</a:t>
            </a:fld>
            <a:endParaRPr lang="en-GB"/>
          </a:p>
        </p:txBody>
      </p:sp>
    </p:spTree>
    <p:extLst>
      <p:ext uri="{BB962C8B-B14F-4D97-AF65-F5344CB8AC3E}">
        <p14:creationId xmlns:p14="http://schemas.microsoft.com/office/powerpoint/2010/main" val="409504529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FAD94C86-8C24-4E08-A3FB-5F0C1F76FF46}" type="datetimeFigureOut">
              <a:rPr lang="en-GB" smtClean="0"/>
              <a:t>12/02/2025</a:t>
            </a:fld>
            <a:endParaRPr lang="en-GB"/>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GB"/>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A31DCC3A-CBA4-432B-8A52-D912DFF723DF}" type="slidenum">
              <a:rPr lang="en-GB" smtClean="0"/>
              <a:t>‹#›</a:t>
            </a:fld>
            <a:endParaRPr lang="en-GB"/>
          </a:p>
        </p:txBody>
      </p:sp>
    </p:spTree>
    <p:extLst>
      <p:ext uri="{BB962C8B-B14F-4D97-AF65-F5344CB8AC3E}">
        <p14:creationId xmlns:p14="http://schemas.microsoft.com/office/powerpoint/2010/main" val="74924223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AD94C86-8C24-4E08-A3FB-5F0C1F76FF46}" type="datetimeFigureOut">
              <a:rPr lang="en-GB" smtClean="0"/>
              <a:t>12/02/2025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31DCC3A-CBA4-432B-8A52-D912DFF723DF}" type="slidenum">
              <a:rPr lang="en-GB" smtClean="0"/>
              <a:t>‹#›</a:t>
            </a:fld>
            <a:endParaRPr lang="en-GB"/>
          </a:p>
        </p:txBody>
      </p:sp>
    </p:spTree>
    <p:extLst>
      <p:ext uri="{BB962C8B-B14F-4D97-AF65-F5344CB8AC3E}">
        <p14:creationId xmlns:p14="http://schemas.microsoft.com/office/powerpoint/2010/main" val="237259633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D94C86-8C24-4E08-A3FB-5F0C1F76FF46}" type="datetimeFigureOut">
              <a:rPr lang="en-GB" smtClean="0"/>
              <a:t>12/02/2025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31DCC3A-CBA4-432B-8A52-D912DFF723DF}" type="slidenum">
              <a:rPr lang="en-GB" smtClean="0"/>
              <a:t>‹#›</a:t>
            </a:fld>
            <a:endParaRPr lang="en-GB"/>
          </a:p>
        </p:txBody>
      </p:sp>
    </p:spTree>
    <p:extLst>
      <p:ext uri="{BB962C8B-B14F-4D97-AF65-F5344CB8AC3E}">
        <p14:creationId xmlns:p14="http://schemas.microsoft.com/office/powerpoint/2010/main" val="25466268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D94C86-8C24-4E08-A3FB-5F0C1F76FF46}" type="datetimeFigureOut">
              <a:rPr lang="en-GB" smtClean="0"/>
              <a:t>12/02/2025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31DCC3A-CBA4-432B-8A52-D912DFF723DF}" type="slidenum">
              <a:rPr lang="en-GB" smtClean="0"/>
              <a:t>‹#›</a:t>
            </a:fld>
            <a:endParaRPr lang="en-GB"/>
          </a:p>
        </p:txBody>
      </p:sp>
    </p:spTree>
    <p:extLst>
      <p:ext uri="{BB962C8B-B14F-4D97-AF65-F5344CB8AC3E}">
        <p14:creationId xmlns:p14="http://schemas.microsoft.com/office/powerpoint/2010/main" val="8313318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3.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BD8A084-6E78-4BF5-8ED5-28649DFCFF3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45950BB-B045-4E72-8D01-050E7255A8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57AB20C-3001-4DD8-A2E2-4C46BF8FA0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8F7F16D-A328-4C7F-8A48-69FABC2C8422}" type="datetimeFigureOut">
              <a:rPr lang="en-GB" smtClean="0"/>
              <a:t>12/02/2025</a:t>
            </a:fld>
            <a:endParaRPr lang="en-GB"/>
          </a:p>
        </p:txBody>
      </p:sp>
      <p:sp>
        <p:nvSpPr>
          <p:cNvPr id="5" name="Footer Placeholder 4">
            <a:extLst>
              <a:ext uri="{FF2B5EF4-FFF2-40B4-BE49-F238E27FC236}">
                <a16:creationId xmlns:a16="http://schemas.microsoft.com/office/drawing/2014/main" id="{3B7B1AA1-0E04-4BB2-9266-8764D8C10B2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35E4CD39-9CF1-4644-BFB0-B75C583978C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6FA4D8-285B-4CD1-B42C-C691F24BDE92}" type="slidenum">
              <a:rPr lang="en-GB" smtClean="0"/>
              <a:t>‹#›</a:t>
            </a:fld>
            <a:endParaRPr lang="en-GB"/>
          </a:p>
        </p:txBody>
      </p:sp>
    </p:spTree>
    <p:extLst>
      <p:ext uri="{BB962C8B-B14F-4D97-AF65-F5344CB8AC3E}">
        <p14:creationId xmlns:p14="http://schemas.microsoft.com/office/powerpoint/2010/main" val="1956804193"/>
      </p:ext>
    </p:extLst>
  </p:cSld>
  <p:clrMap bg1="lt1" tx1="dk1" bg2="lt2" tx2="dk2" accent1="accent1" accent2="accent2" accent3="accent3" accent4="accent4" accent5="accent5" accent6="accent6" hlink="hlink" folHlink="folHlink"/>
  <p:sldLayoutIdLst>
    <p:sldLayoutId id="2147483743" r:id="rId1"/>
    <p:sldLayoutId id="2147483744" r:id="rId2"/>
    <p:sldLayoutId id="2147483745" r:id="rId3"/>
    <p:sldLayoutId id="2147483746" r:id="rId4"/>
    <p:sldLayoutId id="2147483747" r:id="rId5"/>
    <p:sldLayoutId id="2147483748" r:id="rId6"/>
    <p:sldLayoutId id="2147483749" r:id="rId7"/>
    <p:sldLayoutId id="2147483750" r:id="rId8"/>
    <p:sldLayoutId id="2147483751" r:id="rId9"/>
    <p:sldLayoutId id="2147483752" r:id="rId10"/>
    <p:sldLayoutId id="214748375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1" cy="1143000"/>
          </a:xfrm>
          <a:prstGeom prst="rect">
            <a:avLst/>
          </a:prstGeom>
        </p:spPr>
        <p:txBody>
          <a:bodyPr vert="horz" lIns="101636" tIns="50818" rIns="101636" bIns="50818"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1" cy="4525963"/>
          </a:xfrm>
          <a:prstGeom prst="rect">
            <a:avLst/>
          </a:prstGeom>
        </p:spPr>
        <p:txBody>
          <a:bodyPr vert="horz" lIns="101636" tIns="50818" rIns="101636" bIns="50818"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0"/>
            <a:ext cx="2844800" cy="365125"/>
          </a:xfrm>
          <a:prstGeom prst="rect">
            <a:avLst/>
          </a:prstGeom>
        </p:spPr>
        <p:txBody>
          <a:bodyPr vert="horz" lIns="101636" tIns="50818" rIns="101636" bIns="50818" rtlCol="0" anchor="ctr"/>
          <a:lstStyle>
            <a:lvl1pPr algn="l">
              <a:defRPr sz="1168">
                <a:solidFill>
                  <a:schemeClr val="tx1">
                    <a:tint val="75000"/>
                  </a:schemeClr>
                </a:solidFill>
              </a:defRPr>
            </a:lvl1pPr>
          </a:lstStyle>
          <a:p>
            <a:fld id="{7D9619E1-8D7B-8148-82B0-908DBEC4CE4D}" type="datetimeFigureOut">
              <a:rPr lang="en-US" smtClean="0"/>
              <a:t>2/12/2025</a:t>
            </a:fld>
            <a:endParaRPr lang="en-US"/>
          </a:p>
        </p:txBody>
      </p:sp>
      <p:sp>
        <p:nvSpPr>
          <p:cNvPr id="5" name="Footer Placeholder 4"/>
          <p:cNvSpPr>
            <a:spLocks noGrp="1"/>
          </p:cNvSpPr>
          <p:nvPr>
            <p:ph type="ftr" sz="quarter" idx="3"/>
          </p:nvPr>
        </p:nvSpPr>
        <p:spPr>
          <a:xfrm>
            <a:off x="4165601" y="6356350"/>
            <a:ext cx="3860800" cy="365125"/>
          </a:xfrm>
          <a:prstGeom prst="rect">
            <a:avLst/>
          </a:prstGeom>
        </p:spPr>
        <p:txBody>
          <a:bodyPr vert="horz" lIns="101636" tIns="50818" rIns="101636" bIns="50818" rtlCol="0" anchor="ctr"/>
          <a:lstStyle>
            <a:lvl1pPr algn="ctr">
              <a:defRPr sz="1168">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0"/>
            <a:ext cx="2844800" cy="365125"/>
          </a:xfrm>
          <a:prstGeom prst="rect">
            <a:avLst/>
          </a:prstGeom>
        </p:spPr>
        <p:txBody>
          <a:bodyPr vert="horz" lIns="101636" tIns="50818" rIns="101636" bIns="50818" rtlCol="0" anchor="ctr"/>
          <a:lstStyle>
            <a:lvl1pPr algn="r">
              <a:defRPr sz="1168">
                <a:solidFill>
                  <a:schemeClr val="tx1">
                    <a:tint val="75000"/>
                  </a:schemeClr>
                </a:solidFill>
              </a:defRPr>
            </a:lvl1pPr>
          </a:lstStyle>
          <a:p>
            <a:fld id="{B56E6150-8108-4B44-B0B0-BFDC52A01023}" type="slidenum">
              <a:rPr lang="en-US" smtClean="0"/>
              <a:t>‹#›</a:t>
            </a:fld>
            <a:endParaRPr lang="en-US"/>
          </a:p>
        </p:txBody>
      </p:sp>
    </p:spTree>
    <p:extLst>
      <p:ext uri="{BB962C8B-B14F-4D97-AF65-F5344CB8AC3E}">
        <p14:creationId xmlns:p14="http://schemas.microsoft.com/office/powerpoint/2010/main" val="2759222577"/>
      </p:ext>
    </p:extLst>
  </p:cSld>
  <p:clrMap bg1="lt1" tx1="dk1" bg2="lt2" tx2="dk2" accent1="accent1" accent2="accent2" accent3="accent3" accent4="accent4" accent5="accent5" accent6="accent6" hlink="hlink" folHlink="folHlink"/>
  <p:sldLayoutIdLst>
    <p:sldLayoutId id="2147483649" r:id="rId1"/>
  </p:sldLayoutIdLst>
  <p:txStyles>
    <p:titleStyle>
      <a:lvl1pPr algn="ctr" defTabSz="508178" rtl="0" eaLnBrk="1" latinLnBrk="0" hangingPunct="1">
        <a:spcBef>
          <a:spcPct val="0"/>
        </a:spcBef>
        <a:buNone/>
        <a:defRPr sz="4900" kern="1200">
          <a:solidFill>
            <a:schemeClr val="tx1"/>
          </a:solidFill>
          <a:latin typeface="+mj-lt"/>
          <a:ea typeface="+mj-ea"/>
          <a:cs typeface="+mj-cs"/>
        </a:defRPr>
      </a:lvl1pPr>
    </p:titleStyle>
    <p:bodyStyle>
      <a:lvl1pPr marL="381133" indent="-381133" algn="l" defTabSz="508178" rtl="0" eaLnBrk="1" latinLnBrk="0" hangingPunct="1">
        <a:spcBef>
          <a:spcPct val="20000"/>
        </a:spcBef>
        <a:buFont typeface="Arial"/>
        <a:buChar char="•"/>
        <a:defRPr sz="3600" kern="1200">
          <a:solidFill>
            <a:schemeClr val="tx1"/>
          </a:solidFill>
          <a:latin typeface="+mn-lt"/>
          <a:ea typeface="+mn-ea"/>
          <a:cs typeface="+mn-cs"/>
        </a:defRPr>
      </a:lvl1pPr>
      <a:lvl2pPr marL="825789" indent="-317611" algn="l" defTabSz="508178" rtl="0" eaLnBrk="1" latinLnBrk="0" hangingPunct="1">
        <a:spcBef>
          <a:spcPct val="20000"/>
        </a:spcBef>
        <a:buFont typeface="Arial"/>
        <a:buChar char="–"/>
        <a:defRPr sz="3100" kern="1200">
          <a:solidFill>
            <a:schemeClr val="tx1"/>
          </a:solidFill>
          <a:latin typeface="+mn-lt"/>
          <a:ea typeface="+mn-ea"/>
          <a:cs typeface="+mn-cs"/>
        </a:defRPr>
      </a:lvl2pPr>
      <a:lvl3pPr marL="1270445" indent="-254089" algn="l" defTabSz="508178" rtl="0" eaLnBrk="1" latinLnBrk="0" hangingPunct="1">
        <a:spcBef>
          <a:spcPct val="20000"/>
        </a:spcBef>
        <a:buFont typeface="Arial"/>
        <a:buChar char="•"/>
        <a:defRPr sz="2700" kern="1200">
          <a:solidFill>
            <a:schemeClr val="tx1"/>
          </a:solidFill>
          <a:latin typeface="+mn-lt"/>
          <a:ea typeface="+mn-ea"/>
          <a:cs typeface="+mn-cs"/>
        </a:defRPr>
      </a:lvl3pPr>
      <a:lvl4pPr marL="1778622" indent="-254089" algn="l" defTabSz="508178" rtl="0" eaLnBrk="1" latinLnBrk="0" hangingPunct="1">
        <a:spcBef>
          <a:spcPct val="20000"/>
        </a:spcBef>
        <a:buFont typeface="Arial"/>
        <a:buChar char="–"/>
        <a:defRPr sz="2200" kern="1200">
          <a:solidFill>
            <a:schemeClr val="tx1"/>
          </a:solidFill>
          <a:latin typeface="+mn-lt"/>
          <a:ea typeface="+mn-ea"/>
          <a:cs typeface="+mn-cs"/>
        </a:defRPr>
      </a:lvl4pPr>
      <a:lvl5pPr marL="2286800" indent="-254089" algn="l" defTabSz="508178" rtl="0" eaLnBrk="1" latinLnBrk="0" hangingPunct="1">
        <a:spcBef>
          <a:spcPct val="20000"/>
        </a:spcBef>
        <a:buFont typeface="Arial"/>
        <a:buChar char="»"/>
        <a:defRPr sz="2200" kern="1200">
          <a:solidFill>
            <a:schemeClr val="tx1"/>
          </a:solidFill>
          <a:latin typeface="+mn-lt"/>
          <a:ea typeface="+mn-ea"/>
          <a:cs typeface="+mn-cs"/>
        </a:defRPr>
      </a:lvl5pPr>
      <a:lvl6pPr marL="2794978" indent="-254089" algn="l" defTabSz="508178" rtl="0" eaLnBrk="1" latinLnBrk="0" hangingPunct="1">
        <a:spcBef>
          <a:spcPct val="20000"/>
        </a:spcBef>
        <a:buFont typeface="Arial"/>
        <a:buChar char="•"/>
        <a:defRPr sz="2200" kern="1200">
          <a:solidFill>
            <a:schemeClr val="tx1"/>
          </a:solidFill>
          <a:latin typeface="+mn-lt"/>
          <a:ea typeface="+mn-ea"/>
          <a:cs typeface="+mn-cs"/>
        </a:defRPr>
      </a:lvl6pPr>
      <a:lvl7pPr marL="3303156" indent="-254089" algn="l" defTabSz="508178" rtl="0" eaLnBrk="1" latinLnBrk="0" hangingPunct="1">
        <a:spcBef>
          <a:spcPct val="20000"/>
        </a:spcBef>
        <a:buFont typeface="Arial"/>
        <a:buChar char="•"/>
        <a:defRPr sz="2200" kern="1200">
          <a:solidFill>
            <a:schemeClr val="tx1"/>
          </a:solidFill>
          <a:latin typeface="+mn-lt"/>
          <a:ea typeface="+mn-ea"/>
          <a:cs typeface="+mn-cs"/>
        </a:defRPr>
      </a:lvl7pPr>
      <a:lvl8pPr marL="3811334" indent="-254089" algn="l" defTabSz="508178" rtl="0" eaLnBrk="1" latinLnBrk="0" hangingPunct="1">
        <a:spcBef>
          <a:spcPct val="20000"/>
        </a:spcBef>
        <a:buFont typeface="Arial"/>
        <a:buChar char="•"/>
        <a:defRPr sz="2200" kern="1200">
          <a:solidFill>
            <a:schemeClr val="tx1"/>
          </a:solidFill>
          <a:latin typeface="+mn-lt"/>
          <a:ea typeface="+mn-ea"/>
          <a:cs typeface="+mn-cs"/>
        </a:defRPr>
      </a:lvl8pPr>
      <a:lvl9pPr marL="4319511" indent="-254089" algn="l" defTabSz="508178" rtl="0" eaLnBrk="1" latinLnBrk="0" hangingPunct="1">
        <a:spcBef>
          <a:spcPct val="20000"/>
        </a:spcBef>
        <a:buFont typeface="Arial"/>
        <a:buChar char="•"/>
        <a:defRPr sz="2200" kern="1200">
          <a:solidFill>
            <a:schemeClr val="tx1"/>
          </a:solidFill>
          <a:latin typeface="+mn-lt"/>
          <a:ea typeface="+mn-ea"/>
          <a:cs typeface="+mn-cs"/>
        </a:defRPr>
      </a:lvl9pPr>
    </p:bodyStyle>
    <p:otherStyle>
      <a:defPPr>
        <a:defRPr lang="en-US"/>
      </a:defPPr>
      <a:lvl1pPr marL="0" algn="l" defTabSz="508178" rtl="0" eaLnBrk="1" latinLnBrk="0" hangingPunct="1">
        <a:defRPr sz="2000" kern="1200">
          <a:solidFill>
            <a:schemeClr val="tx1"/>
          </a:solidFill>
          <a:latin typeface="+mn-lt"/>
          <a:ea typeface="+mn-ea"/>
          <a:cs typeface="+mn-cs"/>
        </a:defRPr>
      </a:lvl1pPr>
      <a:lvl2pPr marL="508178" algn="l" defTabSz="508178" rtl="0" eaLnBrk="1" latinLnBrk="0" hangingPunct="1">
        <a:defRPr sz="2000" kern="1200">
          <a:solidFill>
            <a:schemeClr val="tx1"/>
          </a:solidFill>
          <a:latin typeface="+mn-lt"/>
          <a:ea typeface="+mn-ea"/>
          <a:cs typeface="+mn-cs"/>
        </a:defRPr>
      </a:lvl2pPr>
      <a:lvl3pPr marL="1016356" algn="l" defTabSz="508178" rtl="0" eaLnBrk="1" latinLnBrk="0" hangingPunct="1">
        <a:defRPr sz="2000" kern="1200">
          <a:solidFill>
            <a:schemeClr val="tx1"/>
          </a:solidFill>
          <a:latin typeface="+mn-lt"/>
          <a:ea typeface="+mn-ea"/>
          <a:cs typeface="+mn-cs"/>
        </a:defRPr>
      </a:lvl3pPr>
      <a:lvl4pPr marL="1524533" algn="l" defTabSz="508178" rtl="0" eaLnBrk="1" latinLnBrk="0" hangingPunct="1">
        <a:defRPr sz="2000" kern="1200">
          <a:solidFill>
            <a:schemeClr val="tx1"/>
          </a:solidFill>
          <a:latin typeface="+mn-lt"/>
          <a:ea typeface="+mn-ea"/>
          <a:cs typeface="+mn-cs"/>
        </a:defRPr>
      </a:lvl4pPr>
      <a:lvl5pPr marL="2032711" algn="l" defTabSz="508178" rtl="0" eaLnBrk="1" latinLnBrk="0" hangingPunct="1">
        <a:defRPr sz="2000" kern="1200">
          <a:solidFill>
            <a:schemeClr val="tx1"/>
          </a:solidFill>
          <a:latin typeface="+mn-lt"/>
          <a:ea typeface="+mn-ea"/>
          <a:cs typeface="+mn-cs"/>
        </a:defRPr>
      </a:lvl5pPr>
      <a:lvl6pPr marL="2540889" algn="l" defTabSz="508178" rtl="0" eaLnBrk="1" latinLnBrk="0" hangingPunct="1">
        <a:defRPr sz="2000" kern="1200">
          <a:solidFill>
            <a:schemeClr val="tx1"/>
          </a:solidFill>
          <a:latin typeface="+mn-lt"/>
          <a:ea typeface="+mn-ea"/>
          <a:cs typeface="+mn-cs"/>
        </a:defRPr>
      </a:lvl6pPr>
      <a:lvl7pPr marL="3049067" algn="l" defTabSz="508178" rtl="0" eaLnBrk="1" latinLnBrk="0" hangingPunct="1">
        <a:defRPr sz="2000" kern="1200">
          <a:solidFill>
            <a:schemeClr val="tx1"/>
          </a:solidFill>
          <a:latin typeface="+mn-lt"/>
          <a:ea typeface="+mn-ea"/>
          <a:cs typeface="+mn-cs"/>
        </a:defRPr>
      </a:lvl7pPr>
      <a:lvl8pPr marL="3557245" algn="l" defTabSz="508178" rtl="0" eaLnBrk="1" latinLnBrk="0" hangingPunct="1">
        <a:defRPr sz="2000" kern="1200">
          <a:solidFill>
            <a:schemeClr val="tx1"/>
          </a:solidFill>
          <a:latin typeface="+mn-lt"/>
          <a:ea typeface="+mn-ea"/>
          <a:cs typeface="+mn-cs"/>
        </a:defRPr>
      </a:lvl8pPr>
      <a:lvl9pPr marL="4065422" algn="l" defTabSz="508178" rtl="0" eaLnBrk="1" latinLnBrk="0" hangingPunct="1">
        <a:defRPr sz="20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F8F7F16D-A328-4C7F-8A48-69FABC2C8422}" type="datetimeFigureOut">
              <a:rPr lang="en-GB" smtClean="0"/>
              <a:t>12/02/2025</a:t>
            </a:fld>
            <a:endParaRPr lang="en-GB"/>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GB"/>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9E6FA4D8-285B-4CD1-B42C-C691F24BDE92}" type="slidenum">
              <a:rPr lang="en-GB" smtClean="0"/>
              <a:t>‹#›</a:t>
            </a:fld>
            <a:endParaRPr lang="en-GB"/>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9429620"/>
      </p:ext>
    </p:extLst>
  </p:cSld>
  <p:clrMap bg1="lt1" tx1="dk1" bg2="lt2" tx2="dk2" accent1="accent1" accent2="accent2" accent3="accent3" accent4="accent4" accent5="accent5" accent6="accent6" hlink="hlink" folHlink="folHlink"/>
  <p:sldLayoutIdLst>
    <p:sldLayoutId id="2147483809" r:id="rId1"/>
    <p:sldLayoutId id="2147483810" r:id="rId2"/>
    <p:sldLayoutId id="2147483811" r:id="rId3"/>
    <p:sldLayoutId id="2147483812" r:id="rId4"/>
    <p:sldLayoutId id="2147483813" r:id="rId5"/>
    <p:sldLayoutId id="2147483814" r:id="rId6"/>
    <p:sldLayoutId id="2147483815" r:id="rId7"/>
    <p:sldLayoutId id="2147483816" r:id="rId8"/>
    <p:sldLayoutId id="2147483817" r:id="rId9"/>
    <p:sldLayoutId id="2147483818" r:id="rId10"/>
    <p:sldLayoutId id="2147483819"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DSC_0063 (2).JPG"/>
          <p:cNvPicPr>
            <a:picLocks noChangeAspect="1"/>
          </p:cNvPicPr>
          <p:nvPr/>
        </p:nvPicPr>
        <p:blipFill rotWithShape="1">
          <a:blip r:embed="rId2">
            <a:extLst>
              <a:ext uri="{28A0092B-C50C-407E-A947-70E740481C1C}">
                <a14:useLocalDpi xmlns:a14="http://schemas.microsoft.com/office/drawing/2010/main" val="0"/>
              </a:ext>
            </a:extLst>
          </a:blip>
          <a:srcRect t="12540" r="15370" b="39874"/>
          <a:stretch/>
        </p:blipFill>
        <p:spPr>
          <a:xfrm>
            <a:off x="1578617" y="3434615"/>
            <a:ext cx="9132489" cy="3423386"/>
          </a:xfrm>
          <a:prstGeom prst="rect">
            <a:avLst/>
          </a:prstGeom>
        </p:spPr>
      </p:pic>
      <p:sp>
        <p:nvSpPr>
          <p:cNvPr id="5" name="TextBox 4"/>
          <p:cNvSpPr txBox="1"/>
          <p:nvPr/>
        </p:nvSpPr>
        <p:spPr>
          <a:xfrm>
            <a:off x="1983207" y="1867731"/>
            <a:ext cx="8319734" cy="1004442"/>
          </a:xfrm>
          <a:prstGeom prst="rect">
            <a:avLst/>
          </a:prstGeom>
          <a:noFill/>
        </p:spPr>
        <p:txBody>
          <a:bodyPr wrap="square" rtlCol="0">
            <a:spAutoFit/>
          </a:bodyPr>
          <a:lstStyle/>
          <a:p>
            <a:pPr algn="ctr"/>
            <a:r>
              <a:rPr lang="en-ZA" sz="2694" dirty="0">
                <a:solidFill>
                  <a:srgbClr val="FFFFFF"/>
                </a:solidFill>
              </a:rPr>
              <a:t>Week 2</a:t>
            </a:r>
            <a:endParaRPr lang="en-US" sz="3233" dirty="0">
              <a:solidFill>
                <a:srgbClr val="FFFFFF"/>
              </a:solidFill>
            </a:endParaRPr>
          </a:p>
          <a:p>
            <a:pPr algn="ctr"/>
            <a:r>
              <a:rPr lang="en-US" sz="3233" dirty="0">
                <a:solidFill>
                  <a:srgbClr val="FFFFFF"/>
                </a:solidFill>
              </a:rPr>
              <a:t>Databases and Database users</a:t>
            </a:r>
            <a:endParaRPr lang="en-ZA" sz="2694" dirty="0">
              <a:solidFill>
                <a:srgbClr val="FFFFFF"/>
              </a:solidFill>
            </a:endParaRPr>
          </a:p>
        </p:txBody>
      </p:sp>
      <p:sp>
        <p:nvSpPr>
          <p:cNvPr id="7" name="TextBox 6"/>
          <p:cNvSpPr txBox="1"/>
          <p:nvPr/>
        </p:nvSpPr>
        <p:spPr>
          <a:xfrm>
            <a:off x="2765098" y="1242919"/>
            <a:ext cx="7193040" cy="368691"/>
          </a:xfrm>
          <a:prstGeom prst="rect">
            <a:avLst/>
          </a:prstGeom>
          <a:noFill/>
        </p:spPr>
        <p:txBody>
          <a:bodyPr wrap="square" rtlCol="0">
            <a:spAutoFit/>
          </a:bodyPr>
          <a:lstStyle/>
          <a:p>
            <a:pPr marR="0" algn="l" rtl="0"/>
            <a:r>
              <a:rPr lang="en-US" sz="1796" b="1" i="0" u="none" strike="noStrike" baseline="0">
                <a:solidFill>
                  <a:srgbClr val="FFFFFF"/>
                </a:solidFill>
                <a:latin typeface="RopaSoftPro-Regular"/>
              </a:rPr>
              <a:t>Faculty</a:t>
            </a:r>
            <a:r>
              <a:rPr lang="en-US" sz="1796" b="1">
                <a:solidFill>
                  <a:srgbClr val="FFFFFF"/>
                </a:solidFill>
                <a:latin typeface="RopaSoftPro-Regular"/>
              </a:rPr>
              <a:t> of Computing and Informatics</a:t>
            </a:r>
            <a:endParaRPr lang="en-US" sz="1796" b="1" i="0" u="none" strike="noStrike" baseline="0">
              <a:solidFill>
                <a:srgbClr val="FFFFFF"/>
              </a:solidFill>
              <a:latin typeface="RopaSoftPro-Regular"/>
            </a:endParaRPr>
          </a:p>
        </p:txBody>
      </p:sp>
      <p:pic>
        <p:nvPicPr>
          <p:cNvPr id="9" name="Picture 8"/>
          <p:cNvPicPr>
            <a:picLocks noChangeAspect="1"/>
          </p:cNvPicPr>
          <p:nvPr/>
        </p:nvPicPr>
        <p:blipFill>
          <a:blip r:embed="rId3"/>
          <a:stretch>
            <a:fillRect/>
          </a:stretch>
        </p:blipFill>
        <p:spPr>
          <a:xfrm>
            <a:off x="8615736" y="3857374"/>
            <a:ext cx="2144373" cy="2634841"/>
          </a:xfrm>
          <a:prstGeom prst="rect">
            <a:avLst/>
          </a:prstGeom>
        </p:spPr>
      </p:pic>
    </p:spTree>
    <p:extLst>
      <p:ext uri="{BB962C8B-B14F-4D97-AF65-F5344CB8AC3E}">
        <p14:creationId xmlns:p14="http://schemas.microsoft.com/office/powerpoint/2010/main" val="9742330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3E1E3-30A8-4D96-A3F1-368C8F54308F}"/>
              </a:ext>
            </a:extLst>
          </p:cNvPr>
          <p:cNvSpPr>
            <a:spLocks noGrp="1"/>
          </p:cNvSpPr>
          <p:nvPr>
            <p:ph type="title"/>
          </p:nvPr>
        </p:nvSpPr>
        <p:spPr/>
        <p:txBody>
          <a:bodyPr/>
          <a:lstStyle/>
          <a:p>
            <a:r>
              <a:rPr lang="en-US" dirty="0"/>
              <a:t>Objectives </a:t>
            </a:r>
            <a:endParaRPr lang="en-GB" dirty="0"/>
          </a:p>
        </p:txBody>
      </p:sp>
      <p:sp>
        <p:nvSpPr>
          <p:cNvPr id="3" name="Content Placeholder 2">
            <a:extLst>
              <a:ext uri="{FF2B5EF4-FFF2-40B4-BE49-F238E27FC236}">
                <a16:creationId xmlns:a16="http://schemas.microsoft.com/office/drawing/2014/main" id="{E4647F02-D498-4CB5-9EC8-82C0C6383E4B}"/>
              </a:ext>
            </a:extLst>
          </p:cNvPr>
          <p:cNvSpPr>
            <a:spLocks noGrp="1"/>
          </p:cNvSpPr>
          <p:nvPr>
            <p:ph idx="1"/>
          </p:nvPr>
        </p:nvSpPr>
        <p:spPr/>
        <p:txBody>
          <a:bodyPr>
            <a:normAutofit/>
          </a:bodyPr>
          <a:lstStyle/>
          <a:p>
            <a:pPr marL="0" indent="0">
              <a:lnSpc>
                <a:spcPct val="150000"/>
              </a:lnSpc>
              <a:buNone/>
            </a:pPr>
            <a:r>
              <a:rPr lang="en-US" dirty="0"/>
              <a:t>By the end of this lesson, students should be able to:</a:t>
            </a:r>
          </a:p>
          <a:p>
            <a:pPr>
              <a:lnSpc>
                <a:spcPct val="150000"/>
              </a:lnSpc>
            </a:pPr>
            <a:r>
              <a:rPr lang="en-US" dirty="0"/>
              <a:t>Describe the history of Database</a:t>
            </a:r>
          </a:p>
          <a:p>
            <a:pPr>
              <a:lnSpc>
                <a:spcPct val="150000"/>
              </a:lnSpc>
            </a:pPr>
            <a:r>
              <a:rPr lang="en-US" dirty="0"/>
              <a:t>Identify the characteristics of the database approach</a:t>
            </a:r>
          </a:p>
          <a:p>
            <a:pPr>
              <a:lnSpc>
                <a:spcPct val="150000"/>
              </a:lnSpc>
            </a:pPr>
            <a:r>
              <a:rPr lang="en-US" dirty="0"/>
              <a:t>Explain the advantages of the Database Management system  approach.</a:t>
            </a:r>
          </a:p>
          <a:p>
            <a:pPr>
              <a:lnSpc>
                <a:spcPct val="150000"/>
              </a:lnSpc>
            </a:pPr>
            <a:r>
              <a:rPr lang="en-US" dirty="0"/>
              <a:t>State examples of databases and their users.</a:t>
            </a:r>
          </a:p>
          <a:p>
            <a:endParaRPr lang="en-US" dirty="0"/>
          </a:p>
          <a:p>
            <a:pPr marL="0" indent="0">
              <a:buNone/>
            </a:pPr>
            <a:endParaRPr lang="en-GB" dirty="0"/>
          </a:p>
        </p:txBody>
      </p:sp>
    </p:spTree>
    <p:extLst>
      <p:ext uri="{BB962C8B-B14F-4D97-AF65-F5344CB8AC3E}">
        <p14:creationId xmlns:p14="http://schemas.microsoft.com/office/powerpoint/2010/main" val="16723363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E1530B0-6F96-46C0-8B3E-3215CB756B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54910CF-1B56-45D3-960A-E89F7B3B91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12C24B57-2F2A-4077-ACA5-65D97F32CC7B}"/>
              </a:ext>
            </a:extLst>
          </p:cNvPr>
          <p:cNvSpPr>
            <a:spLocks noGrp="1"/>
          </p:cNvSpPr>
          <p:nvPr>
            <p:ph type="title"/>
          </p:nvPr>
        </p:nvSpPr>
        <p:spPr>
          <a:xfrm>
            <a:off x="492370" y="516835"/>
            <a:ext cx="3084844" cy="5772840"/>
          </a:xfrm>
        </p:spPr>
        <p:txBody>
          <a:bodyPr anchor="ctr">
            <a:normAutofit/>
          </a:bodyPr>
          <a:lstStyle/>
          <a:p>
            <a:r>
              <a:rPr lang="en-US" sz="3600">
                <a:solidFill>
                  <a:srgbClr val="FFFFFF"/>
                </a:solidFill>
              </a:rPr>
              <a:t>Introduction</a:t>
            </a:r>
            <a:endParaRPr lang="en-GB" sz="3600">
              <a:solidFill>
                <a:srgbClr val="FFFFFF"/>
              </a:solidFill>
            </a:endParaRPr>
          </a:p>
        </p:txBody>
      </p:sp>
      <p:sp>
        <p:nvSpPr>
          <p:cNvPr id="13" name="Rectangle 12">
            <a:extLst>
              <a:ext uri="{FF2B5EF4-FFF2-40B4-BE49-F238E27FC236}">
                <a16:creationId xmlns:a16="http://schemas.microsoft.com/office/drawing/2014/main" id="{6669F804-A677-4B75-95F4-A5E4426FB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graphicFrame>
        <p:nvGraphicFramePr>
          <p:cNvPr id="5" name="Content Placeholder 2">
            <a:extLst>
              <a:ext uri="{FF2B5EF4-FFF2-40B4-BE49-F238E27FC236}">
                <a16:creationId xmlns:a16="http://schemas.microsoft.com/office/drawing/2014/main" id="{2FD9CD99-395A-E634-6788-2EF81143070A}"/>
              </a:ext>
            </a:extLst>
          </p:cNvPr>
          <p:cNvGraphicFramePr>
            <a:graphicFrameLocks noGrp="1"/>
          </p:cNvGraphicFramePr>
          <p:nvPr>
            <p:ph idx="1"/>
            <p:extLst>
              <p:ext uri="{D42A27DB-BD31-4B8C-83A1-F6EECF244321}">
                <p14:modId xmlns:p14="http://schemas.microsoft.com/office/powerpoint/2010/main" val="4014322968"/>
              </p:ext>
            </p:extLst>
          </p:nvPr>
        </p:nvGraphicFramePr>
        <p:xfrm>
          <a:off x="4741863" y="639763"/>
          <a:ext cx="6797675" cy="5649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97666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595ED-840B-441E-8C99-51BDEA8A1ED7}"/>
              </a:ext>
            </a:extLst>
          </p:cNvPr>
          <p:cNvSpPr>
            <a:spLocks noGrp="1"/>
          </p:cNvSpPr>
          <p:nvPr>
            <p:ph type="title"/>
          </p:nvPr>
        </p:nvSpPr>
        <p:spPr>
          <a:xfrm>
            <a:off x="990600" y="338328"/>
            <a:ext cx="10210800" cy="1078992"/>
          </a:xfrm>
        </p:spPr>
        <p:txBody>
          <a:bodyPr vert="horz" lIns="91440" tIns="45720" rIns="91440" bIns="45720" rtlCol="0" anchor="b">
            <a:normAutofit/>
          </a:bodyPr>
          <a:lstStyle/>
          <a:p>
            <a:pPr algn="ctr"/>
            <a:r>
              <a:rPr lang="en-US" sz="5400" dirty="0"/>
              <a:t>Filing system</a:t>
            </a:r>
          </a:p>
        </p:txBody>
      </p:sp>
      <p:sp>
        <p:nvSpPr>
          <p:cNvPr id="10" name="Rectangle 9">
            <a:extLst>
              <a:ext uri="{FF2B5EF4-FFF2-40B4-BE49-F238E27FC236}">
                <a16:creationId xmlns:a16="http://schemas.microsoft.com/office/drawing/2014/main" id="{70BDD0CE-06A4-404B-8A13-580229C1C9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141750"/>
            <a:ext cx="12192000" cy="4716250"/>
          </a:xfrm>
          <a:prstGeom prst="rect">
            <a:avLst/>
          </a:prstGeom>
          <a:solidFill>
            <a:srgbClr val="8182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ounded Rectangle 26">
            <a:extLst>
              <a:ext uri="{FF2B5EF4-FFF2-40B4-BE49-F238E27FC236}">
                <a16:creationId xmlns:a16="http://schemas.microsoft.com/office/drawing/2014/main" id="{EE9899FA-8881-472C-AA59-D08A89CA8A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1564" y="2423160"/>
            <a:ext cx="5613569" cy="3930315"/>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3A82601E-998B-4BCC-A0F5-00D3652A1BF4}"/>
              </a:ext>
            </a:extLst>
          </p:cNvPr>
          <p:cNvPicPr>
            <a:picLocks noChangeAspect="1"/>
          </p:cNvPicPr>
          <p:nvPr/>
        </p:nvPicPr>
        <p:blipFill>
          <a:blip r:embed="rId2"/>
          <a:stretch>
            <a:fillRect/>
          </a:stretch>
        </p:blipFill>
        <p:spPr>
          <a:xfrm>
            <a:off x="995675" y="2742397"/>
            <a:ext cx="4261281" cy="3291840"/>
          </a:xfrm>
          <a:prstGeom prst="rect">
            <a:avLst/>
          </a:prstGeom>
        </p:spPr>
      </p:pic>
      <p:sp>
        <p:nvSpPr>
          <p:cNvPr id="14" name="Rounded Rectangle 16">
            <a:extLst>
              <a:ext uri="{FF2B5EF4-FFF2-40B4-BE49-F238E27FC236}">
                <a16:creationId xmlns:a16="http://schemas.microsoft.com/office/drawing/2014/main" id="{080B7D90-3DF1-4514-B26D-616BE35553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54749" y="2423160"/>
            <a:ext cx="5613569" cy="3930315"/>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Content Placeholder 3" descr="A picture containing furniture, file&#10;&#10;Description automatically generated">
            <a:extLst>
              <a:ext uri="{FF2B5EF4-FFF2-40B4-BE49-F238E27FC236}">
                <a16:creationId xmlns:a16="http://schemas.microsoft.com/office/drawing/2014/main" id="{51C0961B-92C4-4A5C-A0C5-5EFAFD9D9CC8}"/>
              </a:ext>
            </a:extLst>
          </p:cNvPr>
          <p:cNvPicPr>
            <a:picLocks noGrp="1" noChangeAspect="1"/>
          </p:cNvPicPr>
          <p:nvPr>
            <p:ph idx="1"/>
          </p:nvPr>
        </p:nvPicPr>
        <p:blipFill>
          <a:blip r:embed="rId3"/>
          <a:stretch>
            <a:fillRect/>
          </a:stretch>
        </p:blipFill>
        <p:spPr>
          <a:xfrm>
            <a:off x="6671619" y="2744731"/>
            <a:ext cx="4788130" cy="3291840"/>
          </a:xfrm>
          <a:prstGeom prst="rect">
            <a:avLst/>
          </a:prstGeom>
        </p:spPr>
      </p:pic>
    </p:spTree>
    <p:extLst>
      <p:ext uri="{BB962C8B-B14F-4D97-AF65-F5344CB8AC3E}">
        <p14:creationId xmlns:p14="http://schemas.microsoft.com/office/powerpoint/2010/main" val="418093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800AF-AC09-466A-A19E-6CC0474B194D}"/>
              </a:ext>
            </a:extLst>
          </p:cNvPr>
          <p:cNvSpPr>
            <a:spLocks noGrp="1"/>
          </p:cNvSpPr>
          <p:nvPr>
            <p:ph type="title"/>
          </p:nvPr>
        </p:nvSpPr>
        <p:spPr/>
        <p:txBody>
          <a:bodyPr/>
          <a:lstStyle/>
          <a:p>
            <a:r>
              <a:rPr lang="en-US" dirty="0"/>
              <a:t>History of databases </a:t>
            </a:r>
            <a:endParaRPr lang="en-GB" dirty="0"/>
          </a:p>
        </p:txBody>
      </p:sp>
      <p:sp>
        <p:nvSpPr>
          <p:cNvPr id="3" name="Content Placeholder 2">
            <a:extLst>
              <a:ext uri="{FF2B5EF4-FFF2-40B4-BE49-F238E27FC236}">
                <a16:creationId xmlns:a16="http://schemas.microsoft.com/office/drawing/2014/main" id="{238AC9E9-B3ED-42D4-BE93-3DDAD511F401}"/>
              </a:ext>
            </a:extLst>
          </p:cNvPr>
          <p:cNvSpPr>
            <a:spLocks noGrp="1"/>
          </p:cNvSpPr>
          <p:nvPr>
            <p:ph idx="1"/>
          </p:nvPr>
        </p:nvSpPr>
        <p:spPr/>
        <p:txBody>
          <a:bodyPr/>
          <a:lstStyle/>
          <a:p>
            <a:pPr>
              <a:lnSpc>
                <a:spcPct val="150000"/>
              </a:lnSpc>
            </a:pPr>
            <a:r>
              <a:rPr lang="en-US" dirty="0"/>
              <a:t>One way to keep information on a computer is to store it in permanent files.</a:t>
            </a:r>
          </a:p>
          <a:p>
            <a:pPr>
              <a:lnSpc>
                <a:spcPct val="150000"/>
              </a:lnSpc>
            </a:pPr>
            <a:r>
              <a:rPr lang="en-US" dirty="0"/>
              <a:t> A company system has a number of application programs; each of them is designed to manipulate data files. </a:t>
            </a:r>
          </a:p>
          <a:p>
            <a:pPr>
              <a:lnSpc>
                <a:spcPct val="150000"/>
              </a:lnSpc>
            </a:pPr>
            <a:r>
              <a:rPr lang="en-US" dirty="0"/>
              <a:t>New applications are added to the system as the need arises. </a:t>
            </a:r>
          </a:p>
          <a:p>
            <a:pPr>
              <a:lnSpc>
                <a:spcPct val="150000"/>
              </a:lnSpc>
            </a:pPr>
            <a:r>
              <a:rPr lang="en-US" dirty="0"/>
              <a:t>The system just described is called the file-based system.</a:t>
            </a:r>
            <a:endParaRPr lang="en-GB" dirty="0"/>
          </a:p>
        </p:txBody>
      </p:sp>
    </p:spTree>
    <p:extLst>
      <p:ext uri="{BB962C8B-B14F-4D97-AF65-F5344CB8AC3E}">
        <p14:creationId xmlns:p14="http://schemas.microsoft.com/office/powerpoint/2010/main" val="42846373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D3C17-15A8-4DA2-80C5-DD8BE159F5EB}"/>
              </a:ext>
            </a:extLst>
          </p:cNvPr>
          <p:cNvSpPr>
            <a:spLocks noGrp="1"/>
          </p:cNvSpPr>
          <p:nvPr>
            <p:ph type="title"/>
          </p:nvPr>
        </p:nvSpPr>
        <p:spPr>
          <a:xfrm>
            <a:off x="838200" y="585216"/>
            <a:ext cx="10515600" cy="1325563"/>
          </a:xfrm>
        </p:spPr>
        <p:txBody>
          <a:bodyPr>
            <a:normAutofit/>
          </a:bodyPr>
          <a:lstStyle/>
          <a:p>
            <a:r>
              <a:rPr lang="en-US" dirty="0"/>
              <a:t>File based system</a:t>
            </a:r>
            <a:endParaRPr lang="en-GB" dirty="0"/>
          </a:p>
        </p:txBody>
      </p:sp>
      <p:sp>
        <p:nvSpPr>
          <p:cNvPr id="3" name="Content Placeholder 2">
            <a:extLst>
              <a:ext uri="{FF2B5EF4-FFF2-40B4-BE49-F238E27FC236}">
                <a16:creationId xmlns:a16="http://schemas.microsoft.com/office/drawing/2014/main" id="{FA86716D-0191-4C36-9349-6304FA4F3E97}"/>
              </a:ext>
            </a:extLst>
          </p:cNvPr>
          <p:cNvSpPr>
            <a:spLocks noGrp="1"/>
          </p:cNvSpPr>
          <p:nvPr>
            <p:ph idx="1"/>
          </p:nvPr>
        </p:nvSpPr>
        <p:spPr>
          <a:xfrm>
            <a:off x="6095999" y="2612599"/>
            <a:ext cx="5562600" cy="3660185"/>
          </a:xfrm>
        </p:spPr>
        <p:txBody>
          <a:bodyPr anchor="ctr">
            <a:normAutofit/>
          </a:bodyPr>
          <a:lstStyle/>
          <a:p>
            <a:r>
              <a:rPr lang="en-US" sz="2000" b="0" i="0" dirty="0">
                <a:effectLst/>
                <a:latin typeface="Lora"/>
              </a:rPr>
              <a:t>Consider a traditional banking system that uses the file-based system to manage the organization’s data shown below. </a:t>
            </a:r>
          </a:p>
          <a:p>
            <a:r>
              <a:rPr lang="en-US" sz="2000" b="0" i="0" dirty="0">
                <a:effectLst/>
                <a:latin typeface="Lora"/>
              </a:rPr>
              <a:t>Bank has different departments with each having its own applications that manage and manipulate different data files.</a:t>
            </a:r>
          </a:p>
          <a:p>
            <a:pPr marL="0" indent="0">
              <a:buNone/>
            </a:pPr>
            <a:endParaRPr lang="en-GB" sz="2000" dirty="0"/>
          </a:p>
        </p:txBody>
      </p:sp>
      <p:pic>
        <p:nvPicPr>
          <p:cNvPr id="5" name="Picture 4">
            <a:extLst>
              <a:ext uri="{FF2B5EF4-FFF2-40B4-BE49-F238E27FC236}">
                <a16:creationId xmlns:a16="http://schemas.microsoft.com/office/drawing/2014/main" id="{69C44B9C-2A9C-401E-812F-C0E088EA95BE}"/>
              </a:ext>
            </a:extLst>
          </p:cNvPr>
          <p:cNvPicPr>
            <a:picLocks noChangeAspect="1"/>
          </p:cNvPicPr>
          <p:nvPr/>
        </p:nvPicPr>
        <p:blipFill rotWithShape="1">
          <a:blip r:embed="rId2"/>
          <a:srcRect r="352" b="-1"/>
          <a:stretch/>
        </p:blipFill>
        <p:spPr>
          <a:xfrm>
            <a:off x="657030" y="2612599"/>
            <a:ext cx="5562600" cy="3660185"/>
          </a:xfrm>
          <a:prstGeom prst="rect">
            <a:avLst/>
          </a:prstGeom>
        </p:spPr>
      </p:pic>
    </p:spTree>
    <p:extLst>
      <p:ext uri="{BB962C8B-B14F-4D97-AF65-F5344CB8AC3E}">
        <p14:creationId xmlns:p14="http://schemas.microsoft.com/office/powerpoint/2010/main" val="9878804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46FEA-BEA3-4E6C-8037-63B39A6BBE04}"/>
              </a:ext>
            </a:extLst>
          </p:cNvPr>
          <p:cNvSpPr>
            <a:spLocks noGrp="1"/>
          </p:cNvSpPr>
          <p:nvPr>
            <p:ph type="title"/>
          </p:nvPr>
        </p:nvSpPr>
        <p:spPr>
          <a:xfrm>
            <a:off x="838200" y="365126"/>
            <a:ext cx="10515600" cy="726828"/>
          </a:xfrm>
        </p:spPr>
        <p:txBody>
          <a:bodyPr>
            <a:normAutofit/>
          </a:bodyPr>
          <a:lstStyle/>
          <a:p>
            <a:r>
              <a:rPr lang="en-US" dirty="0"/>
              <a:t>History of Databases</a:t>
            </a:r>
            <a:endParaRPr lang="en-GB" dirty="0"/>
          </a:p>
        </p:txBody>
      </p:sp>
      <p:sp>
        <p:nvSpPr>
          <p:cNvPr id="3" name="Content Placeholder 2">
            <a:extLst>
              <a:ext uri="{FF2B5EF4-FFF2-40B4-BE49-F238E27FC236}">
                <a16:creationId xmlns:a16="http://schemas.microsoft.com/office/drawing/2014/main" id="{724368C8-52E0-40EB-9AEC-2BACF81F4C2A}"/>
              </a:ext>
            </a:extLst>
          </p:cNvPr>
          <p:cNvSpPr>
            <a:spLocks noGrp="1"/>
          </p:cNvSpPr>
          <p:nvPr>
            <p:ph idx="1"/>
          </p:nvPr>
        </p:nvSpPr>
        <p:spPr>
          <a:xfrm>
            <a:off x="838200" y="1321718"/>
            <a:ext cx="10515600" cy="5292145"/>
          </a:xfrm>
        </p:spPr>
        <p:txBody>
          <a:bodyPr>
            <a:normAutofit/>
          </a:bodyPr>
          <a:lstStyle/>
          <a:p>
            <a:r>
              <a:rPr lang="en-US" dirty="0"/>
              <a:t>Consider information that is kept in a list</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sz="1600" dirty="0"/>
              <a:t>Kroenke &amp; Auer (2013)</a:t>
            </a:r>
          </a:p>
          <a:p>
            <a:endParaRPr lang="en-US" dirty="0"/>
          </a:p>
          <a:p>
            <a:endParaRPr lang="en-US" dirty="0"/>
          </a:p>
          <a:p>
            <a:endParaRPr lang="en-US" dirty="0"/>
          </a:p>
          <a:p>
            <a:endParaRPr lang="en-US" dirty="0"/>
          </a:p>
          <a:p>
            <a:endParaRPr lang="en-US" dirty="0"/>
          </a:p>
          <a:p>
            <a:pPr marL="3657600" lvl="8" indent="0">
              <a:buNone/>
            </a:pPr>
            <a:endParaRPr lang="en-US" dirty="0"/>
          </a:p>
          <a:p>
            <a:pPr marL="0" indent="0">
              <a:buNone/>
            </a:pPr>
            <a:endParaRPr lang="en-GB" sz="1200" dirty="0"/>
          </a:p>
          <a:p>
            <a:pPr marL="0" indent="0">
              <a:buNone/>
            </a:pPr>
            <a:endParaRPr lang="en-GB" sz="1200" dirty="0"/>
          </a:p>
          <a:p>
            <a:endParaRPr lang="en-GB" dirty="0"/>
          </a:p>
        </p:txBody>
      </p:sp>
      <p:pic>
        <p:nvPicPr>
          <p:cNvPr id="4" name="Picture 2">
            <a:extLst>
              <a:ext uri="{FF2B5EF4-FFF2-40B4-BE49-F238E27FC236}">
                <a16:creationId xmlns:a16="http://schemas.microsoft.com/office/drawing/2014/main" id="{6C951F3B-B85F-4189-B236-825CC6A673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6324" y="1690688"/>
            <a:ext cx="8753475" cy="419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321252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32FFC-BB5B-4D93-B1C4-FB01414DBF73}"/>
              </a:ext>
            </a:extLst>
          </p:cNvPr>
          <p:cNvSpPr>
            <a:spLocks noGrp="1"/>
          </p:cNvSpPr>
          <p:nvPr>
            <p:ph type="title"/>
          </p:nvPr>
        </p:nvSpPr>
        <p:spPr>
          <a:xfrm>
            <a:off x="1361982" y="338492"/>
            <a:ext cx="10515600" cy="1325563"/>
          </a:xfrm>
        </p:spPr>
        <p:txBody>
          <a:bodyPr/>
          <a:lstStyle/>
          <a:p>
            <a:r>
              <a:rPr lang="en-US" dirty="0"/>
              <a:t>History of Database</a:t>
            </a:r>
            <a:endParaRPr lang="en-GB" dirty="0"/>
          </a:p>
        </p:txBody>
      </p:sp>
      <p:sp>
        <p:nvSpPr>
          <p:cNvPr id="3" name="Content Placeholder 2">
            <a:extLst>
              <a:ext uri="{FF2B5EF4-FFF2-40B4-BE49-F238E27FC236}">
                <a16:creationId xmlns:a16="http://schemas.microsoft.com/office/drawing/2014/main" id="{86E5C7F6-C6AE-433E-94D8-765522F081F9}"/>
              </a:ext>
            </a:extLst>
          </p:cNvPr>
          <p:cNvSpPr>
            <a:spLocks noGrp="1"/>
          </p:cNvSpPr>
          <p:nvPr>
            <p:ph idx="1"/>
          </p:nvPr>
        </p:nvSpPr>
        <p:spPr/>
        <p:txBody>
          <a:bodyPr>
            <a:normAutofit/>
          </a:bodyPr>
          <a:lstStyle/>
          <a:p>
            <a:r>
              <a:rPr lang="en-US" dirty="0"/>
              <a:t>In a list /file :</a:t>
            </a:r>
          </a:p>
          <a:p>
            <a:pPr marL="0" indent="0">
              <a:buNone/>
            </a:pPr>
            <a:r>
              <a:rPr lang="en-US" dirty="0"/>
              <a:t>1.  Each row is intended to stand on its own.  As a result, the same information may be entered several times.</a:t>
            </a:r>
          </a:p>
          <a:p>
            <a:pPr marL="0" indent="0">
              <a:buNone/>
            </a:pPr>
            <a:r>
              <a:rPr lang="en-US" dirty="0"/>
              <a:t>2. Each row may contain information on more than one theme.</a:t>
            </a:r>
          </a:p>
          <a:p>
            <a:r>
              <a:rPr lang="en-US" dirty="0"/>
              <a:t>Raises modification problems</a:t>
            </a:r>
          </a:p>
          <a:p>
            <a:r>
              <a:rPr lang="en-US" dirty="0"/>
              <a:t>Relational databases designed to address the complexities</a:t>
            </a:r>
          </a:p>
          <a:p>
            <a:r>
              <a:rPr lang="en-US" dirty="0"/>
              <a:t>The purpose of a database is to keep track of things.</a:t>
            </a:r>
          </a:p>
          <a:p>
            <a:endParaRPr lang="en-US" dirty="0"/>
          </a:p>
          <a:p>
            <a:endParaRPr lang="en-US" dirty="0"/>
          </a:p>
          <a:p>
            <a:endParaRPr lang="en-GB" dirty="0"/>
          </a:p>
        </p:txBody>
      </p:sp>
    </p:spTree>
    <p:extLst>
      <p:ext uri="{BB962C8B-B14F-4D97-AF65-F5344CB8AC3E}">
        <p14:creationId xmlns:p14="http://schemas.microsoft.com/office/powerpoint/2010/main" val="16780477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3D303-9BDE-4ED7-9CC3-99C9E6F102E7}"/>
              </a:ext>
            </a:extLst>
          </p:cNvPr>
          <p:cNvSpPr>
            <a:spLocks noGrp="1"/>
          </p:cNvSpPr>
          <p:nvPr>
            <p:ph type="title"/>
          </p:nvPr>
        </p:nvSpPr>
        <p:spPr/>
        <p:txBody>
          <a:bodyPr/>
          <a:lstStyle/>
          <a:p>
            <a:r>
              <a:rPr lang="en-US" dirty="0"/>
              <a:t>History of Database</a:t>
            </a:r>
            <a:endParaRPr lang="en-GB" dirty="0"/>
          </a:p>
        </p:txBody>
      </p:sp>
      <p:sp>
        <p:nvSpPr>
          <p:cNvPr id="3" name="Content Placeholder 2">
            <a:extLst>
              <a:ext uri="{FF2B5EF4-FFF2-40B4-BE49-F238E27FC236}">
                <a16:creationId xmlns:a16="http://schemas.microsoft.com/office/drawing/2014/main" id="{DDBA47F3-F3B7-4C9B-8239-55B3A0CCF166}"/>
              </a:ext>
            </a:extLst>
          </p:cNvPr>
          <p:cNvSpPr>
            <a:spLocks noGrp="1"/>
          </p:cNvSpPr>
          <p:nvPr>
            <p:ph idx="1"/>
          </p:nvPr>
        </p:nvSpPr>
        <p:spPr/>
        <p:txBody>
          <a:bodyPr>
            <a:normAutofit/>
          </a:bodyPr>
          <a:lstStyle/>
          <a:p>
            <a:r>
              <a:rPr lang="en-US" dirty="0"/>
              <a:t>Databases introduced to deal with the file/list approach</a:t>
            </a:r>
          </a:p>
          <a:p>
            <a:r>
              <a:rPr lang="en-US" dirty="0"/>
              <a:t>allows the management of large amounts of organizational information</a:t>
            </a:r>
          </a:p>
          <a:p>
            <a:r>
              <a:rPr lang="en-US" dirty="0"/>
              <a:t>A database is a shared collection of related data used to support the activities of a particular organization. </a:t>
            </a:r>
          </a:p>
          <a:p>
            <a:r>
              <a:rPr lang="en-US" dirty="0"/>
              <a:t>Several types of databases e.g.  relational database which stores information in tables.  </a:t>
            </a:r>
          </a:p>
          <a:p>
            <a:r>
              <a:rPr lang="en-US" dirty="0"/>
              <a:t>Each informational topic is stored in its own table.</a:t>
            </a:r>
          </a:p>
          <a:p>
            <a:pPr marL="0" indent="0">
              <a:buNone/>
            </a:pPr>
            <a:endParaRPr lang="en-GB" dirty="0"/>
          </a:p>
        </p:txBody>
      </p:sp>
    </p:spTree>
    <p:extLst>
      <p:ext uri="{BB962C8B-B14F-4D97-AF65-F5344CB8AC3E}">
        <p14:creationId xmlns:p14="http://schemas.microsoft.com/office/powerpoint/2010/main" val="14067331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35B85-D4A2-4770-9460-D444416C2A7D}"/>
              </a:ext>
            </a:extLst>
          </p:cNvPr>
          <p:cNvSpPr>
            <a:spLocks noGrp="1"/>
          </p:cNvSpPr>
          <p:nvPr>
            <p:ph type="title"/>
          </p:nvPr>
        </p:nvSpPr>
        <p:spPr>
          <a:xfrm>
            <a:off x="838200" y="365126"/>
            <a:ext cx="10515600" cy="730250"/>
          </a:xfrm>
        </p:spPr>
        <p:txBody>
          <a:bodyPr>
            <a:normAutofit/>
          </a:bodyPr>
          <a:lstStyle/>
          <a:p>
            <a:r>
              <a:rPr lang="en-US" dirty="0"/>
              <a:t>History of Databases</a:t>
            </a:r>
            <a:endParaRPr lang="en-GB" dirty="0"/>
          </a:p>
        </p:txBody>
      </p:sp>
      <p:pic>
        <p:nvPicPr>
          <p:cNvPr id="4" name="Picture 2">
            <a:extLst>
              <a:ext uri="{FF2B5EF4-FFF2-40B4-BE49-F238E27FC236}">
                <a16:creationId xmlns:a16="http://schemas.microsoft.com/office/drawing/2014/main" id="{70855C66-C44A-42DF-BAAA-0862A53D661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096963" y="1986409"/>
            <a:ext cx="10058400" cy="3742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217188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68EB0-613A-4031-8AAA-19694DA95E1D}"/>
              </a:ext>
            </a:extLst>
          </p:cNvPr>
          <p:cNvSpPr>
            <a:spLocks noGrp="1"/>
          </p:cNvSpPr>
          <p:nvPr>
            <p:ph type="title"/>
          </p:nvPr>
        </p:nvSpPr>
        <p:spPr/>
        <p:txBody>
          <a:bodyPr/>
          <a:lstStyle/>
          <a:p>
            <a:r>
              <a:rPr lang="en-US" dirty="0"/>
              <a:t>File Approach- problems </a:t>
            </a:r>
            <a:endParaRPr lang="en-GB" dirty="0"/>
          </a:p>
        </p:txBody>
      </p:sp>
      <p:sp>
        <p:nvSpPr>
          <p:cNvPr id="3" name="Content Placeholder 2">
            <a:extLst>
              <a:ext uri="{FF2B5EF4-FFF2-40B4-BE49-F238E27FC236}">
                <a16:creationId xmlns:a16="http://schemas.microsoft.com/office/drawing/2014/main" id="{DA6F906A-6D8E-42CE-B8C9-535A08C7B4A8}"/>
              </a:ext>
            </a:extLst>
          </p:cNvPr>
          <p:cNvSpPr>
            <a:spLocks noGrp="1"/>
          </p:cNvSpPr>
          <p:nvPr>
            <p:ph idx="1"/>
          </p:nvPr>
        </p:nvSpPr>
        <p:spPr/>
        <p:txBody>
          <a:bodyPr>
            <a:normAutofit/>
          </a:bodyPr>
          <a:lstStyle/>
          <a:p>
            <a:endParaRPr lang="en-US" sz="2400" dirty="0"/>
          </a:p>
          <a:p>
            <a:pPr>
              <a:buFont typeface="Wingdings" panose="05000000000000000000" pitchFamily="2" charset="2"/>
              <a:buChar char="q"/>
            </a:pPr>
            <a:r>
              <a:rPr lang="en-US" sz="2400" dirty="0"/>
              <a:t>Uncontrolled redundancy </a:t>
            </a:r>
          </a:p>
          <a:p>
            <a:pPr>
              <a:buFont typeface="Wingdings" panose="05000000000000000000" pitchFamily="2" charset="2"/>
              <a:buChar char="q"/>
            </a:pPr>
            <a:r>
              <a:rPr lang="en-US" sz="2400" dirty="0"/>
              <a:t>Inconsistent data </a:t>
            </a:r>
          </a:p>
          <a:p>
            <a:pPr>
              <a:buFont typeface="Wingdings" panose="05000000000000000000" pitchFamily="2" charset="2"/>
              <a:buChar char="q"/>
            </a:pPr>
            <a:r>
              <a:rPr lang="en-US" sz="2400" dirty="0"/>
              <a:t>Inflexibility </a:t>
            </a:r>
          </a:p>
          <a:p>
            <a:pPr>
              <a:buFont typeface="Wingdings" panose="05000000000000000000" pitchFamily="2" charset="2"/>
              <a:buChar char="q"/>
            </a:pPr>
            <a:r>
              <a:rPr lang="en-US" sz="2400" dirty="0"/>
              <a:t>Limited data sharing </a:t>
            </a:r>
          </a:p>
          <a:p>
            <a:pPr>
              <a:buFont typeface="Wingdings" panose="05000000000000000000" pitchFamily="2" charset="2"/>
              <a:buChar char="q"/>
            </a:pPr>
            <a:r>
              <a:rPr lang="en-US" sz="2400" dirty="0"/>
              <a:t>Poor enforcement of standards </a:t>
            </a:r>
          </a:p>
          <a:p>
            <a:pPr>
              <a:buFont typeface="Wingdings" panose="05000000000000000000" pitchFamily="2" charset="2"/>
              <a:buChar char="q"/>
            </a:pPr>
            <a:r>
              <a:rPr lang="en-US" sz="2400" dirty="0"/>
              <a:t>Low programmer productivity </a:t>
            </a:r>
          </a:p>
          <a:p>
            <a:pPr>
              <a:buFont typeface="Wingdings" panose="05000000000000000000" pitchFamily="2" charset="2"/>
              <a:buChar char="q"/>
            </a:pPr>
            <a:r>
              <a:rPr lang="en-US" sz="2400" dirty="0"/>
              <a:t>Excessive program and data maintenance </a:t>
            </a:r>
          </a:p>
          <a:p>
            <a:pPr marL="0" indent="0">
              <a:buNone/>
            </a:pPr>
            <a:endParaRPr lang="en-GB" dirty="0"/>
          </a:p>
        </p:txBody>
      </p:sp>
    </p:spTree>
    <p:extLst>
      <p:ext uri="{BB962C8B-B14F-4D97-AF65-F5344CB8AC3E}">
        <p14:creationId xmlns:p14="http://schemas.microsoft.com/office/powerpoint/2010/main" val="19876721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9F0C8-5932-4D7E-8001-84550D06013C}"/>
              </a:ext>
            </a:extLst>
          </p:cNvPr>
          <p:cNvSpPr>
            <a:spLocks noGrp="1"/>
          </p:cNvSpPr>
          <p:nvPr>
            <p:ph type="title"/>
          </p:nvPr>
        </p:nvSpPr>
        <p:spPr/>
        <p:txBody>
          <a:bodyPr/>
          <a:lstStyle/>
          <a:p>
            <a:r>
              <a:rPr lang="en-US" dirty="0"/>
              <a:t>Characteristics of Database Approach</a:t>
            </a:r>
            <a:endParaRPr lang="en-GB" dirty="0"/>
          </a:p>
        </p:txBody>
      </p:sp>
      <p:sp>
        <p:nvSpPr>
          <p:cNvPr id="3" name="Content Placeholder 2">
            <a:extLst>
              <a:ext uri="{FF2B5EF4-FFF2-40B4-BE49-F238E27FC236}">
                <a16:creationId xmlns:a16="http://schemas.microsoft.com/office/drawing/2014/main" id="{F33D88D5-E81E-4E5C-B470-101DFBDB856F}"/>
              </a:ext>
            </a:extLst>
          </p:cNvPr>
          <p:cNvSpPr>
            <a:spLocks noGrp="1"/>
          </p:cNvSpPr>
          <p:nvPr>
            <p:ph idx="1"/>
          </p:nvPr>
        </p:nvSpPr>
        <p:spPr/>
        <p:txBody>
          <a:bodyPr>
            <a:normAutofit/>
          </a:bodyPr>
          <a:lstStyle/>
          <a:p>
            <a:r>
              <a:rPr lang="en-US" sz="2400" dirty="0"/>
              <a:t>Comment on the way data is stored nowadays with regards to </a:t>
            </a:r>
          </a:p>
          <a:p>
            <a:pPr marL="514350" indent="-514350">
              <a:buAutoNum type="arabicPeriod"/>
            </a:pPr>
            <a:r>
              <a:rPr lang="en-US" sz="2400" dirty="0"/>
              <a:t>Ease of access to information/ records</a:t>
            </a:r>
          </a:p>
          <a:p>
            <a:pPr marL="514350" indent="-514350">
              <a:buAutoNum type="arabicPeriod"/>
            </a:pPr>
            <a:r>
              <a:rPr lang="en-US" sz="2400" dirty="0"/>
              <a:t>Updating the information</a:t>
            </a:r>
          </a:p>
          <a:p>
            <a:pPr marL="514350" indent="-514350">
              <a:buAutoNum type="arabicPeriod"/>
            </a:pPr>
            <a:r>
              <a:rPr lang="en-US" sz="2400" dirty="0"/>
              <a:t>The details available about the stored information</a:t>
            </a:r>
          </a:p>
          <a:p>
            <a:pPr marL="514350" indent="-514350">
              <a:buAutoNum type="arabicPeriod"/>
            </a:pPr>
            <a:r>
              <a:rPr lang="en-US" sz="2400" dirty="0"/>
              <a:t>Ability to share the information</a:t>
            </a:r>
          </a:p>
          <a:p>
            <a:pPr marL="514350" indent="-514350">
              <a:buAutoNum type="arabicPeriod"/>
            </a:pPr>
            <a:r>
              <a:rPr lang="en-US" sz="2400" dirty="0"/>
              <a:t>Security</a:t>
            </a:r>
          </a:p>
          <a:p>
            <a:pPr marL="514350" indent="-514350">
              <a:buAutoNum type="arabicPeriod"/>
            </a:pPr>
            <a:r>
              <a:rPr lang="en-US" sz="2400" dirty="0"/>
              <a:t>Integrity</a:t>
            </a:r>
          </a:p>
          <a:p>
            <a:pPr marL="514350" indent="-514350">
              <a:buAutoNum type="arabicPeriod"/>
            </a:pPr>
            <a:endParaRPr lang="en-GB" dirty="0"/>
          </a:p>
        </p:txBody>
      </p:sp>
    </p:spTree>
    <p:extLst>
      <p:ext uri="{BB962C8B-B14F-4D97-AF65-F5344CB8AC3E}">
        <p14:creationId xmlns:p14="http://schemas.microsoft.com/office/powerpoint/2010/main" val="10934412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DF6D6-7F78-4268-97F7-8122034926F0}"/>
              </a:ext>
            </a:extLst>
          </p:cNvPr>
          <p:cNvSpPr>
            <a:spLocks noGrp="1"/>
          </p:cNvSpPr>
          <p:nvPr>
            <p:ph type="title"/>
          </p:nvPr>
        </p:nvSpPr>
        <p:spPr>
          <a:xfrm>
            <a:off x="779755" y="374003"/>
            <a:ext cx="10515600" cy="1325563"/>
          </a:xfrm>
        </p:spPr>
        <p:txBody>
          <a:bodyPr/>
          <a:lstStyle/>
          <a:p>
            <a:r>
              <a:rPr lang="en-US" dirty="0"/>
              <a:t>Characteristics of Database Approach</a:t>
            </a:r>
            <a:endParaRPr lang="en-GB" dirty="0"/>
          </a:p>
        </p:txBody>
      </p:sp>
      <p:sp>
        <p:nvSpPr>
          <p:cNvPr id="3" name="Content Placeholder 2">
            <a:extLst>
              <a:ext uri="{FF2B5EF4-FFF2-40B4-BE49-F238E27FC236}">
                <a16:creationId xmlns:a16="http://schemas.microsoft.com/office/drawing/2014/main" id="{C698342E-B103-43A6-B10E-2AA30DB1B008}"/>
              </a:ext>
            </a:extLst>
          </p:cNvPr>
          <p:cNvSpPr>
            <a:spLocks noGrp="1"/>
          </p:cNvSpPr>
          <p:nvPr>
            <p:ph idx="1"/>
          </p:nvPr>
        </p:nvSpPr>
        <p:spPr/>
        <p:txBody>
          <a:bodyPr>
            <a:normAutofit/>
          </a:bodyPr>
          <a:lstStyle/>
          <a:p>
            <a:r>
              <a:rPr lang="en-GB" sz="2400" b="1" dirty="0"/>
              <a:t>Structured and Described Data-</a:t>
            </a:r>
            <a:r>
              <a:rPr lang="en-US" sz="2400" b="1" dirty="0"/>
              <a:t> </a:t>
            </a:r>
            <a:r>
              <a:rPr lang="en-US" sz="2400" dirty="0"/>
              <a:t>self-describing because it contains the database itself as well as the metadata which defines and describes the data and relationships between tables in the database. </a:t>
            </a:r>
          </a:p>
          <a:p>
            <a:r>
              <a:rPr lang="en-US" sz="2400" b="1" dirty="0"/>
              <a:t>Separation of Data and Applications </a:t>
            </a:r>
            <a:r>
              <a:rPr lang="en-US" sz="2400" dirty="0"/>
              <a:t>- Application software only communicates with the management system of a database (DBMS) via a standardized interface with the help of a standardized language like SQL. This insulation between the programs and data is also called program-data independence.</a:t>
            </a:r>
          </a:p>
          <a:p>
            <a:pPr marL="514350" indent="-514350" algn="just">
              <a:lnSpc>
                <a:spcPct val="150000"/>
              </a:lnSpc>
              <a:buFont typeface="Arial" panose="020B0604020202020204" pitchFamily="34" charset="0"/>
              <a:buAutoNum type="arabicPeriod"/>
            </a:pPr>
            <a:endParaRPr lang="en-US" sz="2400" dirty="0">
              <a:solidFill>
                <a:srgbClr val="373D3F"/>
              </a:solidFill>
              <a:latin typeface="proxima-nova"/>
            </a:endParaRPr>
          </a:p>
          <a:p>
            <a:pPr marL="514350" indent="-514350">
              <a:buFont typeface="Arial" panose="020B0604020202020204" pitchFamily="34" charset="0"/>
              <a:buAutoNum type="arabicPeriod"/>
            </a:pPr>
            <a:endParaRPr lang="en-US" b="1" i="0" dirty="0">
              <a:solidFill>
                <a:srgbClr val="333333"/>
              </a:solidFill>
              <a:effectLst/>
              <a:latin typeface="Open Sans" panose="020B0606030504020204" pitchFamily="34" charset="0"/>
            </a:endParaRPr>
          </a:p>
          <a:p>
            <a:pPr marL="514350" indent="-514350">
              <a:buAutoNum type="arabicPeriod"/>
            </a:pPr>
            <a:endParaRPr lang="en-US" b="0" i="0" dirty="0">
              <a:solidFill>
                <a:srgbClr val="373D3F"/>
              </a:solidFill>
              <a:effectLst/>
              <a:latin typeface="proxima-nova"/>
            </a:endParaRPr>
          </a:p>
          <a:p>
            <a:pPr marL="514350" indent="-514350">
              <a:buAutoNum type="arabicPeriod"/>
            </a:pPr>
            <a:endParaRPr lang="en-GB" b="1" i="0" dirty="0">
              <a:solidFill>
                <a:srgbClr val="333333"/>
              </a:solidFill>
              <a:effectLst/>
              <a:latin typeface="Open Sans" panose="020B0606030504020204" pitchFamily="34" charset="0"/>
            </a:endParaRPr>
          </a:p>
          <a:p>
            <a:pPr marL="0" indent="0">
              <a:buNone/>
            </a:pPr>
            <a:endParaRPr lang="en-GB" dirty="0"/>
          </a:p>
        </p:txBody>
      </p:sp>
    </p:spTree>
    <p:extLst>
      <p:ext uri="{BB962C8B-B14F-4D97-AF65-F5344CB8AC3E}">
        <p14:creationId xmlns:p14="http://schemas.microsoft.com/office/powerpoint/2010/main" val="16627729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BA8B9-988A-434E-A3DE-689D88D0BD6C}"/>
              </a:ext>
            </a:extLst>
          </p:cNvPr>
          <p:cNvSpPr>
            <a:spLocks noGrp="1"/>
          </p:cNvSpPr>
          <p:nvPr>
            <p:ph type="title"/>
          </p:nvPr>
        </p:nvSpPr>
        <p:spPr/>
        <p:txBody>
          <a:bodyPr/>
          <a:lstStyle/>
          <a:p>
            <a:r>
              <a:rPr lang="en-US" dirty="0"/>
              <a:t>Characteristics of Database Approach</a:t>
            </a:r>
            <a:endParaRPr lang="en-GB" dirty="0"/>
          </a:p>
        </p:txBody>
      </p:sp>
      <p:sp>
        <p:nvSpPr>
          <p:cNvPr id="3" name="Content Placeholder 2">
            <a:extLst>
              <a:ext uri="{FF2B5EF4-FFF2-40B4-BE49-F238E27FC236}">
                <a16:creationId xmlns:a16="http://schemas.microsoft.com/office/drawing/2014/main" id="{32AA5C42-1764-4451-B1CF-9538C62FF587}"/>
              </a:ext>
            </a:extLst>
          </p:cNvPr>
          <p:cNvSpPr>
            <a:spLocks noGrp="1"/>
          </p:cNvSpPr>
          <p:nvPr>
            <p:ph idx="1"/>
          </p:nvPr>
        </p:nvSpPr>
        <p:spPr/>
        <p:txBody>
          <a:bodyPr>
            <a:normAutofit fontScale="85000" lnSpcReduction="20000"/>
          </a:bodyPr>
          <a:lstStyle/>
          <a:p>
            <a:pPr>
              <a:lnSpc>
                <a:spcPct val="100000"/>
              </a:lnSpc>
            </a:pPr>
            <a:r>
              <a:rPr lang="en-GB" sz="3000" b="1" dirty="0"/>
              <a:t>Data Integrity- </a:t>
            </a:r>
            <a:r>
              <a:rPr lang="en-US" sz="3000" dirty="0"/>
              <a:t>the protection of the database from unauthorized access   and unauthorized changes. Data reflect facts of the real world.</a:t>
            </a:r>
          </a:p>
          <a:p>
            <a:pPr>
              <a:lnSpc>
                <a:spcPct val="100000"/>
              </a:lnSpc>
            </a:pPr>
            <a:r>
              <a:rPr lang="en-US" sz="3000" b="1" dirty="0"/>
              <a:t>Sharing of data and multiuser system- </a:t>
            </a:r>
            <a:r>
              <a:rPr lang="en-US" sz="3000" dirty="0"/>
              <a:t>they allow many users to access the same database at the same time</a:t>
            </a:r>
          </a:p>
          <a:p>
            <a:pPr>
              <a:lnSpc>
                <a:spcPct val="100000"/>
              </a:lnSpc>
            </a:pPr>
            <a:r>
              <a:rPr lang="en-US" sz="3000" b="1" dirty="0"/>
              <a:t>Support for multiple views of data- </a:t>
            </a:r>
            <a:r>
              <a:rPr lang="en-US" sz="3000" dirty="0"/>
              <a:t>Multiple users in the system might have different views of the system</a:t>
            </a:r>
          </a:p>
          <a:p>
            <a:pPr>
              <a:lnSpc>
                <a:spcPct val="100000"/>
              </a:lnSpc>
            </a:pPr>
            <a:r>
              <a:rPr lang="en-GB" sz="3000" b="1" dirty="0"/>
              <a:t>Control of data redundancy </a:t>
            </a:r>
            <a:r>
              <a:rPr lang="en-GB" sz="3000" dirty="0"/>
              <a:t>- </a:t>
            </a:r>
            <a:r>
              <a:rPr lang="en-US" sz="3000" dirty="0"/>
              <a:t> each data item is stored in only one place in the database.</a:t>
            </a:r>
            <a:endParaRPr lang="en-GB" sz="3000" dirty="0"/>
          </a:p>
          <a:p>
            <a:pPr>
              <a:lnSpc>
                <a:spcPct val="100000"/>
              </a:lnSpc>
            </a:pPr>
            <a:r>
              <a:rPr lang="en-GB" sz="3000" b="1" dirty="0"/>
              <a:t>Backup and recovery- </a:t>
            </a:r>
            <a:r>
              <a:rPr lang="en-US" sz="3000" dirty="0"/>
              <a:t>The database system provides a separate process, from that of a network backup, for backing up and recovering data.</a:t>
            </a:r>
          </a:p>
          <a:p>
            <a:endParaRPr lang="en-US" b="1" i="0" dirty="0">
              <a:solidFill>
                <a:srgbClr val="6C64AD"/>
              </a:solidFill>
              <a:effectLst/>
              <a:latin typeface="proxima-nova"/>
            </a:endParaRPr>
          </a:p>
          <a:p>
            <a:endParaRPr lang="en-US" b="0" i="0" dirty="0">
              <a:solidFill>
                <a:srgbClr val="333333"/>
              </a:solidFill>
              <a:effectLst/>
              <a:latin typeface="Open Sans" panose="020B0606030504020204" pitchFamily="34" charset="0"/>
            </a:endParaRPr>
          </a:p>
          <a:p>
            <a:endParaRPr lang="en-GB" b="1" i="0" dirty="0">
              <a:solidFill>
                <a:srgbClr val="333333"/>
              </a:solidFill>
              <a:effectLst/>
              <a:latin typeface="Open Sans" panose="020B0606030504020204" pitchFamily="34" charset="0"/>
            </a:endParaRPr>
          </a:p>
          <a:p>
            <a:endParaRPr lang="en-GB" dirty="0"/>
          </a:p>
        </p:txBody>
      </p:sp>
    </p:spTree>
    <p:extLst>
      <p:ext uri="{BB962C8B-B14F-4D97-AF65-F5344CB8AC3E}">
        <p14:creationId xmlns:p14="http://schemas.microsoft.com/office/powerpoint/2010/main" val="145431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5F048-2BFD-4E94-9553-AB43EB24BB77}"/>
              </a:ext>
            </a:extLst>
          </p:cNvPr>
          <p:cNvSpPr>
            <a:spLocks noGrp="1"/>
          </p:cNvSpPr>
          <p:nvPr>
            <p:ph type="title"/>
          </p:nvPr>
        </p:nvSpPr>
        <p:spPr>
          <a:xfrm>
            <a:off x="1295402" y="982132"/>
            <a:ext cx="9601196" cy="1077487"/>
          </a:xfrm>
        </p:spPr>
        <p:txBody>
          <a:bodyPr>
            <a:normAutofit/>
          </a:bodyPr>
          <a:lstStyle/>
          <a:p>
            <a:r>
              <a:rPr lang="en-US" dirty="0"/>
              <a:t>Database Management System (DBMS)</a:t>
            </a:r>
            <a:endParaRPr lang="en-GB" dirty="0"/>
          </a:p>
        </p:txBody>
      </p:sp>
      <p:sp>
        <p:nvSpPr>
          <p:cNvPr id="3" name="Content Placeholder 2">
            <a:extLst>
              <a:ext uri="{FF2B5EF4-FFF2-40B4-BE49-F238E27FC236}">
                <a16:creationId xmlns:a16="http://schemas.microsoft.com/office/drawing/2014/main" id="{4BED28FF-465B-43DE-A279-F1B8436859C4}"/>
              </a:ext>
            </a:extLst>
          </p:cNvPr>
          <p:cNvSpPr>
            <a:spLocks noGrp="1"/>
          </p:cNvSpPr>
          <p:nvPr>
            <p:ph idx="1"/>
          </p:nvPr>
        </p:nvSpPr>
        <p:spPr>
          <a:xfrm>
            <a:off x="553720" y="2547890"/>
            <a:ext cx="10515600" cy="3494135"/>
          </a:xfrm>
        </p:spPr>
        <p:txBody>
          <a:bodyPr>
            <a:normAutofit/>
          </a:bodyPr>
          <a:lstStyle/>
          <a:p>
            <a:pPr marL="0" indent="0" fontAlgn="base">
              <a:buFont typeface="Arial" panose="020B0604020202020204" pitchFamily="34" charset="0"/>
              <a:buNone/>
            </a:pPr>
            <a:r>
              <a:rPr lang="en-US" sz="2400" dirty="0"/>
              <a:t>A </a:t>
            </a:r>
            <a:r>
              <a:rPr lang="en-US" sz="2400" dirty="0">
                <a:solidFill>
                  <a:srgbClr val="FF0000"/>
                </a:solidFill>
              </a:rPr>
              <a:t>Database Management System </a:t>
            </a:r>
            <a:r>
              <a:rPr lang="en-US" sz="2400" dirty="0"/>
              <a:t>(DBMS) is:​</a:t>
            </a:r>
          </a:p>
          <a:p>
            <a:pPr fontAlgn="base">
              <a:buFont typeface="Arial" panose="020B0604020202020204" pitchFamily="34" charset="0"/>
              <a:buChar char="•"/>
            </a:pPr>
            <a:r>
              <a:rPr lang="en-US" sz="2400" dirty="0"/>
              <a:t>A software system designed to store, manage, and facilitate access to databases.​</a:t>
            </a:r>
          </a:p>
          <a:p>
            <a:pPr fontAlgn="base">
              <a:buFont typeface="Arial" panose="020B0604020202020204" pitchFamily="34" charset="0"/>
              <a:buChar char="•"/>
            </a:pPr>
            <a:r>
              <a:rPr lang="en-US" sz="2400" dirty="0"/>
              <a:t>is a collection of programs that enables users to create and maintain databases and control all access to them.</a:t>
            </a:r>
          </a:p>
          <a:p>
            <a:pPr fontAlgn="base">
              <a:buFont typeface="Arial" panose="020B0604020202020204" pitchFamily="34" charset="0"/>
              <a:buChar char="•"/>
            </a:pPr>
            <a:r>
              <a:rPr lang="en-US" sz="2400" dirty="0"/>
              <a:t> The primary goal of a DBMS is to provide an environment that is both convenient and efficient for users to retrieve and store information.</a:t>
            </a:r>
          </a:p>
          <a:p>
            <a:pPr marL="0" indent="0">
              <a:buNone/>
            </a:pPr>
            <a:endParaRPr lang="en-GB" dirty="0"/>
          </a:p>
        </p:txBody>
      </p:sp>
    </p:spTree>
    <p:extLst>
      <p:ext uri="{BB962C8B-B14F-4D97-AF65-F5344CB8AC3E}">
        <p14:creationId xmlns:p14="http://schemas.microsoft.com/office/powerpoint/2010/main" val="5275063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15075-8AFF-447A-861F-B6DA2118238B}"/>
              </a:ext>
            </a:extLst>
          </p:cNvPr>
          <p:cNvSpPr>
            <a:spLocks noGrp="1"/>
          </p:cNvSpPr>
          <p:nvPr>
            <p:ph type="title"/>
          </p:nvPr>
        </p:nvSpPr>
        <p:spPr>
          <a:xfrm>
            <a:off x="838200" y="597747"/>
            <a:ext cx="10515600" cy="1239931"/>
          </a:xfrm>
        </p:spPr>
        <p:txBody>
          <a:bodyPr>
            <a:normAutofit/>
          </a:bodyPr>
          <a:lstStyle/>
          <a:p>
            <a:r>
              <a:rPr lang="en-US" dirty="0"/>
              <a:t>Database Management System (DBMS)</a:t>
            </a:r>
            <a:endParaRPr lang="en-GB" dirty="0"/>
          </a:p>
        </p:txBody>
      </p:sp>
      <p:sp>
        <p:nvSpPr>
          <p:cNvPr id="7" name="Content Placeholder 6">
            <a:extLst>
              <a:ext uri="{FF2B5EF4-FFF2-40B4-BE49-F238E27FC236}">
                <a16:creationId xmlns:a16="http://schemas.microsoft.com/office/drawing/2014/main" id="{B162204B-861B-4E98-ACED-7AA07E1CAB32}"/>
              </a:ext>
            </a:extLst>
          </p:cNvPr>
          <p:cNvSpPr>
            <a:spLocks noGrp="1"/>
          </p:cNvSpPr>
          <p:nvPr>
            <p:ph idx="1"/>
          </p:nvPr>
        </p:nvSpPr>
        <p:spPr>
          <a:xfrm>
            <a:off x="7546848" y="2516777"/>
            <a:ext cx="3803904" cy="3660185"/>
          </a:xfrm>
        </p:spPr>
        <p:txBody>
          <a:bodyPr anchor="ctr">
            <a:normAutofit/>
          </a:bodyPr>
          <a:lstStyle/>
          <a:p>
            <a:r>
              <a:rPr lang="en-US" sz="2200" b="0" i="0" dirty="0">
                <a:effectLst/>
                <a:latin typeface="Lora"/>
              </a:rPr>
              <a:t>we can have the traditional banking system as shown in the Figure </a:t>
            </a:r>
          </a:p>
          <a:p>
            <a:r>
              <a:rPr lang="en-US" sz="2200" dirty="0">
                <a:latin typeface="Lora"/>
              </a:rPr>
              <a:t>A </a:t>
            </a:r>
            <a:r>
              <a:rPr lang="en-US" sz="2200" b="0" i="0" dirty="0">
                <a:effectLst/>
                <a:latin typeface="Lora"/>
              </a:rPr>
              <a:t>DBMS is used by the Personnel Department, the Account Department and the Loan Department to access the shared corporate database.</a:t>
            </a:r>
          </a:p>
          <a:p>
            <a:endParaRPr lang="en-GB" sz="2200" dirty="0"/>
          </a:p>
        </p:txBody>
      </p:sp>
      <p:pic>
        <p:nvPicPr>
          <p:cNvPr id="8" name="Content Placeholder 4">
            <a:extLst>
              <a:ext uri="{FF2B5EF4-FFF2-40B4-BE49-F238E27FC236}">
                <a16:creationId xmlns:a16="http://schemas.microsoft.com/office/drawing/2014/main" id="{6874A233-F27E-42BF-8CEA-92A4102431F3}"/>
              </a:ext>
            </a:extLst>
          </p:cNvPr>
          <p:cNvPicPr>
            <a:picLocks noChangeAspect="1"/>
          </p:cNvPicPr>
          <p:nvPr/>
        </p:nvPicPr>
        <p:blipFill rotWithShape="1">
          <a:blip r:embed="rId2"/>
          <a:srcRect l="5129" r="3" b="3"/>
          <a:stretch/>
        </p:blipFill>
        <p:spPr>
          <a:xfrm>
            <a:off x="1340528" y="2516777"/>
            <a:ext cx="5707246" cy="3520430"/>
          </a:xfrm>
          <a:prstGeom prst="rect">
            <a:avLst/>
          </a:prstGeom>
        </p:spPr>
      </p:pic>
    </p:spTree>
    <p:extLst>
      <p:ext uri="{BB962C8B-B14F-4D97-AF65-F5344CB8AC3E}">
        <p14:creationId xmlns:p14="http://schemas.microsoft.com/office/powerpoint/2010/main" val="16787835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757E9-F8AC-4DC9-B5D5-9F5DC85A910B}"/>
              </a:ext>
            </a:extLst>
          </p:cNvPr>
          <p:cNvSpPr>
            <a:spLocks noGrp="1"/>
          </p:cNvSpPr>
          <p:nvPr>
            <p:ph type="title"/>
          </p:nvPr>
        </p:nvSpPr>
        <p:spPr/>
        <p:txBody>
          <a:bodyPr/>
          <a:lstStyle/>
          <a:p>
            <a:r>
              <a:rPr lang="en-US" dirty="0"/>
              <a:t>Database Management System (DBMS)</a:t>
            </a:r>
            <a:endParaRPr lang="en-GB" dirty="0"/>
          </a:p>
        </p:txBody>
      </p:sp>
      <p:sp>
        <p:nvSpPr>
          <p:cNvPr id="3" name="Content Placeholder 2">
            <a:extLst>
              <a:ext uri="{FF2B5EF4-FFF2-40B4-BE49-F238E27FC236}">
                <a16:creationId xmlns:a16="http://schemas.microsoft.com/office/drawing/2014/main" id="{2D229B44-06BD-43D5-AAD1-B0463792A895}"/>
              </a:ext>
            </a:extLst>
          </p:cNvPr>
          <p:cNvSpPr>
            <a:spLocks noGrp="1"/>
          </p:cNvSpPr>
          <p:nvPr>
            <p:ph idx="1"/>
          </p:nvPr>
        </p:nvSpPr>
        <p:spPr/>
        <p:txBody>
          <a:bodyPr/>
          <a:lstStyle/>
          <a:p>
            <a:pPr fontAlgn="base"/>
            <a:r>
              <a:rPr lang="en-US" sz="2600" dirty="0"/>
              <a:t>Following the definition of a DBMS we have discussed, give examples of DBMSs </a:t>
            </a:r>
          </a:p>
          <a:p>
            <a:pPr marL="0" indent="0">
              <a:buNone/>
            </a:pPr>
            <a:endParaRPr lang="en-GB" dirty="0"/>
          </a:p>
        </p:txBody>
      </p:sp>
    </p:spTree>
    <p:extLst>
      <p:ext uri="{BB962C8B-B14F-4D97-AF65-F5344CB8AC3E}">
        <p14:creationId xmlns:p14="http://schemas.microsoft.com/office/powerpoint/2010/main" val="1922457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1E021-A58F-46D8-B913-991B70621468}"/>
              </a:ext>
            </a:extLst>
          </p:cNvPr>
          <p:cNvSpPr>
            <a:spLocks noGrp="1"/>
          </p:cNvSpPr>
          <p:nvPr>
            <p:ph type="title"/>
          </p:nvPr>
        </p:nvSpPr>
        <p:spPr/>
        <p:txBody>
          <a:bodyPr/>
          <a:lstStyle/>
          <a:p>
            <a:r>
              <a:rPr lang="en-US" dirty="0"/>
              <a:t>Database Approach</a:t>
            </a:r>
            <a:endParaRPr lang="en-GB" dirty="0"/>
          </a:p>
        </p:txBody>
      </p:sp>
      <p:sp>
        <p:nvSpPr>
          <p:cNvPr id="3" name="Content Placeholder 2">
            <a:extLst>
              <a:ext uri="{FF2B5EF4-FFF2-40B4-BE49-F238E27FC236}">
                <a16:creationId xmlns:a16="http://schemas.microsoft.com/office/drawing/2014/main" id="{E5C536B1-FC35-4068-B1CD-DC87748FCC40}"/>
              </a:ext>
            </a:extLst>
          </p:cNvPr>
          <p:cNvSpPr>
            <a:spLocks noGrp="1"/>
          </p:cNvSpPr>
          <p:nvPr>
            <p:ph idx="1"/>
          </p:nvPr>
        </p:nvSpPr>
        <p:spPr/>
        <p:txBody>
          <a:bodyPr>
            <a:normAutofit/>
          </a:bodyPr>
          <a:lstStyle/>
          <a:p>
            <a:pPr fontAlgn="base"/>
            <a:r>
              <a:rPr lang="en-US" sz="2400" dirty="0"/>
              <a:t>Controlled redundancy – consistency of data &amp; integrity constraints </a:t>
            </a:r>
          </a:p>
          <a:p>
            <a:pPr marL="0" indent="0" fontAlgn="base">
              <a:buNone/>
            </a:pPr>
            <a:r>
              <a:rPr lang="en-US" sz="2400" dirty="0"/>
              <a:t>• Integration of data – self-contained – represents semantics of application </a:t>
            </a:r>
          </a:p>
          <a:p>
            <a:pPr marL="0" indent="0" fontAlgn="base">
              <a:buNone/>
            </a:pPr>
            <a:r>
              <a:rPr lang="en-US" sz="2400" dirty="0"/>
              <a:t>• Data and operation sharing – multiple interfaces </a:t>
            </a:r>
          </a:p>
          <a:p>
            <a:pPr marL="0" indent="0" fontAlgn="base">
              <a:buNone/>
            </a:pPr>
            <a:r>
              <a:rPr lang="en-US" sz="2400" dirty="0"/>
              <a:t>• Services &amp; controls – security &amp; privacy controls – backup &amp; recovery – enforcement of standards </a:t>
            </a:r>
          </a:p>
          <a:p>
            <a:pPr marL="0" indent="0" fontAlgn="base">
              <a:buNone/>
            </a:pPr>
            <a:r>
              <a:rPr lang="en-US" sz="2400" dirty="0"/>
              <a:t>• Flexibility – data independence – data accessibility – reduced program maintenance </a:t>
            </a:r>
          </a:p>
          <a:p>
            <a:pPr marL="0" indent="0" fontAlgn="base">
              <a:buNone/>
            </a:pPr>
            <a:r>
              <a:rPr lang="en-US" sz="2400" dirty="0"/>
              <a:t>• Ease of application development</a:t>
            </a:r>
            <a:endParaRPr lang="en-GB" sz="2400" dirty="0"/>
          </a:p>
        </p:txBody>
      </p:sp>
    </p:spTree>
    <p:extLst>
      <p:ext uri="{BB962C8B-B14F-4D97-AF65-F5344CB8AC3E}">
        <p14:creationId xmlns:p14="http://schemas.microsoft.com/office/powerpoint/2010/main" val="36603060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A5D84-2845-412E-929C-0B70C4DF547B}"/>
              </a:ext>
            </a:extLst>
          </p:cNvPr>
          <p:cNvSpPr>
            <a:spLocks noGrp="1"/>
          </p:cNvSpPr>
          <p:nvPr>
            <p:ph type="title"/>
          </p:nvPr>
        </p:nvSpPr>
        <p:spPr/>
        <p:txBody>
          <a:bodyPr/>
          <a:lstStyle/>
          <a:p>
            <a:r>
              <a:rPr lang="en-US" dirty="0"/>
              <a:t>Database Users </a:t>
            </a:r>
            <a:endParaRPr lang="en-GB" dirty="0"/>
          </a:p>
        </p:txBody>
      </p:sp>
      <p:sp>
        <p:nvSpPr>
          <p:cNvPr id="3" name="Content Placeholder 2">
            <a:extLst>
              <a:ext uri="{FF2B5EF4-FFF2-40B4-BE49-F238E27FC236}">
                <a16:creationId xmlns:a16="http://schemas.microsoft.com/office/drawing/2014/main" id="{54CBEB6C-ED2E-4120-9186-A637D9CAF660}"/>
              </a:ext>
            </a:extLst>
          </p:cNvPr>
          <p:cNvSpPr>
            <a:spLocks noGrp="1"/>
          </p:cNvSpPr>
          <p:nvPr>
            <p:ph idx="1"/>
          </p:nvPr>
        </p:nvSpPr>
        <p:spPr/>
        <p:txBody>
          <a:bodyPr/>
          <a:lstStyle/>
          <a:p>
            <a:r>
              <a:rPr lang="en-US" sz="2400" dirty="0"/>
              <a:t>Database users are the one who really use and take the benefits of database. </a:t>
            </a:r>
          </a:p>
          <a:p>
            <a:r>
              <a:rPr lang="en-US" sz="2400" dirty="0"/>
              <a:t>There will be different types of users depending on their need and way of accessing the database.</a:t>
            </a:r>
          </a:p>
          <a:p>
            <a:endParaRPr lang="en-US" sz="2600" dirty="0"/>
          </a:p>
          <a:p>
            <a:pPr marL="0" indent="0">
              <a:buNone/>
            </a:pPr>
            <a:endParaRPr lang="en-GB" dirty="0"/>
          </a:p>
        </p:txBody>
      </p:sp>
    </p:spTree>
    <p:extLst>
      <p:ext uri="{BB962C8B-B14F-4D97-AF65-F5344CB8AC3E}">
        <p14:creationId xmlns:p14="http://schemas.microsoft.com/office/powerpoint/2010/main" val="26957999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136DD-9623-48E1-ADE4-1A8020070107}"/>
              </a:ext>
            </a:extLst>
          </p:cNvPr>
          <p:cNvSpPr>
            <a:spLocks noGrp="1"/>
          </p:cNvSpPr>
          <p:nvPr>
            <p:ph type="title"/>
          </p:nvPr>
        </p:nvSpPr>
        <p:spPr>
          <a:xfrm>
            <a:off x="838200" y="585374"/>
            <a:ext cx="10515600" cy="888320"/>
          </a:xfrm>
        </p:spPr>
        <p:txBody>
          <a:bodyPr>
            <a:normAutofit/>
          </a:bodyPr>
          <a:lstStyle/>
          <a:p>
            <a:r>
              <a:rPr lang="en-US" dirty="0"/>
              <a:t>Database Users</a:t>
            </a:r>
            <a:endParaRPr lang="en-GB" dirty="0"/>
          </a:p>
        </p:txBody>
      </p:sp>
      <p:sp>
        <p:nvSpPr>
          <p:cNvPr id="8" name="Content Placeholder 2">
            <a:extLst>
              <a:ext uri="{FF2B5EF4-FFF2-40B4-BE49-F238E27FC236}">
                <a16:creationId xmlns:a16="http://schemas.microsoft.com/office/drawing/2014/main" id="{ACE790EB-2048-431E-86A3-064AAD138172}"/>
              </a:ext>
            </a:extLst>
          </p:cNvPr>
          <p:cNvSpPr>
            <a:spLocks noGrp="1"/>
          </p:cNvSpPr>
          <p:nvPr>
            <p:ph idx="1"/>
          </p:nvPr>
        </p:nvSpPr>
        <p:spPr>
          <a:xfrm>
            <a:off x="6347534" y="2343705"/>
            <a:ext cx="5175682" cy="3833258"/>
          </a:xfrm>
        </p:spPr>
        <p:txBody>
          <a:bodyPr anchor="ctr">
            <a:normAutofit fontScale="55000" lnSpcReduction="20000"/>
          </a:bodyPr>
          <a:lstStyle/>
          <a:p>
            <a:endParaRPr lang="en-US" sz="1400" dirty="0"/>
          </a:p>
          <a:p>
            <a:pPr algn="just"/>
            <a:r>
              <a:rPr lang="en-US" sz="2600" dirty="0">
                <a:solidFill>
                  <a:srgbClr val="FF0000"/>
                </a:solidFill>
              </a:rPr>
              <a:t>Application programmers- </a:t>
            </a:r>
            <a:r>
              <a:rPr lang="en-US" sz="2600" dirty="0"/>
              <a:t>They are the developers who interact with the database by means of queries written in programming languages like  C, C++, Java. These users implement specific application programs to </a:t>
            </a:r>
            <a:r>
              <a:rPr lang="en-US" sz="2600" dirty="0" err="1"/>
              <a:t>acces</a:t>
            </a:r>
            <a:r>
              <a:rPr lang="en-US" sz="2600" dirty="0"/>
              <a:t> the stored data.</a:t>
            </a:r>
          </a:p>
          <a:p>
            <a:pPr algn="just"/>
            <a:r>
              <a:rPr lang="en-US" sz="2600" dirty="0">
                <a:solidFill>
                  <a:srgbClr val="FF0000"/>
                </a:solidFill>
              </a:rPr>
              <a:t>Database Administrators </a:t>
            </a:r>
            <a:r>
              <a:rPr lang="en-US" sz="2600" dirty="0"/>
              <a:t>- This may be one person or a group of people in an organization responsible for authorizing access to the database, monitoring its use and managing all of the resources to support the use of the entire database system</a:t>
            </a:r>
          </a:p>
          <a:p>
            <a:pPr algn="just"/>
            <a:r>
              <a:rPr lang="en-US" sz="2600" dirty="0">
                <a:solidFill>
                  <a:srgbClr val="FF0000"/>
                </a:solidFill>
              </a:rPr>
              <a:t>End users  </a:t>
            </a:r>
            <a:r>
              <a:rPr lang="en-US" sz="2600" dirty="0"/>
              <a:t>- these are the users who use the existing application to interact with the database. They require access to a database for querying, updating and generating reports.</a:t>
            </a:r>
          </a:p>
          <a:p>
            <a:pPr algn="just"/>
            <a:r>
              <a:rPr lang="en-US" sz="2600" dirty="0">
                <a:solidFill>
                  <a:srgbClr val="FF0000"/>
                </a:solidFill>
              </a:rPr>
              <a:t>Database developers </a:t>
            </a:r>
            <a:r>
              <a:rPr lang="en-US" sz="2600" dirty="0"/>
              <a:t>- write SQL queries to select/insert/delete/update data. They do not use any application or programs to request the database. They directly interact with the database by means of query language like SQL.</a:t>
            </a:r>
          </a:p>
          <a:p>
            <a:endParaRPr lang="en-US" sz="1400" dirty="0"/>
          </a:p>
          <a:p>
            <a:endParaRPr lang="en-US" sz="1400" dirty="0"/>
          </a:p>
          <a:p>
            <a:endParaRPr lang="en-GB" sz="1400" dirty="0"/>
          </a:p>
        </p:txBody>
      </p:sp>
      <p:pic>
        <p:nvPicPr>
          <p:cNvPr id="5" name="Content Placeholder 4" descr="Graphical user interface, application&#10;&#10;Description automatically generated with medium confidence">
            <a:extLst>
              <a:ext uri="{FF2B5EF4-FFF2-40B4-BE49-F238E27FC236}">
                <a16:creationId xmlns:a16="http://schemas.microsoft.com/office/drawing/2014/main" id="{F576EB00-448F-4177-9221-FBA5CCA5DADE}"/>
              </a:ext>
            </a:extLst>
          </p:cNvPr>
          <p:cNvPicPr>
            <a:picLocks noChangeAspect="1"/>
          </p:cNvPicPr>
          <p:nvPr/>
        </p:nvPicPr>
        <p:blipFill rotWithShape="1">
          <a:blip r:embed="rId2"/>
          <a:srcRect r="3" b="4954"/>
          <a:stretch/>
        </p:blipFill>
        <p:spPr>
          <a:xfrm>
            <a:off x="841248" y="2565647"/>
            <a:ext cx="5506286" cy="3611316"/>
          </a:xfrm>
          <a:prstGeom prst="rect">
            <a:avLst/>
          </a:prstGeom>
        </p:spPr>
      </p:pic>
    </p:spTree>
    <p:extLst>
      <p:ext uri="{BB962C8B-B14F-4D97-AF65-F5344CB8AC3E}">
        <p14:creationId xmlns:p14="http://schemas.microsoft.com/office/powerpoint/2010/main" val="34226191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26705-D619-4A12-8E29-47D5BC80040D}"/>
              </a:ext>
            </a:extLst>
          </p:cNvPr>
          <p:cNvSpPr>
            <a:spLocks noGrp="1"/>
          </p:cNvSpPr>
          <p:nvPr>
            <p:ph type="title"/>
          </p:nvPr>
        </p:nvSpPr>
        <p:spPr/>
        <p:txBody>
          <a:bodyPr/>
          <a:lstStyle/>
          <a:p>
            <a:r>
              <a:rPr lang="en-US" dirty="0"/>
              <a:t>Database Users </a:t>
            </a:r>
            <a:endParaRPr lang="en-GB" dirty="0"/>
          </a:p>
        </p:txBody>
      </p:sp>
      <p:sp>
        <p:nvSpPr>
          <p:cNvPr id="3" name="Content Placeholder 2">
            <a:extLst>
              <a:ext uri="{FF2B5EF4-FFF2-40B4-BE49-F238E27FC236}">
                <a16:creationId xmlns:a16="http://schemas.microsoft.com/office/drawing/2014/main" id="{58F277A9-A9E9-44B6-923B-5BF0BEFBBFA5}"/>
              </a:ext>
            </a:extLst>
          </p:cNvPr>
          <p:cNvSpPr>
            <a:spLocks noGrp="1"/>
          </p:cNvSpPr>
          <p:nvPr>
            <p:ph idx="1"/>
          </p:nvPr>
        </p:nvSpPr>
        <p:spPr/>
        <p:txBody>
          <a:bodyPr>
            <a:normAutofit/>
          </a:bodyPr>
          <a:lstStyle/>
          <a:p>
            <a:pPr>
              <a:lnSpc>
                <a:spcPct val="100000"/>
              </a:lnSpc>
            </a:pPr>
            <a:r>
              <a:rPr lang="en-US" sz="2600" dirty="0"/>
              <a:t>Database developers - write SQL queries to select/insert/delete/update data. They do not use any application or programs to request the database. They directly interact with the database by means of query language like SQL</a:t>
            </a:r>
            <a:r>
              <a:rPr lang="en-US" b="0" i="0" dirty="0">
                <a:solidFill>
                  <a:srgbClr val="3A3A3A"/>
                </a:solidFill>
                <a:effectLst/>
                <a:latin typeface="Roboto" panose="02000000000000000000" pitchFamily="2" charset="0"/>
              </a:rPr>
              <a:t>.</a:t>
            </a:r>
          </a:p>
          <a:p>
            <a:pPr>
              <a:lnSpc>
                <a:spcPct val="100000"/>
              </a:lnSpc>
            </a:pPr>
            <a:r>
              <a:rPr lang="en-US" sz="2600" dirty="0">
                <a:solidFill>
                  <a:srgbClr val="FF0000"/>
                </a:solidFill>
              </a:rPr>
              <a:t>Find the roles of these users </a:t>
            </a:r>
          </a:p>
          <a:p>
            <a:pPr marL="0" indent="0">
              <a:lnSpc>
                <a:spcPct val="100000"/>
              </a:lnSpc>
              <a:buNone/>
            </a:pPr>
            <a:r>
              <a:rPr lang="en-US" sz="2600" dirty="0"/>
              <a:t>1. Database designers</a:t>
            </a:r>
          </a:p>
          <a:p>
            <a:pPr marL="0" indent="0">
              <a:lnSpc>
                <a:spcPct val="100000"/>
              </a:lnSpc>
              <a:buNone/>
            </a:pPr>
            <a:r>
              <a:rPr lang="en-US" sz="2600" dirty="0"/>
              <a:t>2. Tool developers </a:t>
            </a:r>
          </a:p>
          <a:p>
            <a:pPr marL="0" indent="0">
              <a:lnSpc>
                <a:spcPct val="100000"/>
              </a:lnSpc>
              <a:buNone/>
            </a:pPr>
            <a:r>
              <a:rPr lang="en-US" sz="2600" dirty="0"/>
              <a:t>3. Operators and maintenance personnel</a:t>
            </a:r>
          </a:p>
          <a:p>
            <a:pPr marL="514350" indent="-514350">
              <a:buAutoNum type="arabicPeriod"/>
            </a:pPr>
            <a:endParaRPr lang="en-US" dirty="0">
              <a:solidFill>
                <a:srgbClr val="3A3A3A"/>
              </a:solidFill>
              <a:latin typeface="Roboto" panose="02000000000000000000" pitchFamily="2" charset="0"/>
            </a:endParaRPr>
          </a:p>
          <a:p>
            <a:pPr marL="514350" indent="-514350">
              <a:buAutoNum type="arabicPeriod"/>
            </a:pPr>
            <a:endParaRPr lang="en-US" dirty="0"/>
          </a:p>
          <a:p>
            <a:endParaRPr lang="en-US" dirty="0"/>
          </a:p>
          <a:p>
            <a:endParaRPr lang="en-GB" dirty="0"/>
          </a:p>
        </p:txBody>
      </p:sp>
    </p:spTree>
    <p:extLst>
      <p:ext uri="{BB962C8B-B14F-4D97-AF65-F5344CB8AC3E}">
        <p14:creationId xmlns:p14="http://schemas.microsoft.com/office/powerpoint/2010/main" val="4069635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8C446-4FFD-4E7C-ADAF-A4FB0F78A834}"/>
              </a:ext>
            </a:extLst>
          </p:cNvPr>
          <p:cNvSpPr>
            <a:spLocks noGrp="1"/>
          </p:cNvSpPr>
          <p:nvPr>
            <p:ph type="title"/>
          </p:nvPr>
        </p:nvSpPr>
        <p:spPr/>
        <p:txBody>
          <a:bodyPr/>
          <a:lstStyle/>
          <a:p>
            <a:r>
              <a:rPr lang="en-US" dirty="0"/>
              <a:t>An example database </a:t>
            </a:r>
            <a:endParaRPr lang="en-GB" dirty="0"/>
          </a:p>
        </p:txBody>
      </p:sp>
      <p:sp>
        <p:nvSpPr>
          <p:cNvPr id="3" name="Content Placeholder 2">
            <a:extLst>
              <a:ext uri="{FF2B5EF4-FFF2-40B4-BE49-F238E27FC236}">
                <a16:creationId xmlns:a16="http://schemas.microsoft.com/office/drawing/2014/main" id="{A1ACD994-505A-475D-897B-A259E7A89C49}"/>
              </a:ext>
            </a:extLst>
          </p:cNvPr>
          <p:cNvSpPr>
            <a:spLocks noGrp="1"/>
          </p:cNvSpPr>
          <p:nvPr>
            <p:ph idx="1"/>
          </p:nvPr>
        </p:nvSpPr>
        <p:spPr/>
        <p:txBody>
          <a:bodyPr/>
          <a:lstStyle/>
          <a:p>
            <a:pPr algn="just">
              <a:lnSpc>
                <a:spcPct val="150000"/>
              </a:lnSpc>
            </a:pPr>
            <a:r>
              <a:rPr lang="en-US" dirty="0"/>
              <a:t>Microsoft Office Access database templates</a:t>
            </a:r>
          </a:p>
          <a:p>
            <a:pPr algn="just">
              <a:lnSpc>
                <a:spcPct val="150000"/>
              </a:lnSpc>
            </a:pPr>
            <a:r>
              <a:rPr lang="en-US" dirty="0"/>
              <a:t>Access students database </a:t>
            </a:r>
          </a:p>
          <a:p>
            <a:pPr algn="just">
              <a:lnSpc>
                <a:spcPct val="150000"/>
              </a:lnSpc>
            </a:pPr>
            <a:r>
              <a:rPr lang="en-US" dirty="0"/>
              <a:t>Explore the database </a:t>
            </a:r>
          </a:p>
          <a:p>
            <a:endParaRPr lang="en-GB" dirty="0"/>
          </a:p>
        </p:txBody>
      </p:sp>
    </p:spTree>
    <p:extLst>
      <p:ext uri="{BB962C8B-B14F-4D97-AF65-F5344CB8AC3E}">
        <p14:creationId xmlns:p14="http://schemas.microsoft.com/office/powerpoint/2010/main" val="905336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73AA2-E5D6-41F3-B427-2BA00405A38B}"/>
              </a:ext>
            </a:extLst>
          </p:cNvPr>
          <p:cNvSpPr>
            <a:spLocks noGrp="1"/>
          </p:cNvSpPr>
          <p:nvPr>
            <p:ph type="title"/>
          </p:nvPr>
        </p:nvSpPr>
        <p:spPr/>
        <p:txBody>
          <a:bodyPr/>
          <a:lstStyle/>
          <a:p>
            <a:r>
              <a:rPr lang="en-US" dirty="0"/>
              <a:t>Summary </a:t>
            </a:r>
            <a:endParaRPr lang="en-GB" dirty="0"/>
          </a:p>
        </p:txBody>
      </p:sp>
      <p:sp>
        <p:nvSpPr>
          <p:cNvPr id="3" name="Content Placeholder 2">
            <a:extLst>
              <a:ext uri="{FF2B5EF4-FFF2-40B4-BE49-F238E27FC236}">
                <a16:creationId xmlns:a16="http://schemas.microsoft.com/office/drawing/2014/main" id="{00412E63-9465-4FF4-BB9F-E1152A7A4F3D}"/>
              </a:ext>
            </a:extLst>
          </p:cNvPr>
          <p:cNvSpPr>
            <a:spLocks noGrp="1"/>
          </p:cNvSpPr>
          <p:nvPr>
            <p:ph idx="1"/>
          </p:nvPr>
        </p:nvSpPr>
        <p:spPr/>
        <p:txBody>
          <a:bodyPr>
            <a:normAutofit/>
          </a:bodyPr>
          <a:lstStyle/>
          <a:p>
            <a:r>
              <a:rPr lang="en-US" dirty="0"/>
              <a:t>In this lecture, we discussed</a:t>
            </a:r>
          </a:p>
          <a:p>
            <a:pPr>
              <a:lnSpc>
                <a:spcPct val="150000"/>
              </a:lnSpc>
            </a:pPr>
            <a:r>
              <a:rPr lang="en-US" dirty="0"/>
              <a:t>The history of Database</a:t>
            </a:r>
          </a:p>
          <a:p>
            <a:pPr>
              <a:lnSpc>
                <a:spcPct val="150000"/>
              </a:lnSpc>
            </a:pPr>
            <a:r>
              <a:rPr lang="en-US" dirty="0"/>
              <a:t>Characteristics of the database approach</a:t>
            </a:r>
          </a:p>
          <a:p>
            <a:pPr>
              <a:lnSpc>
                <a:spcPct val="150000"/>
              </a:lnSpc>
            </a:pPr>
            <a:r>
              <a:rPr lang="en-US" dirty="0"/>
              <a:t>Advantages of the Database Management system  approach.</a:t>
            </a:r>
          </a:p>
          <a:p>
            <a:pPr>
              <a:lnSpc>
                <a:spcPct val="150000"/>
              </a:lnSpc>
            </a:pPr>
            <a:r>
              <a:rPr lang="en-US" dirty="0"/>
              <a:t>Examples of databases and their users.</a:t>
            </a:r>
          </a:p>
          <a:p>
            <a:endParaRPr lang="en-US" dirty="0"/>
          </a:p>
          <a:p>
            <a:pPr marL="0" indent="0">
              <a:buNone/>
            </a:pPr>
            <a:endParaRPr lang="en-GB" dirty="0"/>
          </a:p>
        </p:txBody>
      </p:sp>
    </p:spTree>
    <p:extLst>
      <p:ext uri="{BB962C8B-B14F-4D97-AF65-F5344CB8AC3E}">
        <p14:creationId xmlns:p14="http://schemas.microsoft.com/office/powerpoint/2010/main" val="17868336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42186F-CDFC-43CE-9321-7ACA9584EAF2}"/>
              </a:ext>
            </a:extLst>
          </p:cNvPr>
          <p:cNvSpPr>
            <a:spLocks noGrp="1"/>
          </p:cNvSpPr>
          <p:nvPr>
            <p:ph type="title"/>
          </p:nvPr>
        </p:nvSpPr>
        <p:spPr/>
        <p:txBody>
          <a:bodyPr/>
          <a:lstStyle/>
          <a:p>
            <a:r>
              <a:rPr lang="en-US" dirty="0"/>
              <a:t>Next lecture </a:t>
            </a:r>
            <a:endParaRPr lang="en-GB" dirty="0"/>
          </a:p>
        </p:txBody>
      </p:sp>
      <p:sp>
        <p:nvSpPr>
          <p:cNvPr id="3" name="Content Placeholder 2">
            <a:extLst>
              <a:ext uri="{FF2B5EF4-FFF2-40B4-BE49-F238E27FC236}">
                <a16:creationId xmlns:a16="http://schemas.microsoft.com/office/drawing/2014/main" id="{AC93D5A3-E0EF-4880-A4C3-872338C04E72}"/>
              </a:ext>
            </a:extLst>
          </p:cNvPr>
          <p:cNvSpPr>
            <a:spLocks noGrp="1"/>
          </p:cNvSpPr>
          <p:nvPr>
            <p:ph idx="1"/>
          </p:nvPr>
        </p:nvSpPr>
        <p:spPr/>
        <p:txBody>
          <a:bodyPr>
            <a:normAutofit/>
          </a:bodyPr>
          <a:lstStyle/>
          <a:p>
            <a:pPr marL="0" indent="0" algn="just">
              <a:lnSpc>
                <a:spcPct val="110000"/>
              </a:lnSpc>
              <a:buNone/>
            </a:pPr>
            <a:r>
              <a:rPr lang="en-US" dirty="0"/>
              <a:t>We will discuss the following database concepts in our next theory lesson: </a:t>
            </a:r>
          </a:p>
          <a:p>
            <a:pPr algn="just">
              <a:lnSpc>
                <a:spcPct val="110000"/>
              </a:lnSpc>
            </a:pPr>
            <a:r>
              <a:rPr lang="en-US" dirty="0"/>
              <a:t>Types of database systems</a:t>
            </a:r>
          </a:p>
          <a:p>
            <a:pPr algn="just">
              <a:lnSpc>
                <a:spcPct val="110000"/>
              </a:lnSpc>
            </a:pPr>
            <a:r>
              <a:rPr lang="en-US" dirty="0"/>
              <a:t>Client-server architecture</a:t>
            </a:r>
          </a:p>
          <a:p>
            <a:pPr algn="just">
              <a:lnSpc>
                <a:spcPct val="110000"/>
              </a:lnSpc>
            </a:pPr>
            <a:r>
              <a:rPr lang="en-US" dirty="0"/>
              <a:t>Database system concepts</a:t>
            </a:r>
          </a:p>
          <a:p>
            <a:pPr algn="just">
              <a:lnSpc>
                <a:spcPct val="110000"/>
              </a:lnSpc>
            </a:pPr>
            <a:r>
              <a:rPr lang="en-US" dirty="0"/>
              <a:t>Data models</a:t>
            </a:r>
          </a:p>
          <a:p>
            <a:pPr marL="0" indent="0" algn="just">
              <a:lnSpc>
                <a:spcPct val="110000"/>
              </a:lnSpc>
              <a:buNone/>
            </a:pPr>
            <a:r>
              <a:rPr lang="en-US" dirty="0"/>
              <a:t>NB: Do not forget to attend your practical class / lab </a:t>
            </a:r>
          </a:p>
          <a:p>
            <a:pPr marL="0" indent="0" algn="just">
              <a:lnSpc>
                <a:spcPct val="110000"/>
              </a:lnSpc>
              <a:buNone/>
            </a:pPr>
            <a:endParaRPr lang="en-US" dirty="0"/>
          </a:p>
          <a:p>
            <a:pPr algn="just">
              <a:lnSpc>
                <a:spcPct val="150000"/>
              </a:lnSpc>
            </a:pPr>
            <a:endParaRPr lang="en-US" dirty="0"/>
          </a:p>
          <a:p>
            <a:pPr marL="0" indent="0">
              <a:buNone/>
            </a:pPr>
            <a:endParaRPr lang="en-US" dirty="0"/>
          </a:p>
          <a:p>
            <a:endParaRPr lang="en-US" dirty="0"/>
          </a:p>
          <a:p>
            <a:endParaRPr lang="en-US" dirty="0"/>
          </a:p>
          <a:p>
            <a:pPr marL="0" indent="0">
              <a:buNone/>
            </a:pPr>
            <a:endParaRPr lang="en-US" dirty="0"/>
          </a:p>
          <a:p>
            <a:endParaRPr lang="en-GB" dirty="0"/>
          </a:p>
        </p:txBody>
      </p:sp>
    </p:spTree>
    <p:extLst>
      <p:ext uri="{BB962C8B-B14F-4D97-AF65-F5344CB8AC3E}">
        <p14:creationId xmlns:p14="http://schemas.microsoft.com/office/powerpoint/2010/main" val="30986950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D3497-5F58-43B8-ABBE-CD83ADB7DA11}"/>
              </a:ext>
            </a:extLst>
          </p:cNvPr>
          <p:cNvSpPr>
            <a:spLocks noGrp="1"/>
          </p:cNvSpPr>
          <p:nvPr>
            <p:ph type="title"/>
          </p:nvPr>
        </p:nvSpPr>
        <p:spPr/>
        <p:txBody>
          <a:bodyPr/>
          <a:lstStyle/>
          <a:p>
            <a:r>
              <a:rPr lang="en-US" dirty="0"/>
              <a:t>References </a:t>
            </a:r>
            <a:endParaRPr lang="en-GB" dirty="0"/>
          </a:p>
        </p:txBody>
      </p:sp>
      <p:sp>
        <p:nvSpPr>
          <p:cNvPr id="3" name="Content Placeholder 2">
            <a:extLst>
              <a:ext uri="{FF2B5EF4-FFF2-40B4-BE49-F238E27FC236}">
                <a16:creationId xmlns:a16="http://schemas.microsoft.com/office/drawing/2014/main" id="{B7D458E0-A312-47EC-BF45-E31374F79C43}"/>
              </a:ext>
            </a:extLst>
          </p:cNvPr>
          <p:cNvSpPr>
            <a:spLocks noGrp="1"/>
          </p:cNvSpPr>
          <p:nvPr>
            <p:ph idx="1"/>
          </p:nvPr>
        </p:nvSpPr>
        <p:spPr/>
        <p:txBody>
          <a:bodyPr/>
          <a:lstStyle/>
          <a:p>
            <a:r>
              <a:rPr lang="en-GB" dirty="0"/>
              <a:t>Werner,  Nutt (n.d.) </a:t>
            </a:r>
            <a:r>
              <a:rPr lang="en-US" dirty="0"/>
              <a:t>Introduction to Database Systems Motivation. </a:t>
            </a:r>
          </a:p>
          <a:p>
            <a:r>
              <a:rPr lang="en-US" dirty="0"/>
              <a:t>Kroenke, David M. And Auer, David J. (2013). Database Concepts, 6th Edition Pearson Education, Inc. Publishing as Prentice Hall</a:t>
            </a:r>
          </a:p>
          <a:p>
            <a:pPr marL="0" indent="0">
              <a:buNone/>
            </a:pPr>
            <a:endParaRPr lang="en-GB" dirty="0"/>
          </a:p>
        </p:txBody>
      </p:sp>
    </p:spTree>
    <p:extLst>
      <p:ext uri="{BB962C8B-B14F-4D97-AF65-F5344CB8AC3E}">
        <p14:creationId xmlns:p14="http://schemas.microsoft.com/office/powerpoint/2010/main" val="13486792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docProps/app.xml><?xml version="1.0" encoding="utf-8"?>
<Properties xmlns="http://schemas.openxmlformats.org/officeDocument/2006/extended-properties" xmlns:vt="http://schemas.openxmlformats.org/officeDocument/2006/docPropsVTypes">
  <Template>Ion</Template>
  <TotalTime>5477</TotalTime>
  <Words>1185</Words>
  <Application>Microsoft Office PowerPoint</Application>
  <PresentationFormat>Widescreen</PresentationFormat>
  <Paragraphs>147</Paragraphs>
  <Slides>25</Slides>
  <Notes>0</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25</vt:i4>
      </vt:variant>
    </vt:vector>
  </HeadingPairs>
  <TitlesOfParts>
    <vt:vector size="37" baseType="lpstr">
      <vt:lpstr>Arial</vt:lpstr>
      <vt:lpstr>Calibri</vt:lpstr>
      <vt:lpstr>Calibri Light</vt:lpstr>
      <vt:lpstr>Lora</vt:lpstr>
      <vt:lpstr>Open Sans</vt:lpstr>
      <vt:lpstr>proxima-nova</vt:lpstr>
      <vt:lpstr>Roboto</vt:lpstr>
      <vt:lpstr>RopaSoftPro-Regular</vt:lpstr>
      <vt:lpstr>Wingdings</vt:lpstr>
      <vt:lpstr>Office Theme</vt:lpstr>
      <vt:lpstr>Office Theme</vt:lpstr>
      <vt:lpstr>Retrospect</vt:lpstr>
      <vt:lpstr>PowerPoint Presentation</vt:lpstr>
      <vt:lpstr>Objectives </vt:lpstr>
      <vt:lpstr>Introduction</vt:lpstr>
      <vt:lpstr>Filing system</vt:lpstr>
      <vt:lpstr>History of databases </vt:lpstr>
      <vt:lpstr>File based system</vt:lpstr>
      <vt:lpstr>History of Databases</vt:lpstr>
      <vt:lpstr>History of Database</vt:lpstr>
      <vt:lpstr>History of Database</vt:lpstr>
      <vt:lpstr>History of Databases</vt:lpstr>
      <vt:lpstr>File Approach- problems </vt:lpstr>
      <vt:lpstr>Characteristics of Database Approach</vt:lpstr>
      <vt:lpstr>Characteristics of Database Approach</vt:lpstr>
      <vt:lpstr>Characteristics of Database Approach</vt:lpstr>
      <vt:lpstr>Database Management System (DBMS)</vt:lpstr>
      <vt:lpstr>Database Management System (DBMS)</vt:lpstr>
      <vt:lpstr>Database Management System (DBMS)</vt:lpstr>
      <vt:lpstr>Database Approach</vt:lpstr>
      <vt:lpstr>Database Users </vt:lpstr>
      <vt:lpstr>Database Users</vt:lpstr>
      <vt:lpstr>Database Users </vt:lpstr>
      <vt:lpstr>An example database </vt:lpstr>
      <vt:lpstr>Summary </vt:lpstr>
      <vt:lpstr>Next lecture </vt:lpstr>
      <vt:lpstr>References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Chikohora, Teressa (INT)</dc:creator>
  <cp:lastModifiedBy>Chivuno-Kuria, Shilumbe</cp:lastModifiedBy>
  <cp:revision>11</cp:revision>
  <dcterms:created xsi:type="dcterms:W3CDTF">2021-03-16T08:37:54Z</dcterms:created>
  <dcterms:modified xsi:type="dcterms:W3CDTF">2025-02-14T05:56:04Z</dcterms:modified>
</cp:coreProperties>
</file>