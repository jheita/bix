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43"/>
  </p:notesMasterIdLst>
  <p:sldIdLst>
    <p:sldId id="309" r:id="rId2"/>
    <p:sldId id="259" r:id="rId3"/>
    <p:sldId id="257" r:id="rId4"/>
    <p:sldId id="260" r:id="rId5"/>
    <p:sldId id="261" r:id="rId6"/>
    <p:sldId id="263" r:id="rId7"/>
    <p:sldId id="262" r:id="rId8"/>
    <p:sldId id="265" r:id="rId9"/>
    <p:sldId id="264" r:id="rId10"/>
    <p:sldId id="266" r:id="rId11"/>
    <p:sldId id="267" r:id="rId12"/>
    <p:sldId id="278" r:id="rId13"/>
    <p:sldId id="279" r:id="rId14"/>
    <p:sldId id="280" r:id="rId15"/>
    <p:sldId id="281" r:id="rId16"/>
    <p:sldId id="271" r:id="rId17"/>
    <p:sldId id="273" r:id="rId18"/>
    <p:sldId id="274" r:id="rId19"/>
    <p:sldId id="276" r:id="rId20"/>
    <p:sldId id="277" r:id="rId21"/>
    <p:sldId id="272" r:id="rId22"/>
    <p:sldId id="288" r:id="rId23"/>
    <p:sldId id="287" r:id="rId24"/>
    <p:sldId id="282" r:id="rId25"/>
    <p:sldId id="300" r:id="rId26"/>
    <p:sldId id="289" r:id="rId27"/>
    <p:sldId id="306" r:id="rId28"/>
    <p:sldId id="307" r:id="rId29"/>
    <p:sldId id="286" r:id="rId30"/>
    <p:sldId id="298" r:id="rId31"/>
    <p:sldId id="285" r:id="rId32"/>
    <p:sldId id="284" r:id="rId33"/>
    <p:sldId id="290" r:id="rId34"/>
    <p:sldId id="292" r:id="rId35"/>
    <p:sldId id="293" r:id="rId36"/>
    <p:sldId id="294" r:id="rId37"/>
    <p:sldId id="295" r:id="rId38"/>
    <p:sldId id="302" r:id="rId39"/>
    <p:sldId id="304" r:id="rId40"/>
    <p:sldId id="305" r:id="rId41"/>
    <p:sldId id="30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B371B8-9F4A-491B-8DFD-A8292DC57C1D}" type="datetimeFigureOut">
              <a:rPr lang="en-GB" smtClean="0"/>
              <a:t>24/02/2025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34B584-3A5B-4DDC-9EA6-8EA9A4E1B5A5}" type="slidenum">
              <a:rPr lang="en-GB" smtClean="0"/>
              <a:t>‹#›</a:t>
            </a:fld>
            <a:endParaRPr lang="en-GB"/>
          </a:p>
        </p:txBody>
      </p:sp>
    </p:spTree>
    <p:extLst>
      <p:ext uri="{BB962C8B-B14F-4D97-AF65-F5344CB8AC3E}">
        <p14:creationId xmlns:p14="http://schemas.microsoft.com/office/powerpoint/2010/main" val="2919106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of concepts that can be used to describe the structure of a database: the data types, relationships, constraints, semantics and operational </a:t>
            </a:r>
            <a:r>
              <a:rPr lang="en-US" dirty="0" err="1"/>
              <a:t>behaviour</a:t>
            </a:r>
            <a:r>
              <a:rPr lang="en-US" dirty="0"/>
              <a:t> </a:t>
            </a:r>
            <a:endParaRPr lang="en-GB" dirty="0"/>
          </a:p>
        </p:txBody>
      </p:sp>
      <p:sp>
        <p:nvSpPr>
          <p:cNvPr id="4" name="Slide Number Placeholder 3"/>
          <p:cNvSpPr>
            <a:spLocks noGrp="1"/>
          </p:cNvSpPr>
          <p:nvPr>
            <p:ph type="sldNum" sz="quarter" idx="5"/>
          </p:nvPr>
        </p:nvSpPr>
        <p:spPr/>
        <p:txBody>
          <a:bodyPr/>
          <a:lstStyle/>
          <a:p>
            <a:fld id="{3D34B584-3A5B-4DDC-9EA6-8EA9A4E1B5A5}" type="slidenum">
              <a:rPr lang="en-GB" smtClean="0"/>
              <a:t>11</a:t>
            </a:fld>
            <a:endParaRPr lang="en-GB"/>
          </a:p>
        </p:txBody>
      </p:sp>
    </p:spTree>
    <p:extLst>
      <p:ext uri="{BB962C8B-B14F-4D97-AF65-F5344CB8AC3E}">
        <p14:creationId xmlns:p14="http://schemas.microsoft.com/office/powerpoint/2010/main" val="2441668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34B584-3A5B-4DDC-9EA6-8EA9A4E1B5A5}" type="slidenum">
              <a:rPr lang="en-GB" smtClean="0"/>
              <a:t>12</a:t>
            </a:fld>
            <a:endParaRPr lang="en-GB"/>
          </a:p>
        </p:txBody>
      </p:sp>
    </p:spTree>
    <p:extLst>
      <p:ext uri="{BB962C8B-B14F-4D97-AF65-F5344CB8AC3E}">
        <p14:creationId xmlns:p14="http://schemas.microsoft.com/office/powerpoint/2010/main" val="51076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 model</a:t>
            </a:r>
          </a:p>
          <a:p>
            <a:pPr algn="l">
              <a:buFont typeface="Arial" panose="020B0604020202020204" pitchFamily="34" charset="0"/>
              <a:buChar char="•"/>
            </a:pPr>
            <a:r>
              <a:rPr lang="en-US" b="1" i="0" dirty="0">
                <a:solidFill>
                  <a:srgbClr val="333333"/>
                </a:solidFill>
                <a:effectLst/>
                <a:latin typeface="Open Sans" panose="020B0606030504020204" pitchFamily="34" charset="0"/>
              </a:rPr>
              <a:t>The entity-relationship (E-R)</a:t>
            </a:r>
            <a:r>
              <a:rPr lang="en-US" b="0" i="0" dirty="0">
                <a:solidFill>
                  <a:srgbClr val="333333"/>
                </a:solidFill>
                <a:effectLst/>
                <a:latin typeface="Open Sans" panose="020B0606030504020204" pitchFamily="34" charset="0"/>
              </a:rPr>
              <a:t> data model is based on a perception of a real world that consists of a collection of basic objects, called </a:t>
            </a:r>
            <a:r>
              <a:rPr lang="en-US" b="1" i="0" dirty="0">
                <a:solidFill>
                  <a:srgbClr val="333333"/>
                </a:solidFill>
                <a:effectLst/>
                <a:latin typeface="Open Sans" panose="020B0606030504020204" pitchFamily="34" charset="0"/>
              </a:rPr>
              <a:t>entities</a:t>
            </a:r>
            <a:r>
              <a:rPr lang="en-US" b="0" i="0" dirty="0">
                <a:solidFill>
                  <a:srgbClr val="333333"/>
                </a:solidFill>
                <a:effectLst/>
                <a:latin typeface="Open Sans" panose="020B0606030504020204" pitchFamily="34" charset="0"/>
              </a:rPr>
              <a:t>, and of relationships among these objects.</a:t>
            </a:r>
          </a:p>
          <a:p>
            <a:pPr algn="l">
              <a:buFont typeface="Arial" panose="020B0604020202020204" pitchFamily="34" charset="0"/>
              <a:buChar char="•"/>
            </a:pPr>
            <a:r>
              <a:rPr lang="en-US" b="0" i="0" dirty="0">
                <a:solidFill>
                  <a:srgbClr val="333333"/>
                </a:solidFill>
                <a:effectLst/>
                <a:latin typeface="Open Sans" panose="020B0606030504020204" pitchFamily="34" charset="0"/>
              </a:rPr>
              <a:t>An entity is a “thing” or “object” in the real world that is distinguishable from other objects. For example, each person is an entity, and bank accounts can be considered as entities.</a:t>
            </a:r>
          </a:p>
          <a:p>
            <a:pPr algn="l">
              <a:buFont typeface="Arial" panose="020B0604020202020204" pitchFamily="34" charset="0"/>
              <a:buChar char="•"/>
            </a:pPr>
            <a:r>
              <a:rPr lang="en-US" b="0" i="0" dirty="0">
                <a:solidFill>
                  <a:srgbClr val="333333"/>
                </a:solidFill>
                <a:effectLst/>
                <a:latin typeface="Open Sans" panose="020B0606030504020204" pitchFamily="34" charset="0"/>
              </a:rPr>
              <a:t>A relationship is an association among several entities. For example, a depositor relationship associates a customer with each account that she has.</a:t>
            </a:r>
          </a:p>
          <a:p>
            <a:pPr algn="l">
              <a:buFont typeface="Arial" panose="020B0604020202020204" pitchFamily="34" charset="0"/>
              <a:buChar char="•"/>
            </a:pPr>
            <a:r>
              <a:rPr lang="en-US" b="0" i="0" dirty="0">
                <a:solidFill>
                  <a:srgbClr val="333333"/>
                </a:solidFill>
                <a:effectLst/>
                <a:latin typeface="Open Sans" panose="020B0606030504020204" pitchFamily="34" charset="0"/>
              </a:rPr>
              <a:t>The set of all entities of the same type and the set of all relationships of the same type are termed an entity set and relationship set, respectively.</a:t>
            </a:r>
          </a:p>
          <a:p>
            <a:pPr algn="l">
              <a:buFont typeface="Arial" panose="020B0604020202020204" pitchFamily="34" charset="0"/>
              <a:buChar char="•"/>
            </a:pPr>
            <a:r>
              <a:rPr lang="en-US" b="0" i="0" dirty="0">
                <a:solidFill>
                  <a:srgbClr val="333333"/>
                </a:solidFill>
                <a:effectLst/>
                <a:latin typeface="Open Sans" panose="020B0606030504020204" pitchFamily="34" charset="0"/>
              </a:rPr>
              <a:t>The overall logical structure (schema) of a database can be expressed graphically by an </a:t>
            </a:r>
            <a:r>
              <a:rPr lang="en-US" b="1" i="0" dirty="0">
                <a:solidFill>
                  <a:srgbClr val="333333"/>
                </a:solidFill>
                <a:effectLst/>
                <a:latin typeface="Open Sans" panose="020B0606030504020204" pitchFamily="34" charset="0"/>
              </a:rPr>
              <a:t>E-R diagram.</a:t>
            </a:r>
            <a:endParaRPr lang="en-US" b="0" i="0" dirty="0">
              <a:solidFill>
                <a:srgbClr val="333333"/>
              </a:solidFill>
              <a:effectLst/>
              <a:latin typeface="Open Sans" panose="020B0606030504020204" pitchFamily="34" charset="0"/>
            </a:endParaRPr>
          </a:p>
          <a:p>
            <a:r>
              <a:rPr lang="en-US" dirty="0"/>
              <a:t> </a:t>
            </a:r>
            <a:endParaRPr lang="en-GB" dirty="0"/>
          </a:p>
          <a:p>
            <a:endParaRPr lang="en-GB" dirty="0"/>
          </a:p>
        </p:txBody>
      </p:sp>
      <p:sp>
        <p:nvSpPr>
          <p:cNvPr id="4" name="Slide Number Placeholder 3"/>
          <p:cNvSpPr>
            <a:spLocks noGrp="1"/>
          </p:cNvSpPr>
          <p:nvPr>
            <p:ph type="sldNum" sz="quarter" idx="5"/>
          </p:nvPr>
        </p:nvSpPr>
        <p:spPr/>
        <p:txBody>
          <a:bodyPr/>
          <a:lstStyle/>
          <a:p>
            <a:fld id="{3D34B584-3A5B-4DDC-9EA6-8EA9A4E1B5A5}" type="slidenum">
              <a:rPr lang="en-GB" smtClean="0"/>
              <a:t>13</a:t>
            </a:fld>
            <a:endParaRPr lang="en-GB"/>
          </a:p>
        </p:txBody>
      </p:sp>
    </p:spTree>
    <p:extLst>
      <p:ext uri="{BB962C8B-B14F-4D97-AF65-F5344CB8AC3E}">
        <p14:creationId xmlns:p14="http://schemas.microsoft.com/office/powerpoint/2010/main" val="266725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555555"/>
                </a:solidFill>
                <a:effectLst/>
                <a:latin typeface="Helvetica Neue"/>
              </a:rPr>
              <a:t>External level:</a:t>
            </a:r>
          </a:p>
          <a:p>
            <a:pPr algn="l">
              <a:buFont typeface="Arial" panose="020B0604020202020204" pitchFamily="34" charset="0"/>
              <a:buChar char="•"/>
            </a:pPr>
            <a:r>
              <a:rPr lang="en-US" b="0" i="0" dirty="0">
                <a:solidFill>
                  <a:srgbClr val="333333"/>
                </a:solidFill>
                <a:effectLst/>
                <a:latin typeface="Helvetica Neue"/>
              </a:rPr>
              <a:t>In this highest level, there exists a number of views which of is defined a part of the actual database.</a:t>
            </a:r>
          </a:p>
          <a:p>
            <a:pPr algn="l">
              <a:buFont typeface="Arial" panose="020B0604020202020204" pitchFamily="34" charset="0"/>
              <a:buChar char="•"/>
            </a:pPr>
            <a:r>
              <a:rPr lang="en-US" b="0" i="0" dirty="0">
                <a:solidFill>
                  <a:srgbClr val="333333"/>
                </a:solidFill>
                <a:effectLst/>
                <a:latin typeface="Helvetica Neue"/>
              </a:rPr>
              <a:t>Each view is provided for a user or a group of users so that it helps in simplified the interaction between the user and system.</a:t>
            </a:r>
          </a:p>
          <a:p>
            <a:pPr algn="l"/>
            <a:r>
              <a:rPr lang="en-US" b="0" i="0" dirty="0">
                <a:solidFill>
                  <a:srgbClr val="555555"/>
                </a:solidFill>
                <a:effectLst/>
                <a:latin typeface="Helvetica Neue"/>
              </a:rPr>
              <a:t>Conceptual level: Conceptual Schema in this level describes the logical structure of the whole database.</a:t>
            </a:r>
          </a:p>
          <a:p>
            <a:pPr algn="l">
              <a:buFont typeface="Arial" panose="020B0604020202020204" pitchFamily="34" charset="0"/>
              <a:buChar char="•"/>
            </a:pPr>
            <a:r>
              <a:rPr lang="en-US" b="0" i="0" dirty="0">
                <a:solidFill>
                  <a:srgbClr val="333333"/>
                </a:solidFill>
                <a:effectLst/>
                <a:latin typeface="Helvetica Neue"/>
              </a:rPr>
              <a:t>The entire database is described using simple logical concepts such as objects, their properties or relationships. Thus the complexity of the implementation detail of the data with be hided from the users.</a:t>
            </a:r>
          </a:p>
          <a:p>
            <a:pPr algn="l">
              <a:buFont typeface="Arial" panose="020B0604020202020204" pitchFamily="34" charset="0"/>
              <a:buChar char="•"/>
            </a:pPr>
            <a:r>
              <a:rPr lang="en-US" b="0" i="0" dirty="0">
                <a:solidFill>
                  <a:srgbClr val="333333"/>
                </a:solidFill>
                <a:effectLst/>
                <a:latin typeface="Helvetica Neue"/>
              </a:rPr>
              <a:t>Internal level: Internal Schema in this level describes how the data are actually stored, how to access the data.</a:t>
            </a:r>
          </a:p>
          <a:p>
            <a:endParaRPr lang="en-GB" dirty="0"/>
          </a:p>
        </p:txBody>
      </p:sp>
      <p:sp>
        <p:nvSpPr>
          <p:cNvPr id="4" name="Slide Number Placeholder 3"/>
          <p:cNvSpPr>
            <a:spLocks noGrp="1"/>
          </p:cNvSpPr>
          <p:nvPr>
            <p:ph type="sldNum" sz="quarter" idx="5"/>
          </p:nvPr>
        </p:nvSpPr>
        <p:spPr/>
        <p:txBody>
          <a:bodyPr/>
          <a:lstStyle/>
          <a:p>
            <a:fld id="{3D34B584-3A5B-4DDC-9EA6-8EA9A4E1B5A5}" type="slidenum">
              <a:rPr lang="en-GB" smtClean="0"/>
              <a:t>22</a:t>
            </a:fld>
            <a:endParaRPr lang="en-GB"/>
          </a:p>
        </p:txBody>
      </p:sp>
    </p:spTree>
    <p:extLst>
      <p:ext uri="{BB962C8B-B14F-4D97-AF65-F5344CB8AC3E}">
        <p14:creationId xmlns:p14="http://schemas.microsoft.com/office/powerpoint/2010/main" val="2826874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800" b="0" i="0" dirty="0">
                <a:solidFill>
                  <a:srgbClr val="333333"/>
                </a:solidFill>
                <a:effectLst/>
                <a:latin typeface="Times New Roman" panose="02020603050405020304" pitchFamily="18" charset="0"/>
              </a:rPr>
              <a:t>A relation of degree seven, which stores information about university students, would contain seven attributes describing each student. as follows:</a:t>
            </a:r>
            <a:endParaRPr lang="en-US" b="0" i="0" dirty="0">
              <a:solidFill>
                <a:srgbClr val="333333"/>
              </a:solidFill>
              <a:effectLst/>
              <a:latin typeface="Helvetica Neue"/>
            </a:endParaRPr>
          </a:p>
          <a:p>
            <a:pPr algn="just"/>
            <a:r>
              <a:rPr lang="en-US" sz="1800" b="0" i="0" dirty="0">
                <a:solidFill>
                  <a:srgbClr val="333333"/>
                </a:solidFill>
                <a:effectLst/>
                <a:latin typeface="Times New Roman" panose="02020603050405020304" pitchFamily="18" charset="0"/>
              </a:rPr>
              <a:t> </a:t>
            </a:r>
            <a:endParaRPr lang="en-US" b="0" i="0" dirty="0">
              <a:solidFill>
                <a:srgbClr val="333333"/>
              </a:solidFill>
              <a:effectLst/>
              <a:latin typeface="Helvetica Neue"/>
            </a:endParaRPr>
          </a:p>
          <a:p>
            <a:pPr algn="just"/>
            <a:r>
              <a:rPr lang="en-US" sz="1800" b="0" i="0" dirty="0">
                <a:solidFill>
                  <a:srgbClr val="333333"/>
                </a:solidFill>
                <a:effectLst/>
                <a:latin typeface="Arial" panose="020B0604020202020204" pitchFamily="34" charset="0"/>
              </a:rPr>
              <a:t>STUDENT</a:t>
            </a:r>
            <a:r>
              <a:rPr lang="en-US" sz="1800" b="0" i="0" dirty="0">
                <a:solidFill>
                  <a:srgbClr val="333333"/>
                </a:solidFill>
                <a:effectLst/>
                <a:latin typeface="Times New Roman" panose="02020603050405020304" pitchFamily="18" charset="0"/>
              </a:rPr>
              <a:t>(</a:t>
            </a:r>
            <a:r>
              <a:rPr lang="en-US" sz="1800" b="0" i="0" dirty="0">
                <a:solidFill>
                  <a:srgbClr val="333333"/>
                </a:solidFill>
                <a:effectLst/>
                <a:latin typeface="Arial" panose="020B0604020202020204" pitchFamily="34" charset="0"/>
              </a:rPr>
              <a:t>Name</a:t>
            </a:r>
            <a:r>
              <a:rPr lang="en-US" sz="1800" b="0" i="0" dirty="0">
                <a:solidFill>
                  <a:srgbClr val="333333"/>
                </a:solidFill>
                <a:effectLst/>
                <a:latin typeface="Times New Roman" panose="02020603050405020304" pitchFamily="18" charset="0"/>
              </a:rPr>
              <a:t>,</a:t>
            </a:r>
            <a:r>
              <a:rPr lang="en-US" sz="1800" b="0" i="0" dirty="0">
                <a:solidFill>
                  <a:srgbClr val="333333"/>
                </a:solidFill>
                <a:effectLst/>
                <a:latin typeface="Arial" panose="020B0604020202020204" pitchFamily="34" charset="0"/>
              </a:rPr>
              <a:t> </a:t>
            </a:r>
            <a:r>
              <a:rPr lang="en-US" sz="1800" b="0" i="0" dirty="0" err="1">
                <a:solidFill>
                  <a:srgbClr val="333333"/>
                </a:solidFill>
                <a:effectLst/>
                <a:latin typeface="Arial" panose="020B0604020202020204" pitchFamily="34" charset="0"/>
              </a:rPr>
              <a:t>Ssn</a:t>
            </a:r>
            <a:r>
              <a:rPr lang="en-US" sz="1800" b="0" i="0" dirty="0">
                <a:solidFill>
                  <a:srgbClr val="333333"/>
                </a:solidFill>
                <a:effectLst/>
                <a:latin typeface="Times New Roman" panose="02020603050405020304" pitchFamily="18" charset="0"/>
              </a:rPr>
              <a:t>,</a:t>
            </a:r>
            <a:r>
              <a:rPr lang="en-US" sz="1800" b="0" i="0" dirty="0">
                <a:solidFill>
                  <a:srgbClr val="333333"/>
                </a:solidFill>
                <a:effectLst/>
                <a:latin typeface="Arial" panose="020B0604020202020204" pitchFamily="34" charset="0"/>
              </a:rPr>
              <a:t> </a:t>
            </a:r>
            <a:r>
              <a:rPr lang="en-US" sz="1800" b="0" i="0" dirty="0" err="1">
                <a:solidFill>
                  <a:srgbClr val="333333"/>
                </a:solidFill>
                <a:effectLst/>
                <a:latin typeface="Arial" panose="020B0604020202020204" pitchFamily="34" charset="0"/>
              </a:rPr>
              <a:t>Home_phone</a:t>
            </a:r>
            <a:r>
              <a:rPr lang="en-US" sz="1800" b="0" i="0" dirty="0">
                <a:solidFill>
                  <a:srgbClr val="333333"/>
                </a:solidFill>
                <a:effectLst/>
                <a:latin typeface="Times New Roman" panose="02020603050405020304" pitchFamily="18" charset="0"/>
              </a:rPr>
              <a:t>,</a:t>
            </a:r>
            <a:r>
              <a:rPr lang="en-US" sz="1800" b="0" i="0" dirty="0">
                <a:solidFill>
                  <a:srgbClr val="333333"/>
                </a:solidFill>
                <a:effectLst/>
                <a:latin typeface="Arial" panose="020B0604020202020204" pitchFamily="34" charset="0"/>
              </a:rPr>
              <a:t> Address</a:t>
            </a:r>
            <a:r>
              <a:rPr lang="en-US" sz="1800" b="0" i="0" dirty="0">
                <a:solidFill>
                  <a:srgbClr val="333333"/>
                </a:solidFill>
                <a:effectLst/>
                <a:latin typeface="Times New Roman" panose="02020603050405020304" pitchFamily="18" charset="0"/>
              </a:rPr>
              <a:t>,</a:t>
            </a:r>
            <a:r>
              <a:rPr lang="en-US" sz="1800" b="0" i="0" dirty="0">
                <a:solidFill>
                  <a:srgbClr val="333333"/>
                </a:solidFill>
                <a:effectLst/>
                <a:latin typeface="Arial" panose="020B0604020202020204" pitchFamily="34" charset="0"/>
              </a:rPr>
              <a:t> </a:t>
            </a:r>
            <a:r>
              <a:rPr lang="en-US" sz="1800" b="0" i="0" dirty="0" err="1">
                <a:solidFill>
                  <a:srgbClr val="333333"/>
                </a:solidFill>
                <a:effectLst/>
                <a:latin typeface="Arial" panose="020B0604020202020204" pitchFamily="34" charset="0"/>
              </a:rPr>
              <a:t>Office_phone</a:t>
            </a:r>
            <a:r>
              <a:rPr lang="en-US" sz="1800" b="0" i="0" dirty="0">
                <a:solidFill>
                  <a:srgbClr val="333333"/>
                </a:solidFill>
                <a:effectLst/>
                <a:latin typeface="Times New Roman" panose="02020603050405020304" pitchFamily="18" charset="0"/>
              </a:rPr>
              <a:t>,</a:t>
            </a:r>
            <a:r>
              <a:rPr lang="en-US" sz="1800" b="0" i="0" dirty="0">
                <a:solidFill>
                  <a:srgbClr val="333333"/>
                </a:solidFill>
                <a:effectLst/>
                <a:latin typeface="Arial" panose="020B0604020202020204" pitchFamily="34" charset="0"/>
              </a:rPr>
              <a:t> Age</a:t>
            </a:r>
            <a:r>
              <a:rPr lang="en-US" sz="1800" b="0" i="0" dirty="0">
                <a:solidFill>
                  <a:srgbClr val="333333"/>
                </a:solidFill>
                <a:effectLst/>
                <a:latin typeface="Times New Roman" panose="02020603050405020304" pitchFamily="18" charset="0"/>
              </a:rPr>
              <a:t>,</a:t>
            </a:r>
            <a:r>
              <a:rPr lang="en-US" sz="1800" b="0" i="0" dirty="0">
                <a:solidFill>
                  <a:srgbClr val="333333"/>
                </a:solidFill>
                <a:effectLst/>
                <a:latin typeface="Arial" panose="020B0604020202020204" pitchFamily="34" charset="0"/>
              </a:rPr>
              <a:t> </a:t>
            </a:r>
            <a:r>
              <a:rPr lang="en-US" sz="1800" b="0" i="0" dirty="0" err="1">
                <a:solidFill>
                  <a:srgbClr val="333333"/>
                </a:solidFill>
                <a:effectLst/>
                <a:latin typeface="Arial" panose="020B0604020202020204" pitchFamily="34" charset="0"/>
              </a:rPr>
              <a:t>Gpa</a:t>
            </a:r>
            <a:r>
              <a:rPr lang="en-US" sz="1800" b="0" i="0" dirty="0">
                <a:solidFill>
                  <a:srgbClr val="333333"/>
                </a:solidFill>
                <a:effectLst/>
                <a:latin typeface="Times New Roman" panose="02020603050405020304" pitchFamily="18" charset="0"/>
              </a:rPr>
              <a:t>)</a:t>
            </a:r>
            <a:endParaRPr lang="en-US" b="0" i="0" dirty="0">
              <a:solidFill>
                <a:srgbClr val="333333"/>
              </a:solidFill>
              <a:effectLst/>
              <a:latin typeface="Helvetica Neue"/>
            </a:endParaRPr>
          </a:p>
          <a:p>
            <a:pPr algn="just"/>
            <a:r>
              <a:rPr lang="en-US" sz="1800" b="0" i="0" dirty="0">
                <a:solidFill>
                  <a:srgbClr val="333333"/>
                </a:solidFill>
                <a:effectLst/>
                <a:latin typeface="Times New Roman" panose="02020603050405020304" pitchFamily="18" charset="0"/>
              </a:rPr>
              <a:t> </a:t>
            </a:r>
            <a:endParaRPr lang="en-US" b="0" i="0" dirty="0">
              <a:solidFill>
                <a:srgbClr val="333333"/>
              </a:solidFill>
              <a:effectLst/>
              <a:latin typeface="Helvetica Neue"/>
            </a:endParaRPr>
          </a:p>
          <a:p>
            <a:endParaRPr lang="en-GB" dirty="0"/>
          </a:p>
        </p:txBody>
      </p:sp>
      <p:sp>
        <p:nvSpPr>
          <p:cNvPr id="4" name="Slide Number Placeholder 3"/>
          <p:cNvSpPr>
            <a:spLocks noGrp="1"/>
          </p:cNvSpPr>
          <p:nvPr>
            <p:ph type="sldNum" sz="quarter" idx="5"/>
          </p:nvPr>
        </p:nvSpPr>
        <p:spPr/>
        <p:txBody>
          <a:bodyPr/>
          <a:lstStyle/>
          <a:p>
            <a:fld id="{3D34B584-3A5B-4DDC-9EA6-8EA9A4E1B5A5}" type="slidenum">
              <a:rPr lang="en-GB" smtClean="0"/>
              <a:t>25</a:t>
            </a:fld>
            <a:endParaRPr lang="en-GB"/>
          </a:p>
        </p:txBody>
      </p:sp>
    </p:spTree>
    <p:extLst>
      <p:ext uri="{BB962C8B-B14F-4D97-AF65-F5344CB8AC3E}">
        <p14:creationId xmlns:p14="http://schemas.microsoft.com/office/powerpoint/2010/main" val="1545040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noTextEdit="1"/>
          </p:cNvSpPr>
          <p:nvPr>
            <p:ph type="sldImg"/>
          </p:nvPr>
        </p:nvSpPr>
        <p:spPr>
          <a:ln/>
        </p:spPr>
      </p:sp>
      <p:sp>
        <p:nvSpPr>
          <p:cNvPr id="31746" name="Notes Placeholder 2"/>
          <p:cNvSpPr>
            <a:spLocks noGrp="1"/>
          </p:cNvSpPr>
          <p:nvPr>
            <p:ph type="body" idx="1"/>
          </p:nvPr>
        </p:nvSpPr>
        <p:spPr>
          <a:noFill/>
          <a:ln/>
        </p:spPr>
        <p:txBody>
          <a:bodyPr/>
          <a:lstStyle/>
          <a:p>
            <a:pPr eaLnBrk="1" hangingPunct="1"/>
            <a:endParaRPr lang="en-US" dirty="0"/>
          </a:p>
        </p:txBody>
      </p:sp>
      <p:sp>
        <p:nvSpPr>
          <p:cNvPr id="31747" name="Slide Number Placeholder 3"/>
          <p:cNvSpPr>
            <a:spLocks noGrp="1"/>
          </p:cNvSpPr>
          <p:nvPr>
            <p:ph type="sldNum" sz="quarter" idx="5"/>
          </p:nvPr>
        </p:nvSpPr>
        <p:spPr>
          <a:noFill/>
        </p:spPr>
        <p:txBody>
          <a:bodyPr/>
          <a:lstStyle/>
          <a:p>
            <a:fld id="{929447FE-E35E-42C8-835C-D7B1C4710526}" type="slidenum">
              <a:rPr lang="en-US" smtClean="0">
                <a:cs typeface="Arial" charset="0"/>
              </a:rPr>
              <a:pPr/>
              <a:t>30</a:t>
            </a:fld>
            <a:endParaRPr lang="en-US" dirty="0">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75743D-FFBA-49B6-8C74-0691B41B7954}"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8664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75743D-FFBA-49B6-8C74-0691B41B7954}" type="slidenum">
              <a:rPr lang="en-GB" smtClean="0"/>
              <a:t>‹#›</a:t>
            </a:fld>
            <a:endParaRPr lang="en-GB"/>
          </a:p>
        </p:txBody>
      </p:sp>
    </p:spTree>
    <p:extLst>
      <p:ext uri="{BB962C8B-B14F-4D97-AF65-F5344CB8AC3E}">
        <p14:creationId xmlns:p14="http://schemas.microsoft.com/office/powerpoint/2010/main" val="4066977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75743D-FFBA-49B6-8C74-0691B41B7954}"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256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75743D-FFBA-49B6-8C74-0691B41B7954}" type="slidenum">
              <a:rPr lang="en-GB" smtClean="0"/>
              <a:t>‹#›</a:t>
            </a:fld>
            <a:endParaRPr lang="en-GB"/>
          </a:p>
        </p:txBody>
      </p:sp>
    </p:spTree>
    <p:extLst>
      <p:ext uri="{BB962C8B-B14F-4D97-AF65-F5344CB8AC3E}">
        <p14:creationId xmlns:p14="http://schemas.microsoft.com/office/powerpoint/2010/main" val="737744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D75743D-FFBA-49B6-8C74-0691B41B7954}" type="slidenum">
              <a:rPr lang="en-GB" smtClean="0"/>
              <a:t>‹#›</a:t>
            </a:fld>
            <a:endParaRPr lang="en-GB"/>
          </a:p>
        </p:txBody>
      </p:sp>
    </p:spTree>
    <p:extLst>
      <p:ext uri="{BB962C8B-B14F-4D97-AF65-F5344CB8AC3E}">
        <p14:creationId xmlns:p14="http://schemas.microsoft.com/office/powerpoint/2010/main" val="346005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D75743D-FFBA-49B6-8C74-0691B41B7954}" type="slidenum">
              <a:rPr lang="en-GB" smtClean="0"/>
              <a:t>‹#›</a:t>
            </a:fld>
            <a:endParaRPr lang="en-GB"/>
          </a:p>
        </p:txBody>
      </p:sp>
    </p:spTree>
    <p:extLst>
      <p:ext uri="{BB962C8B-B14F-4D97-AF65-F5344CB8AC3E}">
        <p14:creationId xmlns:p14="http://schemas.microsoft.com/office/powerpoint/2010/main" val="260232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D75743D-FFBA-49B6-8C74-0691B41B7954}" type="slidenum">
              <a:rPr lang="en-GB" smtClean="0"/>
              <a:t>‹#›</a:t>
            </a:fld>
            <a:endParaRPr lang="en-GB"/>
          </a:p>
        </p:txBody>
      </p:sp>
    </p:spTree>
    <p:extLst>
      <p:ext uri="{BB962C8B-B14F-4D97-AF65-F5344CB8AC3E}">
        <p14:creationId xmlns:p14="http://schemas.microsoft.com/office/powerpoint/2010/main" val="1460493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75743D-FFBA-49B6-8C74-0691B41B7954}" type="slidenum">
              <a:rPr lang="en-GB" smtClean="0"/>
              <a:t>‹#›</a:t>
            </a:fld>
            <a:endParaRPr lang="en-GB"/>
          </a:p>
        </p:txBody>
      </p:sp>
    </p:spTree>
    <p:extLst>
      <p:ext uri="{BB962C8B-B14F-4D97-AF65-F5344CB8AC3E}">
        <p14:creationId xmlns:p14="http://schemas.microsoft.com/office/powerpoint/2010/main" val="3998952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75743D-FFBA-49B6-8C74-0691B41B7954}"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660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75743D-FFBA-49B6-8C74-0691B41B7954}" type="slidenum">
              <a:rPr lang="en-GB" smtClean="0"/>
              <a:t>‹#›</a:t>
            </a:fld>
            <a:endParaRPr lang="en-GB"/>
          </a:p>
        </p:txBody>
      </p:sp>
    </p:spTree>
    <p:extLst>
      <p:ext uri="{BB962C8B-B14F-4D97-AF65-F5344CB8AC3E}">
        <p14:creationId xmlns:p14="http://schemas.microsoft.com/office/powerpoint/2010/main" val="17351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75743D-FFBA-49B6-8C74-0691B41B7954}" type="slidenum">
              <a:rPr lang="en-GB" smtClean="0"/>
              <a:t>‹#›</a:t>
            </a:fld>
            <a:endParaRPr lang="en-GB"/>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7502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1" y="0"/>
            <a:ext cx="12192000" cy="3432240"/>
          </a:xfrm>
          <a:prstGeom prst="rect">
            <a:avLst/>
          </a:prstGeom>
        </p:spPr>
      </p:pic>
    </p:spTree>
    <p:extLst>
      <p:ext uri="{BB962C8B-B14F-4D97-AF65-F5344CB8AC3E}">
        <p14:creationId xmlns:p14="http://schemas.microsoft.com/office/powerpoint/2010/main" val="1271454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D75743D-FFBA-49B6-8C74-0691B41B7954}" type="slidenum">
              <a:rPr lang="en-GB" smtClean="0"/>
              <a:t>‹#›</a:t>
            </a:fld>
            <a:endParaRPr lang="en-GB"/>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923202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578617" y="3434615"/>
            <a:ext cx="9132489" cy="3423386"/>
          </a:xfrm>
          <a:prstGeom prst="rect">
            <a:avLst/>
          </a:prstGeom>
        </p:spPr>
      </p:pic>
      <p:sp>
        <p:nvSpPr>
          <p:cNvPr id="5" name="TextBox 4"/>
          <p:cNvSpPr txBox="1"/>
          <p:nvPr/>
        </p:nvSpPr>
        <p:spPr>
          <a:xfrm>
            <a:off x="1651561" y="1716573"/>
            <a:ext cx="8319734" cy="921534"/>
          </a:xfrm>
          <a:prstGeom prst="rect">
            <a:avLst/>
          </a:prstGeom>
          <a:noFill/>
        </p:spPr>
        <p:txBody>
          <a:bodyPr wrap="square" rtlCol="0">
            <a:spAutoFit/>
          </a:bodyPr>
          <a:lstStyle/>
          <a:p>
            <a:pPr algn="ctr"/>
            <a:r>
              <a:rPr lang="en-ZA" sz="2694" dirty="0">
                <a:solidFill>
                  <a:srgbClr val="FFFFFF"/>
                </a:solidFill>
              </a:rPr>
              <a:t>Week 3</a:t>
            </a:r>
            <a:endParaRPr lang="en-US" sz="3233" dirty="0">
              <a:solidFill>
                <a:srgbClr val="FFFFFF"/>
              </a:solidFill>
            </a:endParaRPr>
          </a:p>
          <a:p>
            <a:pPr algn="ctr"/>
            <a:r>
              <a:rPr lang="en-ZA" sz="2694" dirty="0">
                <a:solidFill>
                  <a:srgbClr val="FFFFFF"/>
                </a:solidFill>
              </a:rPr>
              <a:t>Database System Concepts &amp; Architecture </a:t>
            </a:r>
          </a:p>
        </p:txBody>
      </p:sp>
      <p:sp>
        <p:nvSpPr>
          <p:cNvPr id="7" name="TextBox 6"/>
          <p:cNvSpPr txBox="1"/>
          <p:nvPr/>
        </p:nvSpPr>
        <p:spPr>
          <a:xfrm>
            <a:off x="2765098" y="1242919"/>
            <a:ext cx="7193040" cy="368691"/>
          </a:xfrm>
          <a:prstGeom prst="rect">
            <a:avLst/>
          </a:prstGeom>
          <a:noFill/>
        </p:spPr>
        <p:txBody>
          <a:bodyPr wrap="square" rtlCol="0">
            <a:spAutoFit/>
          </a:bodyPr>
          <a:lstStyle/>
          <a:p>
            <a:pPr marR="0" algn="l" rtl="0"/>
            <a:r>
              <a:rPr lang="en-US" sz="1796" b="1" i="0" u="none" strike="noStrike" baseline="0">
                <a:solidFill>
                  <a:srgbClr val="FFFFFF"/>
                </a:solidFill>
                <a:latin typeface="RopaSoftPro-Regular"/>
              </a:rPr>
              <a:t>Faculty</a:t>
            </a:r>
            <a:r>
              <a:rPr lang="en-US" sz="1796" b="1">
                <a:solidFill>
                  <a:srgbClr val="FFFFFF"/>
                </a:solidFill>
                <a:latin typeface="RopaSoftPro-Regular"/>
              </a:rPr>
              <a:t> of Computing and Informatics</a:t>
            </a:r>
            <a:endParaRPr lang="en-US" sz="1796" b="1" i="0" u="none" strike="noStrike" baseline="0">
              <a:solidFill>
                <a:srgbClr val="FFFFFF"/>
              </a:solidFill>
              <a:latin typeface="RopaSoftPro-Regular"/>
            </a:endParaRPr>
          </a:p>
        </p:txBody>
      </p:sp>
      <p:pic>
        <p:nvPicPr>
          <p:cNvPr id="9" name="Picture 8"/>
          <p:cNvPicPr>
            <a:picLocks noChangeAspect="1"/>
          </p:cNvPicPr>
          <p:nvPr/>
        </p:nvPicPr>
        <p:blipFill>
          <a:blip r:embed="rId3"/>
          <a:stretch>
            <a:fillRect/>
          </a:stretch>
        </p:blipFill>
        <p:spPr>
          <a:xfrm>
            <a:off x="8615736" y="3857374"/>
            <a:ext cx="2144373" cy="2634841"/>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14FCA-162C-4A50-9F7F-F456DFA723A3}"/>
              </a:ext>
            </a:extLst>
          </p:cNvPr>
          <p:cNvSpPr>
            <a:spLocks noGrp="1"/>
          </p:cNvSpPr>
          <p:nvPr>
            <p:ph type="title"/>
          </p:nvPr>
        </p:nvSpPr>
        <p:spPr/>
        <p:txBody>
          <a:bodyPr/>
          <a:lstStyle/>
          <a:p>
            <a:r>
              <a:rPr lang="en-US" dirty="0"/>
              <a:t>Recap </a:t>
            </a:r>
            <a:endParaRPr lang="en-GB" dirty="0"/>
          </a:p>
        </p:txBody>
      </p:sp>
      <p:pic>
        <p:nvPicPr>
          <p:cNvPr id="5" name="Content Placeholder 4">
            <a:extLst>
              <a:ext uri="{FF2B5EF4-FFF2-40B4-BE49-F238E27FC236}">
                <a16:creationId xmlns:a16="http://schemas.microsoft.com/office/drawing/2014/main" id="{7B4FF536-1558-4D8D-9480-A8AF3C6B6B6F}"/>
              </a:ext>
            </a:extLst>
          </p:cNvPr>
          <p:cNvPicPr>
            <a:picLocks noGrp="1" noChangeAspect="1"/>
          </p:cNvPicPr>
          <p:nvPr>
            <p:ph sz="half" idx="1"/>
          </p:nvPr>
        </p:nvPicPr>
        <p:blipFill rotWithShape="1">
          <a:blip r:embed="rId2"/>
          <a:srcRect r="352" b="-1"/>
          <a:stretch/>
        </p:blipFill>
        <p:spPr>
          <a:xfrm>
            <a:off x="837346" y="2560320"/>
            <a:ext cx="5066304" cy="3449863"/>
          </a:xfrm>
          <a:prstGeom prst="rect">
            <a:avLst/>
          </a:prstGeom>
        </p:spPr>
      </p:pic>
      <p:pic>
        <p:nvPicPr>
          <p:cNvPr id="6" name="Content Placeholder 4">
            <a:extLst>
              <a:ext uri="{FF2B5EF4-FFF2-40B4-BE49-F238E27FC236}">
                <a16:creationId xmlns:a16="http://schemas.microsoft.com/office/drawing/2014/main" id="{3D3DCDDA-EBA8-425F-AC7F-60AF27670033}"/>
              </a:ext>
            </a:extLst>
          </p:cNvPr>
          <p:cNvPicPr>
            <a:picLocks noGrp="1" noChangeAspect="1"/>
          </p:cNvPicPr>
          <p:nvPr>
            <p:ph sz="half" idx="2"/>
          </p:nvPr>
        </p:nvPicPr>
        <p:blipFill rotWithShape="1">
          <a:blip r:embed="rId3"/>
          <a:stretch/>
        </p:blipFill>
        <p:spPr>
          <a:xfrm>
            <a:off x="6271419" y="3130550"/>
            <a:ext cx="4191000" cy="2333625"/>
          </a:xfrm>
          <a:prstGeom prst="rect">
            <a:avLst/>
          </a:prstGeom>
        </p:spPr>
      </p:pic>
      <p:sp>
        <p:nvSpPr>
          <p:cNvPr id="3" name="Slide Number Placeholder 2">
            <a:extLst>
              <a:ext uri="{FF2B5EF4-FFF2-40B4-BE49-F238E27FC236}">
                <a16:creationId xmlns:a16="http://schemas.microsoft.com/office/drawing/2014/main" id="{81434E5B-EF77-A8CC-F577-5CBD4179DE25}"/>
              </a:ext>
            </a:extLst>
          </p:cNvPr>
          <p:cNvSpPr>
            <a:spLocks noGrp="1"/>
          </p:cNvSpPr>
          <p:nvPr>
            <p:ph type="sldNum" sz="quarter" idx="12"/>
          </p:nvPr>
        </p:nvSpPr>
        <p:spPr/>
        <p:txBody>
          <a:bodyPr/>
          <a:lstStyle/>
          <a:p>
            <a:fld id="{0D75743D-FFBA-49B6-8C74-0691B41B7954}" type="slidenum">
              <a:rPr lang="en-GB" smtClean="0"/>
              <a:t>2</a:t>
            </a:fld>
            <a:endParaRPr lang="en-GB"/>
          </a:p>
        </p:txBody>
      </p:sp>
    </p:spTree>
    <p:extLst>
      <p:ext uri="{BB962C8B-B14F-4D97-AF65-F5344CB8AC3E}">
        <p14:creationId xmlns:p14="http://schemas.microsoft.com/office/powerpoint/2010/main" val="1311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F71A0-A9A6-4FFB-9069-5F72D3128B96}"/>
              </a:ext>
            </a:extLst>
          </p:cNvPr>
          <p:cNvSpPr>
            <a:spLocks noGrp="1"/>
          </p:cNvSpPr>
          <p:nvPr>
            <p:ph type="title"/>
          </p:nvPr>
        </p:nvSpPr>
        <p:spPr/>
        <p:txBody>
          <a:bodyPr/>
          <a:lstStyle/>
          <a:p>
            <a:r>
              <a:rPr lang="en-US" dirty="0"/>
              <a:t>Recap </a:t>
            </a:r>
            <a:endParaRPr lang="en-GB" dirty="0"/>
          </a:p>
        </p:txBody>
      </p:sp>
      <p:sp>
        <p:nvSpPr>
          <p:cNvPr id="3" name="Content Placeholder 2">
            <a:extLst>
              <a:ext uri="{FF2B5EF4-FFF2-40B4-BE49-F238E27FC236}">
                <a16:creationId xmlns:a16="http://schemas.microsoft.com/office/drawing/2014/main" id="{994B7588-1ED4-4D74-B766-75FA79BE2D51}"/>
              </a:ext>
            </a:extLst>
          </p:cNvPr>
          <p:cNvSpPr>
            <a:spLocks noGrp="1"/>
          </p:cNvSpPr>
          <p:nvPr>
            <p:ph idx="1"/>
          </p:nvPr>
        </p:nvSpPr>
        <p:spPr>
          <a:xfrm>
            <a:off x="1422401" y="2650066"/>
            <a:ext cx="9601196" cy="3318936"/>
          </a:xfrm>
        </p:spPr>
        <p:txBody>
          <a:bodyPr/>
          <a:lstStyle/>
          <a:p>
            <a:pPr marL="0" indent="0">
              <a:buNone/>
            </a:pPr>
            <a:r>
              <a:rPr lang="en-US" dirty="0">
                <a:latin typeface="Times New Roman" panose="02020603050405020304" pitchFamily="18" charset="0"/>
                <a:cs typeface="Times New Roman" panose="02020603050405020304" pitchFamily="18" charset="0"/>
              </a:rPr>
              <a:t>In the previous lesson we discussed:</a:t>
            </a:r>
          </a:p>
          <a:p>
            <a:r>
              <a:rPr lang="en-US" dirty="0">
                <a:latin typeface="Times New Roman" panose="02020603050405020304" pitchFamily="18" charset="0"/>
                <a:cs typeface="Times New Roman" panose="02020603050405020304" pitchFamily="18" charset="0"/>
              </a:rPr>
              <a:t>History of database approach</a:t>
            </a:r>
          </a:p>
          <a:p>
            <a:r>
              <a:rPr lang="en-US" dirty="0">
                <a:latin typeface="Times New Roman" panose="02020603050405020304" pitchFamily="18" charset="0"/>
                <a:cs typeface="Times New Roman" panose="02020603050405020304" pitchFamily="18" charset="0"/>
              </a:rPr>
              <a:t>Characteristics of database approach</a:t>
            </a:r>
          </a:p>
          <a:p>
            <a:r>
              <a:rPr lang="en-US" dirty="0">
                <a:latin typeface="Times New Roman" panose="02020603050405020304" pitchFamily="18" charset="0"/>
                <a:cs typeface="Times New Roman" panose="02020603050405020304" pitchFamily="18" charset="0"/>
              </a:rPr>
              <a:t>Database Management System</a:t>
            </a:r>
          </a:p>
          <a:p>
            <a:pPr marL="0" indent="0">
              <a:buNone/>
            </a:pPr>
            <a:endParaRPr lang="en-US" dirty="0"/>
          </a:p>
          <a:p>
            <a:endParaRPr lang="en-GB" dirty="0"/>
          </a:p>
        </p:txBody>
      </p:sp>
      <p:sp>
        <p:nvSpPr>
          <p:cNvPr id="4" name="Slide Number Placeholder 3">
            <a:extLst>
              <a:ext uri="{FF2B5EF4-FFF2-40B4-BE49-F238E27FC236}">
                <a16:creationId xmlns:a16="http://schemas.microsoft.com/office/drawing/2014/main" id="{D2931E9C-CB16-2A1B-D6E9-ACE199EDA8D6}"/>
              </a:ext>
            </a:extLst>
          </p:cNvPr>
          <p:cNvSpPr>
            <a:spLocks noGrp="1"/>
          </p:cNvSpPr>
          <p:nvPr>
            <p:ph type="sldNum" sz="quarter" idx="12"/>
          </p:nvPr>
        </p:nvSpPr>
        <p:spPr/>
        <p:txBody>
          <a:bodyPr/>
          <a:lstStyle/>
          <a:p>
            <a:fld id="{0D75743D-FFBA-49B6-8C74-0691B41B7954}" type="slidenum">
              <a:rPr lang="en-GB" smtClean="0"/>
              <a:t>3</a:t>
            </a:fld>
            <a:endParaRPr lang="en-GB"/>
          </a:p>
        </p:txBody>
      </p:sp>
    </p:spTree>
    <p:extLst>
      <p:ext uri="{BB962C8B-B14F-4D97-AF65-F5344CB8AC3E}">
        <p14:creationId xmlns:p14="http://schemas.microsoft.com/office/powerpoint/2010/main" val="2050538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A82C7-67DB-4E09-AC82-FE04E998DB0D}"/>
              </a:ext>
            </a:extLst>
          </p:cNvPr>
          <p:cNvSpPr>
            <a:spLocks noGrp="1"/>
          </p:cNvSpPr>
          <p:nvPr>
            <p:ph type="title"/>
          </p:nvPr>
        </p:nvSpPr>
        <p:spPr/>
        <p:txBody>
          <a:bodyPr/>
          <a:lstStyle/>
          <a:p>
            <a:r>
              <a:rPr lang="en-US" dirty="0"/>
              <a:t>Objectives </a:t>
            </a:r>
            <a:endParaRPr lang="en-GB" dirty="0"/>
          </a:p>
        </p:txBody>
      </p:sp>
      <p:sp>
        <p:nvSpPr>
          <p:cNvPr id="3" name="Content Placeholder 2">
            <a:extLst>
              <a:ext uri="{FF2B5EF4-FFF2-40B4-BE49-F238E27FC236}">
                <a16:creationId xmlns:a16="http://schemas.microsoft.com/office/drawing/2014/main" id="{60A7BF23-6FAD-4357-B887-95D466CFD61A}"/>
              </a:ext>
            </a:extLst>
          </p:cNvPr>
          <p:cNvSpPr>
            <a:spLocks noGrp="1"/>
          </p:cNvSpPr>
          <p:nvPr>
            <p:ph idx="1"/>
          </p:nvPr>
        </p:nvSpPr>
        <p:spPr>
          <a:xfrm>
            <a:off x="1176867" y="2556932"/>
            <a:ext cx="9601196" cy="3318936"/>
          </a:xfrm>
        </p:spPr>
        <p:txBody>
          <a:bodyPr/>
          <a:lstStyle/>
          <a:p>
            <a:pPr marL="0" indent="0">
              <a:buFont typeface="Arial"/>
              <a:buNone/>
            </a:pPr>
            <a:r>
              <a:rPr lang="en-US" dirty="0">
                <a:latin typeface="Times New Roman" panose="02020603050405020304" pitchFamily="18" charset="0"/>
                <a:cs typeface="Times New Roman" panose="02020603050405020304" pitchFamily="18" charset="0"/>
              </a:rPr>
              <a:t>At the end of this lesson, students should be able to</a:t>
            </a:r>
          </a:p>
          <a:p>
            <a:r>
              <a:rPr lang="en-US" dirty="0">
                <a:latin typeface="Times New Roman" panose="02020603050405020304" pitchFamily="18" charset="0"/>
                <a:cs typeface="Times New Roman" panose="02020603050405020304" pitchFamily="18" charset="0"/>
              </a:rPr>
              <a:t>Client server architecture </a:t>
            </a:r>
          </a:p>
          <a:p>
            <a:r>
              <a:rPr lang="en-US" dirty="0">
                <a:latin typeface="Times New Roman" panose="02020603050405020304" pitchFamily="18" charset="0"/>
                <a:cs typeface="Times New Roman" panose="02020603050405020304" pitchFamily="18" charset="0"/>
              </a:rPr>
              <a:t>Types of database systems</a:t>
            </a:r>
          </a:p>
          <a:p>
            <a:r>
              <a:rPr lang="en-US" dirty="0">
                <a:latin typeface="Times New Roman" panose="02020603050405020304" pitchFamily="18" charset="0"/>
                <a:cs typeface="Times New Roman" panose="02020603050405020304" pitchFamily="18" charset="0"/>
              </a:rPr>
              <a:t>Database system concepts </a:t>
            </a:r>
          </a:p>
          <a:p>
            <a:endParaRPr lang="en-GB" dirty="0"/>
          </a:p>
        </p:txBody>
      </p:sp>
      <p:sp>
        <p:nvSpPr>
          <p:cNvPr id="4" name="Slide Number Placeholder 3">
            <a:extLst>
              <a:ext uri="{FF2B5EF4-FFF2-40B4-BE49-F238E27FC236}">
                <a16:creationId xmlns:a16="http://schemas.microsoft.com/office/drawing/2014/main" id="{CEF11185-E084-1E2B-7E47-574E5B6626EC}"/>
              </a:ext>
            </a:extLst>
          </p:cNvPr>
          <p:cNvSpPr>
            <a:spLocks noGrp="1"/>
          </p:cNvSpPr>
          <p:nvPr>
            <p:ph type="sldNum" sz="quarter" idx="12"/>
          </p:nvPr>
        </p:nvSpPr>
        <p:spPr/>
        <p:txBody>
          <a:bodyPr/>
          <a:lstStyle/>
          <a:p>
            <a:fld id="{0D75743D-FFBA-49B6-8C74-0691B41B7954}" type="slidenum">
              <a:rPr lang="en-GB" smtClean="0"/>
              <a:t>4</a:t>
            </a:fld>
            <a:endParaRPr lang="en-GB"/>
          </a:p>
        </p:txBody>
      </p:sp>
    </p:spTree>
    <p:extLst>
      <p:ext uri="{BB962C8B-B14F-4D97-AF65-F5344CB8AC3E}">
        <p14:creationId xmlns:p14="http://schemas.microsoft.com/office/powerpoint/2010/main" val="3905962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79566-8245-4CC4-B71E-C0C52D15432E}"/>
              </a:ext>
            </a:extLst>
          </p:cNvPr>
          <p:cNvSpPr>
            <a:spLocks noGrp="1"/>
          </p:cNvSpPr>
          <p:nvPr>
            <p:ph type="title"/>
          </p:nvPr>
        </p:nvSpPr>
        <p:spPr/>
        <p:txBody>
          <a:bodyPr/>
          <a:lstStyle/>
          <a:p>
            <a:r>
              <a:rPr lang="en-US" dirty="0"/>
              <a:t>DBMS architecture </a:t>
            </a:r>
            <a:endParaRPr lang="en-GB" dirty="0"/>
          </a:p>
        </p:txBody>
      </p:sp>
      <p:sp>
        <p:nvSpPr>
          <p:cNvPr id="3" name="Content Placeholder 2">
            <a:extLst>
              <a:ext uri="{FF2B5EF4-FFF2-40B4-BE49-F238E27FC236}">
                <a16:creationId xmlns:a16="http://schemas.microsoft.com/office/drawing/2014/main" id="{08E52A19-2641-4BCF-9AE1-B1920E1F39D7}"/>
              </a:ext>
            </a:extLst>
          </p:cNvPr>
          <p:cNvSpPr>
            <a:spLocks noGrp="1"/>
          </p:cNvSpPr>
          <p:nvPr>
            <p:ph idx="1"/>
          </p:nvPr>
        </p:nvSpPr>
        <p:spPr/>
        <p:txBody>
          <a:bodyPr/>
          <a:lstStyle/>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Database applications are usually partitioned into two or three parts. </a:t>
            </a: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They are:</a:t>
            </a:r>
          </a:p>
          <a:p>
            <a:pPr marL="742950" lvl="1" indent="-285750" algn="l">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Two – Tier Architecture.</a:t>
            </a:r>
          </a:p>
          <a:p>
            <a:pPr marL="742950" lvl="1" indent="-285750" algn="l">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Three – Tier Architecture.</a:t>
            </a:r>
          </a:p>
          <a:p>
            <a:endParaRPr lang="en-GB" dirty="0"/>
          </a:p>
        </p:txBody>
      </p:sp>
      <p:sp>
        <p:nvSpPr>
          <p:cNvPr id="4" name="Slide Number Placeholder 3">
            <a:extLst>
              <a:ext uri="{FF2B5EF4-FFF2-40B4-BE49-F238E27FC236}">
                <a16:creationId xmlns:a16="http://schemas.microsoft.com/office/drawing/2014/main" id="{71182570-698C-5998-2E35-61469992634C}"/>
              </a:ext>
            </a:extLst>
          </p:cNvPr>
          <p:cNvSpPr>
            <a:spLocks noGrp="1"/>
          </p:cNvSpPr>
          <p:nvPr>
            <p:ph type="sldNum" sz="quarter" idx="12"/>
          </p:nvPr>
        </p:nvSpPr>
        <p:spPr/>
        <p:txBody>
          <a:bodyPr/>
          <a:lstStyle/>
          <a:p>
            <a:fld id="{0D75743D-FFBA-49B6-8C74-0691B41B7954}" type="slidenum">
              <a:rPr lang="en-GB" smtClean="0"/>
              <a:t>5</a:t>
            </a:fld>
            <a:endParaRPr lang="en-GB"/>
          </a:p>
        </p:txBody>
      </p:sp>
    </p:spTree>
    <p:extLst>
      <p:ext uri="{BB962C8B-B14F-4D97-AF65-F5344CB8AC3E}">
        <p14:creationId xmlns:p14="http://schemas.microsoft.com/office/powerpoint/2010/main" val="3049630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0FA0-67E9-42B8-9AF1-495A05002B46}"/>
              </a:ext>
            </a:extLst>
          </p:cNvPr>
          <p:cNvSpPr>
            <a:spLocks noGrp="1"/>
          </p:cNvSpPr>
          <p:nvPr>
            <p:ph type="title"/>
          </p:nvPr>
        </p:nvSpPr>
        <p:spPr/>
        <p:txBody>
          <a:bodyPr/>
          <a:lstStyle/>
          <a:p>
            <a:r>
              <a:rPr lang="en-US" dirty="0"/>
              <a:t>DBMS architecture </a:t>
            </a:r>
            <a:endParaRPr lang="en-GB" dirty="0"/>
          </a:p>
        </p:txBody>
      </p:sp>
      <p:sp>
        <p:nvSpPr>
          <p:cNvPr id="3" name="Text Placeholder 2">
            <a:extLst>
              <a:ext uri="{FF2B5EF4-FFF2-40B4-BE49-F238E27FC236}">
                <a16:creationId xmlns:a16="http://schemas.microsoft.com/office/drawing/2014/main" id="{91DA14B1-5630-452D-9DEC-6D301E96E0E9}"/>
              </a:ext>
            </a:extLst>
          </p:cNvPr>
          <p:cNvSpPr>
            <a:spLocks noGrp="1"/>
          </p:cNvSpPr>
          <p:nvPr>
            <p:ph type="body" idx="1"/>
          </p:nvPr>
        </p:nvSpPr>
        <p:spPr>
          <a:xfrm>
            <a:off x="1295402" y="2475653"/>
            <a:ext cx="4718304" cy="576262"/>
          </a:xfrm>
        </p:spPr>
        <p:txBody>
          <a:bodyPr/>
          <a:lstStyle/>
          <a:p>
            <a:r>
              <a:rPr lang="en-US" dirty="0"/>
              <a:t>Two-tier architecture</a:t>
            </a:r>
            <a:endParaRPr lang="en-GB" dirty="0"/>
          </a:p>
        </p:txBody>
      </p:sp>
      <p:pic>
        <p:nvPicPr>
          <p:cNvPr id="8" name="Content Placeholder 7">
            <a:extLst>
              <a:ext uri="{FF2B5EF4-FFF2-40B4-BE49-F238E27FC236}">
                <a16:creationId xmlns:a16="http://schemas.microsoft.com/office/drawing/2014/main" id="{C91A75CB-CE2C-4599-AE55-8B0A20C13CC4}"/>
              </a:ext>
            </a:extLst>
          </p:cNvPr>
          <p:cNvPicPr>
            <a:picLocks noGrp="1" noChangeAspect="1"/>
          </p:cNvPicPr>
          <p:nvPr>
            <p:ph sz="half" idx="2"/>
          </p:nvPr>
        </p:nvPicPr>
        <p:blipFill>
          <a:blip r:embed="rId2"/>
          <a:stretch>
            <a:fillRect/>
          </a:stretch>
        </p:blipFill>
        <p:spPr>
          <a:xfrm>
            <a:off x="1036320" y="3236617"/>
            <a:ext cx="4222269" cy="2638721"/>
          </a:xfrm>
        </p:spPr>
      </p:pic>
      <p:sp>
        <p:nvSpPr>
          <p:cNvPr id="5" name="Text Placeholder 4">
            <a:extLst>
              <a:ext uri="{FF2B5EF4-FFF2-40B4-BE49-F238E27FC236}">
                <a16:creationId xmlns:a16="http://schemas.microsoft.com/office/drawing/2014/main" id="{9E2CA5B4-6AC0-41A0-8D22-D42A055853C4}"/>
              </a:ext>
            </a:extLst>
          </p:cNvPr>
          <p:cNvSpPr>
            <a:spLocks noGrp="1"/>
          </p:cNvSpPr>
          <p:nvPr>
            <p:ph type="body" sz="quarter" idx="3"/>
          </p:nvPr>
        </p:nvSpPr>
        <p:spPr>
          <a:xfrm>
            <a:off x="6178294" y="2475653"/>
            <a:ext cx="4718304" cy="576262"/>
          </a:xfrm>
        </p:spPr>
        <p:txBody>
          <a:bodyPr/>
          <a:lstStyle/>
          <a:p>
            <a:r>
              <a:rPr lang="en-US" dirty="0"/>
              <a:t>Three-tier architecture</a:t>
            </a:r>
            <a:endParaRPr lang="en-GB" dirty="0"/>
          </a:p>
        </p:txBody>
      </p:sp>
      <p:pic>
        <p:nvPicPr>
          <p:cNvPr id="10" name="Content Placeholder 9">
            <a:extLst>
              <a:ext uri="{FF2B5EF4-FFF2-40B4-BE49-F238E27FC236}">
                <a16:creationId xmlns:a16="http://schemas.microsoft.com/office/drawing/2014/main" id="{D3EA52C6-641F-4FF7-85EC-9883358B8234}"/>
              </a:ext>
            </a:extLst>
          </p:cNvPr>
          <p:cNvPicPr>
            <a:picLocks noGrp="1" noChangeAspect="1"/>
          </p:cNvPicPr>
          <p:nvPr>
            <p:ph sz="quarter" idx="4"/>
          </p:nvPr>
        </p:nvPicPr>
        <p:blipFill>
          <a:blip r:embed="rId3"/>
          <a:stretch>
            <a:fillRect/>
          </a:stretch>
        </p:blipFill>
        <p:spPr>
          <a:xfrm>
            <a:off x="6284974" y="3236617"/>
            <a:ext cx="3663772" cy="2632075"/>
          </a:xfrm>
        </p:spPr>
      </p:pic>
      <p:sp>
        <p:nvSpPr>
          <p:cNvPr id="4" name="Slide Number Placeholder 3">
            <a:extLst>
              <a:ext uri="{FF2B5EF4-FFF2-40B4-BE49-F238E27FC236}">
                <a16:creationId xmlns:a16="http://schemas.microsoft.com/office/drawing/2014/main" id="{4BA0948B-56BB-097D-74F0-F0A1F3298452}"/>
              </a:ext>
            </a:extLst>
          </p:cNvPr>
          <p:cNvSpPr>
            <a:spLocks noGrp="1"/>
          </p:cNvSpPr>
          <p:nvPr>
            <p:ph type="sldNum" sz="quarter" idx="12"/>
          </p:nvPr>
        </p:nvSpPr>
        <p:spPr/>
        <p:txBody>
          <a:bodyPr/>
          <a:lstStyle/>
          <a:p>
            <a:fld id="{0D75743D-FFBA-49B6-8C74-0691B41B7954}" type="slidenum">
              <a:rPr lang="en-GB" smtClean="0"/>
              <a:t>6</a:t>
            </a:fld>
            <a:endParaRPr lang="en-GB"/>
          </a:p>
        </p:txBody>
      </p:sp>
    </p:spTree>
    <p:extLst>
      <p:ext uri="{BB962C8B-B14F-4D97-AF65-F5344CB8AC3E}">
        <p14:creationId xmlns:p14="http://schemas.microsoft.com/office/powerpoint/2010/main" val="2501368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4B380-D447-4E69-A73E-B068DB9D6044}"/>
              </a:ext>
            </a:extLst>
          </p:cNvPr>
          <p:cNvSpPr>
            <a:spLocks noGrp="1"/>
          </p:cNvSpPr>
          <p:nvPr>
            <p:ph type="title"/>
          </p:nvPr>
        </p:nvSpPr>
        <p:spPr/>
        <p:txBody>
          <a:bodyPr/>
          <a:lstStyle/>
          <a:p>
            <a:r>
              <a:rPr lang="en-US" dirty="0"/>
              <a:t>Two-tier </a:t>
            </a:r>
            <a:endParaRPr lang="en-GB" dirty="0"/>
          </a:p>
        </p:txBody>
      </p:sp>
      <p:sp>
        <p:nvSpPr>
          <p:cNvPr id="3" name="Content Placeholder 2">
            <a:extLst>
              <a:ext uri="{FF2B5EF4-FFF2-40B4-BE49-F238E27FC236}">
                <a16:creationId xmlns:a16="http://schemas.microsoft.com/office/drawing/2014/main" id="{B4018AB0-FEAD-424C-A444-9EDE11817107}"/>
              </a:ext>
            </a:extLst>
          </p:cNvPr>
          <p:cNvSpPr>
            <a:spLocks noGrp="1"/>
          </p:cNvSpPr>
          <p:nvPr>
            <p:ph idx="1"/>
          </p:nvPr>
        </p:nvSpPr>
        <p:spPr/>
        <p:txBody>
          <a:bodyPr/>
          <a:lstStyle/>
          <a:p>
            <a:pPr>
              <a:buFont typeface="Arial" panose="020B0604020202020204" pitchFamily="34" charset="0"/>
              <a:buChar char="•"/>
            </a:pPr>
            <a:r>
              <a:rPr lang="en-US" dirty="0">
                <a:solidFill>
                  <a:srgbClr val="333333"/>
                </a:solidFill>
                <a:latin typeface="Times New Roman" panose="02020603050405020304" pitchFamily="18" charset="0"/>
                <a:cs typeface="Times New Roman" panose="02020603050405020304" pitchFamily="18" charset="0"/>
              </a:rPr>
              <a:t>The application is partitioned into a component that resides at the client machine, which invokes database system functionality at the server machine through query language statements.</a:t>
            </a:r>
          </a:p>
          <a:p>
            <a:pPr>
              <a:buFont typeface="Arial" panose="020B0604020202020204" pitchFamily="34" charset="0"/>
              <a:buChar char="•"/>
            </a:pPr>
            <a:r>
              <a:rPr lang="en-US" dirty="0">
                <a:solidFill>
                  <a:srgbClr val="333333"/>
                </a:solidFill>
                <a:latin typeface="Times New Roman" panose="02020603050405020304" pitchFamily="18" charset="0"/>
                <a:cs typeface="Times New Roman" panose="02020603050405020304" pitchFamily="18" charset="0"/>
              </a:rPr>
              <a:t>The architectures described here are called two-tier architectures because the software components are distributed over two systems: client and server.</a:t>
            </a:r>
          </a:p>
          <a:p>
            <a:endParaRPr lang="en-GB" dirty="0"/>
          </a:p>
        </p:txBody>
      </p:sp>
      <p:sp>
        <p:nvSpPr>
          <p:cNvPr id="4" name="Slide Number Placeholder 3">
            <a:extLst>
              <a:ext uri="{FF2B5EF4-FFF2-40B4-BE49-F238E27FC236}">
                <a16:creationId xmlns:a16="http://schemas.microsoft.com/office/drawing/2014/main" id="{25188E64-1359-87D1-05B7-42D92368B2F6}"/>
              </a:ext>
            </a:extLst>
          </p:cNvPr>
          <p:cNvSpPr>
            <a:spLocks noGrp="1"/>
          </p:cNvSpPr>
          <p:nvPr>
            <p:ph type="sldNum" sz="quarter" idx="12"/>
          </p:nvPr>
        </p:nvSpPr>
        <p:spPr/>
        <p:txBody>
          <a:bodyPr/>
          <a:lstStyle/>
          <a:p>
            <a:fld id="{0D75743D-FFBA-49B6-8C74-0691B41B7954}" type="slidenum">
              <a:rPr lang="en-GB" smtClean="0"/>
              <a:t>7</a:t>
            </a:fld>
            <a:endParaRPr lang="en-GB"/>
          </a:p>
        </p:txBody>
      </p:sp>
    </p:spTree>
    <p:extLst>
      <p:ext uri="{BB962C8B-B14F-4D97-AF65-F5344CB8AC3E}">
        <p14:creationId xmlns:p14="http://schemas.microsoft.com/office/powerpoint/2010/main" val="641983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487ED-B20D-4F4A-85C7-E16E531809BA}"/>
              </a:ext>
            </a:extLst>
          </p:cNvPr>
          <p:cNvSpPr>
            <a:spLocks noGrp="1"/>
          </p:cNvSpPr>
          <p:nvPr>
            <p:ph type="title"/>
          </p:nvPr>
        </p:nvSpPr>
        <p:spPr/>
        <p:txBody>
          <a:bodyPr/>
          <a:lstStyle/>
          <a:p>
            <a:r>
              <a:rPr lang="en-US" dirty="0"/>
              <a:t>Two-tier </a:t>
            </a:r>
            <a:endParaRPr lang="en-GB" dirty="0"/>
          </a:p>
        </p:txBody>
      </p:sp>
      <p:sp>
        <p:nvSpPr>
          <p:cNvPr id="3" name="Content Placeholder 2">
            <a:extLst>
              <a:ext uri="{FF2B5EF4-FFF2-40B4-BE49-F238E27FC236}">
                <a16:creationId xmlns:a16="http://schemas.microsoft.com/office/drawing/2014/main" id="{5A972360-012B-49DD-9021-E5B0FFFC7E2E}"/>
              </a:ext>
            </a:extLst>
          </p:cNvPr>
          <p:cNvSpPr>
            <a:spLocks noGrp="1"/>
          </p:cNvSpPr>
          <p:nvPr>
            <p:ph idx="1"/>
          </p:nvPr>
        </p:nvSpPr>
        <p:spPr/>
        <p:txBody>
          <a:bodyPr/>
          <a:lstStyle/>
          <a:p>
            <a:pPr>
              <a:buFont typeface="Arial" panose="020B0604020202020204" pitchFamily="34" charset="0"/>
              <a:buChar char="•"/>
            </a:pPr>
            <a:r>
              <a:rPr lang="en-US" sz="2800" dirty="0">
                <a:solidFill>
                  <a:srgbClr val="333333"/>
                </a:solidFill>
                <a:latin typeface="Times New Roman" panose="02020603050405020304" pitchFamily="18" charset="0"/>
                <a:cs typeface="Times New Roman" panose="02020603050405020304" pitchFamily="18" charset="0"/>
              </a:rPr>
              <a:t>The advantages of this architecture are its simplicity and seamless compatibility with existing systems.</a:t>
            </a:r>
          </a:p>
          <a:p>
            <a:pPr marL="0" indent="0">
              <a:buNone/>
            </a:pPr>
            <a:r>
              <a:rPr lang="en-US" sz="2800" b="1" dirty="0">
                <a:solidFill>
                  <a:srgbClr val="333333"/>
                </a:solidFill>
                <a:latin typeface="Times New Roman" panose="02020603050405020304" pitchFamily="18" charset="0"/>
                <a:cs typeface="Times New Roman" panose="02020603050405020304" pitchFamily="18" charset="0"/>
              </a:rPr>
              <a:t>Homework</a:t>
            </a:r>
          </a:p>
          <a:p>
            <a:pPr>
              <a:buFont typeface="Arial" panose="020B0604020202020204" pitchFamily="34" charset="0"/>
              <a:buChar char="•"/>
            </a:pPr>
            <a:r>
              <a:rPr lang="en-US" sz="2800" dirty="0">
                <a:solidFill>
                  <a:srgbClr val="333333"/>
                </a:solidFill>
                <a:latin typeface="Times New Roman" panose="02020603050405020304" pitchFamily="18" charset="0"/>
                <a:cs typeface="Times New Roman" panose="02020603050405020304" pitchFamily="18" charset="0"/>
              </a:rPr>
              <a:t>What other advantages can you identify for this architecture?</a:t>
            </a:r>
          </a:p>
          <a:p>
            <a:endParaRPr lang="en-GB" dirty="0"/>
          </a:p>
        </p:txBody>
      </p:sp>
      <p:sp>
        <p:nvSpPr>
          <p:cNvPr id="4" name="Slide Number Placeholder 3">
            <a:extLst>
              <a:ext uri="{FF2B5EF4-FFF2-40B4-BE49-F238E27FC236}">
                <a16:creationId xmlns:a16="http://schemas.microsoft.com/office/drawing/2014/main" id="{200A5105-1E6D-FDC8-A189-D7BF257DA02B}"/>
              </a:ext>
            </a:extLst>
          </p:cNvPr>
          <p:cNvSpPr>
            <a:spLocks noGrp="1"/>
          </p:cNvSpPr>
          <p:nvPr>
            <p:ph type="sldNum" sz="quarter" idx="12"/>
          </p:nvPr>
        </p:nvSpPr>
        <p:spPr/>
        <p:txBody>
          <a:bodyPr/>
          <a:lstStyle/>
          <a:p>
            <a:fld id="{0D75743D-FFBA-49B6-8C74-0691B41B7954}" type="slidenum">
              <a:rPr lang="en-GB" smtClean="0"/>
              <a:t>8</a:t>
            </a:fld>
            <a:endParaRPr lang="en-GB"/>
          </a:p>
        </p:txBody>
      </p:sp>
    </p:spTree>
    <p:extLst>
      <p:ext uri="{BB962C8B-B14F-4D97-AF65-F5344CB8AC3E}">
        <p14:creationId xmlns:p14="http://schemas.microsoft.com/office/powerpoint/2010/main" val="3846355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74C5-1CC0-4BF5-9864-492DA397CD82}"/>
              </a:ext>
            </a:extLst>
          </p:cNvPr>
          <p:cNvSpPr>
            <a:spLocks noGrp="1"/>
          </p:cNvSpPr>
          <p:nvPr>
            <p:ph type="title"/>
          </p:nvPr>
        </p:nvSpPr>
        <p:spPr/>
        <p:txBody>
          <a:bodyPr/>
          <a:lstStyle/>
          <a:p>
            <a:r>
              <a:rPr lang="en-US" dirty="0"/>
              <a:t>Three-tier </a:t>
            </a:r>
            <a:endParaRPr lang="en-GB" dirty="0"/>
          </a:p>
        </p:txBody>
      </p:sp>
      <p:sp>
        <p:nvSpPr>
          <p:cNvPr id="3" name="Content Placeholder 2">
            <a:extLst>
              <a:ext uri="{FF2B5EF4-FFF2-40B4-BE49-F238E27FC236}">
                <a16:creationId xmlns:a16="http://schemas.microsoft.com/office/drawing/2014/main" id="{C795419A-1672-4C2A-9BF0-30108FB9D599}"/>
              </a:ext>
            </a:extLst>
          </p:cNvPr>
          <p:cNvSpPr>
            <a:spLocks noGrp="1"/>
          </p:cNvSpPr>
          <p:nvPr>
            <p:ph idx="1"/>
          </p:nvPr>
        </p:nvSpPr>
        <p:spPr/>
        <p:txBody>
          <a:bodyPr>
            <a:normAutofit/>
          </a:bodyPr>
          <a:lstStyle/>
          <a:p>
            <a:pPr>
              <a:buFont typeface="Arial" panose="020B0604020202020204" pitchFamily="34" charset="0"/>
              <a:buChar char="•"/>
            </a:pPr>
            <a:r>
              <a:rPr lang="en-US" sz="2600" dirty="0">
                <a:solidFill>
                  <a:srgbClr val="333333"/>
                </a:solidFill>
                <a:latin typeface="Times New Roman" panose="02020603050405020304" pitchFamily="18" charset="0"/>
                <a:cs typeface="Times New Roman" panose="02020603050405020304" pitchFamily="18" charset="0"/>
              </a:rPr>
              <a:t>adds an intermediate layer between the client and the database server, </a:t>
            </a:r>
          </a:p>
          <a:p>
            <a:pPr>
              <a:buFont typeface="Arial" panose="020B0604020202020204" pitchFamily="34" charset="0"/>
              <a:buChar char="•"/>
            </a:pPr>
            <a:r>
              <a:rPr lang="en-US" sz="2600" dirty="0">
                <a:solidFill>
                  <a:srgbClr val="333333"/>
                </a:solidFill>
                <a:latin typeface="Times New Roman" panose="02020603050405020304" pitchFamily="18" charset="0"/>
                <a:cs typeface="Times New Roman" panose="02020603050405020304" pitchFamily="18" charset="0"/>
              </a:rPr>
              <a:t>The client machine acts as merely a front end and does not contain any direct database calls. </a:t>
            </a:r>
          </a:p>
          <a:p>
            <a:pPr>
              <a:buFont typeface="Arial" panose="020B0604020202020204" pitchFamily="34" charset="0"/>
              <a:buChar char="•"/>
            </a:pPr>
            <a:r>
              <a:rPr lang="en-US" sz="2600" dirty="0">
                <a:solidFill>
                  <a:srgbClr val="333333"/>
                </a:solidFill>
                <a:latin typeface="Times New Roman" panose="02020603050405020304" pitchFamily="18" charset="0"/>
                <a:cs typeface="Times New Roman" panose="02020603050405020304" pitchFamily="18" charset="0"/>
              </a:rPr>
              <a:t>The client end communicates with an application server.</a:t>
            </a:r>
          </a:p>
          <a:p>
            <a:pPr>
              <a:buFont typeface="Arial" panose="020B0604020202020204" pitchFamily="34" charset="0"/>
              <a:buChar char="•"/>
            </a:pPr>
            <a:r>
              <a:rPr lang="en-US" sz="2600" dirty="0">
                <a:solidFill>
                  <a:srgbClr val="333333"/>
                </a:solidFill>
                <a:latin typeface="Times New Roman" panose="02020603050405020304" pitchFamily="18" charset="0"/>
                <a:cs typeface="Times New Roman" panose="02020603050405020304" pitchFamily="18" charset="0"/>
              </a:rPr>
              <a:t>The application server in turn communicates with a database system to access data.</a:t>
            </a:r>
          </a:p>
          <a:p>
            <a:pPr>
              <a:buFont typeface="Arial" panose="020B0604020202020204" pitchFamily="34" charset="0"/>
              <a:buChar char="•"/>
            </a:pPr>
            <a:r>
              <a:rPr lang="en-US" sz="2600" dirty="0">
                <a:solidFill>
                  <a:srgbClr val="333333"/>
                </a:solidFill>
                <a:latin typeface="Times New Roman" panose="02020603050405020304" pitchFamily="18" charset="0"/>
                <a:cs typeface="Times New Roman" panose="02020603050405020304" pitchFamily="18" charset="0"/>
              </a:rPr>
              <a:t>Three-tier applications are more appropriate for large applications, and for applications that run on the World Wide Web.</a:t>
            </a:r>
          </a:p>
          <a:p>
            <a:endParaRPr lang="en-GB" dirty="0"/>
          </a:p>
        </p:txBody>
      </p:sp>
      <p:sp>
        <p:nvSpPr>
          <p:cNvPr id="4" name="Slide Number Placeholder 3">
            <a:extLst>
              <a:ext uri="{FF2B5EF4-FFF2-40B4-BE49-F238E27FC236}">
                <a16:creationId xmlns:a16="http://schemas.microsoft.com/office/drawing/2014/main" id="{9DF65DB4-3E78-37B6-4B84-90C621C37C5F}"/>
              </a:ext>
            </a:extLst>
          </p:cNvPr>
          <p:cNvSpPr>
            <a:spLocks noGrp="1"/>
          </p:cNvSpPr>
          <p:nvPr>
            <p:ph type="sldNum" sz="quarter" idx="12"/>
          </p:nvPr>
        </p:nvSpPr>
        <p:spPr/>
        <p:txBody>
          <a:bodyPr/>
          <a:lstStyle/>
          <a:p>
            <a:fld id="{0D75743D-FFBA-49B6-8C74-0691B41B7954}" type="slidenum">
              <a:rPr lang="en-GB" smtClean="0"/>
              <a:t>9</a:t>
            </a:fld>
            <a:endParaRPr lang="en-GB"/>
          </a:p>
        </p:txBody>
      </p:sp>
    </p:spTree>
    <p:extLst>
      <p:ext uri="{BB962C8B-B14F-4D97-AF65-F5344CB8AC3E}">
        <p14:creationId xmlns:p14="http://schemas.microsoft.com/office/powerpoint/2010/main" val="1027363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496D-3055-480C-86B4-9D146C347387}"/>
              </a:ext>
            </a:extLst>
          </p:cNvPr>
          <p:cNvSpPr>
            <a:spLocks noGrp="1"/>
          </p:cNvSpPr>
          <p:nvPr>
            <p:ph type="title"/>
          </p:nvPr>
        </p:nvSpPr>
        <p:spPr/>
        <p:txBody>
          <a:bodyPr/>
          <a:lstStyle/>
          <a:p>
            <a:r>
              <a:rPr lang="en-US" dirty="0"/>
              <a:t>Three tier </a:t>
            </a:r>
            <a:endParaRPr lang="en-GB" dirty="0"/>
          </a:p>
        </p:txBody>
      </p:sp>
      <p:sp>
        <p:nvSpPr>
          <p:cNvPr id="3" name="Content Placeholder 2">
            <a:extLst>
              <a:ext uri="{FF2B5EF4-FFF2-40B4-BE49-F238E27FC236}">
                <a16:creationId xmlns:a16="http://schemas.microsoft.com/office/drawing/2014/main" id="{D90CB679-444F-4E01-9A57-F31CDDB5DEB0}"/>
              </a:ext>
            </a:extLst>
          </p:cNvPr>
          <p:cNvSpPr>
            <a:spLocks noGrp="1"/>
          </p:cNvSpPr>
          <p:nvPr>
            <p:ph idx="1"/>
          </p:nvPr>
        </p:nvSpPr>
        <p:spPr/>
        <p:txBody>
          <a:bodyPr/>
          <a:lstStyle/>
          <a:p>
            <a:r>
              <a:rPr lang="en-US" sz="2800" b="1" dirty="0">
                <a:solidFill>
                  <a:srgbClr val="333333"/>
                </a:solidFill>
                <a:latin typeface="Times New Roman" panose="02020603050405020304" pitchFamily="18" charset="0"/>
                <a:cs typeface="Times New Roman" panose="02020603050405020304" pitchFamily="18" charset="0"/>
              </a:rPr>
              <a:t>Homework</a:t>
            </a:r>
          </a:p>
          <a:p>
            <a:r>
              <a:rPr lang="en-US" sz="2800" dirty="0">
                <a:solidFill>
                  <a:srgbClr val="333333"/>
                </a:solidFill>
                <a:latin typeface="Times New Roman" panose="02020603050405020304" pitchFamily="18" charset="0"/>
                <a:cs typeface="Times New Roman" panose="02020603050405020304" pitchFamily="18" charset="0"/>
              </a:rPr>
              <a:t>List and describe the advantages and disadvantages of the three-tier database architecture</a:t>
            </a:r>
            <a:r>
              <a:rPr lang="en-US" sz="2800" dirty="0"/>
              <a:t>.</a:t>
            </a:r>
          </a:p>
          <a:p>
            <a:endParaRPr lang="en-US" dirty="0"/>
          </a:p>
          <a:p>
            <a:endParaRPr lang="en-GB" dirty="0"/>
          </a:p>
        </p:txBody>
      </p:sp>
      <p:sp>
        <p:nvSpPr>
          <p:cNvPr id="4" name="Slide Number Placeholder 3">
            <a:extLst>
              <a:ext uri="{FF2B5EF4-FFF2-40B4-BE49-F238E27FC236}">
                <a16:creationId xmlns:a16="http://schemas.microsoft.com/office/drawing/2014/main" id="{118396CD-EB94-FE86-22D5-F7E8244247B5}"/>
              </a:ext>
            </a:extLst>
          </p:cNvPr>
          <p:cNvSpPr>
            <a:spLocks noGrp="1"/>
          </p:cNvSpPr>
          <p:nvPr>
            <p:ph type="sldNum" sz="quarter" idx="12"/>
          </p:nvPr>
        </p:nvSpPr>
        <p:spPr/>
        <p:txBody>
          <a:bodyPr/>
          <a:lstStyle/>
          <a:p>
            <a:fld id="{0D75743D-FFBA-49B6-8C74-0691B41B7954}" type="slidenum">
              <a:rPr lang="en-GB" smtClean="0"/>
              <a:t>10</a:t>
            </a:fld>
            <a:endParaRPr lang="en-GB"/>
          </a:p>
        </p:txBody>
      </p:sp>
    </p:spTree>
    <p:extLst>
      <p:ext uri="{BB962C8B-B14F-4D97-AF65-F5344CB8AC3E}">
        <p14:creationId xmlns:p14="http://schemas.microsoft.com/office/powerpoint/2010/main" val="1286354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434C7-D42C-43BD-A8E1-F5162BBE3906}"/>
              </a:ext>
            </a:extLst>
          </p:cNvPr>
          <p:cNvSpPr>
            <a:spLocks noGrp="1"/>
          </p:cNvSpPr>
          <p:nvPr>
            <p:ph type="title"/>
          </p:nvPr>
        </p:nvSpPr>
        <p:spPr/>
        <p:txBody>
          <a:bodyPr/>
          <a:lstStyle/>
          <a:p>
            <a:r>
              <a:rPr lang="en-US" dirty="0"/>
              <a:t>Data Models</a:t>
            </a:r>
            <a:endParaRPr lang="en-GB" dirty="0"/>
          </a:p>
        </p:txBody>
      </p:sp>
      <p:sp>
        <p:nvSpPr>
          <p:cNvPr id="3" name="Content Placeholder 2">
            <a:extLst>
              <a:ext uri="{FF2B5EF4-FFF2-40B4-BE49-F238E27FC236}">
                <a16:creationId xmlns:a16="http://schemas.microsoft.com/office/drawing/2014/main" id="{9C20AF15-15ED-4A3B-98F6-ED36FB2620F8}"/>
              </a:ext>
            </a:extLst>
          </p:cNvPr>
          <p:cNvSpPr>
            <a:spLocks noGrp="1"/>
          </p:cNvSpPr>
          <p:nvPr>
            <p:ph idx="1"/>
          </p:nvPr>
        </p:nvSpPr>
        <p:spPr/>
        <p:txBody>
          <a:bodyPr>
            <a:normAutofit/>
          </a:bodyPr>
          <a:lstStyle/>
          <a:p>
            <a:pPr algn="l">
              <a:buFont typeface="Arial" panose="020B0604020202020204" pitchFamily="34" charset="0"/>
              <a:buChar char="•"/>
            </a:pPr>
            <a:r>
              <a:rPr lang="en-US" sz="2800" dirty="0">
                <a:solidFill>
                  <a:srgbClr val="333333"/>
                </a:solidFill>
                <a:latin typeface="Times New Roman" panose="02020603050405020304" pitchFamily="18" charset="0"/>
                <a:cs typeface="Times New Roman" panose="02020603050405020304" pitchFamily="18" charset="0"/>
              </a:rPr>
              <a:t>A database model is a collection of tools for describing data, data relationships, data semantic and consistency constraints.</a:t>
            </a:r>
          </a:p>
          <a:p>
            <a:pPr algn="l">
              <a:buFont typeface="Arial" panose="020B0604020202020204" pitchFamily="34" charset="0"/>
              <a:buChar char="•"/>
            </a:pPr>
            <a:r>
              <a:rPr lang="en-US" sz="2800" dirty="0">
                <a:solidFill>
                  <a:srgbClr val="333333"/>
                </a:solidFill>
                <a:latin typeface="Times New Roman" panose="02020603050405020304" pitchFamily="18" charset="0"/>
                <a:cs typeface="Times New Roman" panose="02020603050405020304" pitchFamily="18" charset="0"/>
              </a:rPr>
              <a:t>the data model is the underlying the structure of a database</a:t>
            </a:r>
          </a:p>
          <a:p>
            <a:pPr>
              <a:buFont typeface="Arial" panose="020B0604020202020204" pitchFamily="34" charset="0"/>
              <a:buChar char="•"/>
            </a:pPr>
            <a:r>
              <a:rPr lang="en-US" sz="2800" dirty="0">
                <a:solidFill>
                  <a:srgbClr val="333333"/>
                </a:solidFill>
                <a:latin typeface="Times New Roman" panose="02020603050405020304" pitchFamily="18" charset="0"/>
                <a:cs typeface="Times New Roman" panose="02020603050405020304" pitchFamily="18" charset="0"/>
              </a:rPr>
              <a:t> Hides details of data storage</a:t>
            </a:r>
            <a:endParaRPr lang="en-GB" sz="2800" dirty="0">
              <a:solidFill>
                <a:srgbClr val="333333"/>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b="0" i="0" dirty="0">
              <a:solidFill>
                <a:srgbClr val="333333"/>
              </a:solidFill>
              <a:effectLst/>
              <a:latin typeface="Open Sans" panose="020B0606030504020204" pitchFamily="34" charset="0"/>
            </a:endParaRPr>
          </a:p>
          <a:p>
            <a:endParaRPr lang="en-GB" dirty="0"/>
          </a:p>
        </p:txBody>
      </p:sp>
      <p:sp>
        <p:nvSpPr>
          <p:cNvPr id="4" name="Slide Number Placeholder 3">
            <a:extLst>
              <a:ext uri="{FF2B5EF4-FFF2-40B4-BE49-F238E27FC236}">
                <a16:creationId xmlns:a16="http://schemas.microsoft.com/office/drawing/2014/main" id="{7CD564D6-8095-C3C1-D2C0-ABB9589883CD}"/>
              </a:ext>
            </a:extLst>
          </p:cNvPr>
          <p:cNvSpPr>
            <a:spLocks noGrp="1"/>
          </p:cNvSpPr>
          <p:nvPr>
            <p:ph type="sldNum" sz="quarter" idx="12"/>
          </p:nvPr>
        </p:nvSpPr>
        <p:spPr/>
        <p:txBody>
          <a:bodyPr/>
          <a:lstStyle/>
          <a:p>
            <a:fld id="{0D75743D-FFBA-49B6-8C74-0691B41B7954}" type="slidenum">
              <a:rPr lang="en-GB" smtClean="0"/>
              <a:t>11</a:t>
            </a:fld>
            <a:endParaRPr lang="en-GB"/>
          </a:p>
        </p:txBody>
      </p:sp>
    </p:spTree>
    <p:extLst>
      <p:ext uri="{BB962C8B-B14F-4D97-AF65-F5344CB8AC3E}">
        <p14:creationId xmlns:p14="http://schemas.microsoft.com/office/powerpoint/2010/main" val="3395686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5D7E-78BC-4497-8B4A-55EF797460CE}"/>
              </a:ext>
            </a:extLst>
          </p:cNvPr>
          <p:cNvSpPr>
            <a:spLocks noGrp="1"/>
          </p:cNvSpPr>
          <p:nvPr>
            <p:ph type="title"/>
          </p:nvPr>
        </p:nvSpPr>
        <p:spPr/>
        <p:txBody>
          <a:bodyPr/>
          <a:lstStyle/>
          <a:p>
            <a:r>
              <a:rPr lang="en-US" dirty="0"/>
              <a:t>Data Models</a:t>
            </a:r>
            <a:endParaRPr lang="en-GB" dirty="0"/>
          </a:p>
        </p:txBody>
      </p:sp>
      <p:sp>
        <p:nvSpPr>
          <p:cNvPr id="3" name="Content Placeholder 2">
            <a:extLst>
              <a:ext uri="{FF2B5EF4-FFF2-40B4-BE49-F238E27FC236}">
                <a16:creationId xmlns:a16="http://schemas.microsoft.com/office/drawing/2014/main" id="{6C4F4603-9ADC-4DFA-AFB1-03DF2AEBDF07}"/>
              </a:ext>
            </a:extLst>
          </p:cNvPr>
          <p:cNvSpPr>
            <a:spLocks noGrp="1"/>
          </p:cNvSpPr>
          <p:nvPr>
            <p:ph idx="1"/>
          </p:nvPr>
        </p:nvSpPr>
        <p:spPr/>
        <p:txBody>
          <a:bodyPr/>
          <a:lstStyle/>
          <a:p>
            <a:pPr>
              <a:buFont typeface="Arial" panose="020B0604020202020204" pitchFamily="34" charset="0"/>
              <a:buChar char="•"/>
            </a:pPr>
            <a:r>
              <a:rPr lang="en-US" sz="2800" dirty="0">
                <a:solidFill>
                  <a:srgbClr val="333333"/>
                </a:solidFill>
                <a:latin typeface="Times New Roman" panose="02020603050405020304" pitchFamily="18" charset="0"/>
                <a:cs typeface="Times New Roman" panose="02020603050405020304" pitchFamily="18" charset="0"/>
              </a:rPr>
              <a:t>They can be broadly classified into the following categories:</a:t>
            </a:r>
          </a:p>
          <a:p>
            <a:pPr marL="457200" lvl="2" indent="0">
              <a:buNone/>
            </a:pPr>
            <a:r>
              <a:rPr lang="en-US" sz="2800" dirty="0">
                <a:solidFill>
                  <a:srgbClr val="333333"/>
                </a:solidFill>
                <a:latin typeface="Times New Roman" panose="02020603050405020304" pitchFamily="18" charset="0"/>
                <a:cs typeface="Times New Roman" panose="02020603050405020304" pitchFamily="18" charset="0"/>
              </a:rPr>
              <a:t>1. Conceptual database models.</a:t>
            </a:r>
          </a:p>
          <a:p>
            <a:pPr marL="457200" lvl="2" indent="0">
              <a:buNone/>
            </a:pPr>
            <a:r>
              <a:rPr lang="en-US" sz="2800" dirty="0">
                <a:solidFill>
                  <a:srgbClr val="333333"/>
                </a:solidFill>
                <a:latin typeface="Times New Roman" panose="02020603050405020304" pitchFamily="18" charset="0"/>
                <a:cs typeface="Times New Roman" panose="02020603050405020304" pitchFamily="18" charset="0"/>
              </a:rPr>
              <a:t>2. Physical database models.</a:t>
            </a:r>
          </a:p>
          <a:p>
            <a:pPr marL="457200" lvl="2" indent="0">
              <a:buNone/>
            </a:pPr>
            <a:r>
              <a:rPr lang="en-US" sz="2800" dirty="0">
                <a:solidFill>
                  <a:srgbClr val="333333"/>
                </a:solidFill>
                <a:latin typeface="Times New Roman" panose="02020603050405020304" pitchFamily="18" charset="0"/>
                <a:cs typeface="Times New Roman" panose="02020603050405020304" pitchFamily="18" charset="0"/>
              </a:rPr>
              <a:t>3. Logical database models.</a:t>
            </a:r>
          </a:p>
          <a:p>
            <a:endParaRPr lang="en-GB" dirty="0"/>
          </a:p>
        </p:txBody>
      </p:sp>
      <p:sp>
        <p:nvSpPr>
          <p:cNvPr id="4" name="Slide Number Placeholder 3">
            <a:extLst>
              <a:ext uri="{FF2B5EF4-FFF2-40B4-BE49-F238E27FC236}">
                <a16:creationId xmlns:a16="http://schemas.microsoft.com/office/drawing/2014/main" id="{5FB7DBC3-504D-B1D6-0C2C-7E43D31C716C}"/>
              </a:ext>
            </a:extLst>
          </p:cNvPr>
          <p:cNvSpPr>
            <a:spLocks noGrp="1"/>
          </p:cNvSpPr>
          <p:nvPr>
            <p:ph type="sldNum" sz="quarter" idx="12"/>
          </p:nvPr>
        </p:nvSpPr>
        <p:spPr/>
        <p:txBody>
          <a:bodyPr/>
          <a:lstStyle/>
          <a:p>
            <a:fld id="{0D75743D-FFBA-49B6-8C74-0691B41B7954}" type="slidenum">
              <a:rPr lang="en-GB" smtClean="0"/>
              <a:t>12</a:t>
            </a:fld>
            <a:endParaRPr lang="en-GB"/>
          </a:p>
        </p:txBody>
      </p:sp>
    </p:spTree>
    <p:extLst>
      <p:ext uri="{BB962C8B-B14F-4D97-AF65-F5344CB8AC3E}">
        <p14:creationId xmlns:p14="http://schemas.microsoft.com/office/powerpoint/2010/main" val="67030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D5C9C-F386-44C8-BCE0-939DCF614DE7}"/>
              </a:ext>
            </a:extLst>
          </p:cNvPr>
          <p:cNvSpPr>
            <a:spLocks noGrp="1"/>
          </p:cNvSpPr>
          <p:nvPr>
            <p:ph type="title"/>
          </p:nvPr>
        </p:nvSpPr>
        <p:spPr/>
        <p:txBody>
          <a:bodyPr/>
          <a:lstStyle/>
          <a:p>
            <a:r>
              <a:rPr lang="en-US" dirty="0"/>
              <a:t>1. Conceptual model</a:t>
            </a:r>
            <a:endParaRPr lang="en-GB" dirty="0"/>
          </a:p>
        </p:txBody>
      </p:sp>
      <p:sp>
        <p:nvSpPr>
          <p:cNvPr id="3" name="Content Placeholder 2">
            <a:extLst>
              <a:ext uri="{FF2B5EF4-FFF2-40B4-BE49-F238E27FC236}">
                <a16:creationId xmlns:a16="http://schemas.microsoft.com/office/drawing/2014/main" id="{626296DA-E831-4C06-9BE6-CA191DB26D77}"/>
              </a:ext>
            </a:extLst>
          </p:cNvPr>
          <p:cNvSpPr>
            <a:spLocks noGrp="1"/>
          </p:cNvSpPr>
          <p:nvPr>
            <p:ph idx="1"/>
          </p:nvPr>
        </p:nvSpPr>
        <p:spPr/>
        <p:txBody>
          <a:bodyPr>
            <a:normAutofit fontScale="92500" lnSpcReduction="20000"/>
          </a:bodyPr>
          <a:lstStyle/>
          <a:p>
            <a:r>
              <a:rPr lang="en-US" sz="1600" b="0" i="0" dirty="0">
                <a:solidFill>
                  <a:srgbClr val="333333"/>
                </a:solidFill>
                <a:effectLst/>
                <a:latin typeface="Helvetica Neue"/>
              </a:rPr>
              <a:t> </a:t>
            </a:r>
            <a:r>
              <a:rPr lang="en-US" sz="2400" dirty="0">
                <a:solidFill>
                  <a:srgbClr val="333333"/>
                </a:solidFill>
                <a:latin typeface="Times New Roman" panose="02020603050405020304" pitchFamily="18" charset="0"/>
                <a:cs typeface="Times New Roman" panose="02020603050405020304" pitchFamily="18" charset="0"/>
              </a:rPr>
              <a:t>Provide concepts that are close to the way people perceive data to present the data.</a:t>
            </a:r>
          </a:p>
          <a:p>
            <a:r>
              <a:rPr lang="en-US" sz="2400" dirty="0">
                <a:solidFill>
                  <a:srgbClr val="333333"/>
                </a:solidFill>
                <a:latin typeface="Times New Roman" panose="02020603050405020304" pitchFamily="18" charset="0"/>
                <a:cs typeface="Times New Roman" panose="02020603050405020304" pitchFamily="18" charset="0"/>
              </a:rPr>
              <a:t>E.g.  </a:t>
            </a:r>
            <a:r>
              <a:rPr lang="en-US" sz="2400" b="1" dirty="0">
                <a:solidFill>
                  <a:schemeClr val="accent5"/>
                </a:solidFill>
                <a:latin typeface="Times New Roman" panose="02020603050405020304" pitchFamily="18" charset="0"/>
                <a:cs typeface="Times New Roman" panose="02020603050405020304" pitchFamily="18" charset="0"/>
              </a:rPr>
              <a:t>Entity – relationship model </a:t>
            </a:r>
            <a:r>
              <a:rPr lang="en-US" sz="2400" dirty="0">
                <a:solidFill>
                  <a:srgbClr val="333333"/>
                </a:solidFill>
                <a:latin typeface="Times New Roman" panose="02020603050405020304" pitchFamily="18" charset="0"/>
                <a:cs typeface="Times New Roman" panose="02020603050405020304" pitchFamily="18" charset="0"/>
              </a:rPr>
              <a:t>which use main concepts like entities, attributes, relationships. </a:t>
            </a:r>
          </a:p>
          <a:p>
            <a:r>
              <a:rPr lang="en-US" sz="2400" dirty="0">
                <a:solidFill>
                  <a:srgbClr val="333333"/>
                </a:solidFill>
                <a:latin typeface="Times New Roman" panose="02020603050405020304" pitchFamily="18" charset="0"/>
                <a:cs typeface="Times New Roman" panose="02020603050405020304" pitchFamily="18" charset="0"/>
              </a:rPr>
              <a:t>An </a:t>
            </a:r>
            <a:r>
              <a:rPr lang="en-US" sz="2400" b="1" dirty="0">
                <a:solidFill>
                  <a:schemeClr val="accent5"/>
                </a:solidFill>
                <a:latin typeface="Times New Roman" panose="02020603050405020304" pitchFamily="18" charset="0"/>
                <a:cs typeface="Times New Roman" panose="02020603050405020304" pitchFamily="18" charset="0"/>
              </a:rPr>
              <a:t>entity</a:t>
            </a:r>
            <a:r>
              <a:rPr lang="en-US" sz="2400" dirty="0">
                <a:solidFill>
                  <a:srgbClr val="333333"/>
                </a:solidFill>
                <a:latin typeface="Times New Roman" panose="02020603050405020304" pitchFamily="18" charset="0"/>
                <a:cs typeface="Times New Roman" panose="02020603050405020304" pitchFamily="18" charset="0"/>
              </a:rPr>
              <a:t> represents real-world object such as an employee, a project. </a:t>
            </a:r>
          </a:p>
          <a:p>
            <a:r>
              <a:rPr lang="en-US" sz="2400" dirty="0">
                <a:solidFill>
                  <a:srgbClr val="333333"/>
                </a:solidFill>
                <a:latin typeface="Times New Roman" panose="02020603050405020304" pitchFamily="18" charset="0"/>
                <a:cs typeface="Times New Roman" panose="02020603050405020304" pitchFamily="18" charset="0"/>
              </a:rPr>
              <a:t>An entity has some </a:t>
            </a:r>
            <a:r>
              <a:rPr lang="en-US" sz="2400" b="1" dirty="0">
                <a:solidFill>
                  <a:schemeClr val="accent5"/>
                </a:solidFill>
                <a:latin typeface="Times New Roman" panose="02020603050405020304" pitchFamily="18" charset="0"/>
                <a:cs typeface="Times New Roman" panose="02020603050405020304" pitchFamily="18" charset="0"/>
              </a:rPr>
              <a:t>attributes</a:t>
            </a:r>
            <a:r>
              <a:rPr lang="en-US" sz="2400" dirty="0">
                <a:solidFill>
                  <a:srgbClr val="333333"/>
                </a:solidFill>
                <a:latin typeface="Times New Roman" panose="02020603050405020304" pitchFamily="18" charset="0"/>
                <a:cs typeface="Times New Roman" panose="02020603050405020304" pitchFamily="18" charset="0"/>
              </a:rPr>
              <a:t> which represents properties of entity such as employee’s name, address, birthdate. </a:t>
            </a:r>
          </a:p>
          <a:p>
            <a:r>
              <a:rPr lang="en-US" sz="2400" dirty="0">
                <a:solidFill>
                  <a:srgbClr val="333333"/>
                </a:solidFill>
                <a:latin typeface="Times New Roman" panose="02020603050405020304" pitchFamily="18" charset="0"/>
                <a:cs typeface="Times New Roman" panose="02020603050405020304" pitchFamily="18" charset="0"/>
              </a:rPr>
              <a:t>A </a:t>
            </a:r>
            <a:r>
              <a:rPr lang="en-US" sz="2400" b="1" dirty="0">
                <a:solidFill>
                  <a:schemeClr val="accent5"/>
                </a:solidFill>
                <a:latin typeface="Times New Roman" panose="02020603050405020304" pitchFamily="18" charset="0"/>
                <a:cs typeface="Times New Roman" panose="02020603050405020304" pitchFamily="18" charset="0"/>
              </a:rPr>
              <a:t>relationship</a:t>
            </a:r>
            <a:r>
              <a:rPr lang="en-US" sz="2400" dirty="0">
                <a:solidFill>
                  <a:srgbClr val="333333"/>
                </a:solidFill>
                <a:latin typeface="Times New Roman" panose="02020603050405020304" pitchFamily="18" charset="0"/>
                <a:cs typeface="Times New Roman" panose="02020603050405020304" pitchFamily="18" charset="0"/>
              </a:rPr>
              <a:t> represents association among entities for example a works on relationships between employee and project.</a:t>
            </a:r>
          </a:p>
          <a:p>
            <a:r>
              <a:rPr lang="en-US" sz="2400" dirty="0">
                <a:solidFill>
                  <a:srgbClr val="333333"/>
                </a:solidFill>
                <a:latin typeface="Times New Roman" panose="02020603050405020304" pitchFamily="18" charset="0"/>
                <a:cs typeface="Times New Roman" panose="02020603050405020304" pitchFamily="18" charset="0"/>
              </a:rPr>
              <a:t>The overall logical structure of a database can be expressed graphically by an E-R diagram.</a:t>
            </a:r>
          </a:p>
          <a:p>
            <a:r>
              <a:rPr lang="en-US" sz="2400" dirty="0">
                <a:solidFill>
                  <a:srgbClr val="333333"/>
                </a:solidFill>
                <a:latin typeface="Times New Roman" panose="02020603050405020304" pitchFamily="18" charset="0"/>
                <a:cs typeface="Times New Roman" panose="02020603050405020304" pitchFamily="18" charset="0"/>
              </a:rPr>
              <a:t>We will look at this concept in more detail in week 5</a:t>
            </a:r>
            <a:endParaRPr lang="en-GB" sz="2400" dirty="0">
              <a:solidFill>
                <a:srgbClr val="333333"/>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6620824-025D-1EA4-C566-D10887CAA389}"/>
              </a:ext>
            </a:extLst>
          </p:cNvPr>
          <p:cNvSpPr>
            <a:spLocks noGrp="1"/>
          </p:cNvSpPr>
          <p:nvPr>
            <p:ph type="sldNum" sz="quarter" idx="12"/>
          </p:nvPr>
        </p:nvSpPr>
        <p:spPr/>
        <p:txBody>
          <a:bodyPr/>
          <a:lstStyle/>
          <a:p>
            <a:fld id="{0D75743D-FFBA-49B6-8C74-0691B41B7954}" type="slidenum">
              <a:rPr lang="en-GB" smtClean="0"/>
              <a:t>13</a:t>
            </a:fld>
            <a:endParaRPr lang="en-GB"/>
          </a:p>
        </p:txBody>
      </p:sp>
    </p:spTree>
    <p:extLst>
      <p:ext uri="{BB962C8B-B14F-4D97-AF65-F5344CB8AC3E}">
        <p14:creationId xmlns:p14="http://schemas.microsoft.com/office/powerpoint/2010/main" val="2617689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A0B0-50C6-442E-BF2D-F82BD380A41B}"/>
              </a:ext>
            </a:extLst>
          </p:cNvPr>
          <p:cNvSpPr>
            <a:spLocks noGrp="1"/>
          </p:cNvSpPr>
          <p:nvPr>
            <p:ph type="title"/>
          </p:nvPr>
        </p:nvSpPr>
        <p:spPr/>
        <p:txBody>
          <a:bodyPr/>
          <a:lstStyle/>
          <a:p>
            <a:r>
              <a:rPr lang="en-US" dirty="0"/>
              <a:t>2. Logical model</a:t>
            </a:r>
            <a:endParaRPr lang="en-GB" dirty="0"/>
          </a:p>
        </p:txBody>
      </p:sp>
      <p:sp>
        <p:nvSpPr>
          <p:cNvPr id="3" name="Content Placeholder 2">
            <a:extLst>
              <a:ext uri="{FF2B5EF4-FFF2-40B4-BE49-F238E27FC236}">
                <a16:creationId xmlns:a16="http://schemas.microsoft.com/office/drawing/2014/main" id="{09708183-DA8B-4021-82E9-D94EADA8D3EC}"/>
              </a:ext>
            </a:extLst>
          </p:cNvPr>
          <p:cNvSpPr>
            <a:spLocks noGrp="1"/>
          </p:cNvSpPr>
          <p:nvPr>
            <p:ph idx="1"/>
          </p:nvPr>
        </p:nvSpPr>
        <p:spPr/>
        <p:txBody>
          <a:bodyPr>
            <a:normAutofit lnSpcReduction="10000"/>
          </a:bodyPr>
          <a:lstStyle/>
          <a:p>
            <a:r>
              <a:rPr lang="en-US" sz="2600" b="0" i="0" dirty="0">
                <a:solidFill>
                  <a:srgbClr val="333333"/>
                </a:solidFill>
                <a:effectLst/>
                <a:latin typeface="Times New Roman" panose="02020603050405020304" pitchFamily="18" charset="0"/>
                <a:cs typeface="Times New Roman" panose="02020603050405020304" pitchFamily="18" charset="0"/>
              </a:rPr>
              <a:t>This level describes what data are stored in the whole database</a:t>
            </a:r>
          </a:p>
          <a:p>
            <a:r>
              <a:rPr lang="en-US" sz="2600" b="0" i="0" dirty="0">
                <a:solidFill>
                  <a:srgbClr val="333333"/>
                </a:solidFill>
                <a:effectLst/>
                <a:latin typeface="Times New Roman" panose="02020603050405020304" pitchFamily="18" charset="0"/>
                <a:cs typeface="Times New Roman" panose="02020603050405020304" pitchFamily="18" charset="0"/>
              </a:rPr>
              <a:t> Provide concepts that can be understood by the user but not too far from the way data is stored in the computer. </a:t>
            </a:r>
          </a:p>
          <a:p>
            <a:r>
              <a:rPr lang="en-US" sz="2600" b="0" i="0" dirty="0">
                <a:solidFill>
                  <a:srgbClr val="333333"/>
                </a:solidFill>
                <a:effectLst/>
                <a:latin typeface="Times New Roman" panose="02020603050405020304" pitchFamily="18" charset="0"/>
                <a:cs typeface="Times New Roman" panose="02020603050405020304" pitchFamily="18" charset="0"/>
              </a:rPr>
              <a:t>Three well-known data models of this type are </a:t>
            </a:r>
          </a:p>
          <a:p>
            <a:pPr marL="457200" indent="-457200">
              <a:buAutoNum type="arabicPeriod"/>
            </a:pPr>
            <a:r>
              <a:rPr lang="en-US" sz="2600" b="0" i="0" dirty="0">
                <a:solidFill>
                  <a:srgbClr val="333333"/>
                </a:solidFill>
                <a:effectLst/>
                <a:latin typeface="Times New Roman" panose="02020603050405020304" pitchFamily="18" charset="0"/>
                <a:cs typeface="Times New Roman" panose="02020603050405020304" pitchFamily="18" charset="0"/>
              </a:rPr>
              <a:t>relational data model, </a:t>
            </a:r>
          </a:p>
          <a:p>
            <a:pPr marL="457200" indent="-457200">
              <a:buAutoNum type="arabicPeriod"/>
            </a:pPr>
            <a:r>
              <a:rPr lang="en-US" sz="2600" b="0" i="0" dirty="0">
                <a:solidFill>
                  <a:srgbClr val="333333"/>
                </a:solidFill>
                <a:effectLst/>
                <a:latin typeface="Times New Roman" panose="02020603050405020304" pitchFamily="18" charset="0"/>
                <a:cs typeface="Times New Roman" panose="02020603050405020304" pitchFamily="18" charset="0"/>
              </a:rPr>
              <a:t>network data model and </a:t>
            </a:r>
          </a:p>
          <a:p>
            <a:pPr marL="457200" indent="-457200">
              <a:buAutoNum type="arabicPeriod"/>
            </a:pPr>
            <a:r>
              <a:rPr lang="en-US" sz="2600" b="0" i="0" dirty="0">
                <a:solidFill>
                  <a:srgbClr val="333333"/>
                </a:solidFill>
                <a:effectLst/>
                <a:latin typeface="Times New Roman" panose="02020603050405020304" pitchFamily="18" charset="0"/>
                <a:cs typeface="Times New Roman" panose="02020603050405020304" pitchFamily="18" charset="0"/>
              </a:rPr>
              <a:t>hierarchical data model.</a:t>
            </a:r>
          </a:p>
          <a:p>
            <a:pPr marL="0" indent="0">
              <a:buNone/>
            </a:pPr>
            <a:r>
              <a:rPr lang="en-US" sz="2600" b="1" dirty="0">
                <a:solidFill>
                  <a:schemeClr val="accent5"/>
                </a:solidFill>
                <a:latin typeface="Times New Roman" panose="02020603050405020304" pitchFamily="18" charset="0"/>
                <a:cs typeface="Times New Roman" panose="02020603050405020304" pitchFamily="18" charset="0"/>
              </a:rPr>
              <a:t>We will revisit these later in the lesson</a:t>
            </a:r>
            <a:endParaRPr lang="en-US" sz="2600" b="1" i="0" dirty="0">
              <a:solidFill>
                <a:schemeClr val="accent5"/>
              </a:solidFill>
              <a:effectLst/>
              <a:latin typeface="Times New Roman" panose="02020603050405020304" pitchFamily="18" charset="0"/>
              <a:cs typeface="Times New Roman" panose="02020603050405020304" pitchFamily="18" charset="0"/>
            </a:endParaRPr>
          </a:p>
          <a:p>
            <a:pPr marL="0" indent="0">
              <a:buNone/>
            </a:pPr>
            <a:endParaRPr lang="en-GB" dirty="0"/>
          </a:p>
        </p:txBody>
      </p:sp>
      <p:sp>
        <p:nvSpPr>
          <p:cNvPr id="4" name="Slide Number Placeholder 3">
            <a:extLst>
              <a:ext uri="{FF2B5EF4-FFF2-40B4-BE49-F238E27FC236}">
                <a16:creationId xmlns:a16="http://schemas.microsoft.com/office/drawing/2014/main" id="{8B61BFA7-BB5F-220A-1829-C33C447B5C88}"/>
              </a:ext>
            </a:extLst>
          </p:cNvPr>
          <p:cNvSpPr>
            <a:spLocks noGrp="1"/>
          </p:cNvSpPr>
          <p:nvPr>
            <p:ph type="sldNum" sz="quarter" idx="12"/>
          </p:nvPr>
        </p:nvSpPr>
        <p:spPr/>
        <p:txBody>
          <a:bodyPr/>
          <a:lstStyle/>
          <a:p>
            <a:fld id="{0D75743D-FFBA-49B6-8C74-0691B41B7954}" type="slidenum">
              <a:rPr lang="en-GB" smtClean="0"/>
              <a:t>14</a:t>
            </a:fld>
            <a:endParaRPr lang="en-GB"/>
          </a:p>
        </p:txBody>
      </p:sp>
    </p:spTree>
    <p:extLst>
      <p:ext uri="{BB962C8B-B14F-4D97-AF65-F5344CB8AC3E}">
        <p14:creationId xmlns:p14="http://schemas.microsoft.com/office/powerpoint/2010/main" val="2345920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1573-AA96-42EB-8C8A-561F377F6F52}"/>
              </a:ext>
            </a:extLst>
          </p:cNvPr>
          <p:cNvSpPr>
            <a:spLocks noGrp="1"/>
          </p:cNvSpPr>
          <p:nvPr>
            <p:ph type="title"/>
          </p:nvPr>
        </p:nvSpPr>
        <p:spPr/>
        <p:txBody>
          <a:bodyPr/>
          <a:lstStyle/>
          <a:p>
            <a:r>
              <a:rPr lang="en-US" dirty="0"/>
              <a:t>3. Physical model</a:t>
            </a:r>
            <a:endParaRPr lang="en-GB" dirty="0"/>
          </a:p>
        </p:txBody>
      </p:sp>
      <p:sp>
        <p:nvSpPr>
          <p:cNvPr id="3" name="Content Placeholder 2">
            <a:extLst>
              <a:ext uri="{FF2B5EF4-FFF2-40B4-BE49-F238E27FC236}">
                <a16:creationId xmlns:a16="http://schemas.microsoft.com/office/drawing/2014/main" id="{A63D665A-73F4-47A0-B6AB-EAD648A29BEB}"/>
              </a:ext>
            </a:extLst>
          </p:cNvPr>
          <p:cNvSpPr>
            <a:spLocks noGrp="1"/>
          </p:cNvSpPr>
          <p:nvPr>
            <p:ph idx="1"/>
          </p:nvPr>
        </p:nvSpPr>
        <p:spPr/>
        <p:txBody>
          <a:bodyPr/>
          <a:lstStyle/>
          <a:p>
            <a:pPr>
              <a:lnSpc>
                <a:spcPct val="80000"/>
              </a:lnSpc>
            </a:pPr>
            <a:r>
              <a:rPr lang="en-US" sz="2200" dirty="0">
                <a:solidFill>
                  <a:srgbClr val="333333"/>
                </a:solidFill>
                <a:latin typeface="Times New Roman" panose="02020603050405020304" pitchFamily="18" charset="0"/>
                <a:cs typeface="Times New Roman" panose="02020603050405020304" pitchFamily="18" charset="0"/>
              </a:rPr>
              <a:t>The lowest level of abstraction describes how the data are actually stored.</a:t>
            </a:r>
          </a:p>
          <a:p>
            <a:pPr>
              <a:lnSpc>
                <a:spcPct val="80000"/>
              </a:lnSpc>
            </a:pPr>
            <a:r>
              <a:rPr lang="en-US" sz="2200" dirty="0">
                <a:solidFill>
                  <a:srgbClr val="333333"/>
                </a:solidFill>
                <a:latin typeface="Times New Roman" panose="02020603050405020304" pitchFamily="18" charset="0"/>
                <a:cs typeface="Times New Roman" panose="02020603050405020304" pitchFamily="18" charset="0"/>
              </a:rPr>
              <a:t>Provide concepts that describe how data is actually stored in the computer.</a:t>
            </a:r>
          </a:p>
          <a:p>
            <a:pPr>
              <a:lnSpc>
                <a:spcPct val="80000"/>
              </a:lnSpc>
            </a:pPr>
            <a:r>
              <a:rPr lang="en-US" sz="2200" dirty="0">
                <a:solidFill>
                  <a:srgbClr val="333333"/>
                </a:solidFill>
                <a:latin typeface="Times New Roman" panose="02020603050405020304" pitchFamily="18" charset="0"/>
                <a:cs typeface="Times New Roman" panose="02020603050405020304" pitchFamily="18" charset="0"/>
              </a:rPr>
              <a:t>Use of SQL statements</a:t>
            </a:r>
            <a:endParaRPr lang="en-GB" sz="2200" dirty="0">
              <a:solidFill>
                <a:srgbClr val="333333"/>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F1E2DA-9E20-E977-DDF8-88AC20CE7192}"/>
              </a:ext>
            </a:extLst>
          </p:cNvPr>
          <p:cNvSpPr>
            <a:spLocks noGrp="1"/>
          </p:cNvSpPr>
          <p:nvPr>
            <p:ph type="sldNum" sz="quarter" idx="12"/>
          </p:nvPr>
        </p:nvSpPr>
        <p:spPr/>
        <p:txBody>
          <a:bodyPr/>
          <a:lstStyle/>
          <a:p>
            <a:fld id="{0D75743D-FFBA-49B6-8C74-0691B41B7954}" type="slidenum">
              <a:rPr lang="en-GB" smtClean="0"/>
              <a:t>15</a:t>
            </a:fld>
            <a:endParaRPr lang="en-GB"/>
          </a:p>
        </p:txBody>
      </p:sp>
    </p:spTree>
    <p:extLst>
      <p:ext uri="{BB962C8B-B14F-4D97-AF65-F5344CB8AC3E}">
        <p14:creationId xmlns:p14="http://schemas.microsoft.com/office/powerpoint/2010/main" val="1382022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627BE-2483-42B6-BCD0-3F6DD68EFBE7}"/>
              </a:ext>
            </a:extLst>
          </p:cNvPr>
          <p:cNvSpPr>
            <a:spLocks noGrp="1"/>
          </p:cNvSpPr>
          <p:nvPr>
            <p:ph type="title"/>
          </p:nvPr>
        </p:nvSpPr>
        <p:spPr/>
        <p:txBody>
          <a:bodyPr/>
          <a:lstStyle/>
          <a:p>
            <a:r>
              <a:rPr lang="en-US" dirty="0"/>
              <a:t>Database schema</a:t>
            </a:r>
            <a:endParaRPr lang="en-GB" dirty="0"/>
          </a:p>
        </p:txBody>
      </p:sp>
      <p:sp>
        <p:nvSpPr>
          <p:cNvPr id="3" name="Content Placeholder 2">
            <a:extLst>
              <a:ext uri="{FF2B5EF4-FFF2-40B4-BE49-F238E27FC236}">
                <a16:creationId xmlns:a16="http://schemas.microsoft.com/office/drawing/2014/main" id="{4D756C07-7187-4CEC-9FDF-7684D3295308}"/>
              </a:ext>
            </a:extLst>
          </p:cNvPr>
          <p:cNvSpPr>
            <a:spLocks noGrp="1"/>
          </p:cNvSpPr>
          <p:nvPr>
            <p:ph idx="1"/>
          </p:nvPr>
        </p:nvSpPr>
        <p:spPr/>
        <p:txBody>
          <a:bodyPr>
            <a:normAutofit/>
          </a:bodyPr>
          <a:lstStyle/>
          <a:p>
            <a:pPr>
              <a:lnSpc>
                <a:spcPct val="90000"/>
              </a:lnSpc>
            </a:pPr>
            <a:r>
              <a:rPr lang="en-US" sz="2200" dirty="0">
                <a:solidFill>
                  <a:srgbClr val="333333"/>
                </a:solidFill>
                <a:latin typeface="Times New Roman" panose="02020603050405020304" pitchFamily="18" charset="0"/>
                <a:cs typeface="Times New Roman" panose="02020603050405020304" pitchFamily="18" charset="0"/>
              </a:rPr>
              <a:t>The description of the database which is designed in the early stage and is not expected to change frequently is called the database schema</a:t>
            </a:r>
          </a:p>
          <a:p>
            <a:pPr>
              <a:lnSpc>
                <a:spcPct val="90000"/>
              </a:lnSpc>
            </a:pPr>
            <a:r>
              <a:rPr lang="en-US" sz="2200" dirty="0">
                <a:solidFill>
                  <a:srgbClr val="333333"/>
                </a:solidFill>
                <a:latin typeface="Times New Roman" panose="02020603050405020304" pitchFamily="18" charset="0"/>
                <a:cs typeface="Times New Roman" panose="02020603050405020304" pitchFamily="18" charset="0"/>
              </a:rPr>
              <a:t>The description of a database is called the database schema, which is specified during database design and is not expected to change frequently.</a:t>
            </a:r>
          </a:p>
          <a:p>
            <a:pPr>
              <a:lnSpc>
                <a:spcPct val="90000"/>
              </a:lnSpc>
            </a:pPr>
            <a:r>
              <a:rPr lang="en-US" sz="2200" dirty="0">
                <a:solidFill>
                  <a:srgbClr val="333333"/>
                </a:solidFill>
                <a:latin typeface="Times New Roman" panose="02020603050405020304" pitchFamily="18" charset="0"/>
                <a:cs typeface="Times New Roman" panose="02020603050405020304" pitchFamily="18" charset="0"/>
              </a:rPr>
              <a:t>The overall design of the database is called the database schema.</a:t>
            </a:r>
          </a:p>
          <a:p>
            <a:r>
              <a:rPr lang="en-US" sz="2200" dirty="0">
                <a:solidFill>
                  <a:srgbClr val="333333"/>
                </a:solidFill>
                <a:latin typeface="Times New Roman" panose="02020603050405020304" pitchFamily="18" charset="0"/>
                <a:cs typeface="Times New Roman" panose="02020603050405020304" pitchFamily="18" charset="0"/>
              </a:rPr>
              <a:t>Schema changes are usually needed as the requirements of the database applications change.</a:t>
            </a:r>
          </a:p>
          <a:p>
            <a:r>
              <a:rPr lang="en-GB" sz="2200" dirty="0">
                <a:solidFill>
                  <a:srgbClr val="333333"/>
                </a:solidFill>
                <a:latin typeface="Times New Roman" panose="02020603050405020304" pitchFamily="18" charset="0"/>
                <a:cs typeface="Times New Roman" panose="02020603050405020304" pitchFamily="18" charset="0"/>
              </a:rPr>
              <a:t>Defined at different levels to separate user applications from the physical database </a:t>
            </a:r>
          </a:p>
          <a:p>
            <a:pPr>
              <a:lnSpc>
                <a:spcPct val="90000"/>
              </a:lnSpc>
            </a:pPr>
            <a:endParaRPr lang="en-US" sz="2200" dirty="0">
              <a:solidFill>
                <a:srgbClr val="333333"/>
              </a:solidFill>
              <a:latin typeface="Times New Roman" panose="02020603050405020304" pitchFamily="18" charset="0"/>
              <a:cs typeface="Times New Roman" panose="02020603050405020304" pitchFamily="18" charset="0"/>
            </a:endParaRPr>
          </a:p>
          <a:p>
            <a:endParaRPr lang="en-GB" dirty="0"/>
          </a:p>
        </p:txBody>
      </p:sp>
      <p:sp>
        <p:nvSpPr>
          <p:cNvPr id="4" name="Slide Number Placeholder 3">
            <a:extLst>
              <a:ext uri="{FF2B5EF4-FFF2-40B4-BE49-F238E27FC236}">
                <a16:creationId xmlns:a16="http://schemas.microsoft.com/office/drawing/2014/main" id="{D1F4D05F-AE78-8529-50D0-85DC21C47373}"/>
              </a:ext>
            </a:extLst>
          </p:cNvPr>
          <p:cNvSpPr>
            <a:spLocks noGrp="1"/>
          </p:cNvSpPr>
          <p:nvPr>
            <p:ph type="sldNum" sz="quarter" idx="12"/>
          </p:nvPr>
        </p:nvSpPr>
        <p:spPr/>
        <p:txBody>
          <a:bodyPr/>
          <a:lstStyle/>
          <a:p>
            <a:fld id="{0D75743D-FFBA-49B6-8C74-0691B41B7954}" type="slidenum">
              <a:rPr lang="en-GB" smtClean="0"/>
              <a:t>16</a:t>
            </a:fld>
            <a:endParaRPr lang="en-GB"/>
          </a:p>
        </p:txBody>
      </p:sp>
    </p:spTree>
    <p:extLst>
      <p:ext uri="{BB962C8B-B14F-4D97-AF65-F5344CB8AC3E}">
        <p14:creationId xmlns:p14="http://schemas.microsoft.com/office/powerpoint/2010/main" val="2092624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2B41-B93C-4D5F-86F1-52BF281F2F30}"/>
              </a:ext>
            </a:extLst>
          </p:cNvPr>
          <p:cNvSpPr>
            <a:spLocks noGrp="1"/>
          </p:cNvSpPr>
          <p:nvPr>
            <p:ph type="title"/>
          </p:nvPr>
        </p:nvSpPr>
        <p:spPr/>
        <p:txBody>
          <a:bodyPr/>
          <a:lstStyle/>
          <a:p>
            <a:r>
              <a:rPr lang="en-US" dirty="0"/>
              <a:t>Database schema</a:t>
            </a:r>
            <a:endParaRPr lang="en-GB" dirty="0"/>
          </a:p>
        </p:txBody>
      </p:sp>
      <p:sp>
        <p:nvSpPr>
          <p:cNvPr id="3" name="Content Placeholder 2">
            <a:extLst>
              <a:ext uri="{FF2B5EF4-FFF2-40B4-BE49-F238E27FC236}">
                <a16:creationId xmlns:a16="http://schemas.microsoft.com/office/drawing/2014/main" id="{8056F696-A753-4FC9-A2C6-ACC099127646}"/>
              </a:ext>
            </a:extLst>
          </p:cNvPr>
          <p:cNvSpPr>
            <a:spLocks noGrp="1"/>
          </p:cNvSpPr>
          <p:nvPr>
            <p:ph idx="1"/>
          </p:nvPr>
        </p:nvSpPr>
        <p:spPr/>
        <p:txBody>
          <a:bodyPr>
            <a:normAutofit/>
          </a:bodyPr>
          <a:lstStyle/>
          <a:p>
            <a:pPr marL="0" indent="0">
              <a:buNone/>
            </a:pPr>
            <a:r>
              <a:rPr lang="en-US" dirty="0">
                <a:solidFill>
                  <a:schemeClr val="accent5"/>
                </a:solidFill>
                <a:latin typeface="Times New Roman" panose="02020603050405020304" pitchFamily="18" charset="0"/>
                <a:cs typeface="Times New Roman" panose="02020603050405020304" pitchFamily="18" charset="0"/>
              </a:rPr>
              <a:t>1. </a:t>
            </a:r>
            <a:r>
              <a:rPr lang="en-US" b="1" dirty="0">
                <a:solidFill>
                  <a:schemeClr val="accent5"/>
                </a:solidFill>
                <a:latin typeface="Times New Roman" panose="02020603050405020304" pitchFamily="18" charset="0"/>
                <a:cs typeface="Times New Roman" panose="02020603050405020304" pitchFamily="18" charset="0"/>
              </a:rPr>
              <a:t>I</a:t>
            </a:r>
            <a:r>
              <a:rPr lang="en-US" b="1" i="0" dirty="0">
                <a:solidFill>
                  <a:schemeClr val="accent5"/>
                </a:solidFill>
                <a:effectLst/>
                <a:latin typeface="Times New Roman" panose="02020603050405020304" pitchFamily="18" charset="0"/>
                <a:cs typeface="Times New Roman" panose="02020603050405020304" pitchFamily="18" charset="0"/>
              </a:rPr>
              <a:t>nternal schema</a:t>
            </a:r>
            <a:r>
              <a:rPr lang="en-US" b="0" i="0" dirty="0">
                <a:solidFill>
                  <a:srgbClr val="333333"/>
                </a:solidFill>
                <a:effectLst/>
                <a:latin typeface="Times New Roman" panose="02020603050405020304" pitchFamily="18" charset="0"/>
                <a:cs typeface="Times New Roman" panose="02020603050405020304" pitchFamily="18" charset="0"/>
              </a:rPr>
              <a:t>, which describes the physical storage structure of the database. </a:t>
            </a:r>
          </a:p>
          <a:p>
            <a:r>
              <a:rPr lang="en-US" b="0" i="0" dirty="0">
                <a:solidFill>
                  <a:srgbClr val="333333"/>
                </a:solidFill>
                <a:effectLst/>
                <a:latin typeface="Times New Roman" panose="02020603050405020304" pitchFamily="18" charset="0"/>
                <a:cs typeface="Times New Roman" panose="02020603050405020304" pitchFamily="18" charset="0"/>
              </a:rPr>
              <a:t>The internal schema uses a physical data model and describes the complete details of data storage and access paths for the database.</a:t>
            </a:r>
          </a:p>
          <a:p>
            <a:pPr marL="0" indent="0">
              <a:buNone/>
            </a:pPr>
            <a:r>
              <a:rPr lang="en-US" dirty="0"/>
              <a:t>2. </a:t>
            </a:r>
            <a:r>
              <a:rPr lang="en-US" b="1" dirty="0">
                <a:solidFill>
                  <a:schemeClr val="accent5"/>
                </a:solidFill>
                <a:latin typeface="Times New Roman" panose="02020603050405020304" pitchFamily="18" charset="0"/>
                <a:cs typeface="Times New Roman" panose="02020603050405020304" pitchFamily="18" charset="0"/>
              </a:rPr>
              <a:t>Conceptual schema</a:t>
            </a:r>
            <a:r>
              <a:rPr lang="en-US" dirty="0">
                <a:solidFill>
                  <a:schemeClr val="accent5"/>
                </a:solidFill>
                <a:latin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cs typeface="Times New Roman" panose="02020603050405020304" pitchFamily="18" charset="0"/>
              </a:rPr>
              <a:t>which describes the structure of the whole database for a community of users. </a:t>
            </a:r>
          </a:p>
          <a:p>
            <a:r>
              <a:rPr lang="en-US" dirty="0">
                <a:solidFill>
                  <a:srgbClr val="333333"/>
                </a:solidFill>
                <a:latin typeface="Times New Roman" panose="02020603050405020304" pitchFamily="18" charset="0"/>
                <a:cs typeface="Times New Roman" panose="02020603050405020304" pitchFamily="18" charset="0"/>
              </a:rPr>
              <a:t>The conceptual schema hides the details of physical storage structures and concentrates on describing entities, data types, relationships, user operations, and constraints. </a:t>
            </a:r>
          </a:p>
          <a:p>
            <a:pPr marL="457200" indent="-457200">
              <a:buAutoNum type="arabicPeriod"/>
            </a:pPr>
            <a:endParaRPr lang="en-US" b="0" i="0" dirty="0">
              <a:solidFill>
                <a:srgbClr val="333333"/>
              </a:solidFill>
              <a:effectLst/>
              <a:latin typeface="Times New Roman" panose="02020603050405020304" pitchFamily="18" charset="0"/>
              <a:cs typeface="Times New Roman" panose="02020603050405020304" pitchFamily="18" charset="0"/>
            </a:endParaRPr>
          </a:p>
          <a:p>
            <a:pPr marL="457200" indent="-457200">
              <a:buAutoNum type="arabicPeriod"/>
            </a:pPr>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9813E4F-DBB0-C7CD-BE1F-6A47ACF1A3D3}"/>
              </a:ext>
            </a:extLst>
          </p:cNvPr>
          <p:cNvSpPr>
            <a:spLocks noGrp="1"/>
          </p:cNvSpPr>
          <p:nvPr>
            <p:ph type="sldNum" sz="quarter" idx="12"/>
          </p:nvPr>
        </p:nvSpPr>
        <p:spPr/>
        <p:txBody>
          <a:bodyPr/>
          <a:lstStyle/>
          <a:p>
            <a:fld id="{0D75743D-FFBA-49B6-8C74-0691B41B7954}" type="slidenum">
              <a:rPr lang="en-GB" smtClean="0"/>
              <a:t>17</a:t>
            </a:fld>
            <a:endParaRPr lang="en-GB"/>
          </a:p>
        </p:txBody>
      </p:sp>
    </p:spTree>
    <p:extLst>
      <p:ext uri="{BB962C8B-B14F-4D97-AF65-F5344CB8AC3E}">
        <p14:creationId xmlns:p14="http://schemas.microsoft.com/office/powerpoint/2010/main" val="3271968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8FDD-C444-45F0-B43B-A5FBE8C6686E}"/>
              </a:ext>
            </a:extLst>
          </p:cNvPr>
          <p:cNvSpPr>
            <a:spLocks noGrp="1"/>
          </p:cNvSpPr>
          <p:nvPr>
            <p:ph type="title"/>
          </p:nvPr>
        </p:nvSpPr>
        <p:spPr/>
        <p:txBody>
          <a:bodyPr/>
          <a:lstStyle/>
          <a:p>
            <a:r>
              <a:rPr lang="en-US" dirty="0"/>
              <a:t>Database schema</a:t>
            </a:r>
            <a:endParaRPr lang="en-GB" dirty="0"/>
          </a:p>
        </p:txBody>
      </p:sp>
      <p:sp>
        <p:nvSpPr>
          <p:cNvPr id="3" name="Content Placeholder 2">
            <a:extLst>
              <a:ext uri="{FF2B5EF4-FFF2-40B4-BE49-F238E27FC236}">
                <a16:creationId xmlns:a16="http://schemas.microsoft.com/office/drawing/2014/main" id="{BF7DE8F1-DF58-4BD1-B256-95107EEE3EAE}"/>
              </a:ext>
            </a:extLst>
          </p:cNvPr>
          <p:cNvSpPr>
            <a:spLocks noGrp="1"/>
          </p:cNvSpPr>
          <p:nvPr>
            <p:ph idx="1"/>
          </p:nvPr>
        </p:nvSpPr>
        <p:spPr/>
        <p:txBody>
          <a:bodyPr>
            <a:normAutofit/>
          </a:bodyPr>
          <a:lstStyle/>
          <a:p>
            <a:pPr marL="0" indent="0">
              <a:buNone/>
            </a:pPr>
            <a:r>
              <a:rPr lang="en-US" dirty="0">
                <a:solidFill>
                  <a:srgbClr val="333333"/>
                </a:solidFill>
                <a:latin typeface="Open Sans" panose="020B0606030504020204" pitchFamily="34" charset="0"/>
              </a:rPr>
              <a:t>3. </a:t>
            </a:r>
            <a:r>
              <a:rPr lang="en-US" b="1" i="0" dirty="0">
                <a:solidFill>
                  <a:schemeClr val="accent5"/>
                </a:solidFill>
                <a:effectLst/>
                <a:latin typeface="Times New Roman" panose="02020603050405020304" pitchFamily="18" charset="0"/>
                <a:cs typeface="Times New Roman" panose="02020603050405020304" pitchFamily="18" charset="0"/>
              </a:rPr>
              <a:t>The external or view level </a:t>
            </a:r>
            <a:r>
              <a:rPr lang="en-US" b="0" i="0" dirty="0">
                <a:solidFill>
                  <a:srgbClr val="333333"/>
                </a:solidFill>
                <a:effectLst/>
                <a:latin typeface="Times New Roman" panose="02020603050405020304" pitchFamily="18" charset="0"/>
                <a:cs typeface="Times New Roman" panose="02020603050405020304" pitchFamily="18" charset="0"/>
              </a:rPr>
              <a:t>includes a number of external schemas or user views.</a:t>
            </a:r>
          </a:p>
          <a:p>
            <a:r>
              <a:rPr lang="en-US" b="0" i="0" dirty="0">
                <a:solidFill>
                  <a:srgbClr val="333333"/>
                </a:solidFill>
                <a:effectLst/>
                <a:latin typeface="Times New Roman" panose="02020603050405020304" pitchFamily="18" charset="0"/>
                <a:cs typeface="Times New Roman" panose="02020603050405020304" pitchFamily="18" charset="0"/>
              </a:rPr>
              <a:t> Each external schema describes the part of the database that a particular user group is interested in and hides the rest of the database from that user group.</a:t>
            </a:r>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5BE5B59-782B-9312-8C35-1A2AEB85DE1D}"/>
              </a:ext>
            </a:extLst>
          </p:cNvPr>
          <p:cNvSpPr>
            <a:spLocks noGrp="1"/>
          </p:cNvSpPr>
          <p:nvPr>
            <p:ph type="sldNum" sz="quarter" idx="12"/>
          </p:nvPr>
        </p:nvSpPr>
        <p:spPr/>
        <p:txBody>
          <a:bodyPr/>
          <a:lstStyle/>
          <a:p>
            <a:fld id="{0D75743D-FFBA-49B6-8C74-0691B41B7954}" type="slidenum">
              <a:rPr lang="en-GB" smtClean="0"/>
              <a:t>18</a:t>
            </a:fld>
            <a:endParaRPr lang="en-GB"/>
          </a:p>
        </p:txBody>
      </p:sp>
    </p:spTree>
    <p:extLst>
      <p:ext uri="{BB962C8B-B14F-4D97-AF65-F5344CB8AC3E}">
        <p14:creationId xmlns:p14="http://schemas.microsoft.com/office/powerpoint/2010/main" val="1722412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6EB2-C720-481C-92B2-31D9808EC877}"/>
              </a:ext>
            </a:extLst>
          </p:cNvPr>
          <p:cNvSpPr>
            <a:spLocks noGrp="1"/>
          </p:cNvSpPr>
          <p:nvPr>
            <p:ph type="title"/>
          </p:nvPr>
        </p:nvSpPr>
        <p:spPr/>
        <p:txBody>
          <a:bodyPr/>
          <a:lstStyle/>
          <a:p>
            <a:r>
              <a:rPr lang="en-US" dirty="0"/>
              <a:t>Database Schema</a:t>
            </a:r>
            <a:endParaRPr lang="en-GB" dirty="0"/>
          </a:p>
        </p:txBody>
      </p:sp>
      <p:sp>
        <p:nvSpPr>
          <p:cNvPr id="3" name="Content Placeholder 2">
            <a:extLst>
              <a:ext uri="{FF2B5EF4-FFF2-40B4-BE49-F238E27FC236}">
                <a16:creationId xmlns:a16="http://schemas.microsoft.com/office/drawing/2014/main" id="{3470D559-5525-4B42-9F74-C1FDEC168A5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schema of a database is held in the data dictionary or repository.</a:t>
            </a:r>
          </a:p>
          <a:p>
            <a:r>
              <a:rPr lang="en-US" b="0" i="0" dirty="0">
                <a:solidFill>
                  <a:srgbClr val="4D5156"/>
                </a:solidFill>
                <a:effectLst/>
                <a:latin typeface="Times New Roman" panose="02020603050405020304" pitchFamily="18" charset="0"/>
                <a:cs typeface="Times New Roman" panose="02020603050405020304" pitchFamily="18" charset="0"/>
              </a:rPr>
              <a:t>A </a:t>
            </a:r>
            <a:r>
              <a:rPr lang="en-US" i="0" dirty="0">
                <a:solidFill>
                  <a:schemeClr val="accent5"/>
                </a:solidFill>
                <a:effectLst/>
                <a:latin typeface="Times New Roman" panose="02020603050405020304" pitchFamily="18" charset="0"/>
                <a:cs typeface="Times New Roman" panose="02020603050405020304" pitchFamily="18" charset="0"/>
              </a:rPr>
              <a:t>data dictionary </a:t>
            </a:r>
            <a:r>
              <a:rPr lang="en-US" b="0" i="0" dirty="0">
                <a:solidFill>
                  <a:srgbClr val="4D5156"/>
                </a:solidFill>
                <a:effectLst/>
                <a:latin typeface="Times New Roman" panose="02020603050405020304" pitchFamily="18" charset="0"/>
                <a:cs typeface="Times New Roman" panose="02020603050405020304" pitchFamily="18" charset="0"/>
              </a:rPr>
              <a:t>contains metadata </a:t>
            </a:r>
            <a:r>
              <a:rPr lang="en-US" b="0" i="0" dirty="0" err="1">
                <a:solidFill>
                  <a:srgbClr val="4D5156"/>
                </a:solidFill>
                <a:effectLst/>
                <a:latin typeface="Times New Roman" panose="02020603050405020304" pitchFamily="18" charset="0"/>
                <a:cs typeface="Times New Roman" panose="02020603050405020304" pitchFamily="18" charset="0"/>
              </a:rPr>
              <a:t>i.e</a:t>
            </a:r>
            <a:r>
              <a:rPr lang="en-US" b="0" i="0" dirty="0">
                <a:solidFill>
                  <a:srgbClr val="4D5156"/>
                </a:solidFill>
                <a:effectLst/>
                <a:latin typeface="Times New Roman" panose="02020603050405020304" pitchFamily="18" charset="0"/>
                <a:cs typeface="Times New Roman" panose="02020603050405020304" pitchFamily="18" charset="0"/>
              </a:rPr>
              <a:t> data about the </a:t>
            </a:r>
            <a:r>
              <a:rPr lang="en-US" b="1" i="0" dirty="0">
                <a:solidFill>
                  <a:srgbClr val="5F6368"/>
                </a:solidFill>
                <a:effectLst/>
                <a:latin typeface="Times New Roman" panose="02020603050405020304" pitchFamily="18" charset="0"/>
                <a:cs typeface="Times New Roman" panose="02020603050405020304" pitchFamily="18" charset="0"/>
              </a:rPr>
              <a:t>database</a:t>
            </a:r>
            <a:r>
              <a:rPr lang="en-US" b="0" i="0" dirty="0">
                <a:solidFill>
                  <a:srgbClr val="4D5156"/>
                </a:solidFill>
                <a:effectLst/>
                <a:latin typeface="Times New Roman" panose="02020603050405020304" pitchFamily="18" charset="0"/>
                <a:cs typeface="Times New Roman" panose="02020603050405020304" pitchFamily="18" charset="0"/>
              </a:rPr>
              <a:t>.</a:t>
            </a:r>
            <a:endParaRPr lang="en-US" dirty="0">
              <a:solidFill>
                <a:srgbClr val="4D5156"/>
              </a:solidFill>
              <a:latin typeface="Times New Roman" panose="02020603050405020304" pitchFamily="18" charset="0"/>
              <a:cs typeface="Times New Roman" panose="02020603050405020304" pitchFamily="18" charset="0"/>
            </a:endParaRPr>
          </a:p>
          <a:p>
            <a:r>
              <a:rPr lang="en-US" b="1" i="0" dirty="0">
                <a:solidFill>
                  <a:srgbClr val="454957"/>
                </a:solidFill>
                <a:effectLst/>
                <a:latin typeface="Times New Roman" panose="02020603050405020304" pitchFamily="18" charset="0"/>
                <a:cs typeface="Times New Roman" panose="02020603050405020304" pitchFamily="18" charset="0"/>
              </a:rPr>
              <a:t>Data dictionary</a:t>
            </a:r>
            <a:r>
              <a:rPr lang="en-US" b="0" i="0" dirty="0">
                <a:solidFill>
                  <a:srgbClr val="454957"/>
                </a:solidFill>
                <a:effectLst/>
                <a:latin typeface="Times New Roman" panose="02020603050405020304" pitchFamily="18" charset="0"/>
                <a:cs typeface="Times New Roman" panose="02020603050405020304" pitchFamily="18" charset="0"/>
              </a:rPr>
              <a:t> is an inventory of data elements in a database or data model with detailed description of its format, relationships, meaning, source and usage.</a:t>
            </a:r>
            <a:endParaRPr lang="en-US" dirty="0">
              <a:latin typeface="Times New Roman" panose="02020603050405020304" pitchFamily="18" charset="0"/>
              <a:cs typeface="Times New Roman" panose="02020603050405020304" pitchFamily="18" charset="0"/>
            </a:endParaRPr>
          </a:p>
          <a:p>
            <a:endParaRPr lang="en-GB" dirty="0"/>
          </a:p>
        </p:txBody>
      </p:sp>
      <p:sp>
        <p:nvSpPr>
          <p:cNvPr id="4" name="Slide Number Placeholder 3">
            <a:extLst>
              <a:ext uri="{FF2B5EF4-FFF2-40B4-BE49-F238E27FC236}">
                <a16:creationId xmlns:a16="http://schemas.microsoft.com/office/drawing/2014/main" id="{B405AD31-E73B-9F7D-EFA5-7133ABBE3EC2}"/>
              </a:ext>
            </a:extLst>
          </p:cNvPr>
          <p:cNvSpPr>
            <a:spLocks noGrp="1"/>
          </p:cNvSpPr>
          <p:nvPr>
            <p:ph type="sldNum" sz="quarter" idx="12"/>
          </p:nvPr>
        </p:nvSpPr>
        <p:spPr/>
        <p:txBody>
          <a:bodyPr/>
          <a:lstStyle/>
          <a:p>
            <a:fld id="{0D75743D-FFBA-49B6-8C74-0691B41B7954}" type="slidenum">
              <a:rPr lang="en-GB" smtClean="0"/>
              <a:t>19</a:t>
            </a:fld>
            <a:endParaRPr lang="en-GB"/>
          </a:p>
        </p:txBody>
      </p:sp>
    </p:spTree>
    <p:extLst>
      <p:ext uri="{BB962C8B-B14F-4D97-AF65-F5344CB8AC3E}">
        <p14:creationId xmlns:p14="http://schemas.microsoft.com/office/powerpoint/2010/main" val="1254018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E2895-9CEF-42F9-8B55-87984A158D69}"/>
              </a:ext>
            </a:extLst>
          </p:cNvPr>
          <p:cNvSpPr>
            <a:spLocks noGrp="1"/>
          </p:cNvSpPr>
          <p:nvPr>
            <p:ph type="title"/>
          </p:nvPr>
        </p:nvSpPr>
        <p:spPr/>
        <p:txBody>
          <a:bodyPr/>
          <a:lstStyle/>
          <a:p>
            <a:r>
              <a:rPr lang="en-US" dirty="0"/>
              <a:t>Data dictionary </a:t>
            </a:r>
            <a:endParaRPr lang="en-GB" dirty="0"/>
          </a:p>
        </p:txBody>
      </p:sp>
      <p:pic>
        <p:nvPicPr>
          <p:cNvPr id="5" name="Content Placeholder 4">
            <a:extLst>
              <a:ext uri="{FF2B5EF4-FFF2-40B4-BE49-F238E27FC236}">
                <a16:creationId xmlns:a16="http://schemas.microsoft.com/office/drawing/2014/main" id="{A50C671D-D34E-4F0C-9555-3C6954D0A2F3}"/>
              </a:ext>
            </a:extLst>
          </p:cNvPr>
          <p:cNvPicPr>
            <a:picLocks noGrp="1" noChangeAspect="1"/>
          </p:cNvPicPr>
          <p:nvPr>
            <p:ph idx="1"/>
          </p:nvPr>
        </p:nvPicPr>
        <p:blipFill>
          <a:blip r:embed="rId2"/>
          <a:stretch>
            <a:fillRect/>
          </a:stretch>
        </p:blipFill>
        <p:spPr>
          <a:xfrm>
            <a:off x="1402556" y="3001962"/>
            <a:ext cx="8963025" cy="2590800"/>
          </a:xfrm>
        </p:spPr>
      </p:pic>
      <p:sp>
        <p:nvSpPr>
          <p:cNvPr id="3" name="Slide Number Placeholder 2">
            <a:extLst>
              <a:ext uri="{FF2B5EF4-FFF2-40B4-BE49-F238E27FC236}">
                <a16:creationId xmlns:a16="http://schemas.microsoft.com/office/drawing/2014/main" id="{92D500AB-DFEC-213A-7903-081139DD1FAC}"/>
              </a:ext>
            </a:extLst>
          </p:cNvPr>
          <p:cNvSpPr>
            <a:spLocks noGrp="1"/>
          </p:cNvSpPr>
          <p:nvPr>
            <p:ph type="sldNum" sz="quarter" idx="12"/>
          </p:nvPr>
        </p:nvSpPr>
        <p:spPr/>
        <p:txBody>
          <a:bodyPr/>
          <a:lstStyle/>
          <a:p>
            <a:fld id="{0D75743D-FFBA-49B6-8C74-0691B41B7954}" type="slidenum">
              <a:rPr lang="en-GB" smtClean="0"/>
              <a:t>20</a:t>
            </a:fld>
            <a:endParaRPr lang="en-GB"/>
          </a:p>
        </p:txBody>
      </p:sp>
    </p:spTree>
    <p:extLst>
      <p:ext uri="{BB962C8B-B14F-4D97-AF65-F5344CB8AC3E}">
        <p14:creationId xmlns:p14="http://schemas.microsoft.com/office/powerpoint/2010/main" val="1997076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4B566-4831-4BE2-B85B-5CD3FDE67240}"/>
              </a:ext>
            </a:extLst>
          </p:cNvPr>
          <p:cNvSpPr>
            <a:spLocks noGrp="1"/>
          </p:cNvSpPr>
          <p:nvPr>
            <p:ph type="title"/>
          </p:nvPr>
        </p:nvSpPr>
        <p:spPr/>
        <p:txBody>
          <a:bodyPr/>
          <a:lstStyle/>
          <a:p>
            <a:r>
              <a:rPr lang="en-US" dirty="0"/>
              <a:t>Database instance </a:t>
            </a:r>
            <a:endParaRPr lang="en-GB" dirty="0"/>
          </a:p>
        </p:txBody>
      </p:sp>
      <p:sp>
        <p:nvSpPr>
          <p:cNvPr id="3" name="Content Placeholder 2">
            <a:extLst>
              <a:ext uri="{FF2B5EF4-FFF2-40B4-BE49-F238E27FC236}">
                <a16:creationId xmlns:a16="http://schemas.microsoft.com/office/drawing/2014/main" id="{780453AF-0C90-4F3F-8E6F-2C791A9E3533}"/>
              </a:ext>
            </a:extLst>
          </p:cNvPr>
          <p:cNvSpPr>
            <a:spLocks noGrp="1"/>
          </p:cNvSpPr>
          <p:nvPr>
            <p:ph idx="1"/>
          </p:nvPr>
        </p:nvSpPr>
        <p:spPr/>
        <p:txBody>
          <a:bodyPr/>
          <a:lstStyle/>
          <a:p>
            <a:r>
              <a:rPr lang="en-US" b="0" i="0" dirty="0">
                <a:solidFill>
                  <a:srgbClr val="333333"/>
                </a:solidFill>
                <a:effectLst/>
                <a:latin typeface="Times New Roman" panose="02020603050405020304" pitchFamily="18" charset="0"/>
                <a:cs typeface="Times New Roman" panose="02020603050405020304" pitchFamily="18" charset="0"/>
              </a:rPr>
              <a:t>The collection of information stored in the database at a particular moment is called an instance of the database.</a:t>
            </a:r>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4930DB8-1C09-4FCA-9D37-B78FA374C4BD}"/>
              </a:ext>
            </a:extLst>
          </p:cNvPr>
          <p:cNvSpPr>
            <a:spLocks noGrp="1"/>
          </p:cNvSpPr>
          <p:nvPr>
            <p:ph type="sldNum" sz="quarter" idx="12"/>
          </p:nvPr>
        </p:nvSpPr>
        <p:spPr/>
        <p:txBody>
          <a:bodyPr/>
          <a:lstStyle/>
          <a:p>
            <a:fld id="{0D75743D-FFBA-49B6-8C74-0691B41B7954}" type="slidenum">
              <a:rPr lang="en-GB" smtClean="0"/>
              <a:t>21</a:t>
            </a:fld>
            <a:endParaRPr lang="en-GB"/>
          </a:p>
        </p:txBody>
      </p:sp>
    </p:spTree>
    <p:extLst>
      <p:ext uri="{BB962C8B-B14F-4D97-AF65-F5344CB8AC3E}">
        <p14:creationId xmlns:p14="http://schemas.microsoft.com/office/powerpoint/2010/main" val="3763468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E981D-B0D7-43D7-AAA6-ECDFC3A570A4}"/>
              </a:ext>
            </a:extLst>
          </p:cNvPr>
          <p:cNvSpPr>
            <a:spLocks noGrp="1"/>
          </p:cNvSpPr>
          <p:nvPr>
            <p:ph type="title"/>
          </p:nvPr>
        </p:nvSpPr>
        <p:spPr/>
        <p:txBody>
          <a:bodyPr/>
          <a:lstStyle/>
          <a:p>
            <a:r>
              <a:rPr lang="en-US" dirty="0"/>
              <a:t>Three tier architecture</a:t>
            </a:r>
            <a:endParaRPr lang="en-GB" dirty="0"/>
          </a:p>
        </p:txBody>
      </p:sp>
      <p:pic>
        <p:nvPicPr>
          <p:cNvPr id="5" name="Content Placeholder 4">
            <a:extLst>
              <a:ext uri="{FF2B5EF4-FFF2-40B4-BE49-F238E27FC236}">
                <a16:creationId xmlns:a16="http://schemas.microsoft.com/office/drawing/2014/main" id="{F8F26E32-96EF-4B87-8940-4CB65ACE2063}"/>
              </a:ext>
            </a:extLst>
          </p:cNvPr>
          <p:cNvPicPr>
            <a:picLocks noGrp="1" noChangeAspect="1"/>
          </p:cNvPicPr>
          <p:nvPr>
            <p:ph idx="1"/>
          </p:nvPr>
        </p:nvPicPr>
        <p:blipFill>
          <a:blip r:embed="rId3"/>
          <a:stretch>
            <a:fillRect/>
          </a:stretch>
        </p:blipFill>
        <p:spPr>
          <a:xfrm>
            <a:off x="2867025" y="2286000"/>
            <a:ext cx="6034087" cy="4022725"/>
          </a:xfrm>
        </p:spPr>
      </p:pic>
      <p:sp>
        <p:nvSpPr>
          <p:cNvPr id="3" name="Slide Number Placeholder 2">
            <a:extLst>
              <a:ext uri="{FF2B5EF4-FFF2-40B4-BE49-F238E27FC236}">
                <a16:creationId xmlns:a16="http://schemas.microsoft.com/office/drawing/2014/main" id="{CD3E9FDD-C9F9-95EE-C997-B04A1768E14D}"/>
              </a:ext>
            </a:extLst>
          </p:cNvPr>
          <p:cNvSpPr>
            <a:spLocks noGrp="1"/>
          </p:cNvSpPr>
          <p:nvPr>
            <p:ph type="sldNum" sz="quarter" idx="12"/>
          </p:nvPr>
        </p:nvSpPr>
        <p:spPr/>
        <p:txBody>
          <a:bodyPr/>
          <a:lstStyle/>
          <a:p>
            <a:fld id="{0D75743D-FFBA-49B6-8C74-0691B41B7954}" type="slidenum">
              <a:rPr lang="en-GB" smtClean="0"/>
              <a:t>22</a:t>
            </a:fld>
            <a:endParaRPr lang="en-GB"/>
          </a:p>
        </p:txBody>
      </p:sp>
    </p:spTree>
    <p:extLst>
      <p:ext uri="{BB962C8B-B14F-4D97-AF65-F5344CB8AC3E}">
        <p14:creationId xmlns:p14="http://schemas.microsoft.com/office/powerpoint/2010/main" val="1493090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B15A2-238E-44CE-8D05-FDB102535E60}"/>
              </a:ext>
            </a:extLst>
          </p:cNvPr>
          <p:cNvSpPr>
            <a:spLocks noGrp="1"/>
          </p:cNvSpPr>
          <p:nvPr>
            <p:ph type="title"/>
          </p:nvPr>
        </p:nvSpPr>
        <p:spPr/>
        <p:txBody>
          <a:bodyPr/>
          <a:lstStyle/>
          <a:p>
            <a:r>
              <a:rPr lang="en-US" dirty="0"/>
              <a:t>Types of database systems</a:t>
            </a:r>
            <a:endParaRPr lang="en-GB" dirty="0"/>
          </a:p>
        </p:txBody>
      </p:sp>
      <p:sp>
        <p:nvSpPr>
          <p:cNvPr id="3" name="Content Placeholder 2">
            <a:extLst>
              <a:ext uri="{FF2B5EF4-FFF2-40B4-BE49-F238E27FC236}">
                <a16:creationId xmlns:a16="http://schemas.microsoft.com/office/drawing/2014/main" id="{24BBFBA7-9447-43BD-B348-5766D040478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Classification can be done based on</a:t>
            </a:r>
          </a:p>
          <a:p>
            <a:pPr marL="457200" indent="-457200">
              <a:buAutoNum type="arabicPeriod"/>
            </a:pPr>
            <a:r>
              <a:rPr lang="en-US" dirty="0">
                <a:latin typeface="Times New Roman" panose="02020603050405020304" pitchFamily="18" charset="0"/>
                <a:cs typeface="Times New Roman" panose="02020603050405020304" pitchFamily="18" charset="0"/>
              </a:rPr>
              <a:t>data models (relational, hierarchical, network, object oriented)</a:t>
            </a:r>
          </a:p>
          <a:p>
            <a:pPr marL="457200" indent="-457200">
              <a:buAutoNum type="arabicPeriod"/>
            </a:pPr>
            <a:r>
              <a:rPr lang="en-US" dirty="0">
                <a:latin typeface="Times New Roman" panose="02020603050405020304" pitchFamily="18" charset="0"/>
                <a:cs typeface="Times New Roman" panose="02020603050405020304" pitchFamily="18" charset="0"/>
              </a:rPr>
              <a:t>Number of users (single user/ personal, multi-user/organizational)</a:t>
            </a:r>
          </a:p>
          <a:p>
            <a:pPr marL="457200" indent="-457200">
              <a:buAutoNum type="arabicPeriod"/>
            </a:pPr>
            <a:r>
              <a:rPr lang="en-US" dirty="0">
                <a:latin typeface="Times New Roman" panose="02020603050405020304" pitchFamily="18" charset="0"/>
                <a:cs typeface="Times New Roman" panose="02020603050405020304" pitchFamily="18" charset="0"/>
              </a:rPr>
              <a:t>Ways database is distributed (centralized, distributed, homogenous distributed, heterogenous distributed)</a:t>
            </a:r>
          </a:p>
          <a:p>
            <a:pPr marL="457200" indent="-457200">
              <a:buAutoNum type="arabicPeriod"/>
            </a:pPr>
            <a:endParaRPr lang="en-GB" dirty="0"/>
          </a:p>
        </p:txBody>
      </p:sp>
      <p:sp>
        <p:nvSpPr>
          <p:cNvPr id="4" name="Slide Number Placeholder 3">
            <a:extLst>
              <a:ext uri="{FF2B5EF4-FFF2-40B4-BE49-F238E27FC236}">
                <a16:creationId xmlns:a16="http://schemas.microsoft.com/office/drawing/2014/main" id="{54434E8C-37FB-80C0-E446-4646FF88461B}"/>
              </a:ext>
            </a:extLst>
          </p:cNvPr>
          <p:cNvSpPr>
            <a:spLocks noGrp="1"/>
          </p:cNvSpPr>
          <p:nvPr>
            <p:ph type="sldNum" sz="quarter" idx="12"/>
          </p:nvPr>
        </p:nvSpPr>
        <p:spPr/>
        <p:txBody>
          <a:bodyPr/>
          <a:lstStyle/>
          <a:p>
            <a:fld id="{0D75743D-FFBA-49B6-8C74-0691B41B7954}" type="slidenum">
              <a:rPr lang="en-GB" smtClean="0"/>
              <a:t>23</a:t>
            </a:fld>
            <a:endParaRPr lang="en-GB"/>
          </a:p>
        </p:txBody>
      </p:sp>
    </p:spTree>
    <p:extLst>
      <p:ext uri="{BB962C8B-B14F-4D97-AF65-F5344CB8AC3E}">
        <p14:creationId xmlns:p14="http://schemas.microsoft.com/office/powerpoint/2010/main" val="2036661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75A2-75C7-4CD1-BF86-2A8D3F267F71}"/>
              </a:ext>
            </a:extLst>
          </p:cNvPr>
          <p:cNvSpPr>
            <a:spLocks noGrp="1"/>
          </p:cNvSpPr>
          <p:nvPr>
            <p:ph type="title"/>
          </p:nvPr>
        </p:nvSpPr>
        <p:spPr/>
        <p:txBody>
          <a:bodyPr/>
          <a:lstStyle/>
          <a:p>
            <a:r>
              <a:rPr lang="en-US" dirty="0"/>
              <a:t>Relational model</a:t>
            </a:r>
            <a:endParaRPr lang="en-GB" dirty="0"/>
          </a:p>
        </p:txBody>
      </p:sp>
      <p:sp>
        <p:nvSpPr>
          <p:cNvPr id="3" name="Content Placeholder 2">
            <a:extLst>
              <a:ext uri="{FF2B5EF4-FFF2-40B4-BE49-F238E27FC236}">
                <a16:creationId xmlns:a16="http://schemas.microsoft.com/office/drawing/2014/main" id="{1BDF1C1E-2BEE-4284-8FF8-20F9CBA1978D}"/>
              </a:ext>
            </a:extLst>
          </p:cNvPr>
          <p:cNvSpPr>
            <a:spLocks noGrp="1"/>
          </p:cNvSpPr>
          <p:nvPr>
            <p:ph idx="1"/>
          </p:nvPr>
        </p:nvSpPr>
        <p:spPr/>
        <p:txBody>
          <a:bodyPr>
            <a:normAutofit fontScale="92500"/>
          </a:bodyPr>
          <a:lstStyle/>
          <a:p>
            <a:r>
              <a:rPr lang="en-US" b="0" i="0" dirty="0">
                <a:solidFill>
                  <a:srgbClr val="333333"/>
                </a:solidFill>
                <a:effectLst/>
                <a:latin typeface="Times New Roman" panose="02020603050405020304" pitchFamily="18" charset="0"/>
                <a:cs typeface="Times New Roman" panose="02020603050405020304" pitchFamily="18" charset="0"/>
              </a:rPr>
              <a:t>The relational model uses a collection of </a:t>
            </a:r>
            <a:r>
              <a:rPr lang="en-US" b="1" i="0" dirty="0">
                <a:solidFill>
                  <a:schemeClr val="accent5"/>
                </a:solidFill>
                <a:effectLst/>
                <a:latin typeface="Times New Roman" panose="02020603050405020304" pitchFamily="18" charset="0"/>
                <a:cs typeface="Times New Roman" panose="02020603050405020304" pitchFamily="18" charset="0"/>
              </a:rPr>
              <a:t>tables</a:t>
            </a:r>
            <a:r>
              <a:rPr lang="en-US" b="0" i="0" dirty="0">
                <a:solidFill>
                  <a:srgbClr val="333333"/>
                </a:solidFill>
                <a:effectLst/>
                <a:latin typeface="Times New Roman" panose="02020603050405020304" pitchFamily="18" charset="0"/>
                <a:cs typeface="Times New Roman" panose="02020603050405020304" pitchFamily="18" charset="0"/>
              </a:rPr>
              <a:t> to represent both data and the relationships among those data. </a:t>
            </a:r>
          </a:p>
          <a:p>
            <a:r>
              <a:rPr lang="en-US" b="0" i="0" dirty="0">
                <a:solidFill>
                  <a:srgbClr val="333333"/>
                </a:solidFill>
                <a:effectLst/>
                <a:latin typeface="Times New Roman" panose="02020603050405020304" pitchFamily="18" charset="0"/>
                <a:cs typeface="Times New Roman" panose="02020603050405020304" pitchFamily="18" charset="0"/>
              </a:rPr>
              <a:t>Each table has multiple </a:t>
            </a:r>
            <a:r>
              <a:rPr lang="en-US" b="0" i="0" dirty="0">
                <a:solidFill>
                  <a:schemeClr val="accent5"/>
                </a:solidFill>
                <a:effectLst/>
                <a:latin typeface="Times New Roman" panose="02020603050405020304" pitchFamily="18" charset="0"/>
                <a:cs typeface="Times New Roman" panose="02020603050405020304" pitchFamily="18" charset="0"/>
              </a:rPr>
              <a:t>columns</a:t>
            </a:r>
            <a:r>
              <a:rPr lang="en-US" b="0" i="0" dirty="0">
                <a:solidFill>
                  <a:srgbClr val="333333"/>
                </a:solidFill>
                <a:effectLst/>
                <a:latin typeface="Times New Roman" panose="02020603050405020304" pitchFamily="18" charset="0"/>
                <a:cs typeface="Times New Roman" panose="02020603050405020304" pitchFamily="18" charset="0"/>
              </a:rPr>
              <a:t>, and each column has a </a:t>
            </a:r>
            <a:r>
              <a:rPr lang="en-US" b="0" i="0" dirty="0">
                <a:solidFill>
                  <a:schemeClr val="accent5"/>
                </a:solidFill>
                <a:effectLst/>
                <a:latin typeface="Times New Roman" panose="02020603050405020304" pitchFamily="18" charset="0"/>
                <a:cs typeface="Times New Roman" panose="02020603050405020304" pitchFamily="18" charset="0"/>
              </a:rPr>
              <a:t>unique</a:t>
            </a:r>
            <a:r>
              <a:rPr lang="en-US" b="0" i="0" dirty="0">
                <a:solidFill>
                  <a:srgbClr val="333333"/>
                </a:solidFill>
                <a:effectLst/>
                <a:latin typeface="Times New Roman" panose="02020603050405020304" pitchFamily="18" charset="0"/>
                <a:cs typeface="Times New Roman" panose="02020603050405020304" pitchFamily="18" charset="0"/>
              </a:rPr>
              <a:t> name.</a:t>
            </a:r>
          </a:p>
          <a:p>
            <a:r>
              <a:rPr lang="en-US" b="0" i="0" dirty="0">
                <a:solidFill>
                  <a:srgbClr val="333333"/>
                </a:solidFill>
                <a:effectLst/>
                <a:latin typeface="Times New Roman" panose="02020603050405020304" pitchFamily="18" charset="0"/>
                <a:cs typeface="Times New Roman" panose="02020603050405020304" pitchFamily="18" charset="0"/>
              </a:rPr>
              <a:t>The data is arranged in a </a:t>
            </a:r>
            <a:r>
              <a:rPr lang="en-US" b="0" i="0" dirty="0">
                <a:solidFill>
                  <a:schemeClr val="accent5"/>
                </a:solidFill>
                <a:effectLst/>
                <a:latin typeface="Times New Roman" panose="02020603050405020304" pitchFamily="18" charset="0"/>
                <a:cs typeface="Times New Roman" panose="02020603050405020304" pitchFamily="18" charset="0"/>
              </a:rPr>
              <a:t>relation </a:t>
            </a:r>
            <a:r>
              <a:rPr lang="en-US" b="0" i="0" dirty="0">
                <a:solidFill>
                  <a:srgbClr val="333333"/>
                </a:solidFill>
                <a:effectLst/>
                <a:latin typeface="Times New Roman" panose="02020603050405020304" pitchFamily="18" charset="0"/>
                <a:cs typeface="Times New Roman" panose="02020603050405020304" pitchFamily="18" charset="0"/>
              </a:rPr>
              <a:t>which is visually represented in a </a:t>
            </a:r>
            <a:r>
              <a:rPr lang="en-US" b="0" i="0" dirty="0">
                <a:solidFill>
                  <a:schemeClr val="accent5"/>
                </a:solidFill>
                <a:effectLst/>
                <a:latin typeface="Times New Roman" panose="02020603050405020304" pitchFamily="18" charset="0"/>
                <a:cs typeface="Times New Roman" panose="02020603050405020304" pitchFamily="18" charset="0"/>
              </a:rPr>
              <a:t>two dimensional </a:t>
            </a:r>
            <a:r>
              <a:rPr lang="en-US" b="0" i="0" dirty="0">
                <a:solidFill>
                  <a:srgbClr val="333333"/>
                </a:solidFill>
                <a:effectLst/>
                <a:latin typeface="Times New Roman" panose="02020603050405020304" pitchFamily="18" charset="0"/>
                <a:cs typeface="Times New Roman" panose="02020603050405020304" pitchFamily="18" charset="0"/>
              </a:rPr>
              <a:t>table.</a:t>
            </a:r>
          </a:p>
          <a:p>
            <a:r>
              <a:rPr lang="en-US" b="0" i="0" dirty="0">
                <a:solidFill>
                  <a:srgbClr val="333333"/>
                </a:solidFill>
                <a:effectLst/>
                <a:latin typeface="Times New Roman" panose="02020603050405020304" pitchFamily="18" charset="0"/>
                <a:cs typeface="Times New Roman" panose="02020603050405020304" pitchFamily="18" charset="0"/>
              </a:rPr>
              <a:t>a </a:t>
            </a:r>
            <a:r>
              <a:rPr lang="en-US" b="0" i="0" dirty="0">
                <a:solidFill>
                  <a:schemeClr val="accent5"/>
                </a:solidFill>
                <a:effectLst/>
                <a:latin typeface="Times New Roman" panose="02020603050405020304" pitchFamily="18" charset="0"/>
                <a:cs typeface="Times New Roman" panose="02020603050405020304" pitchFamily="18" charset="0"/>
              </a:rPr>
              <a:t>tuple</a:t>
            </a:r>
            <a:r>
              <a:rPr lang="en-US" b="0" i="0" dirty="0">
                <a:solidFill>
                  <a:srgbClr val="333333"/>
                </a:solidFill>
                <a:effectLst/>
                <a:latin typeface="Times New Roman" panose="02020603050405020304" pitchFamily="18" charset="0"/>
                <a:cs typeface="Times New Roman" panose="02020603050405020304" pitchFamily="18" charset="0"/>
              </a:rPr>
              <a:t> is represented by a row,</a:t>
            </a:r>
          </a:p>
          <a:p>
            <a:r>
              <a:rPr lang="en-US" b="0" i="0" dirty="0">
                <a:solidFill>
                  <a:srgbClr val="333333"/>
                </a:solidFill>
                <a:effectLst/>
                <a:latin typeface="Times New Roman" panose="02020603050405020304" pitchFamily="18" charset="0"/>
                <a:cs typeface="Times New Roman" panose="02020603050405020304" pitchFamily="18" charset="0"/>
              </a:rPr>
              <a:t> an </a:t>
            </a:r>
            <a:r>
              <a:rPr lang="en-US" b="1" i="0" dirty="0">
                <a:solidFill>
                  <a:schemeClr val="accent5"/>
                </a:solidFill>
                <a:effectLst/>
                <a:latin typeface="Times New Roman" panose="02020603050405020304" pitchFamily="18" charset="0"/>
                <a:cs typeface="Times New Roman" panose="02020603050405020304" pitchFamily="18" charset="0"/>
              </a:rPr>
              <a:t>attribute</a:t>
            </a:r>
            <a:r>
              <a:rPr lang="en-US" b="0" i="0" dirty="0">
                <a:solidFill>
                  <a:srgbClr val="333333"/>
                </a:solidFill>
                <a:effectLst/>
                <a:latin typeface="Times New Roman" panose="02020603050405020304" pitchFamily="18" charset="0"/>
                <a:cs typeface="Times New Roman" panose="02020603050405020304" pitchFamily="18" charset="0"/>
              </a:rPr>
              <a:t> is represented by a column of the table,</a:t>
            </a:r>
          </a:p>
          <a:p>
            <a:r>
              <a:rPr lang="en-US" b="0" i="0" dirty="0">
                <a:solidFill>
                  <a:srgbClr val="333333"/>
                </a:solidFill>
                <a:effectLst/>
                <a:latin typeface="Times New Roman" panose="02020603050405020304" pitchFamily="18" charset="0"/>
                <a:cs typeface="Times New Roman" panose="02020603050405020304" pitchFamily="18" charset="0"/>
              </a:rPr>
              <a:t> attribute name is the name of the column</a:t>
            </a:r>
          </a:p>
          <a:p>
            <a:r>
              <a:rPr lang="en-US" b="0" i="0" dirty="0">
                <a:solidFill>
                  <a:schemeClr val="accent5"/>
                </a:solidFill>
                <a:effectLst/>
                <a:latin typeface="Times New Roman" panose="02020603050405020304" pitchFamily="18" charset="0"/>
                <a:cs typeface="Times New Roman" panose="02020603050405020304" pitchFamily="18" charset="0"/>
              </a:rPr>
              <a:t>attribute value </a:t>
            </a:r>
            <a:r>
              <a:rPr lang="en-US" b="0" i="0" dirty="0">
                <a:solidFill>
                  <a:srgbClr val="333333"/>
                </a:solidFill>
                <a:effectLst/>
                <a:latin typeface="Times New Roman" panose="02020603050405020304" pitchFamily="18" charset="0"/>
                <a:cs typeface="Times New Roman" panose="02020603050405020304" pitchFamily="18" charset="0"/>
              </a:rPr>
              <a:t>contains the value for column in the row.</a:t>
            </a:r>
          </a:p>
          <a:p>
            <a:r>
              <a:rPr lang="en-US" dirty="0">
                <a:solidFill>
                  <a:srgbClr val="333333"/>
                </a:solidFill>
                <a:latin typeface="Times New Roman" panose="02020603050405020304" pitchFamily="18" charset="0"/>
                <a:cs typeface="Times New Roman" panose="02020603050405020304" pitchFamily="18" charset="0"/>
              </a:rPr>
              <a:t>Values in a column are of a specific type, i.e. all values have </a:t>
            </a:r>
            <a:r>
              <a:rPr lang="en-US" dirty="0">
                <a:solidFill>
                  <a:schemeClr val="accent5"/>
                </a:solidFill>
                <a:latin typeface="Times New Roman" panose="02020603050405020304" pitchFamily="18" charset="0"/>
                <a:cs typeface="Times New Roman" panose="02020603050405020304" pitchFamily="18" charset="0"/>
              </a:rPr>
              <a:t>data types</a:t>
            </a:r>
            <a:endParaRPr lang="en-US" b="0" i="0" dirty="0">
              <a:solidFill>
                <a:schemeClr val="accent5"/>
              </a:solidFill>
              <a:effectLst/>
              <a:latin typeface="Times New Roman" panose="02020603050405020304" pitchFamily="18" charset="0"/>
              <a:cs typeface="Times New Roman" panose="02020603050405020304" pitchFamily="18" charset="0"/>
            </a:endParaRPr>
          </a:p>
          <a:p>
            <a:endParaRPr lang="en-US" b="0" i="0" dirty="0">
              <a:solidFill>
                <a:srgbClr val="333333"/>
              </a:solidFill>
              <a:effectLst/>
              <a:latin typeface="Open Sans" panose="020B0606030504020204" pitchFamily="34" charset="0"/>
            </a:endParaRPr>
          </a:p>
          <a:p>
            <a:endParaRPr lang="en-US" b="0" i="0" dirty="0">
              <a:solidFill>
                <a:srgbClr val="333333"/>
              </a:solidFill>
              <a:effectLst/>
              <a:latin typeface="Open Sans" panose="020B0606030504020204" pitchFamily="34" charset="0"/>
            </a:endParaRPr>
          </a:p>
          <a:p>
            <a:endParaRPr lang="en-GB" dirty="0"/>
          </a:p>
        </p:txBody>
      </p:sp>
      <p:sp>
        <p:nvSpPr>
          <p:cNvPr id="4" name="Slide Number Placeholder 3">
            <a:extLst>
              <a:ext uri="{FF2B5EF4-FFF2-40B4-BE49-F238E27FC236}">
                <a16:creationId xmlns:a16="http://schemas.microsoft.com/office/drawing/2014/main" id="{DFB6495C-6CE9-CE37-382A-F71961B4DCC0}"/>
              </a:ext>
            </a:extLst>
          </p:cNvPr>
          <p:cNvSpPr>
            <a:spLocks noGrp="1"/>
          </p:cNvSpPr>
          <p:nvPr>
            <p:ph type="sldNum" sz="quarter" idx="12"/>
          </p:nvPr>
        </p:nvSpPr>
        <p:spPr/>
        <p:txBody>
          <a:bodyPr/>
          <a:lstStyle/>
          <a:p>
            <a:fld id="{0D75743D-FFBA-49B6-8C74-0691B41B7954}" type="slidenum">
              <a:rPr lang="en-GB" smtClean="0"/>
              <a:t>24</a:t>
            </a:fld>
            <a:endParaRPr lang="en-GB"/>
          </a:p>
        </p:txBody>
      </p:sp>
    </p:spTree>
    <p:extLst>
      <p:ext uri="{BB962C8B-B14F-4D97-AF65-F5344CB8AC3E}">
        <p14:creationId xmlns:p14="http://schemas.microsoft.com/office/powerpoint/2010/main" val="2767430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C8E4C-4C30-4EA2-8CA7-EDFFA302CF88}"/>
              </a:ext>
            </a:extLst>
          </p:cNvPr>
          <p:cNvSpPr>
            <a:spLocks noGrp="1"/>
          </p:cNvSpPr>
          <p:nvPr>
            <p:ph type="title"/>
          </p:nvPr>
        </p:nvSpPr>
        <p:spPr/>
        <p:txBody>
          <a:bodyPr/>
          <a:lstStyle/>
          <a:p>
            <a:r>
              <a:rPr lang="en-US" dirty="0"/>
              <a:t>Relational model</a:t>
            </a:r>
            <a:endParaRPr lang="en-GB" dirty="0"/>
          </a:p>
        </p:txBody>
      </p:sp>
      <p:sp>
        <p:nvSpPr>
          <p:cNvPr id="3" name="Content Placeholder 2">
            <a:extLst>
              <a:ext uri="{FF2B5EF4-FFF2-40B4-BE49-F238E27FC236}">
                <a16:creationId xmlns:a16="http://schemas.microsoft.com/office/drawing/2014/main" id="{E0894F88-8132-4E8B-8DB1-67135B43C3A5}"/>
              </a:ext>
            </a:extLst>
          </p:cNvPr>
          <p:cNvSpPr>
            <a:spLocks noGrp="1"/>
          </p:cNvSpPr>
          <p:nvPr>
            <p:ph idx="1"/>
          </p:nvPr>
        </p:nvSpPr>
        <p:spPr/>
        <p:txBody>
          <a:bodyPr/>
          <a:lstStyle/>
          <a:p>
            <a:r>
              <a:rPr lang="en-US" b="0" i="0" dirty="0">
                <a:solidFill>
                  <a:srgbClr val="333333"/>
                </a:solidFill>
                <a:effectLst/>
                <a:latin typeface="Times New Roman" panose="02020603050405020304" pitchFamily="18" charset="0"/>
              </a:rPr>
              <a:t>A </a:t>
            </a:r>
            <a:r>
              <a:rPr lang="en-US" b="1" i="0" dirty="0">
                <a:solidFill>
                  <a:srgbClr val="333333"/>
                </a:solidFill>
                <a:effectLst/>
                <a:latin typeface="Times New Roman" panose="02020603050405020304" pitchFamily="18" charset="0"/>
              </a:rPr>
              <a:t>relation schema</a:t>
            </a:r>
            <a:r>
              <a:rPr lang="en-US" b="0" i="0" dirty="0">
                <a:solidFill>
                  <a:srgbClr val="333333"/>
                </a:solidFill>
                <a:effectLst/>
                <a:latin typeface="Times New Roman" panose="02020603050405020304" pitchFamily="18" charset="0"/>
              </a:rPr>
              <a:t> </a:t>
            </a:r>
            <a:r>
              <a:rPr lang="en-US" b="0" i="1" dirty="0">
                <a:solidFill>
                  <a:srgbClr val="333333"/>
                </a:solidFill>
                <a:effectLst/>
                <a:latin typeface="Times New Roman" panose="02020603050405020304" pitchFamily="18" charset="0"/>
              </a:rPr>
              <a:t>R</a:t>
            </a:r>
            <a:r>
              <a:rPr lang="en-US" b="0" i="0" dirty="0">
                <a:solidFill>
                  <a:srgbClr val="333333"/>
                </a:solidFill>
                <a:effectLst/>
                <a:latin typeface="Times New Roman" panose="02020603050405020304" pitchFamily="18" charset="0"/>
              </a:rPr>
              <a:t>, </a:t>
            </a:r>
          </a:p>
          <a:p>
            <a:pPr marL="0" indent="0">
              <a:buNone/>
            </a:pPr>
            <a:r>
              <a:rPr lang="en-US" b="0" i="0" dirty="0">
                <a:solidFill>
                  <a:srgbClr val="333333"/>
                </a:solidFill>
                <a:effectLst/>
                <a:latin typeface="Times New Roman" panose="02020603050405020304" pitchFamily="18" charset="0"/>
              </a:rPr>
              <a:t>denoted by </a:t>
            </a:r>
            <a:r>
              <a:rPr lang="en-US" b="0" i="1" dirty="0">
                <a:solidFill>
                  <a:srgbClr val="333333"/>
                </a:solidFill>
                <a:effectLst/>
                <a:latin typeface="Times New Roman" panose="02020603050405020304" pitchFamily="18" charset="0"/>
              </a:rPr>
              <a:t>R</a:t>
            </a:r>
            <a:r>
              <a:rPr lang="en-US" b="0" i="0" dirty="0">
                <a:solidFill>
                  <a:srgbClr val="333333"/>
                </a:solidFill>
                <a:effectLst/>
                <a:latin typeface="Times New Roman" panose="02020603050405020304" pitchFamily="18" charset="0"/>
              </a:rPr>
              <a:t>(</a:t>
            </a:r>
            <a:r>
              <a:rPr lang="en-US" b="0" i="1" dirty="0">
                <a:solidFill>
                  <a:srgbClr val="333333"/>
                </a:solidFill>
                <a:effectLst/>
                <a:latin typeface="Times New Roman" panose="02020603050405020304" pitchFamily="18" charset="0"/>
              </a:rPr>
              <a:t>A</a:t>
            </a:r>
            <a:r>
              <a:rPr lang="en-US" b="0" i="0" baseline="-25000" dirty="0">
                <a:solidFill>
                  <a:srgbClr val="333333"/>
                </a:solidFill>
                <a:effectLst/>
                <a:latin typeface="Times New Roman" panose="02020603050405020304" pitchFamily="18" charset="0"/>
              </a:rPr>
              <a:t>1</a:t>
            </a:r>
            <a:r>
              <a:rPr lang="en-US" b="0" i="0" dirty="0">
                <a:solidFill>
                  <a:srgbClr val="333333"/>
                </a:solidFill>
                <a:effectLst/>
                <a:latin typeface="Times New Roman" panose="02020603050405020304" pitchFamily="18" charset="0"/>
              </a:rPr>
              <a:t>, </a:t>
            </a:r>
            <a:r>
              <a:rPr lang="en-US" b="0" i="1" dirty="0">
                <a:solidFill>
                  <a:srgbClr val="333333"/>
                </a:solidFill>
                <a:effectLst/>
                <a:latin typeface="Times New Roman" panose="02020603050405020304" pitchFamily="18" charset="0"/>
              </a:rPr>
              <a:t>A</a:t>
            </a:r>
            <a:r>
              <a:rPr lang="en-US" b="0" i="0" baseline="30000" dirty="0">
                <a:solidFill>
                  <a:srgbClr val="333333"/>
                </a:solidFill>
                <a:effectLst/>
                <a:latin typeface="Times New Roman" panose="02020603050405020304" pitchFamily="18" charset="0"/>
              </a:rPr>
              <a:t>2</a:t>
            </a:r>
            <a:r>
              <a:rPr lang="en-US" b="0" i="0" dirty="0">
                <a:solidFill>
                  <a:srgbClr val="333333"/>
                </a:solidFill>
                <a:effectLst/>
                <a:latin typeface="Times New Roman" panose="02020603050405020304" pitchFamily="18" charset="0"/>
              </a:rPr>
              <a:t>, ..., A</a:t>
            </a:r>
            <a:r>
              <a:rPr lang="en-US" b="0" i="1" baseline="-25000" dirty="0">
                <a:solidFill>
                  <a:srgbClr val="333333"/>
                </a:solidFill>
                <a:effectLst/>
                <a:latin typeface="Times New Roman" panose="02020603050405020304" pitchFamily="18" charset="0"/>
              </a:rPr>
              <a:t>n</a:t>
            </a:r>
            <a:r>
              <a:rPr lang="en-US" b="0" i="0" dirty="0">
                <a:solidFill>
                  <a:srgbClr val="333333"/>
                </a:solidFill>
                <a:effectLst/>
                <a:latin typeface="Times New Roman" panose="02020603050405020304" pitchFamily="18" charset="0"/>
              </a:rPr>
              <a:t>), </a:t>
            </a:r>
          </a:p>
          <a:p>
            <a:pPr marL="0" indent="0">
              <a:buNone/>
            </a:pPr>
            <a:r>
              <a:rPr lang="en-US" b="0" i="0" dirty="0">
                <a:solidFill>
                  <a:srgbClr val="333333"/>
                </a:solidFill>
                <a:effectLst/>
                <a:latin typeface="Times New Roman" panose="02020603050405020304" pitchFamily="18" charset="0"/>
              </a:rPr>
              <a:t>is made up of a relation name </a:t>
            </a:r>
            <a:r>
              <a:rPr lang="en-US" b="0" i="1" dirty="0">
                <a:solidFill>
                  <a:srgbClr val="333333"/>
                </a:solidFill>
                <a:effectLst/>
                <a:latin typeface="Times New Roman" panose="02020603050405020304" pitchFamily="18" charset="0"/>
              </a:rPr>
              <a:t>R</a:t>
            </a:r>
            <a:r>
              <a:rPr lang="en-US" b="0" i="0" dirty="0">
                <a:solidFill>
                  <a:srgbClr val="333333"/>
                </a:solidFill>
                <a:effectLst/>
                <a:latin typeface="Times New Roman" panose="02020603050405020304" pitchFamily="18" charset="0"/>
              </a:rPr>
              <a:t> </a:t>
            </a:r>
          </a:p>
          <a:p>
            <a:pPr marL="0" indent="0">
              <a:buNone/>
            </a:pPr>
            <a:r>
              <a:rPr lang="en-US" b="0" i="0" dirty="0">
                <a:solidFill>
                  <a:srgbClr val="333333"/>
                </a:solidFill>
                <a:effectLst/>
                <a:latin typeface="Times New Roman" panose="02020603050405020304" pitchFamily="18" charset="0"/>
              </a:rPr>
              <a:t>and a list of attributes, </a:t>
            </a:r>
            <a:r>
              <a:rPr lang="en-US" b="0" i="1" dirty="0">
                <a:solidFill>
                  <a:srgbClr val="333333"/>
                </a:solidFill>
                <a:effectLst/>
                <a:latin typeface="Times New Roman" panose="02020603050405020304" pitchFamily="18" charset="0"/>
              </a:rPr>
              <a:t>A</a:t>
            </a:r>
            <a:r>
              <a:rPr lang="en-US" b="0" i="0" baseline="-25000" dirty="0">
                <a:solidFill>
                  <a:srgbClr val="333333"/>
                </a:solidFill>
                <a:effectLst/>
                <a:latin typeface="Times New Roman" panose="02020603050405020304" pitchFamily="18" charset="0"/>
              </a:rPr>
              <a:t>1</a:t>
            </a:r>
            <a:r>
              <a:rPr lang="en-US" b="0" i="0" dirty="0">
                <a:solidFill>
                  <a:srgbClr val="333333"/>
                </a:solidFill>
                <a:effectLst/>
                <a:latin typeface="Times New Roman" panose="02020603050405020304" pitchFamily="18" charset="0"/>
              </a:rPr>
              <a:t>, </a:t>
            </a:r>
            <a:r>
              <a:rPr lang="en-US" b="0" i="1" dirty="0">
                <a:solidFill>
                  <a:srgbClr val="333333"/>
                </a:solidFill>
                <a:effectLst/>
                <a:latin typeface="Times New Roman" panose="02020603050405020304" pitchFamily="18" charset="0"/>
              </a:rPr>
              <a:t>A</a:t>
            </a:r>
            <a:r>
              <a:rPr lang="en-US" b="0" i="0" baseline="-25000" dirty="0">
                <a:solidFill>
                  <a:srgbClr val="333333"/>
                </a:solidFill>
                <a:effectLst/>
                <a:latin typeface="Times New Roman" panose="02020603050405020304" pitchFamily="18" charset="0"/>
              </a:rPr>
              <a:t>2</a:t>
            </a:r>
            <a:r>
              <a:rPr lang="en-US" b="0" i="0" dirty="0">
                <a:solidFill>
                  <a:srgbClr val="333333"/>
                </a:solidFill>
                <a:effectLst/>
                <a:latin typeface="Times New Roman" panose="02020603050405020304" pitchFamily="18" charset="0"/>
              </a:rPr>
              <a:t>, ..., </a:t>
            </a:r>
            <a:r>
              <a:rPr lang="en-US" b="0" i="1" dirty="0">
                <a:solidFill>
                  <a:srgbClr val="333333"/>
                </a:solidFill>
                <a:effectLst/>
                <a:latin typeface="Times New Roman" panose="02020603050405020304" pitchFamily="18" charset="0"/>
              </a:rPr>
              <a:t>A</a:t>
            </a:r>
            <a:r>
              <a:rPr lang="en-US" b="0" i="1" baseline="-25000" dirty="0">
                <a:solidFill>
                  <a:srgbClr val="333333"/>
                </a:solidFill>
                <a:effectLst/>
                <a:latin typeface="Times New Roman" panose="02020603050405020304" pitchFamily="18" charset="0"/>
              </a:rPr>
              <a:t>n</a:t>
            </a:r>
            <a:r>
              <a:rPr lang="en-US" b="0" i="0" dirty="0">
                <a:solidFill>
                  <a:srgbClr val="333333"/>
                </a:solidFill>
                <a:effectLst/>
                <a:latin typeface="Times New Roman" panose="02020603050405020304" pitchFamily="18" charset="0"/>
              </a:rPr>
              <a:t>. </a:t>
            </a:r>
          </a:p>
          <a:p>
            <a:pPr marL="0" indent="0">
              <a:buNone/>
            </a:pPr>
            <a:r>
              <a:rPr lang="en-US" b="0" i="0" dirty="0">
                <a:solidFill>
                  <a:srgbClr val="333333"/>
                </a:solidFill>
                <a:effectLst/>
                <a:latin typeface="Times New Roman" panose="02020603050405020304" pitchFamily="18" charset="0"/>
              </a:rPr>
              <a:t>Each </a:t>
            </a:r>
            <a:r>
              <a:rPr lang="en-US" b="1" i="0" dirty="0">
                <a:solidFill>
                  <a:srgbClr val="333333"/>
                </a:solidFill>
                <a:effectLst/>
                <a:latin typeface="Times New Roman" panose="02020603050405020304" pitchFamily="18" charset="0"/>
              </a:rPr>
              <a:t>attribute</a:t>
            </a:r>
            <a:r>
              <a:rPr lang="en-US" b="0" i="0" dirty="0">
                <a:solidFill>
                  <a:srgbClr val="333333"/>
                </a:solidFill>
                <a:effectLst/>
                <a:latin typeface="Times New Roman" panose="02020603050405020304" pitchFamily="18" charset="0"/>
              </a:rPr>
              <a:t> </a:t>
            </a:r>
            <a:r>
              <a:rPr lang="en-US" b="0" i="1" dirty="0">
                <a:solidFill>
                  <a:srgbClr val="333333"/>
                </a:solidFill>
                <a:effectLst/>
                <a:latin typeface="Times New Roman" panose="02020603050405020304" pitchFamily="18" charset="0"/>
              </a:rPr>
              <a:t>A</a:t>
            </a:r>
            <a:r>
              <a:rPr lang="en-US" b="0" i="1" baseline="-25000" dirty="0">
                <a:solidFill>
                  <a:srgbClr val="333333"/>
                </a:solidFill>
                <a:effectLst/>
                <a:latin typeface="Times New Roman" panose="02020603050405020304" pitchFamily="18" charset="0"/>
              </a:rPr>
              <a:t>i</a:t>
            </a:r>
            <a:r>
              <a:rPr lang="en-US" b="0" i="0" dirty="0">
                <a:solidFill>
                  <a:srgbClr val="333333"/>
                </a:solidFill>
                <a:effectLst/>
                <a:latin typeface="Times New Roman" panose="02020603050405020304" pitchFamily="18" charset="0"/>
              </a:rPr>
              <a:t> is the name of a role played by some domain </a:t>
            </a:r>
            <a:r>
              <a:rPr lang="en-US" b="0" i="1" dirty="0">
                <a:solidFill>
                  <a:srgbClr val="333333"/>
                </a:solidFill>
                <a:effectLst/>
                <a:latin typeface="Times New Roman" panose="02020603050405020304" pitchFamily="18" charset="0"/>
              </a:rPr>
              <a:t>D</a:t>
            </a:r>
            <a:r>
              <a:rPr lang="en-US" b="0" i="0" dirty="0">
                <a:solidFill>
                  <a:srgbClr val="333333"/>
                </a:solidFill>
                <a:effectLst/>
                <a:latin typeface="Times New Roman" panose="02020603050405020304" pitchFamily="18" charset="0"/>
              </a:rPr>
              <a:t> in the relation schema </a:t>
            </a:r>
            <a:r>
              <a:rPr lang="en-US" b="0" i="1" dirty="0">
                <a:solidFill>
                  <a:srgbClr val="333333"/>
                </a:solidFill>
                <a:effectLst/>
                <a:latin typeface="Times New Roman" panose="02020603050405020304" pitchFamily="18" charset="0"/>
              </a:rPr>
              <a:t>R</a:t>
            </a:r>
            <a:endParaRPr lang="en-GB" dirty="0"/>
          </a:p>
        </p:txBody>
      </p:sp>
      <p:sp>
        <p:nvSpPr>
          <p:cNvPr id="4" name="Slide Number Placeholder 3">
            <a:extLst>
              <a:ext uri="{FF2B5EF4-FFF2-40B4-BE49-F238E27FC236}">
                <a16:creationId xmlns:a16="http://schemas.microsoft.com/office/drawing/2014/main" id="{4F4AA1DA-B7D5-A428-24BE-EF7A922470E4}"/>
              </a:ext>
            </a:extLst>
          </p:cNvPr>
          <p:cNvSpPr>
            <a:spLocks noGrp="1"/>
          </p:cNvSpPr>
          <p:nvPr>
            <p:ph type="sldNum" sz="quarter" idx="12"/>
          </p:nvPr>
        </p:nvSpPr>
        <p:spPr/>
        <p:txBody>
          <a:bodyPr/>
          <a:lstStyle/>
          <a:p>
            <a:fld id="{0D75743D-FFBA-49B6-8C74-0691B41B7954}" type="slidenum">
              <a:rPr lang="en-GB" smtClean="0"/>
              <a:t>25</a:t>
            </a:fld>
            <a:endParaRPr lang="en-GB"/>
          </a:p>
        </p:txBody>
      </p:sp>
    </p:spTree>
    <p:extLst>
      <p:ext uri="{BB962C8B-B14F-4D97-AF65-F5344CB8AC3E}">
        <p14:creationId xmlns:p14="http://schemas.microsoft.com/office/powerpoint/2010/main" val="1290330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8FB9-85DA-47CA-9BB8-F1D8531F83C9}"/>
              </a:ext>
            </a:extLst>
          </p:cNvPr>
          <p:cNvSpPr>
            <a:spLocks noGrp="1"/>
          </p:cNvSpPr>
          <p:nvPr>
            <p:ph type="title"/>
          </p:nvPr>
        </p:nvSpPr>
        <p:spPr/>
        <p:txBody>
          <a:bodyPr/>
          <a:lstStyle/>
          <a:p>
            <a:r>
              <a:rPr lang="en-US" dirty="0"/>
              <a:t>Relational Model</a:t>
            </a:r>
            <a:endParaRPr lang="en-GB" dirty="0"/>
          </a:p>
        </p:txBody>
      </p:sp>
      <p:sp>
        <p:nvSpPr>
          <p:cNvPr id="3" name="Content Placeholder 2">
            <a:extLst>
              <a:ext uri="{FF2B5EF4-FFF2-40B4-BE49-F238E27FC236}">
                <a16:creationId xmlns:a16="http://schemas.microsoft.com/office/drawing/2014/main" id="{ED2BE289-8B4E-4F18-AC38-0B7215F10BF3}"/>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US" sz="2600" b="1" i="0" dirty="0">
                <a:solidFill>
                  <a:srgbClr val="333333"/>
                </a:solidFill>
                <a:effectLst/>
                <a:latin typeface="Times New Roman" panose="02020603050405020304" pitchFamily="18" charset="0"/>
                <a:cs typeface="Times New Roman" panose="02020603050405020304" pitchFamily="18" charset="0"/>
              </a:rPr>
              <a:t>A key is that data item that exclusively identifies a record.</a:t>
            </a:r>
          </a:p>
          <a:p>
            <a:pPr algn="l">
              <a:buFont typeface="Arial" panose="020B0604020202020204" pitchFamily="34" charset="0"/>
              <a:buChar char="•"/>
            </a:pPr>
            <a:r>
              <a:rPr lang="en-US" sz="2600" b="1" i="0" dirty="0">
                <a:solidFill>
                  <a:srgbClr val="333333"/>
                </a:solidFill>
                <a:effectLst/>
                <a:latin typeface="Times New Roman" panose="02020603050405020304" pitchFamily="18" charset="0"/>
                <a:cs typeface="Times New Roman" panose="02020603050405020304" pitchFamily="18" charset="0"/>
              </a:rPr>
              <a:t>The value of a key attribute can be used to identify uniquely each tuple in the relation.</a:t>
            </a:r>
          </a:p>
          <a:p>
            <a:pPr algn="l"/>
            <a:r>
              <a:rPr lang="en-US" sz="2600" b="1" i="0" dirty="0">
                <a:solidFill>
                  <a:srgbClr val="333333"/>
                </a:solidFill>
                <a:effectLst/>
                <a:latin typeface="Times New Roman" panose="02020603050405020304" pitchFamily="18" charset="0"/>
                <a:cs typeface="Times New Roman" panose="02020603050405020304" pitchFamily="18" charset="0"/>
              </a:rPr>
              <a:t>Types of keys</a:t>
            </a:r>
          </a:p>
          <a:p>
            <a:pPr lvl="1"/>
            <a:r>
              <a:rPr lang="en-US" sz="2600" b="1" dirty="0">
                <a:solidFill>
                  <a:schemeClr val="accent5"/>
                </a:solidFill>
                <a:latin typeface="Times New Roman" panose="02020603050405020304" pitchFamily="18" charset="0"/>
                <a:cs typeface="Times New Roman" panose="02020603050405020304" pitchFamily="18" charset="0"/>
              </a:rPr>
              <a:t>Candidate key </a:t>
            </a:r>
            <a:r>
              <a:rPr lang="en-US" sz="2600" b="1" i="0" dirty="0">
                <a:solidFill>
                  <a:srgbClr val="333333"/>
                </a:solidFill>
                <a:effectLst/>
                <a:latin typeface="Times New Roman" panose="02020603050405020304" pitchFamily="18" charset="0"/>
                <a:cs typeface="Times New Roman" panose="02020603050405020304" pitchFamily="18" charset="0"/>
              </a:rPr>
              <a:t>- a super key that is minimal; that is, there is no proper subset that is itself a </a:t>
            </a:r>
            <a:r>
              <a:rPr lang="en-US" sz="2600" b="1" i="0" dirty="0" err="1">
                <a:solidFill>
                  <a:srgbClr val="333333"/>
                </a:solidFill>
                <a:effectLst/>
                <a:latin typeface="Times New Roman" panose="02020603050405020304" pitchFamily="18" charset="0"/>
                <a:cs typeface="Times New Roman" panose="02020603050405020304" pitchFamily="18" charset="0"/>
              </a:rPr>
              <a:t>superkey</a:t>
            </a:r>
            <a:r>
              <a:rPr lang="en-US" sz="2600" b="1" i="0" dirty="0">
                <a:solidFill>
                  <a:srgbClr val="333333"/>
                </a:solidFill>
                <a:effectLst/>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sz="2600" b="1" dirty="0">
                <a:solidFill>
                  <a:schemeClr val="accent5"/>
                </a:solidFill>
                <a:latin typeface="Times New Roman" panose="02020603050405020304" pitchFamily="18" charset="0"/>
                <a:cs typeface="Times New Roman" panose="02020603050405020304" pitchFamily="18" charset="0"/>
              </a:rPr>
              <a:t>Super Key- </a:t>
            </a:r>
            <a:r>
              <a:rPr lang="en-US" sz="2600" b="1" i="0" dirty="0">
                <a:solidFill>
                  <a:srgbClr val="333333"/>
                </a:solidFill>
                <a:effectLst/>
                <a:latin typeface="Times New Roman" panose="02020603050405020304" pitchFamily="18" charset="0"/>
                <a:cs typeface="Times New Roman" panose="02020603050405020304" pitchFamily="18" charset="0"/>
              </a:rPr>
              <a:t>a set of one or more attributes whose combined value uniquely identifies the entity in the entity set.</a:t>
            </a:r>
          </a:p>
          <a:p>
            <a:pPr lvl="1">
              <a:buFont typeface="Arial" panose="020B0604020202020204" pitchFamily="34" charset="0"/>
              <a:buChar char="•"/>
            </a:pPr>
            <a:r>
              <a:rPr lang="en-US" sz="2600" b="1" i="0" dirty="0">
                <a:solidFill>
                  <a:schemeClr val="accent5"/>
                </a:solidFill>
                <a:effectLst/>
                <a:latin typeface="Times New Roman" panose="02020603050405020304" pitchFamily="18" charset="0"/>
                <a:cs typeface="Times New Roman" panose="02020603050405020304" pitchFamily="18" charset="0"/>
              </a:rPr>
              <a:t>Primary Key- </a:t>
            </a:r>
            <a:r>
              <a:rPr lang="en-US" sz="2600" b="1" i="0" dirty="0">
                <a:solidFill>
                  <a:srgbClr val="333333"/>
                </a:solidFill>
                <a:effectLst/>
                <a:latin typeface="Times New Roman" panose="02020603050405020304" pitchFamily="18" charset="0"/>
                <a:cs typeface="Times New Roman" panose="02020603050405020304" pitchFamily="18" charset="0"/>
              </a:rPr>
              <a:t>an attribute that uniquely identifies an entity</a:t>
            </a:r>
          </a:p>
          <a:p>
            <a:pPr lvl="1">
              <a:buFont typeface="Arial" panose="020B0604020202020204" pitchFamily="34" charset="0"/>
              <a:buChar char="•"/>
            </a:pPr>
            <a:r>
              <a:rPr lang="en-US" sz="2600" b="1" dirty="0">
                <a:solidFill>
                  <a:schemeClr val="accent5"/>
                </a:solidFill>
                <a:latin typeface="Times New Roman" panose="02020603050405020304" pitchFamily="18" charset="0"/>
                <a:cs typeface="Times New Roman" panose="02020603050405020304" pitchFamily="18" charset="0"/>
              </a:rPr>
              <a:t>Composite Key</a:t>
            </a:r>
            <a:r>
              <a:rPr lang="en-US" sz="2600" b="1" i="0" dirty="0">
                <a:solidFill>
                  <a:srgbClr val="333333"/>
                </a:solidFill>
                <a:effectLst/>
                <a:latin typeface="Times New Roman" panose="02020603050405020304" pitchFamily="18" charset="0"/>
                <a:cs typeface="Times New Roman" panose="02020603050405020304" pitchFamily="18" charset="0"/>
              </a:rPr>
              <a:t>- more than one column as part of the primary key. These are called </a:t>
            </a:r>
            <a:r>
              <a:rPr lang="en-US" sz="2600" b="1" dirty="0">
                <a:solidFill>
                  <a:schemeClr val="accent5"/>
                </a:solidFill>
                <a:latin typeface="Times New Roman" panose="02020603050405020304" pitchFamily="18" charset="0"/>
                <a:cs typeface="Times New Roman" panose="02020603050405020304" pitchFamily="18" charset="0"/>
              </a:rPr>
              <a:t>composite keys or concatenated keys.</a:t>
            </a:r>
          </a:p>
          <a:p>
            <a:pPr lvl="1">
              <a:buFont typeface="Arial" panose="020B0604020202020204" pitchFamily="34" charset="0"/>
              <a:buChar char="•"/>
            </a:pPr>
            <a:r>
              <a:rPr lang="en-US" sz="2600" b="1" dirty="0">
                <a:solidFill>
                  <a:schemeClr val="accent5"/>
                </a:solidFill>
                <a:latin typeface="Times New Roman" panose="02020603050405020304" pitchFamily="18" charset="0"/>
                <a:cs typeface="Times New Roman" panose="02020603050405020304" pitchFamily="18" charset="0"/>
              </a:rPr>
              <a:t>Foreign Key </a:t>
            </a:r>
            <a:r>
              <a:rPr lang="en-US" sz="2600" b="1" i="0" dirty="0">
                <a:solidFill>
                  <a:srgbClr val="333333"/>
                </a:solidFill>
                <a:effectLst/>
                <a:latin typeface="Times New Roman" panose="02020603050405020304" pitchFamily="18" charset="0"/>
                <a:cs typeface="Times New Roman" panose="02020603050405020304" pitchFamily="18" charset="0"/>
              </a:rPr>
              <a:t>-  the foreign key of a relation may be the primary key of another relation.</a:t>
            </a:r>
          </a:p>
          <a:p>
            <a:pPr lvl="1">
              <a:buFont typeface="Arial" panose="020B0604020202020204" pitchFamily="34" charset="0"/>
              <a:buChar char="•"/>
            </a:pPr>
            <a:r>
              <a:rPr lang="en-US" sz="2600" b="1" dirty="0">
                <a:solidFill>
                  <a:schemeClr val="accent5"/>
                </a:solidFill>
                <a:latin typeface="Times New Roman" panose="02020603050405020304" pitchFamily="18" charset="0"/>
                <a:cs typeface="Times New Roman" panose="02020603050405020304" pitchFamily="18" charset="0"/>
              </a:rPr>
              <a:t>Secondary Key</a:t>
            </a:r>
            <a:r>
              <a:rPr lang="en-US" sz="2600" b="1" i="0" dirty="0">
                <a:solidFill>
                  <a:srgbClr val="333333"/>
                </a:solidFill>
                <a:effectLst/>
                <a:latin typeface="Times New Roman" panose="02020603050405020304" pitchFamily="18" charset="0"/>
                <a:cs typeface="Times New Roman" panose="02020603050405020304" pitchFamily="18" charset="0"/>
              </a:rPr>
              <a:t>- A Secondary Key is an attribute or combination of attributes that may not be a candidate key but classifies the entity set on a particular characteristic.</a:t>
            </a:r>
          </a:p>
          <a:p>
            <a:pPr algn="l">
              <a:buFont typeface="Arial" panose="020B0604020202020204" pitchFamily="34" charset="0"/>
              <a:buChar char="•"/>
            </a:pPr>
            <a:endParaRPr lang="en-US" sz="2600" b="0" i="0" dirty="0">
              <a:solidFill>
                <a:srgbClr val="333333"/>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b="0" i="0" dirty="0">
              <a:solidFill>
                <a:srgbClr val="333333"/>
              </a:solidFill>
              <a:effectLst/>
              <a:latin typeface="Open Sans" panose="020B0606030504020204" pitchFamily="34" charset="0"/>
            </a:endParaRPr>
          </a:p>
          <a:p>
            <a:endParaRPr lang="en-GB" dirty="0"/>
          </a:p>
        </p:txBody>
      </p:sp>
      <p:sp>
        <p:nvSpPr>
          <p:cNvPr id="4" name="Slide Number Placeholder 3">
            <a:extLst>
              <a:ext uri="{FF2B5EF4-FFF2-40B4-BE49-F238E27FC236}">
                <a16:creationId xmlns:a16="http://schemas.microsoft.com/office/drawing/2014/main" id="{1CB06700-34B3-5FC8-7511-D56C3BFE411D}"/>
              </a:ext>
            </a:extLst>
          </p:cNvPr>
          <p:cNvSpPr>
            <a:spLocks noGrp="1"/>
          </p:cNvSpPr>
          <p:nvPr>
            <p:ph type="sldNum" sz="quarter" idx="12"/>
          </p:nvPr>
        </p:nvSpPr>
        <p:spPr/>
        <p:txBody>
          <a:bodyPr/>
          <a:lstStyle/>
          <a:p>
            <a:fld id="{0D75743D-FFBA-49B6-8C74-0691B41B7954}" type="slidenum">
              <a:rPr lang="en-GB" smtClean="0"/>
              <a:t>26</a:t>
            </a:fld>
            <a:endParaRPr lang="en-GB"/>
          </a:p>
        </p:txBody>
      </p:sp>
    </p:spTree>
    <p:extLst>
      <p:ext uri="{BB962C8B-B14F-4D97-AF65-F5344CB8AC3E}">
        <p14:creationId xmlns:p14="http://schemas.microsoft.com/office/powerpoint/2010/main" val="2725228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BDC11-0CCA-4A4D-9615-F2355307EDB1}"/>
              </a:ext>
            </a:extLst>
          </p:cNvPr>
          <p:cNvSpPr>
            <a:spLocks noGrp="1"/>
          </p:cNvSpPr>
          <p:nvPr>
            <p:ph type="title"/>
          </p:nvPr>
        </p:nvSpPr>
        <p:spPr/>
        <p:txBody>
          <a:bodyPr/>
          <a:lstStyle/>
          <a:p>
            <a:r>
              <a:rPr lang="en-US" dirty="0"/>
              <a:t>Relational Model</a:t>
            </a:r>
            <a:endParaRPr lang="en-GB" dirty="0"/>
          </a:p>
        </p:txBody>
      </p:sp>
      <p:sp>
        <p:nvSpPr>
          <p:cNvPr id="3" name="Content Placeholder 2">
            <a:extLst>
              <a:ext uri="{FF2B5EF4-FFF2-40B4-BE49-F238E27FC236}">
                <a16:creationId xmlns:a16="http://schemas.microsoft.com/office/drawing/2014/main" id="{3736CD94-C0F6-4A91-B798-2BD4C0BC4BF3}"/>
              </a:ext>
            </a:extLst>
          </p:cNvPr>
          <p:cNvSpPr>
            <a:spLocks noGrp="1"/>
          </p:cNvSpPr>
          <p:nvPr>
            <p:ph idx="1"/>
          </p:nvPr>
        </p:nvSpPr>
        <p:spPr/>
        <p:txBody>
          <a:bodyPr>
            <a:normAutofit lnSpcReduction="10000"/>
          </a:bodyPr>
          <a:lstStyle/>
          <a:p>
            <a:r>
              <a:rPr lang="en-US" b="1" dirty="0">
                <a:solidFill>
                  <a:schemeClr val="accent5"/>
                </a:solidFill>
              </a:rPr>
              <a:t>Relationship</a:t>
            </a:r>
            <a:r>
              <a:rPr lang="en-US" dirty="0"/>
              <a:t> - an association between two or more entities</a:t>
            </a:r>
          </a:p>
          <a:p>
            <a:pPr marL="457200" indent="-457200">
              <a:buFont typeface="+mj-lt"/>
              <a:buAutoNum type="arabicPeriod"/>
            </a:pPr>
            <a:r>
              <a:rPr lang="en-US" dirty="0"/>
              <a:t> </a:t>
            </a:r>
            <a:r>
              <a:rPr lang="en-US" b="1" dirty="0">
                <a:solidFill>
                  <a:schemeClr val="accent5"/>
                </a:solidFill>
              </a:rPr>
              <a:t>One to One (1:1) Entity Relationships </a:t>
            </a:r>
          </a:p>
          <a:p>
            <a:r>
              <a:rPr lang="en-US" sz="2800" dirty="0">
                <a:latin typeface="Times New Roman" panose="02020603050405020304" pitchFamily="18" charset="0"/>
                <a:cs typeface="Times New Roman" panose="02020603050405020304" pitchFamily="18" charset="0"/>
              </a:rPr>
              <a:t>One entity is related to only one other entity of a particular type </a:t>
            </a:r>
          </a:p>
          <a:p>
            <a:r>
              <a:rPr lang="en-US" sz="2800" dirty="0">
                <a:latin typeface="Times New Roman" panose="02020603050405020304" pitchFamily="18" charset="0"/>
                <a:cs typeface="Times New Roman" panose="02020603050405020304" pitchFamily="18" charset="0"/>
              </a:rPr>
              <a:t> Not a common type of relationship </a:t>
            </a:r>
          </a:p>
          <a:p>
            <a:pPr marL="457200" indent="-457200">
              <a:buAutoNum type="arabicPeriod" startAt="2"/>
            </a:pPr>
            <a:r>
              <a:rPr lang="en-US" b="1" dirty="0">
                <a:solidFill>
                  <a:schemeClr val="accent5"/>
                </a:solidFill>
              </a:rPr>
              <a:t>One to Many (1:M) Entity Relationship </a:t>
            </a:r>
          </a:p>
          <a:p>
            <a:r>
              <a:rPr lang="en-US" dirty="0"/>
              <a:t> </a:t>
            </a:r>
            <a:r>
              <a:rPr lang="en-US" sz="2800" dirty="0">
                <a:latin typeface="Times New Roman" panose="02020603050405020304" pitchFamily="18" charset="0"/>
                <a:cs typeface="Times New Roman" panose="02020603050405020304" pitchFamily="18" charset="0"/>
              </a:rPr>
              <a:t>Most common type of relationship </a:t>
            </a:r>
          </a:p>
          <a:p>
            <a:r>
              <a:rPr lang="en-US" sz="2800" dirty="0">
                <a:latin typeface="Times New Roman" panose="02020603050405020304" pitchFamily="18" charset="0"/>
                <a:cs typeface="Times New Roman" panose="02020603050405020304" pitchFamily="18" charset="0"/>
              </a:rPr>
              <a:t> One entity can be related to more than one other entity </a:t>
            </a:r>
          </a:p>
          <a:p>
            <a:r>
              <a:rPr lang="en-US" sz="2800" dirty="0">
                <a:latin typeface="Times New Roman" panose="02020603050405020304" pitchFamily="18" charset="0"/>
                <a:cs typeface="Times New Roman" panose="02020603050405020304" pitchFamily="18" charset="0"/>
              </a:rPr>
              <a:t> A supplier can supply more than one product to a company </a:t>
            </a:r>
          </a:p>
          <a:p>
            <a:endParaRPr lang="en-GB" dirty="0"/>
          </a:p>
        </p:txBody>
      </p:sp>
      <p:sp>
        <p:nvSpPr>
          <p:cNvPr id="4" name="Slide Number Placeholder 3">
            <a:extLst>
              <a:ext uri="{FF2B5EF4-FFF2-40B4-BE49-F238E27FC236}">
                <a16:creationId xmlns:a16="http://schemas.microsoft.com/office/drawing/2014/main" id="{D796975F-FA2C-F2E1-DA99-355DE31AB81D}"/>
              </a:ext>
            </a:extLst>
          </p:cNvPr>
          <p:cNvSpPr>
            <a:spLocks noGrp="1"/>
          </p:cNvSpPr>
          <p:nvPr>
            <p:ph type="sldNum" sz="quarter" idx="12"/>
          </p:nvPr>
        </p:nvSpPr>
        <p:spPr/>
        <p:txBody>
          <a:bodyPr/>
          <a:lstStyle/>
          <a:p>
            <a:fld id="{0D75743D-FFBA-49B6-8C74-0691B41B7954}" type="slidenum">
              <a:rPr lang="en-GB" smtClean="0"/>
              <a:t>27</a:t>
            </a:fld>
            <a:endParaRPr lang="en-GB"/>
          </a:p>
        </p:txBody>
      </p:sp>
    </p:spTree>
    <p:extLst>
      <p:ext uri="{BB962C8B-B14F-4D97-AF65-F5344CB8AC3E}">
        <p14:creationId xmlns:p14="http://schemas.microsoft.com/office/powerpoint/2010/main" val="2440628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5A9AD-157C-4CC5-82C2-DCDDADD3D908}"/>
              </a:ext>
            </a:extLst>
          </p:cNvPr>
          <p:cNvSpPr>
            <a:spLocks noGrp="1"/>
          </p:cNvSpPr>
          <p:nvPr>
            <p:ph type="title"/>
          </p:nvPr>
        </p:nvSpPr>
        <p:spPr/>
        <p:txBody>
          <a:bodyPr/>
          <a:lstStyle/>
          <a:p>
            <a:r>
              <a:rPr lang="en-US" dirty="0"/>
              <a:t>Relationships</a:t>
            </a:r>
            <a:endParaRPr lang="en-GB" dirty="0"/>
          </a:p>
        </p:txBody>
      </p:sp>
      <p:sp>
        <p:nvSpPr>
          <p:cNvPr id="3" name="Content Placeholder 2">
            <a:extLst>
              <a:ext uri="{FF2B5EF4-FFF2-40B4-BE49-F238E27FC236}">
                <a16:creationId xmlns:a16="http://schemas.microsoft.com/office/drawing/2014/main" id="{DB4050DA-F541-4D95-B3C2-A9DCED41F344}"/>
              </a:ext>
            </a:extLst>
          </p:cNvPr>
          <p:cNvSpPr>
            <a:spLocks noGrp="1"/>
          </p:cNvSpPr>
          <p:nvPr>
            <p:ph idx="1"/>
          </p:nvPr>
        </p:nvSpPr>
        <p:spPr/>
        <p:txBody>
          <a:bodyPr/>
          <a:lstStyle/>
          <a:p>
            <a:pPr marL="0" indent="0">
              <a:buNone/>
            </a:pPr>
            <a:r>
              <a:rPr lang="en-US" b="1" dirty="0">
                <a:solidFill>
                  <a:schemeClr val="accent5"/>
                </a:solidFill>
                <a:latin typeface="Times New Roman" panose="02020603050405020304" pitchFamily="18" charset="0"/>
                <a:cs typeface="Times New Roman" panose="02020603050405020304" pitchFamily="18" charset="0"/>
              </a:rPr>
              <a:t>3. Many to Many (M:M) Entity Relationships </a:t>
            </a:r>
          </a:p>
          <a:p>
            <a:pPr marL="0" indent="0">
              <a:buNone/>
            </a:pPr>
            <a:r>
              <a:rPr lang="en-US" dirty="0">
                <a:latin typeface="Times New Roman" panose="02020603050405020304" pitchFamily="18" charset="0"/>
                <a:cs typeface="Times New Roman" panose="02020603050405020304" pitchFamily="18" charset="0"/>
              </a:rPr>
              <a:t> One entity can be related to more than one other entity, and those entities can be related to multiple entities of the same type as the original entity</a:t>
            </a:r>
          </a:p>
          <a:p>
            <a:pPr marL="0" indent="0">
              <a:buNone/>
            </a:pPr>
            <a:r>
              <a:rPr lang="en-US" b="1" dirty="0">
                <a:solidFill>
                  <a:schemeClr val="accent5"/>
                </a:solidFill>
                <a:latin typeface="Times New Roman" panose="02020603050405020304" pitchFamily="18" charset="0"/>
                <a:cs typeface="Times New Roman" panose="02020603050405020304" pitchFamily="18" charset="0"/>
              </a:rPr>
              <a:t>4. Many to One (M: 1) </a:t>
            </a:r>
          </a:p>
          <a:p>
            <a:endParaRPr lang="en-GB" dirty="0"/>
          </a:p>
        </p:txBody>
      </p:sp>
      <p:sp>
        <p:nvSpPr>
          <p:cNvPr id="4" name="Slide Number Placeholder 3">
            <a:extLst>
              <a:ext uri="{FF2B5EF4-FFF2-40B4-BE49-F238E27FC236}">
                <a16:creationId xmlns:a16="http://schemas.microsoft.com/office/drawing/2014/main" id="{161963D6-7F50-F748-3433-402F3007C841}"/>
              </a:ext>
            </a:extLst>
          </p:cNvPr>
          <p:cNvSpPr>
            <a:spLocks noGrp="1"/>
          </p:cNvSpPr>
          <p:nvPr>
            <p:ph type="sldNum" sz="quarter" idx="12"/>
          </p:nvPr>
        </p:nvSpPr>
        <p:spPr/>
        <p:txBody>
          <a:bodyPr/>
          <a:lstStyle/>
          <a:p>
            <a:fld id="{0D75743D-FFBA-49B6-8C74-0691B41B7954}" type="slidenum">
              <a:rPr lang="en-GB" smtClean="0"/>
              <a:t>28</a:t>
            </a:fld>
            <a:endParaRPr lang="en-GB"/>
          </a:p>
        </p:txBody>
      </p:sp>
    </p:spTree>
    <p:extLst>
      <p:ext uri="{BB962C8B-B14F-4D97-AF65-F5344CB8AC3E}">
        <p14:creationId xmlns:p14="http://schemas.microsoft.com/office/powerpoint/2010/main" val="32148592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389CC-1C8E-4B3C-BB5A-10088B27917B}"/>
              </a:ext>
            </a:extLst>
          </p:cNvPr>
          <p:cNvSpPr>
            <a:spLocks noGrp="1"/>
          </p:cNvSpPr>
          <p:nvPr>
            <p:ph type="title"/>
          </p:nvPr>
        </p:nvSpPr>
        <p:spPr/>
        <p:txBody>
          <a:bodyPr/>
          <a:lstStyle/>
          <a:p>
            <a:r>
              <a:rPr lang="en-US" dirty="0"/>
              <a:t>Relational model</a:t>
            </a:r>
            <a:endParaRPr lang="en-GB" dirty="0"/>
          </a:p>
        </p:txBody>
      </p:sp>
      <p:pic>
        <p:nvPicPr>
          <p:cNvPr id="5" name="Content Placeholder 4">
            <a:extLst>
              <a:ext uri="{FF2B5EF4-FFF2-40B4-BE49-F238E27FC236}">
                <a16:creationId xmlns:a16="http://schemas.microsoft.com/office/drawing/2014/main" id="{EFD3D87C-2661-4AEC-B98B-3CEDFF61AD66}"/>
              </a:ext>
            </a:extLst>
          </p:cNvPr>
          <p:cNvPicPr>
            <a:picLocks noGrp="1" noChangeAspect="1"/>
          </p:cNvPicPr>
          <p:nvPr>
            <p:ph idx="1"/>
          </p:nvPr>
        </p:nvPicPr>
        <p:blipFill>
          <a:blip r:embed="rId2"/>
          <a:stretch>
            <a:fillRect/>
          </a:stretch>
        </p:blipFill>
        <p:spPr>
          <a:xfrm>
            <a:off x="1023938" y="2546217"/>
            <a:ext cx="9720262" cy="3502290"/>
          </a:xfrm>
        </p:spPr>
      </p:pic>
      <p:sp>
        <p:nvSpPr>
          <p:cNvPr id="3" name="Slide Number Placeholder 2">
            <a:extLst>
              <a:ext uri="{FF2B5EF4-FFF2-40B4-BE49-F238E27FC236}">
                <a16:creationId xmlns:a16="http://schemas.microsoft.com/office/drawing/2014/main" id="{0C6E691D-256B-56DE-3420-E4B8A4F75FE2}"/>
              </a:ext>
            </a:extLst>
          </p:cNvPr>
          <p:cNvSpPr>
            <a:spLocks noGrp="1"/>
          </p:cNvSpPr>
          <p:nvPr>
            <p:ph type="sldNum" sz="quarter" idx="12"/>
          </p:nvPr>
        </p:nvSpPr>
        <p:spPr/>
        <p:txBody>
          <a:bodyPr/>
          <a:lstStyle/>
          <a:p>
            <a:fld id="{0D75743D-FFBA-49B6-8C74-0691B41B7954}" type="slidenum">
              <a:rPr lang="en-GB" smtClean="0"/>
              <a:t>29</a:t>
            </a:fld>
            <a:endParaRPr lang="en-GB"/>
          </a:p>
        </p:txBody>
      </p:sp>
    </p:spTree>
    <p:extLst>
      <p:ext uri="{BB962C8B-B14F-4D97-AF65-F5344CB8AC3E}">
        <p14:creationId xmlns:p14="http://schemas.microsoft.com/office/powerpoint/2010/main" val="2967868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r>
              <a:rPr lang="en-US" dirty="0"/>
              <a:t>A Sample Relation</a:t>
            </a:r>
          </a:p>
        </p:txBody>
      </p:sp>
      <p:sp>
        <p:nvSpPr>
          <p:cNvPr id="30749" name="Slide Number Placeholder 2"/>
          <p:cNvSpPr>
            <a:spLocks noGrp="1"/>
          </p:cNvSpPr>
          <p:nvPr>
            <p:ph type="sldNum" sz="quarter" idx="12"/>
          </p:nvPr>
        </p:nvSpPr>
        <p:spPr>
          <a:noFill/>
        </p:spPr>
        <p:txBody>
          <a:bodyPr/>
          <a:lstStyle/>
          <a:p>
            <a:r>
              <a:rPr lang="en-US" dirty="0">
                <a:cs typeface="Arial" charset="0"/>
              </a:rPr>
              <a:t>2-</a:t>
            </a:r>
            <a:fld id="{0AD4E9E5-11C5-4B1E-A34D-01091B7D7029}" type="slidenum">
              <a:rPr lang="en-US">
                <a:cs typeface="Arial" charset="0"/>
              </a:rPr>
              <a:pPr/>
              <a:t>30</a:t>
            </a:fld>
            <a:endParaRPr lang="en-US" dirty="0">
              <a:cs typeface="Arial" charset="0"/>
            </a:endParaRPr>
          </a:p>
        </p:txBody>
      </p:sp>
      <p:graphicFrame>
        <p:nvGraphicFramePr>
          <p:cNvPr id="23589" name="Group 37"/>
          <p:cNvGraphicFramePr>
            <a:graphicFrameLocks noGrp="1"/>
          </p:cNvGraphicFramePr>
          <p:nvPr>
            <p:extLst>
              <p:ext uri="{D42A27DB-BD31-4B8C-83A1-F6EECF244321}">
                <p14:modId xmlns:p14="http://schemas.microsoft.com/office/powerpoint/2010/main" val="383475069"/>
              </p:ext>
            </p:extLst>
          </p:nvPr>
        </p:nvGraphicFramePr>
        <p:xfrm>
          <a:off x="3048000" y="2371627"/>
          <a:ext cx="7391400" cy="2590800"/>
        </p:xfrm>
        <a:graphic>
          <a:graphicData uri="http://schemas.openxmlformats.org/drawingml/2006/table">
            <a:tbl>
              <a:tblPr/>
              <a:tblGrid>
                <a:gridCol w="3252788">
                  <a:extLst>
                    <a:ext uri="{9D8B030D-6E8A-4147-A177-3AD203B41FA5}">
                      <a16:colId xmlns:a16="http://schemas.microsoft.com/office/drawing/2014/main" val="20000"/>
                    </a:ext>
                  </a:extLst>
                </a:gridCol>
                <a:gridCol w="2005012">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bg1"/>
                          </a:solidFill>
                          <a:effectLst/>
                          <a:latin typeface="Arial" charset="0"/>
                        </a:rPr>
                        <a:t>EmployeeNumber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bg1"/>
                          </a:solidFill>
                          <a:effectLst/>
                          <a:latin typeface="Arial" charset="0"/>
                        </a:rPr>
                        <a:t>FirstName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bg1"/>
                          </a:solidFill>
                          <a:effectLst/>
                          <a:latin typeface="Arial" charset="0"/>
                        </a:rPr>
                        <a:t>LastName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Mary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Abernathy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Jerry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Cadley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104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Alex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Copley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107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Megan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Jackson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89"/>
                                        </p:tgtEl>
                                        <p:attrNameLst>
                                          <p:attrName>style.visibility</p:attrName>
                                        </p:attrNameLst>
                                      </p:cBhvr>
                                      <p:to>
                                        <p:strVal val="visible"/>
                                      </p:to>
                                    </p:set>
                                    <p:anim calcmode="lin" valueType="num">
                                      <p:cBhvr additive="base">
                                        <p:cTn id="7" dur="500" fill="hold"/>
                                        <p:tgtEl>
                                          <p:spTgt spid="23589"/>
                                        </p:tgtEl>
                                        <p:attrNameLst>
                                          <p:attrName>ppt_x</p:attrName>
                                        </p:attrNameLst>
                                      </p:cBhvr>
                                      <p:tavLst>
                                        <p:tav tm="0">
                                          <p:val>
                                            <p:strVal val="#ppt_x"/>
                                          </p:val>
                                        </p:tav>
                                        <p:tav tm="100000">
                                          <p:val>
                                            <p:strVal val="#ppt_x"/>
                                          </p:val>
                                        </p:tav>
                                      </p:tavLst>
                                    </p:anim>
                                    <p:anim calcmode="lin" valueType="num">
                                      <p:cBhvr additive="base">
                                        <p:cTn id="8" dur="500" fill="hold"/>
                                        <p:tgtEl>
                                          <p:spTgt spid="235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69A7C-6060-476F-B19B-68047A988165}"/>
              </a:ext>
            </a:extLst>
          </p:cNvPr>
          <p:cNvSpPr>
            <a:spLocks noGrp="1"/>
          </p:cNvSpPr>
          <p:nvPr>
            <p:ph type="title"/>
          </p:nvPr>
        </p:nvSpPr>
        <p:spPr/>
        <p:txBody>
          <a:bodyPr/>
          <a:lstStyle/>
          <a:p>
            <a:r>
              <a:rPr lang="en-US" dirty="0"/>
              <a:t>Network Model</a:t>
            </a:r>
            <a:endParaRPr lang="en-GB" dirty="0"/>
          </a:p>
        </p:txBody>
      </p:sp>
      <p:sp>
        <p:nvSpPr>
          <p:cNvPr id="3" name="Content Placeholder 2">
            <a:extLst>
              <a:ext uri="{FF2B5EF4-FFF2-40B4-BE49-F238E27FC236}">
                <a16:creationId xmlns:a16="http://schemas.microsoft.com/office/drawing/2014/main" id="{D12B8C1B-6DBB-4C0C-9C08-7439EF396956}"/>
              </a:ext>
            </a:extLst>
          </p:cNvPr>
          <p:cNvSpPr>
            <a:spLocks noGrp="1"/>
          </p:cNvSpPr>
          <p:nvPr>
            <p:ph idx="1"/>
          </p:nvPr>
        </p:nvSpPr>
        <p:spPr/>
        <p:txBody>
          <a:bodyPr/>
          <a:lstStyle/>
          <a:p>
            <a:r>
              <a:rPr lang="en-US" b="0" i="0" dirty="0">
                <a:solidFill>
                  <a:srgbClr val="333333"/>
                </a:solidFill>
                <a:effectLst/>
                <a:latin typeface="Times New Roman" panose="02020603050405020304" pitchFamily="18" charset="0"/>
                <a:cs typeface="Times New Roman" panose="02020603050405020304" pitchFamily="18" charset="0"/>
              </a:rPr>
              <a:t>The Network model represents data as record types and also represents a limited type of one to many relationship, called set type</a:t>
            </a:r>
          </a:p>
          <a:p>
            <a:endParaRPr lang="en-GB" dirty="0"/>
          </a:p>
        </p:txBody>
      </p:sp>
      <p:sp>
        <p:nvSpPr>
          <p:cNvPr id="4" name="Slide Number Placeholder 3">
            <a:extLst>
              <a:ext uri="{FF2B5EF4-FFF2-40B4-BE49-F238E27FC236}">
                <a16:creationId xmlns:a16="http://schemas.microsoft.com/office/drawing/2014/main" id="{ADFEEFF1-6E76-4CEB-A59D-007F75E3910A}"/>
              </a:ext>
            </a:extLst>
          </p:cNvPr>
          <p:cNvSpPr>
            <a:spLocks noGrp="1"/>
          </p:cNvSpPr>
          <p:nvPr>
            <p:ph type="sldNum" sz="quarter" idx="12"/>
          </p:nvPr>
        </p:nvSpPr>
        <p:spPr/>
        <p:txBody>
          <a:bodyPr/>
          <a:lstStyle/>
          <a:p>
            <a:fld id="{0D75743D-FFBA-49B6-8C74-0691B41B7954}" type="slidenum">
              <a:rPr lang="en-GB" smtClean="0"/>
              <a:t>31</a:t>
            </a:fld>
            <a:endParaRPr lang="en-GB"/>
          </a:p>
        </p:txBody>
      </p:sp>
      <p:pic>
        <p:nvPicPr>
          <p:cNvPr id="5" name="Picture 4">
            <a:extLst>
              <a:ext uri="{FF2B5EF4-FFF2-40B4-BE49-F238E27FC236}">
                <a16:creationId xmlns:a16="http://schemas.microsoft.com/office/drawing/2014/main" id="{2AAF1C1F-B6EE-475A-AF58-4501710275BD}"/>
              </a:ext>
            </a:extLst>
          </p:cNvPr>
          <p:cNvPicPr>
            <a:picLocks noChangeAspect="1"/>
          </p:cNvPicPr>
          <p:nvPr/>
        </p:nvPicPr>
        <p:blipFill>
          <a:blip r:embed="rId2"/>
          <a:stretch>
            <a:fillRect/>
          </a:stretch>
        </p:blipFill>
        <p:spPr>
          <a:xfrm>
            <a:off x="3039533" y="3428999"/>
            <a:ext cx="4207087" cy="2717801"/>
          </a:xfrm>
          <a:prstGeom prst="rect">
            <a:avLst/>
          </a:prstGeom>
        </p:spPr>
      </p:pic>
    </p:spTree>
    <p:extLst>
      <p:ext uri="{BB962C8B-B14F-4D97-AF65-F5344CB8AC3E}">
        <p14:creationId xmlns:p14="http://schemas.microsoft.com/office/powerpoint/2010/main" val="593079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0516D-BA45-4A41-8C81-770135D21E5A}"/>
              </a:ext>
            </a:extLst>
          </p:cNvPr>
          <p:cNvSpPr>
            <a:spLocks noGrp="1"/>
          </p:cNvSpPr>
          <p:nvPr>
            <p:ph type="title"/>
          </p:nvPr>
        </p:nvSpPr>
        <p:spPr/>
        <p:txBody>
          <a:bodyPr/>
          <a:lstStyle/>
          <a:p>
            <a:r>
              <a:rPr lang="en-US" dirty="0" err="1"/>
              <a:t>Hierachical</a:t>
            </a:r>
            <a:r>
              <a:rPr lang="en-US" dirty="0"/>
              <a:t> Model </a:t>
            </a:r>
            <a:endParaRPr lang="en-GB" dirty="0"/>
          </a:p>
        </p:txBody>
      </p:sp>
      <p:sp>
        <p:nvSpPr>
          <p:cNvPr id="3" name="Content Placeholder 2">
            <a:extLst>
              <a:ext uri="{FF2B5EF4-FFF2-40B4-BE49-F238E27FC236}">
                <a16:creationId xmlns:a16="http://schemas.microsoft.com/office/drawing/2014/main" id="{BA6B214B-08F2-4FBA-9599-0628B08570FE}"/>
              </a:ext>
            </a:extLst>
          </p:cNvPr>
          <p:cNvSpPr>
            <a:spLocks noGrp="1"/>
          </p:cNvSpPr>
          <p:nvPr>
            <p:ph idx="1"/>
          </p:nvPr>
        </p:nvSpPr>
        <p:spPr/>
        <p:txBody>
          <a:bodyPr/>
          <a:lstStyle/>
          <a:p>
            <a:r>
              <a:rPr lang="en-US" b="0" i="0" dirty="0">
                <a:solidFill>
                  <a:srgbClr val="333333"/>
                </a:solidFill>
                <a:effectLst/>
                <a:latin typeface="Times New Roman" panose="02020603050405020304" pitchFamily="18" charset="0"/>
                <a:cs typeface="Times New Roman" panose="02020603050405020304" pitchFamily="18" charset="0"/>
              </a:rPr>
              <a:t>The Hierarchical model represent data as hierarchical tree structures. </a:t>
            </a:r>
          </a:p>
          <a:p>
            <a:r>
              <a:rPr lang="en-US" b="0" i="0" dirty="0">
                <a:solidFill>
                  <a:srgbClr val="333333"/>
                </a:solidFill>
                <a:effectLst/>
                <a:latin typeface="Times New Roman" panose="02020603050405020304" pitchFamily="18" charset="0"/>
                <a:cs typeface="Times New Roman" panose="02020603050405020304" pitchFamily="18" charset="0"/>
              </a:rPr>
              <a:t>Each hierarchy represents a number of related records</a:t>
            </a:r>
            <a:r>
              <a:rPr lang="en-US" b="0" i="0" dirty="0">
                <a:solidFill>
                  <a:srgbClr val="333333"/>
                </a:solidFill>
                <a:effectLst/>
                <a:latin typeface="Helvetica Neue"/>
              </a:rPr>
              <a:t>.</a:t>
            </a:r>
            <a:endParaRPr lang="en-GB" dirty="0"/>
          </a:p>
        </p:txBody>
      </p:sp>
      <p:sp>
        <p:nvSpPr>
          <p:cNvPr id="4" name="Slide Number Placeholder 3">
            <a:extLst>
              <a:ext uri="{FF2B5EF4-FFF2-40B4-BE49-F238E27FC236}">
                <a16:creationId xmlns:a16="http://schemas.microsoft.com/office/drawing/2014/main" id="{6F893C4C-B46D-E3E2-501A-03FC4679369B}"/>
              </a:ext>
            </a:extLst>
          </p:cNvPr>
          <p:cNvSpPr>
            <a:spLocks noGrp="1"/>
          </p:cNvSpPr>
          <p:nvPr>
            <p:ph type="sldNum" sz="quarter" idx="12"/>
          </p:nvPr>
        </p:nvSpPr>
        <p:spPr/>
        <p:txBody>
          <a:bodyPr/>
          <a:lstStyle/>
          <a:p>
            <a:fld id="{0D75743D-FFBA-49B6-8C74-0691B41B7954}" type="slidenum">
              <a:rPr lang="en-GB" smtClean="0"/>
              <a:t>32</a:t>
            </a:fld>
            <a:endParaRPr lang="en-GB"/>
          </a:p>
        </p:txBody>
      </p:sp>
      <p:pic>
        <p:nvPicPr>
          <p:cNvPr id="5" name="Picture 4">
            <a:extLst>
              <a:ext uri="{FF2B5EF4-FFF2-40B4-BE49-F238E27FC236}">
                <a16:creationId xmlns:a16="http://schemas.microsoft.com/office/drawing/2014/main" id="{B013E8DE-4171-443C-8613-E87E06837CB0}"/>
              </a:ext>
            </a:extLst>
          </p:cNvPr>
          <p:cNvPicPr>
            <a:picLocks noChangeAspect="1"/>
          </p:cNvPicPr>
          <p:nvPr/>
        </p:nvPicPr>
        <p:blipFill>
          <a:blip r:embed="rId2"/>
          <a:stretch>
            <a:fillRect/>
          </a:stretch>
        </p:blipFill>
        <p:spPr>
          <a:xfrm>
            <a:off x="2133600" y="3683000"/>
            <a:ext cx="7162800" cy="2285365"/>
          </a:xfrm>
          <a:prstGeom prst="rect">
            <a:avLst/>
          </a:prstGeom>
        </p:spPr>
      </p:pic>
    </p:spTree>
    <p:extLst>
      <p:ext uri="{BB962C8B-B14F-4D97-AF65-F5344CB8AC3E}">
        <p14:creationId xmlns:p14="http://schemas.microsoft.com/office/powerpoint/2010/main" val="733766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657F6-DFD8-41DC-9CBB-E432C3890A77}"/>
              </a:ext>
            </a:extLst>
          </p:cNvPr>
          <p:cNvSpPr>
            <a:spLocks noGrp="1"/>
          </p:cNvSpPr>
          <p:nvPr>
            <p:ph type="title"/>
          </p:nvPr>
        </p:nvSpPr>
        <p:spPr/>
        <p:txBody>
          <a:bodyPr/>
          <a:lstStyle/>
          <a:p>
            <a:r>
              <a:rPr lang="en-US" dirty="0"/>
              <a:t>Object oriented model</a:t>
            </a:r>
            <a:endParaRPr lang="en-GB" dirty="0"/>
          </a:p>
        </p:txBody>
      </p:sp>
      <p:sp>
        <p:nvSpPr>
          <p:cNvPr id="3" name="Content Placeholder 2">
            <a:extLst>
              <a:ext uri="{FF2B5EF4-FFF2-40B4-BE49-F238E27FC236}">
                <a16:creationId xmlns:a16="http://schemas.microsoft.com/office/drawing/2014/main" id="{896B8374-AFB5-4F63-A200-9A4E147643CD}"/>
              </a:ext>
            </a:extLst>
          </p:cNvPr>
          <p:cNvSpPr>
            <a:spLocks noGrp="1"/>
          </p:cNvSpPr>
          <p:nvPr>
            <p:ph idx="1"/>
          </p:nvPr>
        </p:nvSpPr>
        <p:spPr/>
        <p:txBody>
          <a:bodyPr/>
          <a:lstStyle/>
          <a:p>
            <a:r>
              <a:rPr lang="en-US" dirty="0">
                <a:solidFill>
                  <a:srgbClr val="373D3F"/>
                </a:solidFill>
                <a:latin typeface="Times New Roman" panose="02020603050405020304" pitchFamily="18" charset="0"/>
                <a:cs typeface="Times New Roman" panose="02020603050405020304" pitchFamily="18" charset="0"/>
              </a:rPr>
              <a:t>I</a:t>
            </a:r>
            <a:r>
              <a:rPr lang="en-US" b="0" i="0" dirty="0">
                <a:solidFill>
                  <a:srgbClr val="373D3F"/>
                </a:solidFill>
                <a:effectLst/>
                <a:latin typeface="Times New Roman" panose="02020603050405020304" pitchFamily="18" charset="0"/>
                <a:cs typeface="Times New Roman" panose="02020603050405020304" pitchFamily="18" charset="0"/>
              </a:rPr>
              <a:t>nformation is represented in the form of objects as used in object-oriented programming</a:t>
            </a:r>
          </a:p>
          <a:p>
            <a:endParaRPr lang="en-US" b="0" i="0" dirty="0">
              <a:solidFill>
                <a:srgbClr val="373D3F"/>
              </a:solidFill>
              <a:effectLst/>
              <a:latin typeface="Times New Roman" panose="02020603050405020304" pitchFamily="18" charset="0"/>
              <a:cs typeface="Times New Roman" panose="02020603050405020304" pitchFamily="18" charset="0"/>
            </a:endParaRPr>
          </a:p>
          <a:p>
            <a:endParaRPr lang="en-GB" dirty="0"/>
          </a:p>
        </p:txBody>
      </p:sp>
      <p:sp>
        <p:nvSpPr>
          <p:cNvPr id="4" name="Slide Number Placeholder 3">
            <a:extLst>
              <a:ext uri="{FF2B5EF4-FFF2-40B4-BE49-F238E27FC236}">
                <a16:creationId xmlns:a16="http://schemas.microsoft.com/office/drawing/2014/main" id="{172A8F4E-1074-7BC1-B09C-2FC7CD482D68}"/>
              </a:ext>
            </a:extLst>
          </p:cNvPr>
          <p:cNvSpPr>
            <a:spLocks noGrp="1"/>
          </p:cNvSpPr>
          <p:nvPr>
            <p:ph type="sldNum" sz="quarter" idx="12"/>
          </p:nvPr>
        </p:nvSpPr>
        <p:spPr/>
        <p:txBody>
          <a:bodyPr/>
          <a:lstStyle/>
          <a:p>
            <a:fld id="{0D75743D-FFBA-49B6-8C74-0691B41B7954}" type="slidenum">
              <a:rPr lang="en-GB" smtClean="0"/>
              <a:t>33</a:t>
            </a:fld>
            <a:endParaRPr lang="en-GB"/>
          </a:p>
        </p:txBody>
      </p:sp>
    </p:spTree>
    <p:extLst>
      <p:ext uri="{BB962C8B-B14F-4D97-AF65-F5344CB8AC3E}">
        <p14:creationId xmlns:p14="http://schemas.microsoft.com/office/powerpoint/2010/main" val="2960501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ADE6F-E9E9-45E2-8D32-10C1117520EA}"/>
              </a:ext>
            </a:extLst>
          </p:cNvPr>
          <p:cNvSpPr>
            <a:spLocks noGrp="1"/>
          </p:cNvSpPr>
          <p:nvPr>
            <p:ph type="title"/>
          </p:nvPr>
        </p:nvSpPr>
        <p:spPr/>
        <p:txBody>
          <a:bodyPr/>
          <a:lstStyle/>
          <a:p>
            <a:r>
              <a:rPr lang="en-US" dirty="0"/>
              <a:t>Personal databases</a:t>
            </a:r>
            <a:endParaRPr lang="en-GB" dirty="0"/>
          </a:p>
        </p:txBody>
      </p:sp>
      <p:sp>
        <p:nvSpPr>
          <p:cNvPr id="3" name="Content Placeholder 2">
            <a:extLst>
              <a:ext uri="{FF2B5EF4-FFF2-40B4-BE49-F238E27FC236}">
                <a16:creationId xmlns:a16="http://schemas.microsoft.com/office/drawing/2014/main" id="{1EF6936A-D41F-44BB-A399-C2146A4700DC}"/>
              </a:ext>
            </a:extLst>
          </p:cNvPr>
          <p:cNvSpPr>
            <a:spLocks noGrp="1"/>
          </p:cNvSpPr>
          <p:nvPr>
            <p:ph sz="half" idx="1"/>
          </p:nvPr>
        </p:nvSpPr>
        <p:spPr/>
        <p:txBody>
          <a:bodyPr>
            <a:normAutofit/>
          </a:bodyPr>
          <a:lstStyle/>
          <a:p>
            <a:r>
              <a:rPr lang="en-US" sz="2200" dirty="0">
                <a:latin typeface="Times New Roman" panose="02020603050405020304" pitchFamily="18" charset="0"/>
                <a:cs typeface="Times New Roman" panose="02020603050405020304" pitchFamily="18" charset="0"/>
              </a:rPr>
              <a:t>Also called single user databases</a:t>
            </a:r>
          </a:p>
          <a:p>
            <a:r>
              <a:rPr lang="en-US" sz="2200" dirty="0">
                <a:latin typeface="Times New Roman" panose="02020603050405020304" pitchFamily="18" charset="0"/>
                <a:cs typeface="Times New Roman" panose="02020603050405020304" pitchFamily="18" charset="0"/>
              </a:rPr>
              <a:t>Personal database systems typically</a:t>
            </a:r>
          </a:p>
          <a:p>
            <a:pPr lvl="1"/>
            <a:r>
              <a:rPr lang="en-US" sz="2200" dirty="0">
                <a:latin typeface="Times New Roman" panose="02020603050405020304" pitchFamily="18" charset="0"/>
                <a:cs typeface="Times New Roman" panose="02020603050405020304" pitchFamily="18" charset="0"/>
              </a:rPr>
              <a:t>have one application.</a:t>
            </a:r>
          </a:p>
          <a:p>
            <a:pPr lvl="1"/>
            <a:r>
              <a:rPr lang="en-US" sz="2200" dirty="0">
                <a:latin typeface="Times New Roman" panose="02020603050405020304" pitchFamily="18" charset="0"/>
                <a:cs typeface="Times New Roman" panose="02020603050405020304" pitchFamily="18" charset="0"/>
              </a:rPr>
              <a:t>have only a few tables.</a:t>
            </a:r>
          </a:p>
          <a:p>
            <a:pPr lvl="1"/>
            <a:r>
              <a:rPr lang="en-US" sz="2200" dirty="0">
                <a:latin typeface="Times New Roman" panose="02020603050405020304" pitchFamily="18" charset="0"/>
                <a:cs typeface="Times New Roman" panose="02020603050405020304" pitchFamily="18" charset="0"/>
              </a:rPr>
              <a:t>are simple in design.</a:t>
            </a:r>
          </a:p>
          <a:p>
            <a:pPr lvl="1"/>
            <a:r>
              <a:rPr lang="en-US" sz="2200" dirty="0">
                <a:latin typeface="Times New Roman" panose="02020603050405020304" pitchFamily="18" charset="0"/>
                <a:cs typeface="Times New Roman" panose="02020603050405020304" pitchFamily="18" charset="0"/>
              </a:rPr>
              <a:t>involve only one computer.</a:t>
            </a:r>
          </a:p>
          <a:p>
            <a:pPr lvl="1"/>
            <a:r>
              <a:rPr lang="en-US" sz="2200" dirty="0">
                <a:latin typeface="Times New Roman" panose="02020603050405020304" pitchFamily="18" charset="0"/>
                <a:cs typeface="Times New Roman" panose="02020603050405020304" pitchFamily="18" charset="0"/>
              </a:rPr>
              <a:t>support one user at a time.</a:t>
            </a:r>
          </a:p>
          <a:p>
            <a:endParaRPr lang="en-GB" dirty="0"/>
          </a:p>
        </p:txBody>
      </p:sp>
      <p:pic>
        <p:nvPicPr>
          <p:cNvPr id="6" name="Content Placeholder 5">
            <a:extLst>
              <a:ext uri="{FF2B5EF4-FFF2-40B4-BE49-F238E27FC236}">
                <a16:creationId xmlns:a16="http://schemas.microsoft.com/office/drawing/2014/main" id="{BA25DF4C-CB5B-4F12-91DC-D4C571463764}"/>
              </a:ext>
            </a:extLst>
          </p:cNvPr>
          <p:cNvPicPr>
            <a:picLocks noGrp="1" noChangeAspect="1"/>
          </p:cNvPicPr>
          <p:nvPr>
            <p:ph sz="half" idx="2"/>
          </p:nvPr>
        </p:nvPicPr>
        <p:blipFill>
          <a:blip r:embed="rId2"/>
          <a:stretch>
            <a:fillRect/>
          </a:stretch>
        </p:blipFill>
        <p:spPr>
          <a:xfrm>
            <a:off x="5989638" y="3231170"/>
            <a:ext cx="4754562" cy="2132385"/>
          </a:xfrm>
        </p:spPr>
      </p:pic>
      <p:sp>
        <p:nvSpPr>
          <p:cNvPr id="4" name="Slide Number Placeholder 3">
            <a:extLst>
              <a:ext uri="{FF2B5EF4-FFF2-40B4-BE49-F238E27FC236}">
                <a16:creationId xmlns:a16="http://schemas.microsoft.com/office/drawing/2014/main" id="{B7EBE561-2E8F-948F-B7A7-1EAE543E2B60}"/>
              </a:ext>
            </a:extLst>
          </p:cNvPr>
          <p:cNvSpPr>
            <a:spLocks noGrp="1"/>
          </p:cNvSpPr>
          <p:nvPr>
            <p:ph type="sldNum" sz="quarter" idx="12"/>
          </p:nvPr>
        </p:nvSpPr>
        <p:spPr/>
        <p:txBody>
          <a:bodyPr/>
          <a:lstStyle/>
          <a:p>
            <a:fld id="{0D75743D-FFBA-49B6-8C74-0691B41B7954}" type="slidenum">
              <a:rPr lang="en-GB" smtClean="0"/>
              <a:t>34</a:t>
            </a:fld>
            <a:endParaRPr lang="en-GB"/>
          </a:p>
        </p:txBody>
      </p:sp>
    </p:spTree>
    <p:extLst>
      <p:ext uri="{BB962C8B-B14F-4D97-AF65-F5344CB8AC3E}">
        <p14:creationId xmlns:p14="http://schemas.microsoft.com/office/powerpoint/2010/main" val="3312913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2BD0D-626C-4F3B-8E35-5AE803A3D9FE}"/>
              </a:ext>
            </a:extLst>
          </p:cNvPr>
          <p:cNvSpPr>
            <a:spLocks noGrp="1"/>
          </p:cNvSpPr>
          <p:nvPr>
            <p:ph type="title"/>
          </p:nvPr>
        </p:nvSpPr>
        <p:spPr/>
        <p:txBody>
          <a:bodyPr/>
          <a:lstStyle/>
          <a:p>
            <a:r>
              <a:rPr lang="en-US" dirty="0" err="1"/>
              <a:t>Organisational</a:t>
            </a:r>
            <a:r>
              <a:rPr lang="en-US" dirty="0"/>
              <a:t> databases</a:t>
            </a:r>
            <a:endParaRPr lang="en-GB" dirty="0"/>
          </a:p>
        </p:txBody>
      </p:sp>
      <p:sp>
        <p:nvSpPr>
          <p:cNvPr id="3" name="Content Placeholder 2">
            <a:extLst>
              <a:ext uri="{FF2B5EF4-FFF2-40B4-BE49-F238E27FC236}">
                <a16:creationId xmlns:a16="http://schemas.microsoft.com/office/drawing/2014/main" id="{1E4D02C2-95B5-4246-ACCA-81B5BEE419C7}"/>
              </a:ext>
            </a:extLst>
          </p:cNvPr>
          <p:cNvSpPr>
            <a:spLocks noGrp="1"/>
          </p:cNvSpPr>
          <p:nvPr>
            <p:ph sz="half" idx="1"/>
          </p:nvPr>
        </p:nvSpPr>
        <p:spPr/>
        <p:txBody>
          <a:bodyPr>
            <a:normAutofit/>
          </a:bodyPr>
          <a:lstStyle/>
          <a:p>
            <a:r>
              <a:rPr lang="en-US" dirty="0">
                <a:latin typeface="Times New Roman" panose="02020603050405020304" pitchFamily="18" charset="0"/>
                <a:cs typeface="Times New Roman" panose="02020603050405020304" pitchFamily="18" charset="0"/>
              </a:rPr>
              <a:t>Also called multi-user databases</a:t>
            </a:r>
          </a:p>
          <a:p>
            <a:r>
              <a:rPr lang="en-US" dirty="0">
                <a:latin typeface="Times New Roman" panose="02020603050405020304" pitchFamily="18" charset="0"/>
                <a:cs typeface="Times New Roman" panose="02020603050405020304" pitchFamily="18" charset="0"/>
              </a:rPr>
              <a:t>Enterprise-Class database systems typically:</a:t>
            </a:r>
          </a:p>
          <a:p>
            <a:pPr lvl="1"/>
            <a:r>
              <a:rPr lang="en-US" sz="2400" dirty="0">
                <a:latin typeface="Times New Roman" panose="02020603050405020304" pitchFamily="18" charset="0"/>
                <a:cs typeface="Times New Roman" panose="02020603050405020304" pitchFamily="18" charset="0"/>
              </a:rPr>
              <a:t>support several users simultaneously,</a:t>
            </a:r>
          </a:p>
          <a:p>
            <a:pPr lvl="1"/>
            <a:r>
              <a:rPr lang="en-US" sz="2400" dirty="0">
                <a:latin typeface="Times New Roman" panose="02020603050405020304" pitchFamily="18" charset="0"/>
                <a:cs typeface="Times New Roman" panose="02020603050405020304" pitchFamily="18" charset="0"/>
              </a:rPr>
              <a:t>include more than one application,</a:t>
            </a:r>
          </a:p>
          <a:p>
            <a:pPr lvl="1"/>
            <a:r>
              <a:rPr lang="en-US" sz="2400" dirty="0">
                <a:latin typeface="Times New Roman" panose="02020603050405020304" pitchFamily="18" charset="0"/>
                <a:cs typeface="Times New Roman" panose="02020603050405020304" pitchFamily="18" charset="0"/>
              </a:rPr>
              <a:t>involve multiple computers,</a:t>
            </a:r>
          </a:p>
          <a:p>
            <a:pPr lvl="1"/>
            <a:r>
              <a:rPr lang="en-US" sz="2400" dirty="0">
                <a:latin typeface="Times New Roman" panose="02020603050405020304" pitchFamily="18" charset="0"/>
                <a:cs typeface="Times New Roman" panose="02020603050405020304" pitchFamily="18" charset="0"/>
              </a:rPr>
              <a:t>are complex in design,</a:t>
            </a:r>
          </a:p>
          <a:p>
            <a:pPr lvl="1"/>
            <a:r>
              <a:rPr lang="en-US" sz="2400" dirty="0">
                <a:latin typeface="Times New Roman" panose="02020603050405020304" pitchFamily="18" charset="0"/>
                <a:cs typeface="Times New Roman" panose="02020603050405020304" pitchFamily="18" charset="0"/>
              </a:rPr>
              <a:t>have many tables, and</a:t>
            </a:r>
          </a:p>
          <a:p>
            <a:pPr lvl="1"/>
            <a:r>
              <a:rPr lang="en-US" sz="2400" dirty="0">
                <a:latin typeface="Times New Roman" panose="02020603050405020304" pitchFamily="18" charset="0"/>
                <a:cs typeface="Times New Roman" panose="02020603050405020304" pitchFamily="18" charset="0"/>
              </a:rPr>
              <a:t>have many databases.</a:t>
            </a:r>
          </a:p>
          <a:p>
            <a:endParaRPr lang="en-GB" dirty="0"/>
          </a:p>
        </p:txBody>
      </p:sp>
      <p:pic>
        <p:nvPicPr>
          <p:cNvPr id="6" name="Content Placeholder 5">
            <a:extLst>
              <a:ext uri="{FF2B5EF4-FFF2-40B4-BE49-F238E27FC236}">
                <a16:creationId xmlns:a16="http://schemas.microsoft.com/office/drawing/2014/main" id="{098276A1-DE29-4A57-924B-4006052A9925}"/>
              </a:ext>
            </a:extLst>
          </p:cNvPr>
          <p:cNvPicPr>
            <a:picLocks noGrp="1" noChangeAspect="1"/>
          </p:cNvPicPr>
          <p:nvPr>
            <p:ph sz="half" idx="2"/>
          </p:nvPr>
        </p:nvPicPr>
        <p:blipFill>
          <a:blip r:embed="rId2"/>
          <a:stretch>
            <a:fillRect/>
          </a:stretch>
        </p:blipFill>
        <p:spPr>
          <a:xfrm>
            <a:off x="6181725" y="2628900"/>
            <a:ext cx="4718050" cy="2966010"/>
          </a:xfrm>
        </p:spPr>
      </p:pic>
      <p:sp>
        <p:nvSpPr>
          <p:cNvPr id="4" name="Slide Number Placeholder 3">
            <a:extLst>
              <a:ext uri="{FF2B5EF4-FFF2-40B4-BE49-F238E27FC236}">
                <a16:creationId xmlns:a16="http://schemas.microsoft.com/office/drawing/2014/main" id="{86FD65DA-6ED5-6723-6EBF-D5D1D8D41BE2}"/>
              </a:ext>
            </a:extLst>
          </p:cNvPr>
          <p:cNvSpPr>
            <a:spLocks noGrp="1"/>
          </p:cNvSpPr>
          <p:nvPr>
            <p:ph type="sldNum" sz="quarter" idx="12"/>
          </p:nvPr>
        </p:nvSpPr>
        <p:spPr/>
        <p:txBody>
          <a:bodyPr/>
          <a:lstStyle/>
          <a:p>
            <a:fld id="{0D75743D-FFBA-49B6-8C74-0691B41B7954}" type="slidenum">
              <a:rPr lang="en-GB" smtClean="0"/>
              <a:t>35</a:t>
            </a:fld>
            <a:endParaRPr lang="en-GB"/>
          </a:p>
        </p:txBody>
      </p:sp>
    </p:spTree>
    <p:extLst>
      <p:ext uri="{BB962C8B-B14F-4D97-AF65-F5344CB8AC3E}">
        <p14:creationId xmlns:p14="http://schemas.microsoft.com/office/powerpoint/2010/main" val="694952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1CE8B-B1F8-46ED-845B-3B78025083A0}"/>
              </a:ext>
            </a:extLst>
          </p:cNvPr>
          <p:cNvSpPr>
            <a:spLocks noGrp="1"/>
          </p:cNvSpPr>
          <p:nvPr>
            <p:ph type="title"/>
          </p:nvPr>
        </p:nvSpPr>
        <p:spPr/>
        <p:txBody>
          <a:bodyPr/>
          <a:lstStyle/>
          <a:p>
            <a:r>
              <a:rPr lang="en-US" dirty="0" err="1"/>
              <a:t>Centralised</a:t>
            </a:r>
            <a:r>
              <a:rPr lang="en-US" dirty="0"/>
              <a:t> databases</a:t>
            </a:r>
            <a:endParaRPr lang="en-GB" dirty="0"/>
          </a:p>
        </p:txBody>
      </p:sp>
      <p:sp>
        <p:nvSpPr>
          <p:cNvPr id="3" name="Content Placeholder 2">
            <a:extLst>
              <a:ext uri="{FF2B5EF4-FFF2-40B4-BE49-F238E27FC236}">
                <a16:creationId xmlns:a16="http://schemas.microsoft.com/office/drawing/2014/main" id="{E0B1BF12-AADD-4D51-84CA-0791ADA764EA}"/>
              </a:ext>
            </a:extLst>
          </p:cNvPr>
          <p:cNvSpPr>
            <a:spLocks noGrp="1"/>
          </p:cNvSpPr>
          <p:nvPr>
            <p:ph sz="half" idx="1"/>
          </p:nvPr>
        </p:nvSpPr>
        <p:spPr/>
        <p:txBody>
          <a:bodyPr/>
          <a:lstStyle/>
          <a:p>
            <a:pPr>
              <a:lnSpc>
                <a:spcPct val="150000"/>
              </a:lnSpc>
            </a:pPr>
            <a:r>
              <a:rPr lang="en-US" sz="1900" dirty="0">
                <a:latin typeface="Times New Roman" panose="02020603050405020304" pitchFamily="18" charset="0"/>
                <a:cs typeface="Times New Roman" panose="02020603050405020304" pitchFamily="18" charset="0"/>
              </a:rPr>
              <a:t>The DBMS and database are stored at a single site that is used by several other systems too</a:t>
            </a:r>
            <a:endParaRPr lang="en-GB" sz="19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67755330-6FDD-4C60-B8FA-C93D46654BC6}"/>
              </a:ext>
            </a:extLst>
          </p:cNvPr>
          <p:cNvPicPr>
            <a:picLocks noGrp="1" noChangeAspect="1"/>
          </p:cNvPicPr>
          <p:nvPr>
            <p:ph sz="half" idx="2"/>
          </p:nvPr>
        </p:nvPicPr>
        <p:blipFill rotWithShape="1">
          <a:blip r:embed="rId2"/>
          <a:stretch/>
        </p:blipFill>
        <p:spPr>
          <a:xfrm>
            <a:off x="6104731" y="2778125"/>
            <a:ext cx="4524375" cy="3038475"/>
          </a:xfrm>
        </p:spPr>
      </p:pic>
      <p:sp>
        <p:nvSpPr>
          <p:cNvPr id="4" name="Slide Number Placeholder 3">
            <a:extLst>
              <a:ext uri="{FF2B5EF4-FFF2-40B4-BE49-F238E27FC236}">
                <a16:creationId xmlns:a16="http://schemas.microsoft.com/office/drawing/2014/main" id="{5CE861D5-BBEB-3D59-D9CA-4B31E738D550}"/>
              </a:ext>
            </a:extLst>
          </p:cNvPr>
          <p:cNvSpPr>
            <a:spLocks noGrp="1"/>
          </p:cNvSpPr>
          <p:nvPr>
            <p:ph type="sldNum" sz="quarter" idx="12"/>
          </p:nvPr>
        </p:nvSpPr>
        <p:spPr/>
        <p:txBody>
          <a:bodyPr/>
          <a:lstStyle/>
          <a:p>
            <a:fld id="{0D75743D-FFBA-49B6-8C74-0691B41B7954}" type="slidenum">
              <a:rPr lang="en-GB" smtClean="0"/>
              <a:t>36</a:t>
            </a:fld>
            <a:endParaRPr lang="en-GB"/>
          </a:p>
        </p:txBody>
      </p:sp>
    </p:spTree>
    <p:extLst>
      <p:ext uri="{BB962C8B-B14F-4D97-AF65-F5344CB8AC3E}">
        <p14:creationId xmlns:p14="http://schemas.microsoft.com/office/powerpoint/2010/main" val="2178694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1BC8B-EE90-45B3-A018-3E48C97D2AD9}"/>
              </a:ext>
            </a:extLst>
          </p:cNvPr>
          <p:cNvSpPr>
            <a:spLocks noGrp="1"/>
          </p:cNvSpPr>
          <p:nvPr>
            <p:ph type="title"/>
          </p:nvPr>
        </p:nvSpPr>
        <p:spPr/>
        <p:txBody>
          <a:bodyPr/>
          <a:lstStyle/>
          <a:p>
            <a:r>
              <a:rPr lang="en-US" dirty="0"/>
              <a:t>Distributed databases </a:t>
            </a:r>
            <a:endParaRPr lang="en-GB" dirty="0"/>
          </a:p>
        </p:txBody>
      </p:sp>
      <p:sp>
        <p:nvSpPr>
          <p:cNvPr id="3" name="Content Placeholder 2">
            <a:extLst>
              <a:ext uri="{FF2B5EF4-FFF2-40B4-BE49-F238E27FC236}">
                <a16:creationId xmlns:a16="http://schemas.microsoft.com/office/drawing/2014/main" id="{97DE459D-ECB1-4FE3-9C70-253028E352D0}"/>
              </a:ext>
            </a:extLst>
          </p:cNvPr>
          <p:cNvSpPr>
            <a:spLocks noGrp="1"/>
          </p:cNvSpPr>
          <p:nvPr>
            <p:ph sz="half" idx="1"/>
          </p:nvPr>
        </p:nvSpPr>
        <p:spPr/>
        <p:txBody>
          <a:bodyPr>
            <a:normAutofit/>
          </a:bodyPr>
          <a:lstStyle/>
          <a:p>
            <a:pPr>
              <a:buFont typeface="Arial" panose="020B0604020202020204" pitchFamily="34" charset="0"/>
              <a:buChar char="•"/>
            </a:pPr>
            <a:r>
              <a:rPr lang="en-US" dirty="0">
                <a:solidFill>
                  <a:srgbClr val="333333"/>
                </a:solidFill>
                <a:latin typeface="Times New Roman" panose="02020603050405020304" pitchFamily="18" charset="0"/>
                <a:cs typeface="Times New Roman" panose="02020603050405020304" pitchFamily="18" charset="0"/>
              </a:rPr>
              <a:t>T</a:t>
            </a:r>
            <a:r>
              <a:rPr lang="en-US" b="0" i="0" dirty="0">
                <a:solidFill>
                  <a:srgbClr val="333333"/>
                </a:solidFill>
                <a:effectLst/>
                <a:latin typeface="Times New Roman" panose="02020603050405020304" pitchFamily="18" charset="0"/>
                <a:cs typeface="Times New Roman" panose="02020603050405020304" pitchFamily="18" charset="0"/>
              </a:rPr>
              <a:t>he actual database and the DBMS software are distributed from various sites that are connected by a computer network</a:t>
            </a:r>
          </a:p>
          <a:p>
            <a:pPr>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use the same DBMS software at multiple sites (homogenous)</a:t>
            </a:r>
          </a:p>
          <a:p>
            <a:pPr>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different sites might use different DBMS software, but there is additional common software to support data exchange between these sites( heterogenous)</a:t>
            </a:r>
            <a:endParaRPr lang="en-GB" b="1" dirty="0">
              <a:latin typeface="Times New Roman" panose="02020603050405020304" pitchFamily="18" charset="0"/>
              <a:cs typeface="Times New Roman" panose="02020603050405020304" pitchFamily="18" charset="0"/>
            </a:endParaRPr>
          </a:p>
          <a:p>
            <a:endParaRPr lang="en-GB" dirty="0"/>
          </a:p>
          <a:p>
            <a:endParaRPr lang="en-GB" dirty="0"/>
          </a:p>
        </p:txBody>
      </p:sp>
      <p:pic>
        <p:nvPicPr>
          <p:cNvPr id="6" name="Content Placeholder 5">
            <a:extLst>
              <a:ext uri="{FF2B5EF4-FFF2-40B4-BE49-F238E27FC236}">
                <a16:creationId xmlns:a16="http://schemas.microsoft.com/office/drawing/2014/main" id="{C73062BF-D9A3-4C0F-BAF8-85297EE946C9}"/>
              </a:ext>
            </a:extLst>
          </p:cNvPr>
          <p:cNvPicPr>
            <a:picLocks noGrp="1" noChangeAspect="1"/>
          </p:cNvPicPr>
          <p:nvPr>
            <p:ph sz="half" idx="2"/>
          </p:nvPr>
        </p:nvPicPr>
        <p:blipFill>
          <a:blip r:embed="rId2"/>
          <a:stretch>
            <a:fillRect/>
          </a:stretch>
        </p:blipFill>
        <p:spPr>
          <a:xfrm>
            <a:off x="6577965" y="2449989"/>
            <a:ext cx="4718304" cy="3420459"/>
          </a:xfrm>
        </p:spPr>
      </p:pic>
      <p:sp>
        <p:nvSpPr>
          <p:cNvPr id="4" name="Slide Number Placeholder 3">
            <a:extLst>
              <a:ext uri="{FF2B5EF4-FFF2-40B4-BE49-F238E27FC236}">
                <a16:creationId xmlns:a16="http://schemas.microsoft.com/office/drawing/2014/main" id="{CEFC563D-1EF0-2478-A46A-108B03760504}"/>
              </a:ext>
            </a:extLst>
          </p:cNvPr>
          <p:cNvSpPr>
            <a:spLocks noGrp="1"/>
          </p:cNvSpPr>
          <p:nvPr>
            <p:ph type="sldNum" sz="quarter" idx="12"/>
          </p:nvPr>
        </p:nvSpPr>
        <p:spPr/>
        <p:txBody>
          <a:bodyPr/>
          <a:lstStyle/>
          <a:p>
            <a:fld id="{0D75743D-FFBA-49B6-8C74-0691B41B7954}" type="slidenum">
              <a:rPr lang="en-GB" smtClean="0"/>
              <a:t>37</a:t>
            </a:fld>
            <a:endParaRPr lang="en-GB"/>
          </a:p>
        </p:txBody>
      </p:sp>
    </p:spTree>
    <p:extLst>
      <p:ext uri="{BB962C8B-B14F-4D97-AF65-F5344CB8AC3E}">
        <p14:creationId xmlns:p14="http://schemas.microsoft.com/office/powerpoint/2010/main" val="6864404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796D-A537-4075-A5B6-440E228EF191}"/>
              </a:ext>
            </a:extLst>
          </p:cNvPr>
          <p:cNvSpPr>
            <a:spLocks noGrp="1"/>
          </p:cNvSpPr>
          <p:nvPr>
            <p:ph type="title"/>
          </p:nvPr>
        </p:nvSpPr>
        <p:spPr>
          <a:xfrm>
            <a:off x="1170564" y="982132"/>
            <a:ext cx="4561069" cy="1416721"/>
          </a:xfrm>
        </p:spPr>
        <p:txBody>
          <a:bodyPr>
            <a:normAutofit/>
          </a:bodyPr>
          <a:lstStyle/>
          <a:p>
            <a:r>
              <a:rPr lang="en-US" sz="4000"/>
              <a:t>Summary </a:t>
            </a:r>
            <a:endParaRPr lang="en-GB" sz="4000"/>
          </a:p>
        </p:txBody>
      </p:sp>
      <p:sp>
        <p:nvSpPr>
          <p:cNvPr id="3" name="Content Placeholder 2">
            <a:extLst>
              <a:ext uri="{FF2B5EF4-FFF2-40B4-BE49-F238E27FC236}">
                <a16:creationId xmlns:a16="http://schemas.microsoft.com/office/drawing/2014/main" id="{06E45D8B-EA34-492F-9015-DDB2D1D21534}"/>
              </a:ext>
            </a:extLst>
          </p:cNvPr>
          <p:cNvSpPr>
            <a:spLocks noGrp="1"/>
          </p:cNvSpPr>
          <p:nvPr>
            <p:ph idx="1"/>
          </p:nvPr>
        </p:nvSpPr>
        <p:spPr>
          <a:xfrm>
            <a:off x="1167385" y="2556932"/>
            <a:ext cx="3800855" cy="3318936"/>
          </a:xfrm>
        </p:spPr>
        <p:txBody>
          <a:bodyPr>
            <a:normAutofit/>
          </a:bodyPr>
          <a:lstStyle/>
          <a:p>
            <a:r>
              <a:rPr lang="en-US" dirty="0">
                <a:latin typeface="Times New Roman" panose="02020603050405020304" pitchFamily="18" charset="0"/>
                <a:cs typeface="Times New Roman" panose="02020603050405020304" pitchFamily="18" charset="0"/>
              </a:rPr>
              <a:t>Identify which type of database is represented in the diagrams</a:t>
            </a:r>
            <a:endParaRPr lang="en-GB"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14E6625-FE8D-807D-E21A-AC995805307A}"/>
              </a:ext>
            </a:extLst>
          </p:cNvPr>
          <p:cNvSpPr>
            <a:spLocks noGrp="1"/>
          </p:cNvSpPr>
          <p:nvPr>
            <p:ph type="sldNum" sz="quarter" idx="12"/>
          </p:nvPr>
        </p:nvSpPr>
        <p:spPr/>
        <p:txBody>
          <a:bodyPr/>
          <a:lstStyle/>
          <a:p>
            <a:fld id="{0D75743D-FFBA-49B6-8C74-0691B41B7954}" type="slidenum">
              <a:rPr lang="en-GB" smtClean="0"/>
              <a:t>38</a:t>
            </a:fld>
            <a:endParaRPr lang="en-GB"/>
          </a:p>
        </p:txBody>
      </p:sp>
      <p:pic>
        <p:nvPicPr>
          <p:cNvPr id="11" name="Picture 10">
            <a:extLst>
              <a:ext uri="{FF2B5EF4-FFF2-40B4-BE49-F238E27FC236}">
                <a16:creationId xmlns:a16="http://schemas.microsoft.com/office/drawing/2014/main" id="{CC177B10-1A8A-4D79-B292-81124DD23A38}"/>
              </a:ext>
            </a:extLst>
          </p:cNvPr>
          <p:cNvPicPr>
            <a:picLocks noChangeAspect="1"/>
          </p:cNvPicPr>
          <p:nvPr/>
        </p:nvPicPr>
        <p:blipFill>
          <a:blip r:embed="rId3"/>
          <a:stretch>
            <a:fillRect/>
          </a:stretch>
        </p:blipFill>
        <p:spPr>
          <a:xfrm>
            <a:off x="6358200" y="1096018"/>
            <a:ext cx="2156354" cy="2217902"/>
          </a:xfrm>
          <a:prstGeom prst="rect">
            <a:avLst/>
          </a:prstGeom>
        </p:spPr>
      </p:pic>
      <p:pic>
        <p:nvPicPr>
          <p:cNvPr id="5" name="Picture 4">
            <a:extLst>
              <a:ext uri="{FF2B5EF4-FFF2-40B4-BE49-F238E27FC236}">
                <a16:creationId xmlns:a16="http://schemas.microsoft.com/office/drawing/2014/main" id="{0F644125-966D-4DF2-BC59-D3B3BC96A94A}"/>
              </a:ext>
            </a:extLst>
          </p:cNvPr>
          <p:cNvPicPr>
            <a:picLocks noChangeAspect="1"/>
          </p:cNvPicPr>
          <p:nvPr/>
        </p:nvPicPr>
        <p:blipFill>
          <a:blip r:embed="rId4"/>
          <a:stretch>
            <a:fillRect/>
          </a:stretch>
        </p:blipFill>
        <p:spPr>
          <a:xfrm>
            <a:off x="9034170" y="1096018"/>
            <a:ext cx="1914981" cy="2226099"/>
          </a:xfrm>
          <a:prstGeom prst="rect">
            <a:avLst/>
          </a:prstGeom>
        </p:spPr>
      </p:pic>
      <p:pic>
        <p:nvPicPr>
          <p:cNvPr id="7" name="Picture 6">
            <a:extLst>
              <a:ext uri="{FF2B5EF4-FFF2-40B4-BE49-F238E27FC236}">
                <a16:creationId xmlns:a16="http://schemas.microsoft.com/office/drawing/2014/main" id="{DA25DF99-40C6-47A3-B5BD-7B59D047FCAB}"/>
              </a:ext>
            </a:extLst>
          </p:cNvPr>
          <p:cNvPicPr>
            <a:picLocks noChangeAspect="1"/>
          </p:cNvPicPr>
          <p:nvPr/>
        </p:nvPicPr>
        <p:blipFill>
          <a:blip r:embed="rId5"/>
          <a:stretch>
            <a:fillRect/>
          </a:stretch>
        </p:blipFill>
        <p:spPr>
          <a:xfrm>
            <a:off x="6358200" y="3589867"/>
            <a:ext cx="2156354" cy="2172115"/>
          </a:xfrm>
          <a:prstGeom prst="rect">
            <a:avLst/>
          </a:prstGeom>
        </p:spPr>
      </p:pic>
      <p:pic>
        <p:nvPicPr>
          <p:cNvPr id="9" name="Picture 8">
            <a:extLst>
              <a:ext uri="{FF2B5EF4-FFF2-40B4-BE49-F238E27FC236}">
                <a16:creationId xmlns:a16="http://schemas.microsoft.com/office/drawing/2014/main" id="{1AA23985-6C6D-4CF9-BCF0-FEC18673E459}"/>
              </a:ext>
            </a:extLst>
          </p:cNvPr>
          <p:cNvPicPr>
            <a:picLocks noChangeAspect="1"/>
          </p:cNvPicPr>
          <p:nvPr/>
        </p:nvPicPr>
        <p:blipFill>
          <a:blip r:embed="rId6"/>
          <a:stretch>
            <a:fillRect/>
          </a:stretch>
        </p:blipFill>
        <p:spPr>
          <a:xfrm>
            <a:off x="9034170" y="3494591"/>
            <a:ext cx="1914981" cy="2275588"/>
          </a:xfrm>
          <a:prstGeom prst="rect">
            <a:avLst/>
          </a:prstGeom>
        </p:spPr>
      </p:pic>
    </p:spTree>
    <p:extLst>
      <p:ext uri="{BB962C8B-B14F-4D97-AF65-F5344CB8AC3E}">
        <p14:creationId xmlns:p14="http://schemas.microsoft.com/office/powerpoint/2010/main" val="4178088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60C2F-B9C4-4D1F-8893-807511A0B1F9}"/>
              </a:ext>
            </a:extLst>
          </p:cNvPr>
          <p:cNvSpPr>
            <a:spLocks noGrp="1"/>
          </p:cNvSpPr>
          <p:nvPr>
            <p:ph type="title"/>
          </p:nvPr>
        </p:nvSpPr>
        <p:spPr/>
        <p:txBody>
          <a:bodyPr/>
          <a:lstStyle/>
          <a:p>
            <a:r>
              <a:rPr lang="en-US" dirty="0"/>
              <a:t>Take home</a:t>
            </a:r>
            <a:endParaRPr lang="en-GB" dirty="0"/>
          </a:p>
        </p:txBody>
      </p:sp>
      <p:sp>
        <p:nvSpPr>
          <p:cNvPr id="3" name="Content Placeholder 2">
            <a:extLst>
              <a:ext uri="{FF2B5EF4-FFF2-40B4-BE49-F238E27FC236}">
                <a16:creationId xmlns:a16="http://schemas.microsoft.com/office/drawing/2014/main" id="{4A7BD47F-5EB1-4DAB-9AE6-2065A5C3DACD}"/>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State advantages and disadvantages of each type of database</a:t>
            </a:r>
          </a:p>
          <a:p>
            <a:r>
              <a:rPr lang="en-US" sz="2400" dirty="0">
                <a:latin typeface="Times New Roman" panose="02020603050405020304" pitchFamily="18" charset="0"/>
                <a:cs typeface="Times New Roman" panose="02020603050405020304" pitchFamily="18" charset="0"/>
              </a:rPr>
              <a:t>Describe each type of database paying attention to </a:t>
            </a:r>
          </a:p>
          <a:p>
            <a:pPr marL="457200" indent="-457200">
              <a:buAutoNum type="arabicPeriod"/>
            </a:pPr>
            <a:r>
              <a:rPr lang="en-US" sz="2400" dirty="0">
                <a:latin typeface="Times New Roman" panose="02020603050405020304" pitchFamily="18" charset="0"/>
                <a:cs typeface="Times New Roman" panose="02020603050405020304" pitchFamily="18" charset="0"/>
              </a:rPr>
              <a:t>How data is stored</a:t>
            </a:r>
          </a:p>
          <a:p>
            <a:pPr marL="457200" indent="-457200">
              <a:buAutoNum type="arabicPeriod"/>
            </a:pPr>
            <a:r>
              <a:rPr lang="en-US" sz="2400" dirty="0">
                <a:latin typeface="Times New Roman" panose="02020603050405020304" pitchFamily="18" charset="0"/>
                <a:cs typeface="Times New Roman" panose="02020603050405020304" pitchFamily="18" charset="0"/>
              </a:rPr>
              <a:t>How it is accessed</a:t>
            </a:r>
          </a:p>
          <a:p>
            <a:pPr marL="457200" indent="-457200">
              <a:buAutoNum type="arabicPeriod"/>
            </a:pPr>
            <a:r>
              <a:rPr lang="en-US" sz="2400" dirty="0">
                <a:latin typeface="Times New Roman" panose="02020603050405020304" pitchFamily="18" charset="0"/>
                <a:cs typeface="Times New Roman" panose="02020603050405020304" pitchFamily="18" charset="0"/>
              </a:rPr>
              <a:t>Application areas</a:t>
            </a:r>
          </a:p>
          <a:p>
            <a:r>
              <a:rPr lang="en-US" sz="2400" dirty="0">
                <a:latin typeface="Times New Roman" panose="02020603050405020304" pitchFamily="18" charset="0"/>
                <a:cs typeface="Times New Roman" panose="02020603050405020304" pitchFamily="18" charset="0"/>
              </a:rPr>
              <a:t>Draw a table of common data types giving example values for each data type.</a:t>
            </a:r>
          </a:p>
          <a:p>
            <a:endParaRPr lang="en-GB" dirty="0"/>
          </a:p>
        </p:txBody>
      </p:sp>
      <p:sp>
        <p:nvSpPr>
          <p:cNvPr id="4" name="Slide Number Placeholder 3">
            <a:extLst>
              <a:ext uri="{FF2B5EF4-FFF2-40B4-BE49-F238E27FC236}">
                <a16:creationId xmlns:a16="http://schemas.microsoft.com/office/drawing/2014/main" id="{32E52DB3-90E6-615E-7125-E0D4A0EF70D6}"/>
              </a:ext>
            </a:extLst>
          </p:cNvPr>
          <p:cNvSpPr>
            <a:spLocks noGrp="1"/>
          </p:cNvSpPr>
          <p:nvPr>
            <p:ph type="sldNum" sz="quarter" idx="12"/>
          </p:nvPr>
        </p:nvSpPr>
        <p:spPr/>
        <p:txBody>
          <a:bodyPr/>
          <a:lstStyle/>
          <a:p>
            <a:fld id="{0D75743D-FFBA-49B6-8C74-0691B41B7954}" type="slidenum">
              <a:rPr lang="en-GB" smtClean="0"/>
              <a:t>39</a:t>
            </a:fld>
            <a:endParaRPr lang="en-GB"/>
          </a:p>
        </p:txBody>
      </p:sp>
    </p:spTree>
    <p:extLst>
      <p:ext uri="{BB962C8B-B14F-4D97-AF65-F5344CB8AC3E}">
        <p14:creationId xmlns:p14="http://schemas.microsoft.com/office/powerpoint/2010/main" val="11281896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48015-AAD6-48E9-83FF-0E90343BA97B}"/>
              </a:ext>
            </a:extLst>
          </p:cNvPr>
          <p:cNvSpPr>
            <a:spLocks noGrp="1"/>
          </p:cNvSpPr>
          <p:nvPr>
            <p:ph type="title"/>
          </p:nvPr>
        </p:nvSpPr>
        <p:spPr/>
        <p:txBody>
          <a:bodyPr/>
          <a:lstStyle/>
          <a:p>
            <a:r>
              <a:rPr lang="en-US" dirty="0"/>
              <a:t>Next Lesson</a:t>
            </a:r>
            <a:endParaRPr lang="en-GB" dirty="0"/>
          </a:p>
        </p:txBody>
      </p:sp>
      <p:sp>
        <p:nvSpPr>
          <p:cNvPr id="3" name="Content Placeholder 2">
            <a:extLst>
              <a:ext uri="{FF2B5EF4-FFF2-40B4-BE49-F238E27FC236}">
                <a16:creationId xmlns:a16="http://schemas.microsoft.com/office/drawing/2014/main" id="{A597CD7F-4DD1-4187-85F0-8B414174593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Attend the practical/ lab sessions</a:t>
            </a:r>
          </a:p>
          <a:p>
            <a:r>
              <a:rPr lang="en-US" dirty="0">
                <a:latin typeface="Times New Roman" panose="02020603050405020304" pitchFamily="18" charset="0"/>
                <a:cs typeface="Times New Roman" panose="02020603050405020304" pitchFamily="18" charset="0"/>
              </a:rPr>
              <a:t>The database development process</a:t>
            </a:r>
          </a:p>
        </p:txBody>
      </p:sp>
      <p:sp>
        <p:nvSpPr>
          <p:cNvPr id="4" name="Slide Number Placeholder 3">
            <a:extLst>
              <a:ext uri="{FF2B5EF4-FFF2-40B4-BE49-F238E27FC236}">
                <a16:creationId xmlns:a16="http://schemas.microsoft.com/office/drawing/2014/main" id="{6D420D2B-593F-8546-4B1C-1888856315D5}"/>
              </a:ext>
            </a:extLst>
          </p:cNvPr>
          <p:cNvSpPr>
            <a:spLocks noGrp="1"/>
          </p:cNvSpPr>
          <p:nvPr>
            <p:ph type="sldNum" sz="quarter" idx="12"/>
          </p:nvPr>
        </p:nvSpPr>
        <p:spPr/>
        <p:txBody>
          <a:bodyPr/>
          <a:lstStyle/>
          <a:p>
            <a:fld id="{0D75743D-FFBA-49B6-8C74-0691B41B7954}" type="slidenum">
              <a:rPr lang="en-GB" smtClean="0"/>
              <a:t>40</a:t>
            </a:fld>
            <a:endParaRPr lang="en-GB"/>
          </a:p>
        </p:txBody>
      </p:sp>
    </p:spTree>
    <p:extLst>
      <p:ext uri="{BB962C8B-B14F-4D97-AF65-F5344CB8AC3E}">
        <p14:creationId xmlns:p14="http://schemas.microsoft.com/office/powerpoint/2010/main" val="897124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78277-6B87-4884-B39E-B788D449CCE1}"/>
              </a:ext>
            </a:extLst>
          </p:cNvPr>
          <p:cNvSpPr>
            <a:spLocks noGrp="1"/>
          </p:cNvSpPr>
          <p:nvPr>
            <p:ph type="title"/>
          </p:nvPr>
        </p:nvSpPr>
        <p:spPr/>
        <p:txBody>
          <a:bodyPr/>
          <a:lstStyle/>
          <a:p>
            <a:r>
              <a:rPr lang="en-US" dirty="0"/>
              <a:t>References </a:t>
            </a:r>
            <a:endParaRPr lang="en-GB" dirty="0"/>
          </a:p>
        </p:txBody>
      </p:sp>
      <p:sp>
        <p:nvSpPr>
          <p:cNvPr id="3" name="Content Placeholder 2">
            <a:extLst>
              <a:ext uri="{FF2B5EF4-FFF2-40B4-BE49-F238E27FC236}">
                <a16:creationId xmlns:a16="http://schemas.microsoft.com/office/drawing/2014/main" id="{0E9ED2F9-1824-4E3C-922A-0F14AAD93F72}"/>
              </a:ext>
            </a:extLst>
          </p:cNvPr>
          <p:cNvSpPr>
            <a:spLocks noGrp="1"/>
          </p:cNvSpPr>
          <p:nvPr>
            <p:ph idx="1"/>
          </p:nvPr>
        </p:nvSpPr>
        <p:spPr/>
        <p:txBody>
          <a:bodyPr/>
          <a:lstStyle/>
          <a:p>
            <a:r>
              <a:rPr lang="en-US" dirty="0"/>
              <a:t>Deborah Morley and Charles S. Parker (2015). Understanding Computers Today and Tomorrow.</a:t>
            </a:r>
            <a:r>
              <a:rPr lang="en-GB" dirty="0"/>
              <a:t> Cengage Learning</a:t>
            </a:r>
          </a:p>
          <a:p>
            <a:r>
              <a:rPr lang="en-GB" dirty="0"/>
              <a:t>Kroenke, D. M. &amp; Auer, D. (2018). Database concepts (9th ed.), Pearson</a:t>
            </a:r>
            <a:endParaRPr lang="en-US" dirty="0"/>
          </a:p>
          <a:p>
            <a:endParaRPr lang="en-GB" dirty="0"/>
          </a:p>
        </p:txBody>
      </p:sp>
      <p:sp>
        <p:nvSpPr>
          <p:cNvPr id="4" name="Slide Number Placeholder 3">
            <a:extLst>
              <a:ext uri="{FF2B5EF4-FFF2-40B4-BE49-F238E27FC236}">
                <a16:creationId xmlns:a16="http://schemas.microsoft.com/office/drawing/2014/main" id="{475142AA-20EE-1FCF-DC7C-495FA8C32712}"/>
              </a:ext>
            </a:extLst>
          </p:cNvPr>
          <p:cNvSpPr>
            <a:spLocks noGrp="1"/>
          </p:cNvSpPr>
          <p:nvPr>
            <p:ph type="sldNum" sz="quarter" idx="12"/>
          </p:nvPr>
        </p:nvSpPr>
        <p:spPr/>
        <p:txBody>
          <a:bodyPr/>
          <a:lstStyle/>
          <a:p>
            <a:fld id="{0D75743D-FFBA-49B6-8C74-0691B41B7954}" type="slidenum">
              <a:rPr lang="en-GB" smtClean="0"/>
              <a:t>41</a:t>
            </a:fld>
            <a:endParaRPr lang="en-GB"/>
          </a:p>
        </p:txBody>
      </p:sp>
    </p:spTree>
    <p:extLst>
      <p:ext uri="{BB962C8B-B14F-4D97-AF65-F5344CB8AC3E}">
        <p14:creationId xmlns:p14="http://schemas.microsoft.com/office/powerpoint/2010/main" val="40030727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401</TotalTime>
  <Words>2102</Words>
  <Application>Microsoft Office PowerPoint</Application>
  <PresentationFormat>Widescreen</PresentationFormat>
  <Paragraphs>260</Paragraphs>
  <Slides>41</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Arial</vt:lpstr>
      <vt:lpstr>Calibri</vt:lpstr>
      <vt:lpstr>Helvetica Neue</vt:lpstr>
      <vt:lpstr>Open Sans</vt:lpstr>
      <vt:lpstr>RopaSoftPro-Regular</vt:lpstr>
      <vt:lpstr>Times New Roman</vt:lpstr>
      <vt:lpstr>Tw Cen MT</vt:lpstr>
      <vt:lpstr>Tw Cen MT Condensed</vt:lpstr>
      <vt:lpstr>Wingdings 3</vt:lpstr>
      <vt:lpstr>Integral</vt:lpstr>
      <vt:lpstr>PowerPoint Presentation</vt:lpstr>
      <vt:lpstr>Recap </vt:lpstr>
      <vt:lpstr>Recap </vt:lpstr>
      <vt:lpstr>Objectives </vt:lpstr>
      <vt:lpstr>DBMS architecture </vt:lpstr>
      <vt:lpstr>DBMS architecture </vt:lpstr>
      <vt:lpstr>Two-tier </vt:lpstr>
      <vt:lpstr>Two-tier </vt:lpstr>
      <vt:lpstr>Three-tier </vt:lpstr>
      <vt:lpstr>Three tier </vt:lpstr>
      <vt:lpstr>Data Models</vt:lpstr>
      <vt:lpstr>Data Models</vt:lpstr>
      <vt:lpstr>1. Conceptual model</vt:lpstr>
      <vt:lpstr>2. Logical model</vt:lpstr>
      <vt:lpstr>3. Physical model</vt:lpstr>
      <vt:lpstr>Database schema</vt:lpstr>
      <vt:lpstr>Database schema</vt:lpstr>
      <vt:lpstr>Database schema</vt:lpstr>
      <vt:lpstr>Database Schema</vt:lpstr>
      <vt:lpstr>Data dictionary </vt:lpstr>
      <vt:lpstr>Database instance </vt:lpstr>
      <vt:lpstr>Three tier architecture</vt:lpstr>
      <vt:lpstr>Types of database systems</vt:lpstr>
      <vt:lpstr>Relational model</vt:lpstr>
      <vt:lpstr>Relational model</vt:lpstr>
      <vt:lpstr>Relational Model</vt:lpstr>
      <vt:lpstr>Relational Model</vt:lpstr>
      <vt:lpstr>Relationships</vt:lpstr>
      <vt:lpstr>Relational model</vt:lpstr>
      <vt:lpstr>A Sample Relation</vt:lpstr>
      <vt:lpstr>Network Model</vt:lpstr>
      <vt:lpstr>Hierachical Model </vt:lpstr>
      <vt:lpstr>Object oriented model</vt:lpstr>
      <vt:lpstr>Personal databases</vt:lpstr>
      <vt:lpstr>Organisational databases</vt:lpstr>
      <vt:lpstr>Centralised databases</vt:lpstr>
      <vt:lpstr>Distributed databases </vt:lpstr>
      <vt:lpstr>Summary </vt:lpstr>
      <vt:lpstr>Take home</vt:lpstr>
      <vt:lpstr>Next Lesson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 Concepts &amp; Architecture</dc:title>
  <dc:creator>Chikohora, Teressa (INT)</dc:creator>
  <cp:lastModifiedBy>Chivuno-Kuria, Shilumbe</cp:lastModifiedBy>
  <cp:revision>4</cp:revision>
  <dcterms:created xsi:type="dcterms:W3CDTF">2021-03-28T18:40:51Z</dcterms:created>
  <dcterms:modified xsi:type="dcterms:W3CDTF">2025-02-24T11:16:52Z</dcterms:modified>
</cp:coreProperties>
</file>