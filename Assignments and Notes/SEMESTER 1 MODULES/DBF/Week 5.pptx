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1"/>
  </p:notesMasterIdLst>
  <p:sldIdLst>
    <p:sldId id="309" r:id="rId2"/>
    <p:sldId id="257" r:id="rId3"/>
    <p:sldId id="272" r:id="rId4"/>
    <p:sldId id="260" r:id="rId5"/>
    <p:sldId id="395" r:id="rId6"/>
    <p:sldId id="405" r:id="rId7"/>
    <p:sldId id="429" r:id="rId8"/>
    <p:sldId id="259" r:id="rId9"/>
    <p:sldId id="495" r:id="rId10"/>
    <p:sldId id="263" r:id="rId11"/>
    <p:sldId id="372" r:id="rId12"/>
    <p:sldId id="290" r:id="rId13"/>
    <p:sldId id="496" r:id="rId14"/>
    <p:sldId id="284" r:id="rId15"/>
    <p:sldId id="494" r:id="rId16"/>
    <p:sldId id="501" r:id="rId17"/>
    <p:sldId id="497" r:id="rId18"/>
    <p:sldId id="498" r:id="rId19"/>
    <p:sldId id="502" r:id="rId20"/>
    <p:sldId id="396" r:id="rId21"/>
    <p:sldId id="294" r:id="rId22"/>
    <p:sldId id="324" r:id="rId23"/>
    <p:sldId id="295" r:id="rId24"/>
    <p:sldId id="483" r:id="rId25"/>
    <p:sldId id="484" r:id="rId26"/>
    <p:sldId id="485" r:id="rId27"/>
    <p:sldId id="488" r:id="rId28"/>
    <p:sldId id="503" r:id="rId29"/>
    <p:sldId id="50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D8A7D-81F1-4BA6-94FF-0E2A114F8F91}" v="4" dt="2025-03-07T06:47:56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2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vuno-Kuria, Shilumbe" userId="971a9ce4-f8fe-45be-a1b9-784e76a04f28" providerId="ADAL" clId="{15BD8A7D-81F1-4BA6-94FF-0E2A114F8F91}"/>
    <pc:docChg chg="custSel addSld delSld modSld sldOrd">
      <pc:chgData name="Chivuno-Kuria, Shilumbe" userId="971a9ce4-f8fe-45be-a1b9-784e76a04f28" providerId="ADAL" clId="{15BD8A7D-81F1-4BA6-94FF-0E2A114F8F91}" dt="2025-03-07T06:50:48.085" v="84" actId="403"/>
      <pc:docMkLst>
        <pc:docMk/>
      </pc:docMkLst>
      <pc:sldChg chg="addSp del">
        <pc:chgData name="Chivuno-Kuria, Shilumbe" userId="971a9ce4-f8fe-45be-a1b9-784e76a04f28" providerId="ADAL" clId="{15BD8A7D-81F1-4BA6-94FF-0E2A114F8F91}" dt="2025-03-07T06:47:17.308" v="53" actId="2696"/>
        <pc:sldMkLst>
          <pc:docMk/>
          <pc:sldMk cId="4002576062" sldId="256"/>
        </pc:sldMkLst>
        <pc:picChg chg="add">
          <ac:chgData name="Chivuno-Kuria, Shilumbe" userId="971a9ce4-f8fe-45be-a1b9-784e76a04f28" providerId="ADAL" clId="{15BD8A7D-81F1-4BA6-94FF-0E2A114F8F91}" dt="2025-03-07T06:46:17.085" v="0"/>
          <ac:picMkLst>
            <pc:docMk/>
            <pc:sldMk cId="4002576062" sldId="256"/>
            <ac:picMk id="4" creationId="{9724D08E-666D-B07F-5701-41793EA844AF}"/>
          </ac:picMkLst>
        </pc:pic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291538216" sldId="257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91538216" sldId="257"/>
            <ac:spMk id="2" creationId="{18C1EDA0-D508-45FC-BCB0-69BBE8BE378D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91538216" sldId="257"/>
            <ac:spMk id="3" creationId="{FC4FBBA0-7696-4759-915B-77590B3E7FB6}"/>
          </ac:spMkLst>
        </pc:spChg>
      </pc:sldChg>
      <pc:sldChg chg="modSp del">
        <pc:chgData name="Chivuno-Kuria, Shilumbe" userId="971a9ce4-f8fe-45be-a1b9-784e76a04f28" providerId="ADAL" clId="{15BD8A7D-81F1-4BA6-94FF-0E2A114F8F91}" dt="2025-03-07T06:50:03.048" v="77" actId="2696"/>
        <pc:sldMkLst>
          <pc:docMk/>
          <pc:sldMk cId="491464132" sldId="258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491464132" sldId="258"/>
            <ac:spMk id="2" creationId="{5B93E0C2-F368-4963-9B58-6D88C08B608F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491464132" sldId="258"/>
            <ac:spMk id="3" creationId="{E24B6F62-BE74-4656-A6B6-735C26381BD4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2785260989" sldId="259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785260989" sldId="259"/>
            <ac:spMk id="2" creationId="{DD51A166-2B77-4AF8-B340-5955275B7EBF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785260989" sldId="259"/>
            <ac:spMk id="3" creationId="{334F71C6-8983-48CD-9081-8F161DA1D1D8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3429610655" sldId="260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3429610655" sldId="260"/>
            <ac:spMk id="2" creationId="{0B59FC12-B747-47CD-81B8-6BC20B885045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7.003" v="59" actId="27636"/>
        <pc:sldMkLst>
          <pc:docMk/>
          <pc:sldMk cId="896797251" sldId="263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896797251" sldId="263"/>
            <ac:spMk id="2" creationId="{A6DCE7CF-F14C-44A0-9767-CC1BEDCD9C34}"/>
          </ac:spMkLst>
        </pc:spChg>
        <pc:spChg chg="mod">
          <ac:chgData name="Chivuno-Kuria, Shilumbe" userId="971a9ce4-f8fe-45be-a1b9-784e76a04f28" providerId="ADAL" clId="{15BD8A7D-81F1-4BA6-94FF-0E2A114F8F91}" dt="2025-03-07T06:47:57.003" v="59" actId="27636"/>
          <ac:spMkLst>
            <pc:docMk/>
            <pc:sldMk cId="896797251" sldId="263"/>
            <ac:spMk id="4" creationId="{543FFDC7-28D8-4BDB-9E6D-6F227EED1087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9:00.619" v="76" actId="27636"/>
        <pc:sldMkLst>
          <pc:docMk/>
          <pc:sldMk cId="2706120898" sldId="272"/>
        </pc:sldMkLst>
        <pc:spChg chg="mod">
          <ac:chgData name="Chivuno-Kuria, Shilumbe" userId="971a9ce4-f8fe-45be-a1b9-784e76a04f28" providerId="ADAL" clId="{15BD8A7D-81F1-4BA6-94FF-0E2A114F8F91}" dt="2025-03-07T06:48:47.279" v="74" actId="14100"/>
          <ac:spMkLst>
            <pc:docMk/>
            <pc:sldMk cId="2706120898" sldId="272"/>
            <ac:spMk id="2" creationId="{14789CAC-70BB-436F-9B2E-ED1790125945}"/>
          </ac:spMkLst>
        </pc:spChg>
        <pc:spChg chg="mod">
          <ac:chgData name="Chivuno-Kuria, Shilumbe" userId="971a9ce4-f8fe-45be-a1b9-784e76a04f28" providerId="ADAL" clId="{15BD8A7D-81F1-4BA6-94FF-0E2A114F8F91}" dt="2025-03-07T06:49:00.619" v="76" actId="27636"/>
          <ac:spMkLst>
            <pc:docMk/>
            <pc:sldMk cId="2706120898" sldId="272"/>
            <ac:spMk id="9" creationId="{13D4D4BD-D3EB-4E80-A9CD-71F6B1D668BC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7.013" v="62" actId="27636"/>
        <pc:sldMkLst>
          <pc:docMk/>
          <pc:sldMk cId="0" sldId="284"/>
        </pc:sldMkLst>
        <pc:spChg chg="mod">
          <ac:chgData name="Chivuno-Kuria, Shilumbe" userId="971a9ce4-f8fe-45be-a1b9-784e76a04f28" providerId="ADAL" clId="{15BD8A7D-81F1-4BA6-94FF-0E2A114F8F91}" dt="2025-03-07T06:47:57.013" v="62" actId="27636"/>
          <ac:spMkLst>
            <pc:docMk/>
            <pc:sldMk cId="0" sldId="284"/>
            <ac:spMk id="64514" creationId="{00000000-0000-0000-0000-000000000000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0" sldId="290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0" sldId="290"/>
            <ac:spMk id="60417" creationId="{00000000-0000-0000-0000-000000000000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0" sldId="290"/>
            <ac:spMk id="60418" creationId="{00000000-0000-0000-0000-000000000000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7.023" v="64" actId="27636"/>
        <pc:sldMkLst>
          <pc:docMk/>
          <pc:sldMk cId="0" sldId="294"/>
        </pc:sldMkLst>
        <pc:spChg chg="mod">
          <ac:chgData name="Chivuno-Kuria, Shilumbe" userId="971a9ce4-f8fe-45be-a1b9-784e76a04f28" providerId="ADAL" clId="{15BD8A7D-81F1-4BA6-94FF-0E2A114F8F91}" dt="2025-03-07T06:47:57.023" v="64" actId="27636"/>
          <ac:spMkLst>
            <pc:docMk/>
            <pc:sldMk cId="0" sldId="294"/>
            <ac:spMk id="68609" creationId="{00000000-0000-0000-0000-000000000000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7.023" v="65" actId="27636"/>
        <pc:sldMkLst>
          <pc:docMk/>
          <pc:sldMk cId="0" sldId="295"/>
        </pc:sldMkLst>
        <pc:spChg chg="mod">
          <ac:chgData name="Chivuno-Kuria, Shilumbe" userId="971a9ce4-f8fe-45be-a1b9-784e76a04f28" providerId="ADAL" clId="{15BD8A7D-81F1-4BA6-94FF-0E2A114F8F91}" dt="2025-03-07T06:47:57.023" v="65" actId="27636"/>
          <ac:spMkLst>
            <pc:docMk/>
            <pc:sldMk cId="0" sldId="295"/>
            <ac:spMk id="70658" creationId="{00000000-0000-0000-0000-000000000000}"/>
          </ac:spMkLst>
        </pc:spChg>
      </pc:sldChg>
      <pc:sldChg chg="modSp add mod ord">
        <pc:chgData name="Chivuno-Kuria, Shilumbe" userId="971a9ce4-f8fe-45be-a1b9-784e76a04f28" providerId="ADAL" clId="{15BD8A7D-81F1-4BA6-94FF-0E2A114F8F91}" dt="2025-03-07T06:47:11.123" v="52" actId="20577"/>
        <pc:sldMkLst>
          <pc:docMk/>
          <pc:sldMk cId="974233078" sldId="309"/>
        </pc:sldMkLst>
        <pc:spChg chg="mod">
          <ac:chgData name="Chivuno-Kuria, Shilumbe" userId="971a9ce4-f8fe-45be-a1b9-784e76a04f28" providerId="ADAL" clId="{15BD8A7D-81F1-4BA6-94FF-0E2A114F8F91}" dt="2025-03-07T06:47:11.123" v="52" actId="20577"/>
          <ac:spMkLst>
            <pc:docMk/>
            <pc:sldMk cId="974233078" sldId="309"/>
            <ac:spMk id="5" creationId="{00000000-0000-0000-0000-000000000000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50:48.085" v="84" actId="403"/>
        <pc:sldMkLst>
          <pc:docMk/>
          <pc:sldMk cId="1046345000" sldId="372"/>
        </pc:sldMkLst>
        <pc:spChg chg="mod">
          <ac:chgData name="Chivuno-Kuria, Shilumbe" userId="971a9ce4-f8fe-45be-a1b9-784e76a04f28" providerId="ADAL" clId="{15BD8A7D-81F1-4BA6-94FF-0E2A114F8F91}" dt="2025-03-07T06:50:48.085" v="84" actId="403"/>
          <ac:spMkLst>
            <pc:docMk/>
            <pc:sldMk cId="1046345000" sldId="372"/>
            <ac:spMk id="27649" creationId="{00000000-0000-0000-0000-000000000000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1046345000" sldId="372"/>
            <ac:spMk id="27650" creationId="{00000000-0000-0000-0000-000000000000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6.983" v="57" actId="27636"/>
        <pc:sldMkLst>
          <pc:docMk/>
          <pc:sldMk cId="0" sldId="395"/>
        </pc:sldMkLst>
        <pc:spChg chg="mod">
          <ac:chgData name="Chivuno-Kuria, Shilumbe" userId="971a9ce4-f8fe-45be-a1b9-784e76a04f28" providerId="ADAL" clId="{15BD8A7D-81F1-4BA6-94FF-0E2A114F8F91}" dt="2025-03-07T06:47:56.983" v="57" actId="27636"/>
          <ac:spMkLst>
            <pc:docMk/>
            <pc:sldMk cId="0" sldId="395"/>
            <ac:spMk id="28675" creationId="{50385171-873C-42EF-9E10-D66EB4F7A09A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2105018016" sldId="494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105018016" sldId="494"/>
            <ac:spMk id="2" creationId="{B41C2EBC-FF04-4F52-9A9B-1A44E455DA08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105018016" sldId="494"/>
            <ac:spMk id="3" creationId="{3BFC0CB0-D687-4955-93B7-71C0280D2929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6.993" v="58" actId="27636"/>
        <pc:sldMkLst>
          <pc:docMk/>
          <pc:sldMk cId="3995252146" sldId="495"/>
        </pc:sldMkLst>
        <pc:spChg chg="mod">
          <ac:chgData name="Chivuno-Kuria, Shilumbe" userId="971a9ce4-f8fe-45be-a1b9-784e76a04f28" providerId="ADAL" clId="{15BD8A7D-81F1-4BA6-94FF-0E2A114F8F91}" dt="2025-03-07T06:47:56.993" v="58" actId="27636"/>
          <ac:spMkLst>
            <pc:docMk/>
            <pc:sldMk cId="3995252146" sldId="495"/>
            <ac:spMk id="3" creationId="{0E3524D8-C49E-4386-836F-6881E3776CE6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7.003" v="61" actId="27636"/>
        <pc:sldMkLst>
          <pc:docMk/>
          <pc:sldMk cId="2353573314" sldId="496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353573314" sldId="496"/>
            <ac:spMk id="2" creationId="{04568BC5-63B0-4DAF-A1C5-13C508550ED3}"/>
          </ac:spMkLst>
        </pc:spChg>
        <pc:spChg chg="mod">
          <ac:chgData name="Chivuno-Kuria, Shilumbe" userId="971a9ce4-f8fe-45be-a1b9-784e76a04f28" providerId="ADAL" clId="{15BD8A7D-81F1-4BA6-94FF-0E2A114F8F91}" dt="2025-03-07T06:47:57.003" v="61" actId="27636"/>
          <ac:spMkLst>
            <pc:docMk/>
            <pc:sldMk cId="2353573314" sldId="496"/>
            <ac:spMk id="3" creationId="{44433A43-901B-46EE-A64C-2AC1EA35A0C2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726298776" sldId="497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726298776" sldId="497"/>
            <ac:spMk id="2" creationId="{2FDDFC07-08AD-498C-86B6-F79008E75A90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726298776" sldId="497"/>
            <ac:spMk id="3" creationId="{3F4AC4F3-AF0F-487F-B847-7CC39100A512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692328715" sldId="498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692328715" sldId="498"/>
            <ac:spMk id="2" creationId="{128486D0-692F-40DA-A988-6748B39FE8F8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692328715" sldId="498"/>
            <ac:spMk id="3" creationId="{5C07A713-B0A4-47C3-B5ED-3A86BBA468B3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2899352276" sldId="501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899352276" sldId="501"/>
            <ac:spMk id="2" creationId="{21FF621E-56E0-45DC-8856-352C0FE2C021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899352276" sldId="501"/>
            <ac:spMk id="3" creationId="{D96D698F-E3D2-48B1-9493-AA758C863DEF}"/>
          </ac:spMkLst>
        </pc:spChg>
      </pc:sldChg>
      <pc:sldChg chg="modSp mod">
        <pc:chgData name="Chivuno-Kuria, Shilumbe" userId="971a9ce4-f8fe-45be-a1b9-784e76a04f28" providerId="ADAL" clId="{15BD8A7D-81F1-4BA6-94FF-0E2A114F8F91}" dt="2025-03-07T06:47:57.013" v="63" actId="27636"/>
        <pc:sldMkLst>
          <pc:docMk/>
          <pc:sldMk cId="2686232940" sldId="502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2686232940" sldId="502"/>
            <ac:spMk id="2" creationId="{5CA42F80-77E6-479E-B052-ED43013A1644}"/>
          </ac:spMkLst>
        </pc:spChg>
        <pc:spChg chg="mod">
          <ac:chgData name="Chivuno-Kuria, Shilumbe" userId="971a9ce4-f8fe-45be-a1b9-784e76a04f28" providerId="ADAL" clId="{15BD8A7D-81F1-4BA6-94FF-0E2A114F8F91}" dt="2025-03-07T06:47:57.013" v="63" actId="27636"/>
          <ac:spMkLst>
            <pc:docMk/>
            <pc:sldMk cId="2686232940" sldId="502"/>
            <ac:spMk id="3" creationId="{57ACE486-0161-4663-A96F-512FF4B7B2FB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484689237" sldId="503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484689237" sldId="503"/>
            <ac:spMk id="2" creationId="{2A6CDA84-7B92-420E-8292-74D245E3E4E9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484689237" sldId="503"/>
            <ac:spMk id="3" creationId="{911B5509-96AA-4889-BE78-83BF3D13CB01}"/>
          </ac:spMkLst>
        </pc:spChg>
      </pc:sldChg>
      <pc:sldChg chg="modSp">
        <pc:chgData name="Chivuno-Kuria, Shilumbe" userId="971a9ce4-f8fe-45be-a1b9-784e76a04f28" providerId="ADAL" clId="{15BD8A7D-81F1-4BA6-94FF-0E2A114F8F91}" dt="2025-03-07T06:47:56.893" v="55"/>
        <pc:sldMkLst>
          <pc:docMk/>
          <pc:sldMk cId="630749713" sldId="504"/>
        </pc:sldMkLst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630749713" sldId="504"/>
            <ac:spMk id="2" creationId="{19526E4B-66B4-4F16-9B55-6FD0C7A871A1}"/>
          </ac:spMkLst>
        </pc:spChg>
        <pc:spChg chg="mod">
          <ac:chgData name="Chivuno-Kuria, Shilumbe" userId="971a9ce4-f8fe-45be-a1b9-784e76a04f28" providerId="ADAL" clId="{15BD8A7D-81F1-4BA6-94FF-0E2A114F8F91}" dt="2025-03-07T06:47:56.893" v="55"/>
          <ac:spMkLst>
            <pc:docMk/>
            <pc:sldMk cId="630749713" sldId="504"/>
            <ac:spMk id="3" creationId="{E36835E5-4345-41D3-ABBD-C4BF81AC30BA}"/>
          </ac:spMkLst>
        </pc:spChg>
      </pc:sldChg>
      <pc:sldChg chg="new del">
        <pc:chgData name="Chivuno-Kuria, Shilumbe" userId="971a9ce4-f8fe-45be-a1b9-784e76a04f28" providerId="ADAL" clId="{15BD8A7D-81F1-4BA6-94FF-0E2A114F8F91}" dt="2025-03-07T06:47:20.284" v="54" actId="2696"/>
        <pc:sldMkLst>
          <pc:docMk/>
          <pc:sldMk cId="2087952184" sldId="5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A786F-248D-40EA-9900-2E50BA03689A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AADF3-C689-43D7-97A3-CD5FED23C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3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A65A15-A36C-4FA1-BB94-4D0AD9C31158}" type="slidenum">
              <a:rPr lang="en-US" smtClean="0">
                <a:cs typeface="Arial" charset="0"/>
              </a:rPr>
              <a:pPr/>
              <a:t>11</a:t>
            </a:fld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38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BC23C3-DB60-4C95-ADCA-4E138A21418C}" type="slidenum">
              <a:rPr lang="en-US" smtClean="0">
                <a:cs typeface="Arial" charset="0"/>
              </a:rPr>
              <a:pPr/>
              <a:t>12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EF92B5-9A13-42A6-88E1-D3AEE55534E1}" type="slidenum">
              <a:rPr lang="en-US" smtClean="0">
                <a:cs typeface="Arial" charset="0"/>
              </a:rPr>
              <a:pPr/>
              <a:t>14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A14AB-D17F-421A-9439-97DC0B01D3C4}" type="slidenum">
              <a:rPr lang="en-US" smtClean="0">
                <a:cs typeface="Arial" charset="0"/>
              </a:rPr>
              <a:pPr/>
              <a:t>21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E9715F-9FC7-4E62-8B12-EC8581D777D2}" type="slidenum">
              <a:rPr lang="en-US" smtClean="0">
                <a:cs typeface="Arial" charset="0"/>
              </a:rPr>
              <a:pPr/>
              <a:t>22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C43F49-552F-4AA8-B071-9B6EE4540640}" type="slidenum">
              <a:rPr lang="en-US" smtClean="0">
                <a:cs typeface="Arial" charset="0"/>
              </a:rPr>
              <a:pPr/>
              <a:t>23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62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60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53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49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97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45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12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848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6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48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580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1" y="0"/>
            <a:ext cx="12192000" cy="34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5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62D6A-4438-4FF7-9A4F-BD68F0FFF05E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54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1541239" y="2817982"/>
            <a:ext cx="9060902" cy="33965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3611" y="1113407"/>
            <a:ext cx="8254518" cy="1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26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ZA" sz="266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26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Week </a:t>
            </a: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5</a:t>
            </a:r>
            <a:endParaRPr kumimoji="0" lang="en-US" sz="320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26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ZA" sz="2667" dirty="0">
                <a:solidFill>
                  <a:srgbClr val="FFFFFF"/>
                </a:solidFill>
                <a:latin typeface="Tw Cen MT" panose="020B0602020104020603"/>
              </a:rPr>
              <a:t>Database Design</a:t>
            </a:r>
            <a:endParaRPr kumimoji="0" lang="en-ZA" sz="269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18420" y="643466"/>
            <a:ext cx="7136656" cy="71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26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77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paSoftPro-Regular"/>
              <a:ea typeface="+mn-ea"/>
              <a:cs typeface="+mn-cs"/>
            </a:endParaRPr>
          </a:p>
          <a:p>
            <a:pPr marL="0" marR="0" lvl="0" indent="0" algn="l" defTabSz="4526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7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paSoftPro-Regular"/>
                <a:ea typeface="+mn-ea"/>
                <a:cs typeface="+mn-cs"/>
              </a:rPr>
              <a:t>Faculty </a:t>
            </a:r>
            <a:r>
              <a:rPr kumimoji="0" lang="en-US" sz="177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paSoftPro-Regular"/>
                <a:ea typeface="+mn-ea"/>
                <a:cs typeface="+mn-cs"/>
              </a:rPr>
              <a:t>of Computing and Informatics</a:t>
            </a:r>
            <a:endParaRPr kumimoji="0" lang="en-US" sz="1796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paSoftPro-Regular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96" y="3237427"/>
            <a:ext cx="2127564" cy="261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EDA0-D508-45FC-BCB0-69BBE8BE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FBBA0-7696-4759-915B-77590B3E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the previous lesson, we discussed</a:t>
            </a:r>
          </a:p>
          <a:p>
            <a:r>
              <a:rPr lang="en-US" dirty="0"/>
              <a:t>Database development life cycle</a:t>
            </a:r>
          </a:p>
          <a:p>
            <a:r>
              <a:rPr lang="en-US" dirty="0"/>
              <a:t>Activities involved at each phase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3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9CAC-70BB-436F-9B2E-ED179012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745" y="552659"/>
            <a:ext cx="7586505" cy="14670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Database Development lifecycle</a:t>
            </a:r>
            <a:endParaRPr lang="en-GB" dirty="0">
              <a:solidFill>
                <a:srgbClr val="262626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D4D4BD-D3EB-4E80-A9CD-71F6B1D66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4260941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The diagram </a:t>
            </a:r>
            <a:r>
              <a:rPr lang="en-US" dirty="0" err="1">
                <a:solidFill>
                  <a:srgbClr val="262626"/>
                </a:solidFill>
              </a:rPr>
              <a:t>summarises</a:t>
            </a:r>
            <a:r>
              <a:rPr lang="en-US" dirty="0">
                <a:solidFill>
                  <a:srgbClr val="262626"/>
                </a:solidFill>
              </a:rPr>
              <a:t> the phases in the Database development process.</a:t>
            </a:r>
          </a:p>
          <a:p>
            <a:r>
              <a:rPr lang="en-US" dirty="0">
                <a:solidFill>
                  <a:srgbClr val="262626"/>
                </a:solidFill>
              </a:rPr>
              <a:t>Take note of the activities involved at each of the phases.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4A98B-5016-42D9-BAB2-8179154D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3" y="1553592"/>
            <a:ext cx="5207309" cy="396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2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FC12-B747-47CD-81B8-6BC20B88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development process </a:t>
            </a:r>
            <a:endParaRPr lang="en-GB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8ACEDFF6-AA9E-4AC6-A1DA-6C5B353EF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1175"/>
          <a:stretch/>
        </p:blipFill>
        <p:spPr>
          <a:xfrm>
            <a:off x="1083076" y="2557993"/>
            <a:ext cx="6738151" cy="3317875"/>
          </a:xfrm>
        </p:spPr>
      </p:pic>
    </p:spTree>
    <p:extLst>
      <p:ext uri="{BB962C8B-B14F-4D97-AF65-F5344CB8AC3E}">
        <p14:creationId xmlns:p14="http://schemas.microsoft.com/office/powerpoint/2010/main" val="342961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50385171-873C-42EF-9E10-D66EB4F7A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1904" y="519930"/>
            <a:ext cx="9449769" cy="1066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de-DE" altLang="en-US" sz="4000" dirty="0"/>
              <a:t>		Relationships  -Degree of Relationship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FF79634-C4BB-4566-A27C-387138B3AB0D}"/>
              </a:ext>
            </a:extLst>
          </p:cNvPr>
          <p:cNvGrpSpPr>
            <a:grpSpLocks/>
          </p:cNvGrpSpPr>
          <p:nvPr/>
        </p:nvGrpSpPr>
        <p:grpSpPr bwMode="auto">
          <a:xfrm>
            <a:off x="5417270" y="2237765"/>
            <a:ext cx="2895600" cy="2062163"/>
            <a:chOff x="2976" y="1488"/>
            <a:chExt cx="2688" cy="2319"/>
          </a:xfrm>
        </p:grpSpPr>
        <p:sp>
          <p:nvSpPr>
            <p:cNvPr id="28706" name="AutoShape 4">
              <a:extLst>
                <a:ext uri="{FF2B5EF4-FFF2-40B4-BE49-F238E27FC236}">
                  <a16:creationId xmlns:a16="http://schemas.microsoft.com/office/drawing/2014/main" id="{8FD77C91-09A8-4ECE-BD39-E17334F7E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160"/>
              <a:ext cx="1056" cy="57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sz="2000" b="1"/>
                <a:t>Manages</a:t>
              </a:r>
            </a:p>
          </p:txBody>
        </p:sp>
        <p:sp>
          <p:nvSpPr>
            <p:cNvPr id="28707" name="Rectangle 5">
              <a:extLst>
                <a:ext uri="{FF2B5EF4-FFF2-40B4-BE49-F238E27FC236}">
                  <a16:creationId xmlns:a16="http://schemas.microsoft.com/office/drawing/2014/main" id="{FD1BD75D-433C-44D5-AB17-E3BB88E1B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153"/>
              <a:ext cx="1248" cy="6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EMPLOYEE</a:t>
              </a:r>
              <a:endParaRPr lang="de-DE" altLang="en-US" b="1"/>
            </a:p>
          </p:txBody>
        </p:sp>
        <p:cxnSp>
          <p:nvCxnSpPr>
            <p:cNvPr id="28708" name="AutoShape 6">
              <a:extLst>
                <a:ext uri="{FF2B5EF4-FFF2-40B4-BE49-F238E27FC236}">
                  <a16:creationId xmlns:a16="http://schemas.microsoft.com/office/drawing/2014/main" id="{016BDBCE-F364-4925-9E7A-F880E80CF23F}"/>
                </a:ext>
              </a:extLst>
            </p:cNvPr>
            <p:cNvCxnSpPr>
              <a:cxnSpLocks noChangeShapeType="1"/>
              <a:stCxn id="28715" idx="1"/>
              <a:endCxn id="28710" idx="1"/>
            </p:cNvCxnSpPr>
            <p:nvPr/>
          </p:nvCxnSpPr>
          <p:spPr bwMode="auto">
            <a:xfrm>
              <a:off x="3608" y="1488"/>
              <a:ext cx="1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8709" name="Group 7">
              <a:extLst>
                <a:ext uri="{FF2B5EF4-FFF2-40B4-BE49-F238E27FC236}">
                  <a16:creationId xmlns:a16="http://schemas.microsoft.com/office/drawing/2014/main" id="{36FFFC8D-6132-4B11-BA5C-A5710ECE1D4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568" y="2000"/>
              <a:ext cx="96" cy="192"/>
              <a:chOff x="4032" y="2784"/>
              <a:chExt cx="96" cy="192"/>
            </a:xfrm>
          </p:grpSpPr>
          <p:sp>
            <p:nvSpPr>
              <p:cNvPr id="28716" name="Line 8">
                <a:extLst>
                  <a:ext uri="{FF2B5EF4-FFF2-40B4-BE49-F238E27FC236}">
                    <a16:creationId xmlns:a16="http://schemas.microsoft.com/office/drawing/2014/main" id="{A1EBF614-9DF3-49DB-BDF9-EB67EA7FA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278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7" name="Line 9">
                <a:extLst>
                  <a:ext uri="{FF2B5EF4-FFF2-40B4-BE49-F238E27FC236}">
                    <a16:creationId xmlns:a16="http://schemas.microsoft.com/office/drawing/2014/main" id="{FE535652-D4B3-45F7-99CB-C1800D7DD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880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710" name="Line 10">
              <a:extLst>
                <a:ext uri="{FF2B5EF4-FFF2-40B4-BE49-F238E27FC236}">
                  <a16:creationId xmlns:a16="http://schemas.microsoft.com/office/drawing/2014/main" id="{4380AEF1-738C-48C9-B16F-E7905F711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8711" name="AutoShape 11">
              <a:extLst>
                <a:ext uri="{FF2B5EF4-FFF2-40B4-BE49-F238E27FC236}">
                  <a16:creationId xmlns:a16="http://schemas.microsoft.com/office/drawing/2014/main" id="{FFD9640C-20BA-4BD7-86E6-869BB44DB447}"/>
                </a:ext>
              </a:extLst>
            </p:cNvPr>
            <p:cNvCxnSpPr>
              <a:cxnSpLocks noChangeShapeType="1"/>
              <a:stCxn id="28712" idx="1"/>
              <a:endCxn id="28713" idx="1"/>
            </p:cNvCxnSpPr>
            <p:nvPr/>
          </p:nvCxnSpPr>
          <p:spPr bwMode="auto">
            <a:xfrm>
              <a:off x="3608" y="3456"/>
              <a:ext cx="1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12" name="Line 12">
              <a:extLst>
                <a:ext uri="{FF2B5EF4-FFF2-40B4-BE49-F238E27FC236}">
                  <a16:creationId xmlns:a16="http://schemas.microsoft.com/office/drawing/2014/main" id="{3E41E669-049C-41D4-B1BA-A9F34C82B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8" y="278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3" name="Line 13">
              <a:extLst>
                <a:ext uri="{FF2B5EF4-FFF2-40B4-BE49-F238E27FC236}">
                  <a16:creationId xmlns:a16="http://schemas.microsoft.com/office/drawing/2014/main" id="{DD84B942-3D2C-434F-9C5D-0BA87879E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73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Text Box 14">
              <a:extLst>
                <a:ext uri="{FF2B5EF4-FFF2-40B4-BE49-F238E27FC236}">
                  <a16:creationId xmlns:a16="http://schemas.microsoft.com/office/drawing/2014/main" id="{11277899-88A3-485D-933A-68CF79F86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3395"/>
              <a:ext cx="1397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/>
                <a:t>One-to-Many</a:t>
              </a:r>
            </a:p>
          </p:txBody>
        </p:sp>
        <p:sp>
          <p:nvSpPr>
            <p:cNvPr id="28715" name="Line 15">
              <a:extLst>
                <a:ext uri="{FF2B5EF4-FFF2-40B4-BE49-F238E27FC236}">
                  <a16:creationId xmlns:a16="http://schemas.microsoft.com/office/drawing/2014/main" id="{811A7B67-8EF7-44C1-9FAA-20002DE088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8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677" name="Group 16">
            <a:extLst>
              <a:ext uri="{FF2B5EF4-FFF2-40B4-BE49-F238E27FC236}">
                <a16:creationId xmlns:a16="http://schemas.microsoft.com/office/drawing/2014/main" id="{62F5F1E1-28CD-4735-B768-E7531300C403}"/>
              </a:ext>
            </a:extLst>
          </p:cNvPr>
          <p:cNvGrpSpPr>
            <a:grpSpLocks/>
          </p:cNvGrpSpPr>
          <p:nvPr/>
        </p:nvGrpSpPr>
        <p:grpSpPr bwMode="auto">
          <a:xfrm>
            <a:off x="869131" y="2486213"/>
            <a:ext cx="3124200" cy="1874838"/>
            <a:chOff x="96" y="1488"/>
            <a:chExt cx="2688" cy="2341"/>
          </a:xfrm>
        </p:grpSpPr>
        <p:sp>
          <p:nvSpPr>
            <p:cNvPr id="28697" name="AutoShape 17">
              <a:extLst>
                <a:ext uri="{FF2B5EF4-FFF2-40B4-BE49-F238E27FC236}">
                  <a16:creationId xmlns:a16="http://schemas.microsoft.com/office/drawing/2014/main" id="{049BE920-7E90-4B64-884B-227331A5B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160"/>
              <a:ext cx="1056" cy="57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Is_married_to</a:t>
              </a:r>
              <a:endParaRPr lang="de-DE" altLang="en-US" sz="2000" b="1"/>
            </a:p>
          </p:txBody>
        </p:sp>
        <p:sp>
          <p:nvSpPr>
            <p:cNvPr id="28698" name="Rectangle 18">
              <a:extLst>
                <a:ext uri="{FF2B5EF4-FFF2-40B4-BE49-F238E27FC236}">
                  <a16:creationId xmlns:a16="http://schemas.microsoft.com/office/drawing/2014/main" id="{F37FD2E1-4293-4C21-A5A8-2D3F39B31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153"/>
              <a:ext cx="1248" cy="6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PERSON</a:t>
              </a:r>
            </a:p>
          </p:txBody>
        </p:sp>
        <p:cxnSp>
          <p:nvCxnSpPr>
            <p:cNvPr id="28699" name="AutoShape 19">
              <a:extLst>
                <a:ext uri="{FF2B5EF4-FFF2-40B4-BE49-F238E27FC236}">
                  <a16:creationId xmlns:a16="http://schemas.microsoft.com/office/drawing/2014/main" id="{B3C65572-E919-4EF1-BB74-6B6338335735}"/>
                </a:ext>
              </a:extLst>
            </p:cNvPr>
            <p:cNvCxnSpPr>
              <a:cxnSpLocks noChangeShapeType="1"/>
              <a:stCxn id="28705" idx="1"/>
              <a:endCxn id="28700" idx="1"/>
            </p:cNvCxnSpPr>
            <p:nvPr/>
          </p:nvCxnSpPr>
          <p:spPr bwMode="auto">
            <a:xfrm>
              <a:off x="728" y="1488"/>
              <a:ext cx="1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00" name="Line 20">
              <a:extLst>
                <a:ext uri="{FF2B5EF4-FFF2-40B4-BE49-F238E27FC236}">
                  <a16:creationId xmlns:a16="http://schemas.microsoft.com/office/drawing/2014/main" id="{C55FABAE-794E-43E9-ABC2-7EE4FCECE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8701" name="AutoShape 21">
              <a:extLst>
                <a:ext uri="{FF2B5EF4-FFF2-40B4-BE49-F238E27FC236}">
                  <a16:creationId xmlns:a16="http://schemas.microsoft.com/office/drawing/2014/main" id="{8FB959A2-3BC6-4F8C-A940-EA4FEA49C811}"/>
                </a:ext>
              </a:extLst>
            </p:cNvPr>
            <p:cNvCxnSpPr>
              <a:cxnSpLocks noChangeShapeType="1"/>
              <a:stCxn id="28702" idx="1"/>
              <a:endCxn id="28703" idx="1"/>
            </p:cNvCxnSpPr>
            <p:nvPr/>
          </p:nvCxnSpPr>
          <p:spPr bwMode="auto">
            <a:xfrm>
              <a:off x="728" y="3456"/>
              <a:ext cx="1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02" name="Line 22">
              <a:extLst>
                <a:ext uri="{FF2B5EF4-FFF2-40B4-BE49-F238E27FC236}">
                  <a16:creationId xmlns:a16="http://schemas.microsoft.com/office/drawing/2014/main" id="{C798BA22-4E6C-4199-AE7B-27D811E4D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278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23">
              <a:extLst>
                <a:ext uri="{FF2B5EF4-FFF2-40B4-BE49-F238E27FC236}">
                  <a16:creationId xmlns:a16="http://schemas.microsoft.com/office/drawing/2014/main" id="{418E0EEA-A6CB-4A47-A095-6EA83DD26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73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4" name="Text Box 24">
              <a:extLst>
                <a:ext uri="{FF2B5EF4-FFF2-40B4-BE49-F238E27FC236}">
                  <a16:creationId xmlns:a16="http://schemas.microsoft.com/office/drawing/2014/main" id="{E29116F6-CE76-415F-BD43-6D6D17BFB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" y="3371"/>
              <a:ext cx="1153" cy="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/>
                <a:t>One-to-One</a:t>
              </a:r>
            </a:p>
          </p:txBody>
        </p:sp>
        <p:sp>
          <p:nvSpPr>
            <p:cNvPr id="28705" name="Line 25">
              <a:extLst>
                <a:ext uri="{FF2B5EF4-FFF2-40B4-BE49-F238E27FC236}">
                  <a16:creationId xmlns:a16="http://schemas.microsoft.com/office/drawing/2014/main" id="{4D1B2679-CEB3-4F75-80A6-8A95D3DFD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8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678" name="Group 26">
            <a:extLst>
              <a:ext uri="{FF2B5EF4-FFF2-40B4-BE49-F238E27FC236}">
                <a16:creationId xmlns:a16="http://schemas.microsoft.com/office/drawing/2014/main" id="{3A651DD2-BD3A-4E6A-BB07-5E85276CE04B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532314"/>
            <a:ext cx="5257800" cy="1868487"/>
            <a:chOff x="384" y="1152"/>
            <a:chExt cx="4656" cy="2028"/>
          </a:xfrm>
        </p:grpSpPr>
        <p:sp>
          <p:nvSpPr>
            <p:cNvPr id="28681" name="Rectangle 27">
              <a:extLst>
                <a:ext uri="{FF2B5EF4-FFF2-40B4-BE49-F238E27FC236}">
                  <a16:creationId xmlns:a16="http://schemas.microsoft.com/office/drawing/2014/main" id="{4C522185-6E5A-4C7C-9BD2-BD7DA107D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04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VENDOR</a:t>
              </a:r>
            </a:p>
          </p:txBody>
        </p:sp>
        <p:sp>
          <p:nvSpPr>
            <p:cNvPr id="28682" name="Rectangle 28">
              <a:extLst>
                <a:ext uri="{FF2B5EF4-FFF2-40B4-BE49-F238E27FC236}">
                  <a16:creationId xmlns:a16="http://schemas.microsoft.com/office/drawing/2014/main" id="{612DC452-23F0-4FE7-830D-766984C43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304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WAREHOUSE</a:t>
              </a:r>
            </a:p>
          </p:txBody>
        </p:sp>
        <p:sp>
          <p:nvSpPr>
            <p:cNvPr id="28683" name="AutoShape 29">
              <a:extLst>
                <a:ext uri="{FF2B5EF4-FFF2-40B4-BE49-F238E27FC236}">
                  <a16:creationId xmlns:a16="http://schemas.microsoft.com/office/drawing/2014/main" id="{AC9D8136-7B24-4ABE-A70D-99E03D96D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56"/>
              <a:ext cx="912" cy="528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Supplies</a:t>
              </a:r>
            </a:p>
          </p:txBody>
        </p:sp>
        <p:cxnSp>
          <p:nvCxnSpPr>
            <p:cNvPr id="28684" name="AutoShape 30">
              <a:extLst>
                <a:ext uri="{FF2B5EF4-FFF2-40B4-BE49-F238E27FC236}">
                  <a16:creationId xmlns:a16="http://schemas.microsoft.com/office/drawing/2014/main" id="{DFC49B22-F056-407D-9BA6-169D16AB318D}"/>
                </a:ext>
              </a:extLst>
            </p:cNvPr>
            <p:cNvCxnSpPr>
              <a:cxnSpLocks noChangeShapeType="1"/>
              <a:stCxn id="28681" idx="3"/>
              <a:endCxn id="28683" idx="1"/>
            </p:cNvCxnSpPr>
            <p:nvPr/>
          </p:nvCxnSpPr>
          <p:spPr bwMode="auto">
            <a:xfrm>
              <a:off x="1680" y="2520"/>
              <a:ext cx="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85" name="AutoShape 31">
              <a:extLst>
                <a:ext uri="{FF2B5EF4-FFF2-40B4-BE49-F238E27FC236}">
                  <a16:creationId xmlns:a16="http://schemas.microsoft.com/office/drawing/2014/main" id="{1E40262A-675E-484D-A041-5F1D71714C84}"/>
                </a:ext>
              </a:extLst>
            </p:cNvPr>
            <p:cNvCxnSpPr>
              <a:cxnSpLocks noChangeShapeType="1"/>
              <a:stCxn id="28683" idx="3"/>
              <a:endCxn id="28682" idx="1"/>
            </p:cNvCxnSpPr>
            <p:nvPr/>
          </p:nvCxnSpPr>
          <p:spPr bwMode="auto">
            <a:xfrm>
              <a:off x="3120" y="2520"/>
              <a:ext cx="62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86" name="Text Box 32">
              <a:extLst>
                <a:ext uri="{FF2B5EF4-FFF2-40B4-BE49-F238E27FC236}">
                  <a16:creationId xmlns:a16="http://schemas.microsoft.com/office/drawing/2014/main" id="{8D845B64-F1D9-4578-A4FC-C170659B1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" y="2782"/>
              <a:ext cx="1456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/>
                <a:t>Many-to-many</a:t>
              </a:r>
            </a:p>
          </p:txBody>
        </p:sp>
        <p:grpSp>
          <p:nvGrpSpPr>
            <p:cNvPr id="28687" name="Group 33">
              <a:extLst>
                <a:ext uri="{FF2B5EF4-FFF2-40B4-BE49-F238E27FC236}">
                  <a16:creationId xmlns:a16="http://schemas.microsoft.com/office/drawing/2014/main" id="{18936717-C4AF-4F14-A689-BE7B4253E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424"/>
              <a:ext cx="96" cy="192"/>
              <a:chOff x="3648" y="2424"/>
              <a:chExt cx="96" cy="192"/>
            </a:xfrm>
          </p:grpSpPr>
          <p:sp>
            <p:nvSpPr>
              <p:cNvPr id="28695" name="Line 34">
                <a:extLst>
                  <a:ext uri="{FF2B5EF4-FFF2-40B4-BE49-F238E27FC236}">
                    <a16:creationId xmlns:a16="http://schemas.microsoft.com/office/drawing/2014/main" id="{3749E798-BD9D-4822-998B-E9445F1998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8" y="242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35">
                <a:extLst>
                  <a:ext uri="{FF2B5EF4-FFF2-40B4-BE49-F238E27FC236}">
                    <a16:creationId xmlns:a16="http://schemas.microsoft.com/office/drawing/2014/main" id="{12126F6D-9B92-4524-9743-A5B338B7C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520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688" name="Line 36">
              <a:extLst>
                <a:ext uri="{FF2B5EF4-FFF2-40B4-BE49-F238E27FC236}">
                  <a16:creationId xmlns:a16="http://schemas.microsoft.com/office/drawing/2014/main" id="{5B4B09B8-EAF1-4612-9582-7F61B1A2F6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0" y="242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Line 37">
              <a:extLst>
                <a:ext uri="{FF2B5EF4-FFF2-40B4-BE49-F238E27FC236}">
                  <a16:creationId xmlns:a16="http://schemas.microsoft.com/office/drawing/2014/main" id="{FF0A95A7-3D61-4BC5-9276-7557A9200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52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8690" name="AutoShape 38">
              <a:extLst>
                <a:ext uri="{FF2B5EF4-FFF2-40B4-BE49-F238E27FC236}">
                  <a16:creationId xmlns:a16="http://schemas.microsoft.com/office/drawing/2014/main" id="{13B739AA-86F7-49A6-9F91-DB7AEBCEF1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6" y="1584"/>
              <a:ext cx="0" cy="6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8691" name="Group 39">
              <a:extLst>
                <a:ext uri="{FF2B5EF4-FFF2-40B4-BE49-F238E27FC236}">
                  <a16:creationId xmlns:a16="http://schemas.microsoft.com/office/drawing/2014/main" id="{337AA05E-F0F4-4498-90C7-74F76DF9964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H="1" flipV="1">
              <a:off x="2608" y="1544"/>
              <a:ext cx="96" cy="192"/>
              <a:chOff x="3648" y="2424"/>
              <a:chExt cx="96" cy="192"/>
            </a:xfrm>
          </p:grpSpPr>
          <p:sp>
            <p:nvSpPr>
              <p:cNvPr id="28693" name="Line 40">
                <a:extLst>
                  <a:ext uri="{FF2B5EF4-FFF2-40B4-BE49-F238E27FC236}">
                    <a16:creationId xmlns:a16="http://schemas.microsoft.com/office/drawing/2014/main" id="{735C1170-0A70-41B6-81F7-77A334506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8" y="242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41">
                <a:extLst>
                  <a:ext uri="{FF2B5EF4-FFF2-40B4-BE49-F238E27FC236}">
                    <a16:creationId xmlns:a16="http://schemas.microsoft.com/office/drawing/2014/main" id="{869BD414-C4B9-45D6-B3E7-FEC908DBD5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520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692" name="Rectangle 42">
              <a:extLst>
                <a:ext uri="{FF2B5EF4-FFF2-40B4-BE49-F238E27FC236}">
                  <a16:creationId xmlns:a16="http://schemas.microsoft.com/office/drawing/2014/main" id="{985F9802-6FB1-4EE6-B941-02024B50A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1152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PARTS</a:t>
              </a:r>
            </a:p>
          </p:txBody>
        </p:sp>
      </p:grpSp>
      <p:sp>
        <p:nvSpPr>
          <p:cNvPr id="28679" name="Text Box 70">
            <a:extLst>
              <a:ext uri="{FF2B5EF4-FFF2-40B4-BE49-F238E27FC236}">
                <a16:creationId xmlns:a16="http://schemas.microsoft.com/office/drawing/2014/main" id="{CAE4260B-7324-40F8-8B15-E1E472598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665" y="1799723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ZA" altLang="en-US"/>
              <a:t>UNARY</a:t>
            </a:r>
            <a:endParaRPr lang="en-GB" altLang="en-US"/>
          </a:p>
        </p:txBody>
      </p:sp>
      <p:sp>
        <p:nvSpPr>
          <p:cNvPr id="28680" name="Text Box 71">
            <a:extLst>
              <a:ext uri="{FF2B5EF4-FFF2-40B4-BE49-F238E27FC236}">
                <a16:creationId xmlns:a16="http://schemas.microsoft.com/office/drawing/2014/main" id="{D7C9A332-C51A-4F29-8479-BB0F30E49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23" y="4798573"/>
            <a:ext cx="1828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ZA" altLang="en-US" dirty="0"/>
              <a:t>TERNARY</a:t>
            </a:r>
            <a:endParaRPr lang="en-GB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D6E47020-7031-43B6-BAFE-75218AAEF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0308" y="512869"/>
            <a:ext cx="88392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de-DE" altLang="en-US" sz="4000" dirty="0"/>
              <a:t>		Multiple 	Relationships</a:t>
            </a: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B8C45989-67F5-4222-B2B4-9BEE9FE940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658619"/>
            <a:ext cx="9601200" cy="5012822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ZA" altLang="en-US" dirty="0"/>
              <a:t>In some situations an organisation may wish to model more than one relationship between the same entity types</a:t>
            </a:r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dirty="0"/>
          </a:p>
          <a:p>
            <a:pPr eaLnBrk="1" hangingPunct="1"/>
            <a:endParaRPr lang="en-ZA" altLang="en-US" u="sng" dirty="0"/>
          </a:p>
          <a:p>
            <a:pPr eaLnBrk="1" hangingPunct="1"/>
            <a:r>
              <a:rPr lang="en-ZA" altLang="en-US" u="sng" dirty="0"/>
              <a:t>Exercise</a:t>
            </a:r>
            <a:r>
              <a:rPr lang="en-ZA" altLang="en-US" dirty="0"/>
              <a:t>: Identify possible relationships between a </a:t>
            </a:r>
            <a:r>
              <a:rPr lang="en-ZA" altLang="en-US" b="1" dirty="0"/>
              <a:t>Lecturer</a:t>
            </a:r>
            <a:r>
              <a:rPr lang="en-ZA" altLang="en-US" dirty="0"/>
              <a:t> entity type and a </a:t>
            </a:r>
            <a:r>
              <a:rPr lang="en-ZA" altLang="en-US" b="1" dirty="0"/>
              <a:t>Subject</a:t>
            </a:r>
            <a:r>
              <a:rPr lang="en-ZA" altLang="en-US" dirty="0"/>
              <a:t> entity type</a:t>
            </a:r>
          </a:p>
          <a:p>
            <a:pPr eaLnBrk="1" hangingPunct="1">
              <a:buFontTx/>
              <a:buNone/>
            </a:pPr>
            <a:endParaRPr lang="en-ZA" altLang="en-US" sz="2800" dirty="0"/>
          </a:p>
        </p:txBody>
      </p:sp>
      <p:grpSp>
        <p:nvGrpSpPr>
          <p:cNvPr id="33797" name="Group 44">
            <a:extLst>
              <a:ext uri="{FF2B5EF4-FFF2-40B4-BE49-F238E27FC236}">
                <a16:creationId xmlns:a16="http://schemas.microsoft.com/office/drawing/2014/main" id="{4D331A82-5D46-4D0E-9AFE-39F5C1B2494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209800"/>
            <a:ext cx="8305800" cy="3352800"/>
            <a:chOff x="80" y="1008"/>
            <a:chExt cx="5416" cy="2880"/>
          </a:xfrm>
        </p:grpSpPr>
        <p:sp>
          <p:nvSpPr>
            <p:cNvPr id="33798" name="Rectangle 45">
              <a:extLst>
                <a:ext uri="{FF2B5EF4-FFF2-40B4-BE49-F238E27FC236}">
                  <a16:creationId xmlns:a16="http://schemas.microsoft.com/office/drawing/2014/main" id="{F942E12A-43E1-4397-B782-3EB4FF541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36"/>
              <a:ext cx="1200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sz="2400" b="1" dirty="0"/>
                <a:t>EMPLOYEE</a:t>
              </a:r>
            </a:p>
          </p:txBody>
        </p:sp>
        <p:sp>
          <p:nvSpPr>
            <p:cNvPr id="33799" name="Rectangle 46">
              <a:extLst>
                <a:ext uri="{FF2B5EF4-FFF2-40B4-BE49-F238E27FC236}">
                  <a16:creationId xmlns:a16="http://schemas.microsoft.com/office/drawing/2014/main" id="{037D4F2C-5B02-45DB-92C7-0492E4F37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136"/>
              <a:ext cx="1392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sz="2400" b="1"/>
                <a:t>DEPARTMENT</a:t>
              </a:r>
            </a:p>
          </p:txBody>
        </p:sp>
        <p:sp>
          <p:nvSpPr>
            <p:cNvPr id="33800" name="AutoShape 47">
              <a:extLst>
                <a:ext uri="{FF2B5EF4-FFF2-40B4-BE49-F238E27FC236}">
                  <a16:creationId xmlns:a16="http://schemas.microsoft.com/office/drawing/2014/main" id="{1DCA68F0-44CA-4407-ABB8-D3F953191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1008"/>
              <a:ext cx="1200" cy="624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sz="2400" b="1"/>
                <a:t>Works_in</a:t>
              </a:r>
            </a:p>
          </p:txBody>
        </p:sp>
        <p:sp>
          <p:nvSpPr>
            <p:cNvPr id="33801" name="AutoShape 48">
              <a:extLst>
                <a:ext uri="{FF2B5EF4-FFF2-40B4-BE49-F238E27FC236}">
                  <a16:creationId xmlns:a16="http://schemas.microsoft.com/office/drawing/2014/main" id="{DA64C9A2-6A37-46B3-BF2F-CD7A58C4C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" y="2136"/>
              <a:ext cx="1200" cy="624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sz="2400" b="1"/>
                <a:t>Supervises</a:t>
              </a:r>
            </a:p>
          </p:txBody>
        </p:sp>
        <p:sp>
          <p:nvSpPr>
            <p:cNvPr id="33802" name="AutoShape 49">
              <a:extLst>
                <a:ext uri="{FF2B5EF4-FFF2-40B4-BE49-F238E27FC236}">
                  <a16:creationId xmlns:a16="http://schemas.microsoft.com/office/drawing/2014/main" id="{2CA11704-D4DE-4845-94F2-D98B07BFC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264"/>
              <a:ext cx="1248" cy="624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sz="2400" b="1"/>
                <a:t>Manages</a:t>
              </a:r>
            </a:p>
          </p:txBody>
        </p:sp>
        <p:sp>
          <p:nvSpPr>
            <p:cNvPr id="33803" name="Line 50">
              <a:extLst>
                <a:ext uri="{FF2B5EF4-FFF2-40B4-BE49-F238E27FC236}">
                  <a16:creationId xmlns:a16="http://schemas.microsoft.com/office/drawing/2014/main" id="{8341F561-E79B-43E8-A54F-00C0E6221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132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4" name="Line 51">
              <a:extLst>
                <a:ext uri="{FF2B5EF4-FFF2-40B4-BE49-F238E27FC236}">
                  <a16:creationId xmlns:a16="http://schemas.microsoft.com/office/drawing/2014/main" id="{2B82DEC2-57C5-44DA-8171-A932A3D29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32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5" name="Line 52">
              <a:extLst>
                <a:ext uri="{FF2B5EF4-FFF2-40B4-BE49-F238E27FC236}">
                  <a16:creationId xmlns:a16="http://schemas.microsoft.com/office/drawing/2014/main" id="{45904A93-4F39-4100-BFEA-A0EE0D36A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76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6" name="Line 53">
              <a:extLst>
                <a:ext uri="{FF2B5EF4-FFF2-40B4-BE49-F238E27FC236}">
                  <a16:creationId xmlns:a16="http://schemas.microsoft.com/office/drawing/2014/main" id="{15DA65B8-81B7-4007-A354-DDC3FA8F5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76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7" name="Line 54">
              <a:extLst>
                <a:ext uri="{FF2B5EF4-FFF2-40B4-BE49-F238E27FC236}">
                  <a16:creationId xmlns:a16="http://schemas.microsoft.com/office/drawing/2014/main" id="{177C727A-EB0E-4E39-B18D-F2D347077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32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8" name="Line 55">
              <a:extLst>
                <a:ext uri="{FF2B5EF4-FFF2-40B4-BE49-F238E27FC236}">
                  <a16:creationId xmlns:a16="http://schemas.microsoft.com/office/drawing/2014/main" id="{5B22DB23-1559-46EC-9A05-BD7642E99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76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9" name="Line 56">
              <a:extLst>
                <a:ext uri="{FF2B5EF4-FFF2-40B4-BE49-F238E27FC236}">
                  <a16:creationId xmlns:a16="http://schemas.microsoft.com/office/drawing/2014/main" id="{216219B4-6FC8-4EED-B3B3-8AF303447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3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0" name="Line 57">
              <a:extLst>
                <a:ext uri="{FF2B5EF4-FFF2-40B4-BE49-F238E27FC236}">
                  <a16:creationId xmlns:a16="http://schemas.microsoft.com/office/drawing/2014/main" id="{F944FCF1-3F06-47A6-AFE1-6C088C381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3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58">
              <a:extLst>
                <a:ext uri="{FF2B5EF4-FFF2-40B4-BE49-F238E27FC236}">
                  <a16:creationId xmlns:a16="http://schemas.microsoft.com/office/drawing/2014/main" id="{E8C4A5B6-4329-4C5A-BC12-4AF74978A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5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Line 59">
              <a:extLst>
                <a:ext uri="{FF2B5EF4-FFF2-40B4-BE49-F238E27FC236}">
                  <a16:creationId xmlns:a16="http://schemas.microsoft.com/office/drawing/2014/main" id="{C27F1B43-7EA2-47B6-8C4A-910160D79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5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3" name="Line 60">
              <a:extLst>
                <a:ext uri="{FF2B5EF4-FFF2-40B4-BE49-F238E27FC236}">
                  <a16:creationId xmlns:a16="http://schemas.microsoft.com/office/drawing/2014/main" id="{CE76CA73-2787-48F5-A63D-686A4398E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1328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4" name="Line 61">
              <a:extLst>
                <a:ext uri="{FF2B5EF4-FFF2-40B4-BE49-F238E27FC236}">
                  <a16:creationId xmlns:a16="http://schemas.microsoft.com/office/drawing/2014/main" id="{8A20FA66-E61F-4AEC-8838-B505F9787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76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5" name="Line 62">
              <a:extLst>
                <a:ext uri="{FF2B5EF4-FFF2-40B4-BE49-F238E27FC236}">
                  <a16:creationId xmlns:a16="http://schemas.microsoft.com/office/drawing/2014/main" id="{74417BB0-B5BE-4D7A-AAE3-C9E02DAA5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576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6" name="Line 63">
              <a:extLst>
                <a:ext uri="{FF2B5EF4-FFF2-40B4-BE49-F238E27FC236}">
                  <a16:creationId xmlns:a16="http://schemas.microsoft.com/office/drawing/2014/main" id="{2BD6E95F-A466-4B72-8220-D0229CF81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2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817" name="Group 64">
              <a:extLst>
                <a:ext uri="{FF2B5EF4-FFF2-40B4-BE49-F238E27FC236}">
                  <a16:creationId xmlns:a16="http://schemas.microsoft.com/office/drawing/2014/main" id="{47394094-49C8-4947-BD4E-F6FADCD3AB5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740" y="2808"/>
              <a:ext cx="112" cy="152"/>
              <a:chOff x="416" y="3456"/>
              <a:chExt cx="112" cy="152"/>
            </a:xfrm>
          </p:grpSpPr>
          <p:sp>
            <p:nvSpPr>
              <p:cNvPr id="33835" name="Oval 65">
                <a:extLst>
                  <a:ext uri="{FF2B5EF4-FFF2-40B4-BE49-F238E27FC236}">
                    <a16:creationId xmlns:a16="http://schemas.microsoft.com/office/drawing/2014/main" id="{60E49982-13DC-4590-AA43-B710807A5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" y="3456"/>
                <a:ext cx="48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  <p:sp>
            <p:nvSpPr>
              <p:cNvPr id="33836" name="Line 66">
                <a:extLst>
                  <a:ext uri="{FF2B5EF4-FFF2-40B4-BE49-F238E27FC236}">
                    <a16:creationId xmlns:a16="http://schemas.microsoft.com/office/drawing/2014/main" id="{67CB4F0D-1A56-4CA1-8615-445530923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34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8" name="Group 67">
              <a:extLst>
                <a:ext uri="{FF2B5EF4-FFF2-40B4-BE49-F238E27FC236}">
                  <a16:creationId xmlns:a16="http://schemas.microsoft.com/office/drawing/2014/main" id="{D772DC78-FFEE-439D-8018-144E67E8C94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024" y="1896"/>
              <a:ext cx="72" cy="144"/>
              <a:chOff x="456" y="3672"/>
              <a:chExt cx="72" cy="144"/>
            </a:xfrm>
          </p:grpSpPr>
          <p:sp>
            <p:nvSpPr>
              <p:cNvPr id="33833" name="Line 68">
                <a:extLst>
                  <a:ext uri="{FF2B5EF4-FFF2-40B4-BE49-F238E27FC236}">
                    <a16:creationId xmlns:a16="http://schemas.microsoft.com/office/drawing/2014/main" id="{D3EBEE41-09E7-44AF-BA3D-178E8D095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36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4" name="Line 69">
                <a:extLst>
                  <a:ext uri="{FF2B5EF4-FFF2-40B4-BE49-F238E27FC236}">
                    <a16:creationId xmlns:a16="http://schemas.microsoft.com/office/drawing/2014/main" id="{B0819612-16B5-43A7-8612-F848941E91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" y="36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9" name="Group 70">
              <a:extLst>
                <a:ext uri="{FF2B5EF4-FFF2-40B4-BE49-F238E27FC236}">
                  <a16:creationId xmlns:a16="http://schemas.microsoft.com/office/drawing/2014/main" id="{DCBA1AB3-8C0C-491F-BF35-2F876B507C6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1976" y="2752"/>
              <a:ext cx="176" cy="192"/>
              <a:chOff x="456" y="4096"/>
              <a:chExt cx="176" cy="192"/>
            </a:xfrm>
          </p:grpSpPr>
          <p:sp>
            <p:nvSpPr>
              <p:cNvPr id="33830" name="Line 71">
                <a:extLst>
                  <a:ext uri="{FF2B5EF4-FFF2-40B4-BE49-F238E27FC236}">
                    <a16:creationId xmlns:a16="http://schemas.microsoft.com/office/drawing/2014/main" id="{4A882E35-47CC-497C-9767-F792F8E4A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" y="412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72">
                <a:extLst>
                  <a:ext uri="{FF2B5EF4-FFF2-40B4-BE49-F238E27FC236}">
                    <a16:creationId xmlns:a16="http://schemas.microsoft.com/office/drawing/2014/main" id="{4E9765A9-8CB0-4F7B-B2E7-D50DAA6439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6" y="409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2" name="Line 73">
                <a:extLst>
                  <a:ext uri="{FF2B5EF4-FFF2-40B4-BE49-F238E27FC236}">
                    <a16:creationId xmlns:a16="http://schemas.microsoft.com/office/drawing/2014/main" id="{8251F76C-FEB5-4C9D-89D5-8D9321A71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" y="4192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20" name="Group 74">
              <a:extLst>
                <a:ext uri="{FF2B5EF4-FFF2-40B4-BE49-F238E27FC236}">
                  <a16:creationId xmlns:a16="http://schemas.microsoft.com/office/drawing/2014/main" id="{2FE110E5-BD1A-4DC6-B359-76C78FCF584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552" y="1944"/>
              <a:ext cx="176" cy="192"/>
              <a:chOff x="456" y="4096"/>
              <a:chExt cx="176" cy="192"/>
            </a:xfrm>
          </p:grpSpPr>
          <p:sp>
            <p:nvSpPr>
              <p:cNvPr id="33827" name="Line 75">
                <a:extLst>
                  <a:ext uri="{FF2B5EF4-FFF2-40B4-BE49-F238E27FC236}">
                    <a16:creationId xmlns:a16="http://schemas.microsoft.com/office/drawing/2014/main" id="{E5C470E9-EE3D-41F4-8511-5C7823060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" y="412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8" name="Line 76">
                <a:extLst>
                  <a:ext uri="{FF2B5EF4-FFF2-40B4-BE49-F238E27FC236}">
                    <a16:creationId xmlns:a16="http://schemas.microsoft.com/office/drawing/2014/main" id="{A2F19B4D-C388-4ECC-9DBF-FB341B6005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6" y="409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9" name="Line 77">
                <a:extLst>
                  <a:ext uri="{FF2B5EF4-FFF2-40B4-BE49-F238E27FC236}">
                    <a16:creationId xmlns:a16="http://schemas.microsoft.com/office/drawing/2014/main" id="{6A7EC222-C4F2-4022-8E25-F2203A35C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" y="4192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21" name="Group 78">
              <a:extLst>
                <a:ext uri="{FF2B5EF4-FFF2-40B4-BE49-F238E27FC236}">
                  <a16:creationId xmlns:a16="http://schemas.microsoft.com/office/drawing/2014/main" id="{35AFBE2F-81B9-4FEA-9B6F-D42D6E6AB02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604" y="2820"/>
              <a:ext cx="72" cy="144"/>
              <a:chOff x="456" y="3672"/>
              <a:chExt cx="72" cy="144"/>
            </a:xfrm>
          </p:grpSpPr>
          <p:sp>
            <p:nvSpPr>
              <p:cNvPr id="33825" name="Line 79">
                <a:extLst>
                  <a:ext uri="{FF2B5EF4-FFF2-40B4-BE49-F238E27FC236}">
                    <a16:creationId xmlns:a16="http://schemas.microsoft.com/office/drawing/2014/main" id="{3E8B5826-B385-4356-B72C-C5CFA66C1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36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6" name="Line 80">
                <a:extLst>
                  <a:ext uri="{FF2B5EF4-FFF2-40B4-BE49-F238E27FC236}">
                    <a16:creationId xmlns:a16="http://schemas.microsoft.com/office/drawing/2014/main" id="{ED6A1E1D-15B1-4DA5-BAE0-94A5CB528E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" y="36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22" name="Group 81">
              <a:extLst>
                <a:ext uri="{FF2B5EF4-FFF2-40B4-BE49-F238E27FC236}">
                  <a16:creationId xmlns:a16="http://schemas.microsoft.com/office/drawing/2014/main" id="{775BD350-B2B6-41DB-B1B8-D7EB77047D1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64" y="1908"/>
              <a:ext cx="72" cy="144"/>
              <a:chOff x="456" y="3672"/>
              <a:chExt cx="72" cy="144"/>
            </a:xfrm>
          </p:grpSpPr>
          <p:sp>
            <p:nvSpPr>
              <p:cNvPr id="33823" name="Line 82">
                <a:extLst>
                  <a:ext uri="{FF2B5EF4-FFF2-40B4-BE49-F238E27FC236}">
                    <a16:creationId xmlns:a16="http://schemas.microsoft.com/office/drawing/2014/main" id="{D7B570B1-5620-4B78-939C-824CA7C50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36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4" name="Line 83">
                <a:extLst>
                  <a:ext uri="{FF2B5EF4-FFF2-40B4-BE49-F238E27FC236}">
                    <a16:creationId xmlns:a16="http://schemas.microsoft.com/office/drawing/2014/main" id="{EAB62787-E10F-4A65-ABCE-892BC511F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" y="36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6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6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7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21FC1738-3E8C-41B4-9865-00BFE5BC4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de-DE" altLang="en-US" sz="4000" dirty="0"/>
              <a:t>Relationships –Cardinality of a Relationship</a:t>
            </a:r>
            <a:endParaRPr lang="en-GB" altLang="en-US" sz="4000" dirty="0"/>
          </a:p>
        </p:txBody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BD087BE8-B0DE-49D6-8586-0032AA9E2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5" y="1895474"/>
            <a:ext cx="1004887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solidFill>
                  <a:srgbClr val="FF0000"/>
                </a:solidFill>
              </a:rPr>
              <a:t>A recap on cardinality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800" dirty="0"/>
              <a:t>One – to – One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 dirty="0"/>
              <a:t>Each entity in the relationship will have exactly one related entity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800" dirty="0"/>
              <a:t>One – to – Many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 dirty="0"/>
              <a:t>An entity on one side of the relationship can have many related entities, but an entity on the other side will have a maximum of one related entity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800" dirty="0"/>
              <a:t>Many – to – Many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400" dirty="0"/>
              <a:t>Entities on both sides of the relationship can have many related entities on the other 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A166-2B77-4AF8-B340-5955275B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F71C6-8983-48CD-9081-8F161DA1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lecture, students should be able to </a:t>
            </a:r>
          </a:p>
          <a:p>
            <a:r>
              <a:rPr lang="en-GB" dirty="0"/>
              <a:t>Draw ERDs following Chen’s and Crow’s Foot notations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260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7384-4F2A-4AB2-A5B0-D9FBD713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70955"/>
          </a:xfrm>
        </p:spPr>
        <p:txBody>
          <a:bodyPr/>
          <a:lstStyle/>
          <a:p>
            <a:r>
              <a:rPr lang="en-US" dirty="0"/>
              <a:t>Constraints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524D8-C49E-4386-836F-6881E3776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constraint</a:t>
            </a:r>
            <a:r>
              <a:rPr lang="en-US" dirty="0"/>
              <a:t> is an assertion about the database that must be true at all times </a:t>
            </a:r>
          </a:p>
          <a:p>
            <a:r>
              <a:rPr lang="en-US" dirty="0"/>
              <a:t>Constraints are part of the database schema for example</a:t>
            </a:r>
          </a:p>
          <a:p>
            <a:r>
              <a:rPr lang="en-US" dirty="0">
                <a:solidFill>
                  <a:srgbClr val="FF0000"/>
                </a:solidFill>
              </a:rPr>
              <a:t>Keys</a:t>
            </a:r>
            <a:r>
              <a:rPr lang="en-US" dirty="0"/>
              <a:t>: </a:t>
            </a:r>
            <a:r>
              <a:rPr lang="en-US" dirty="0" err="1"/>
              <a:t>studentNumber</a:t>
            </a:r>
            <a:r>
              <a:rPr lang="en-US" dirty="0"/>
              <a:t> uniquely identifies a student</a:t>
            </a:r>
          </a:p>
          <a:p>
            <a:r>
              <a:rPr lang="en-US" dirty="0">
                <a:solidFill>
                  <a:srgbClr val="FF0000"/>
                </a:solidFill>
              </a:rPr>
              <a:t>Single-value constraints</a:t>
            </a:r>
            <a:r>
              <a:rPr lang="en-US" dirty="0"/>
              <a:t>: a person can have only one father </a:t>
            </a:r>
          </a:p>
          <a:p>
            <a:r>
              <a:rPr lang="en-US" dirty="0">
                <a:solidFill>
                  <a:srgbClr val="FF0000"/>
                </a:solidFill>
              </a:rPr>
              <a:t>Referential integrity constraints</a:t>
            </a:r>
            <a:r>
              <a:rPr lang="en-US" dirty="0"/>
              <a:t>: if you work for a company, it must exist in the database Domain constraints: peoples’ ages are between 0 and 150</a:t>
            </a:r>
          </a:p>
          <a:p>
            <a:r>
              <a:rPr lang="en-US" dirty="0">
                <a:solidFill>
                  <a:srgbClr val="FF0000"/>
                </a:solidFill>
              </a:rPr>
              <a:t>Cardinality constraints</a:t>
            </a:r>
            <a:r>
              <a:rPr lang="en-US" dirty="0"/>
              <a:t>: at most 100 students enroll in a course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5252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E7CF-F14C-44A0-9767-CC1BEDCD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Model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3FFDC7-28D8-4BDB-9E6D-6F227EED10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ZA" altLang="en-US" sz="2200" dirty="0"/>
              <a:t>An </a:t>
            </a:r>
            <a:r>
              <a:rPr lang="en-ZA" altLang="en-US" sz="2200" b="1" dirty="0">
                <a:solidFill>
                  <a:srgbClr val="FF0000"/>
                </a:solidFill>
              </a:rPr>
              <a:t>entity-relationship (E-R model)</a:t>
            </a:r>
            <a:r>
              <a:rPr lang="en-ZA" altLang="en-US" sz="2200" dirty="0">
                <a:solidFill>
                  <a:srgbClr val="FF0000"/>
                </a:solidFill>
              </a:rPr>
              <a:t> </a:t>
            </a:r>
            <a:r>
              <a:rPr lang="en-ZA" altLang="en-US" sz="2200" dirty="0"/>
              <a:t>model is a detailed logical representation of the data for an   organisation or for a business area.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ZA" altLang="en-US" sz="2200" dirty="0"/>
          </a:p>
          <a:p>
            <a:pPr eaLnBrk="1" hangingPunct="1">
              <a:lnSpc>
                <a:spcPct val="90000"/>
              </a:lnSpc>
            </a:pPr>
            <a:r>
              <a:rPr lang="en-ZA" altLang="en-US" sz="2200" dirty="0"/>
              <a:t>The E-R model is expressed in terms of: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200" dirty="0">
                <a:solidFill>
                  <a:srgbClr val="FF0000"/>
                </a:solidFill>
              </a:rPr>
              <a:t>Entities</a:t>
            </a:r>
            <a:r>
              <a:rPr lang="en-ZA" altLang="en-US" sz="2200" dirty="0"/>
              <a:t> in the business environment</a:t>
            </a:r>
            <a:endParaRPr lang="en-ZA" altLang="en-US" sz="2200" i="1" dirty="0"/>
          </a:p>
          <a:p>
            <a:pPr lvl="1" eaLnBrk="1" hangingPunct="1">
              <a:lnSpc>
                <a:spcPct val="90000"/>
              </a:lnSpc>
            </a:pPr>
            <a:r>
              <a:rPr lang="en-ZA" altLang="en-US" sz="2200" dirty="0"/>
              <a:t>The </a:t>
            </a:r>
            <a:r>
              <a:rPr lang="en-ZA" altLang="en-US" sz="2200" dirty="0">
                <a:solidFill>
                  <a:srgbClr val="FF0000"/>
                </a:solidFill>
              </a:rPr>
              <a:t>relationships</a:t>
            </a:r>
            <a:r>
              <a:rPr lang="en-ZA" altLang="en-US" sz="2200" dirty="0"/>
              <a:t> (or associations) among these entities 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200" dirty="0"/>
              <a:t>A </a:t>
            </a:r>
            <a:r>
              <a:rPr lang="en-ZA" altLang="en-US" sz="2200" b="1" dirty="0">
                <a:solidFill>
                  <a:srgbClr val="FF0000"/>
                </a:solidFill>
              </a:rPr>
              <a:t>cardinality</a:t>
            </a:r>
            <a:r>
              <a:rPr lang="en-ZA" altLang="en-US" sz="2200" b="1" dirty="0"/>
              <a:t> </a:t>
            </a:r>
            <a:r>
              <a:rPr lang="en-ZA" altLang="en-US" sz="2200" dirty="0"/>
              <a:t>specifies the number of instances of entity B that can (or must) be associated with each instance of entity A, and vice versa</a:t>
            </a:r>
            <a:endParaRPr lang="en-ZA" altLang="en-US" sz="2200" i="1" dirty="0"/>
          </a:p>
          <a:p>
            <a:pPr lvl="1" eaLnBrk="1" hangingPunct="1">
              <a:lnSpc>
                <a:spcPct val="90000"/>
              </a:lnSpc>
            </a:pPr>
            <a:r>
              <a:rPr lang="en-ZA" altLang="en-US" sz="2200" dirty="0"/>
              <a:t>The </a:t>
            </a:r>
            <a:r>
              <a:rPr lang="en-ZA" altLang="en-US" sz="2200" dirty="0">
                <a:solidFill>
                  <a:srgbClr val="FF0000"/>
                </a:solidFill>
              </a:rPr>
              <a:t>attributes</a:t>
            </a:r>
            <a:r>
              <a:rPr lang="en-ZA" altLang="en-US" sz="2200" dirty="0"/>
              <a:t> (or properties) of both the entities and relationships</a:t>
            </a:r>
            <a:endParaRPr lang="en-ZA" altLang="en-US" sz="2200" i="1" dirty="0"/>
          </a:p>
          <a:p>
            <a:pPr eaLnBrk="1" hangingPunct="1">
              <a:lnSpc>
                <a:spcPct val="90000"/>
              </a:lnSpc>
            </a:pPr>
            <a:r>
              <a:rPr lang="en-ZA" altLang="en-US" sz="2200" dirty="0"/>
              <a:t>The E-R model is normally expressed as an </a:t>
            </a:r>
            <a:r>
              <a:rPr lang="en-ZA" altLang="en-US" sz="2200" dirty="0">
                <a:solidFill>
                  <a:srgbClr val="FF0000"/>
                </a:solidFill>
              </a:rPr>
              <a:t>Entity-Relationship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89679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2554550" y="271306"/>
            <a:ext cx="7467600" cy="1085222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r>
              <a:rPr lang="en-US" dirty="0"/>
              <a:t>E-R Data Model</a:t>
            </a:r>
            <a:endParaRPr lang="en-US" sz="3600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After the requirements have been gathered, they are transformed into an Entity Relationship (E-R) Data Model.</a:t>
            </a:r>
          </a:p>
          <a:p>
            <a:pPr>
              <a:lnSpc>
                <a:spcPct val="90000"/>
              </a:lnSpc>
            </a:pPr>
            <a:r>
              <a:rPr lang="en-US" dirty="0"/>
              <a:t>The most important elements of E-R Models are: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Entities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Attributes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1046345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Entity-Relationship Diagrams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General notation on ERDs</a:t>
            </a:r>
            <a:endParaRPr lang="en-US" sz="2800" b="1" dirty="0"/>
          </a:p>
          <a:p>
            <a:pPr lvl="1">
              <a:lnSpc>
                <a:spcPct val="90000"/>
              </a:lnSpc>
            </a:pPr>
            <a:r>
              <a:rPr lang="en-US" sz="2400" dirty="0"/>
              <a:t>Entity classes are shown by rectangles.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Relationships are shown by diamonds.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name of the entity is shown inside the rectangle.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name of the relationship is shown near the diamond.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8BC5-63B0-4DAF-A1C5-13C50855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on ERDs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3A43-901B-46EE-A64C-2AC1EA35A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07940"/>
            <a:ext cx="9601196" cy="35898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Identify entity types by searching for nouns and noun phrases </a:t>
            </a:r>
          </a:p>
          <a:p>
            <a:r>
              <a:rPr lang="en-US" dirty="0"/>
              <a:t> Assume all entities are strong and check for weak ones on a later pass </a:t>
            </a:r>
          </a:p>
          <a:p>
            <a:r>
              <a:rPr lang="en-US" dirty="0"/>
              <a:t> You need an identifier for each strong entity </a:t>
            </a:r>
          </a:p>
          <a:p>
            <a:r>
              <a:rPr lang="en-US" dirty="0"/>
              <a:t> Assume all relationships have optional participation and check for mandatory (total) ones on a later pass </a:t>
            </a:r>
          </a:p>
          <a:p>
            <a:r>
              <a:rPr lang="en-US" dirty="0"/>
              <a:t> Expect to keep changing your mind about whether things are entities, relationships or attributes </a:t>
            </a:r>
          </a:p>
          <a:p>
            <a:r>
              <a:rPr lang="en-US" dirty="0"/>
              <a:t> Keep the level of detail relevant and consistent (for example leave out attributes at first) </a:t>
            </a:r>
          </a:p>
          <a:p>
            <a:r>
              <a:rPr lang="en-US" dirty="0"/>
              <a:t> Approach diagram through different views … … and merge them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57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050" y="891836"/>
            <a:ext cx="8453946" cy="10668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Notations for </a:t>
            </a:r>
            <a:br>
              <a:rPr lang="en-US" sz="4000" dirty="0"/>
            </a:br>
            <a:r>
              <a:rPr lang="en-US" sz="4000" dirty="0"/>
              <a:t> Entity-Relationship Diagrams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952500" y="2457450"/>
            <a:ext cx="9334500" cy="336867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Information Engineering (IE)</a:t>
            </a:r>
            <a:r>
              <a:rPr lang="en-US" dirty="0"/>
              <a:t> [James Martin 1990]—Uses “crow’s feet” to show the many sides of a relationship, and it is sometimes called the </a:t>
            </a:r>
            <a:r>
              <a:rPr lang="en-US" b="1" dirty="0"/>
              <a:t>crow’s foot model</a:t>
            </a:r>
            <a:r>
              <a:rPr lang="en-US" dirty="0"/>
              <a:t>.</a:t>
            </a:r>
          </a:p>
          <a:p>
            <a:r>
              <a:rPr lang="en-US" b="1" dirty="0"/>
              <a:t>Integrated Definition 1, Extended </a:t>
            </a:r>
            <a:r>
              <a:rPr lang="en-US" dirty="0"/>
              <a:t>3 </a:t>
            </a:r>
            <a:r>
              <a:rPr lang="en-US" b="1" dirty="0"/>
              <a:t>(IDEF1X)</a:t>
            </a:r>
            <a:r>
              <a:rPr lang="en-US" dirty="0"/>
              <a:t> is a version of the E-R model that is a national standard.</a:t>
            </a:r>
          </a:p>
          <a:p>
            <a:r>
              <a:rPr lang="en-US" b="1" dirty="0"/>
              <a:t>Unified Modeling Language (UML)</a:t>
            </a:r>
            <a:r>
              <a:rPr lang="en-US" dirty="0"/>
              <a:t> is a set of structures and techniques for modeling and designing object-oriented programs (OOP) and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2EBC-FF04-4F52-9A9B-1A44E455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Chen’s Notation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0CB0-D687-4955-93B7-71C0280D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</a:t>
            </a:r>
          </a:p>
          <a:p>
            <a:endParaRPr lang="en-US" dirty="0"/>
          </a:p>
          <a:p>
            <a:r>
              <a:rPr lang="en-US" dirty="0"/>
              <a:t>Attribute</a:t>
            </a:r>
          </a:p>
          <a:p>
            <a:endParaRPr lang="en-US" dirty="0"/>
          </a:p>
          <a:p>
            <a:r>
              <a:rPr lang="en-US" dirty="0"/>
              <a:t>Relationship  </a:t>
            </a:r>
          </a:p>
          <a:p>
            <a:r>
              <a:rPr lang="en-US" dirty="0"/>
              <a:t>Cardinality 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2A61AF-038F-4C6A-AEA1-944EED83BE9B}"/>
              </a:ext>
            </a:extLst>
          </p:cNvPr>
          <p:cNvSpPr/>
          <p:nvPr/>
        </p:nvSpPr>
        <p:spPr>
          <a:xfrm>
            <a:off x="3488924" y="2645545"/>
            <a:ext cx="2607076" cy="488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</a:t>
            </a:r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B29F8F-FD85-428A-AC32-9EE851A555E2}"/>
              </a:ext>
            </a:extLst>
          </p:cNvPr>
          <p:cNvSpPr/>
          <p:nvPr/>
        </p:nvSpPr>
        <p:spPr>
          <a:xfrm>
            <a:off x="6604985" y="3266982"/>
            <a:ext cx="2539015" cy="71021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/>
              <a:t>StudentNumber</a:t>
            </a:r>
            <a:endParaRPr lang="en-GB" u="sng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6A8AF7-B0B3-42F8-8430-7C7F39D7919B}"/>
              </a:ext>
            </a:extLst>
          </p:cNvPr>
          <p:cNvSpPr/>
          <p:nvPr/>
        </p:nvSpPr>
        <p:spPr>
          <a:xfrm>
            <a:off x="3213716" y="3429000"/>
            <a:ext cx="1961965" cy="63031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GivenName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0ECD85-589E-4780-92FE-D45384C77E13}"/>
              </a:ext>
            </a:extLst>
          </p:cNvPr>
          <p:cNvCxnSpPr/>
          <p:nvPr/>
        </p:nvCxnSpPr>
        <p:spPr>
          <a:xfrm flipH="1">
            <a:off x="4296792" y="3158067"/>
            <a:ext cx="257453" cy="270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7133D9-B4D7-4580-AF8D-D84F21B0A4CD}"/>
              </a:ext>
            </a:extLst>
          </p:cNvPr>
          <p:cNvCxnSpPr>
            <a:stCxn id="6" idx="3"/>
          </p:cNvCxnSpPr>
          <p:nvPr/>
        </p:nvCxnSpPr>
        <p:spPr>
          <a:xfrm>
            <a:off x="6096000" y="2889681"/>
            <a:ext cx="828582" cy="377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4EBB825-2432-4224-AB6B-D22777CE02F0}"/>
              </a:ext>
            </a:extLst>
          </p:cNvPr>
          <p:cNvSpPr/>
          <p:nvPr/>
        </p:nvSpPr>
        <p:spPr>
          <a:xfrm>
            <a:off x="3488924" y="4600112"/>
            <a:ext cx="2607076" cy="488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887E4-96D1-42C3-B49C-5F64570F53A2}"/>
              </a:ext>
            </a:extLst>
          </p:cNvPr>
          <p:cNvSpPr/>
          <p:nvPr/>
        </p:nvSpPr>
        <p:spPr>
          <a:xfrm>
            <a:off x="9025628" y="4600112"/>
            <a:ext cx="2194267" cy="488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Course </a:t>
            </a:r>
            <a:endParaRPr lang="en-GB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AA8D3A21-3A1C-4436-B5C8-12E9671947DD}"/>
              </a:ext>
            </a:extLst>
          </p:cNvPr>
          <p:cNvSpPr/>
          <p:nvPr/>
        </p:nvSpPr>
        <p:spPr>
          <a:xfrm>
            <a:off x="6418553" y="4489140"/>
            <a:ext cx="1571350" cy="710213"/>
          </a:xfrm>
          <a:prstGeom prst="diamon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enrols</a:t>
            </a:r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979C94-6A4D-44C4-8B4A-D3868EA3368F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096000" y="4844247"/>
            <a:ext cx="32255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B59025-903F-4EF7-9139-9CAFD2C1729A}"/>
              </a:ext>
            </a:extLst>
          </p:cNvPr>
          <p:cNvCxnSpPr>
            <a:cxnSpLocks/>
          </p:cNvCxnSpPr>
          <p:nvPr/>
        </p:nvCxnSpPr>
        <p:spPr>
          <a:xfrm flipV="1">
            <a:off x="8062771" y="4822051"/>
            <a:ext cx="825624" cy="22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01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621E-56E0-45DC-8856-352C0FE2C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698F-E3D2-48B1-9493-AA758C863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attributes are represented as an oval.</a:t>
            </a:r>
          </a:p>
          <a:p>
            <a:endParaRPr lang="en-GB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8A69E597-B32E-4830-86BB-34401C810358}"/>
              </a:ext>
            </a:extLst>
          </p:cNvPr>
          <p:cNvGrpSpPr>
            <a:grpSpLocks/>
          </p:cNvGrpSpPr>
          <p:nvPr/>
        </p:nvGrpSpPr>
        <p:grpSpPr bwMode="auto">
          <a:xfrm>
            <a:off x="1589098" y="3802182"/>
            <a:ext cx="2667000" cy="1676400"/>
            <a:chOff x="240" y="2112"/>
            <a:chExt cx="1680" cy="1056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A4F56E7C-E722-4240-A67F-96DADB19B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80"/>
              <a:ext cx="81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STUDENT</a:t>
              </a:r>
              <a:endParaRPr lang="de-DE" altLang="en-US"/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1181E124-5DB2-478F-A2A3-D78B5D4FC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112"/>
              <a:ext cx="768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u="sng"/>
                <a:t>ID</a:t>
              </a:r>
              <a:endParaRPr lang="de-DE" altLang="en-US" u="sng"/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DA708DFF-2213-4AF0-A98A-21F4B69CC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12"/>
              <a:ext cx="768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Name</a:t>
              </a:r>
              <a:endParaRPr lang="de-DE" altLang="en-US"/>
            </a:p>
          </p:txBody>
        </p:sp>
        <p:cxnSp>
          <p:nvCxnSpPr>
            <p:cNvPr id="8" name="AutoShape 9">
              <a:extLst>
                <a:ext uri="{FF2B5EF4-FFF2-40B4-BE49-F238E27FC236}">
                  <a16:creationId xmlns:a16="http://schemas.microsoft.com/office/drawing/2014/main" id="{FC910176-4707-4821-8F70-F90C40C2A726}"/>
                </a:ext>
              </a:extLst>
            </p:cNvPr>
            <p:cNvCxnSpPr>
              <a:cxnSpLocks noChangeShapeType="1"/>
              <a:stCxn id="6" idx="4"/>
              <a:endCxn id="5" idx="0"/>
            </p:cNvCxnSpPr>
            <p:nvPr/>
          </p:nvCxnSpPr>
          <p:spPr bwMode="auto">
            <a:xfrm>
              <a:off x="624" y="2496"/>
              <a:ext cx="60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10">
              <a:extLst>
                <a:ext uri="{FF2B5EF4-FFF2-40B4-BE49-F238E27FC236}">
                  <a16:creationId xmlns:a16="http://schemas.microsoft.com/office/drawing/2014/main" id="{A3ED6782-397E-4A15-922E-8820CDE0856C}"/>
                </a:ext>
              </a:extLst>
            </p:cNvPr>
            <p:cNvCxnSpPr>
              <a:cxnSpLocks noChangeShapeType="1"/>
              <a:stCxn id="7" idx="4"/>
              <a:endCxn id="5" idx="0"/>
            </p:cNvCxnSpPr>
            <p:nvPr/>
          </p:nvCxnSpPr>
          <p:spPr bwMode="auto">
            <a:xfrm flipH="1">
              <a:off x="1224" y="2496"/>
              <a:ext cx="31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 22">
            <a:extLst>
              <a:ext uri="{FF2B5EF4-FFF2-40B4-BE49-F238E27FC236}">
                <a16:creationId xmlns:a16="http://schemas.microsoft.com/office/drawing/2014/main" id="{6293FD93-8CEF-47B6-8C32-BE1B8109AC9B}"/>
              </a:ext>
            </a:extLst>
          </p:cNvPr>
          <p:cNvGrpSpPr>
            <a:grpSpLocks/>
          </p:cNvGrpSpPr>
          <p:nvPr/>
        </p:nvGrpSpPr>
        <p:grpSpPr bwMode="auto">
          <a:xfrm>
            <a:off x="4601709" y="3097105"/>
            <a:ext cx="4738688" cy="2543175"/>
            <a:chOff x="2439" y="2094"/>
            <a:chExt cx="2985" cy="1602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516E552D-F334-40A6-909B-470B7351C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408"/>
              <a:ext cx="81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FLIGHT</a:t>
              </a:r>
              <a:endParaRPr lang="de-DE" altLang="en-US"/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4D483989-8154-45F4-A34E-AB2BE26F0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40"/>
              <a:ext cx="768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u="sng" dirty="0"/>
                <a:t>ID</a:t>
              </a:r>
              <a:endParaRPr lang="de-DE" altLang="en-US" u="sng" dirty="0"/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5A4C6C75-C3A5-4008-B99F-5ABFC2026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640"/>
              <a:ext cx="1776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Number_of_Passengers</a:t>
              </a:r>
              <a:endParaRPr lang="de-DE" altLang="en-US"/>
            </a:p>
          </p:txBody>
        </p:sp>
        <p:cxnSp>
          <p:nvCxnSpPr>
            <p:cNvPr id="14" name="AutoShape 16">
              <a:extLst>
                <a:ext uri="{FF2B5EF4-FFF2-40B4-BE49-F238E27FC236}">
                  <a16:creationId xmlns:a16="http://schemas.microsoft.com/office/drawing/2014/main" id="{F1ECAED1-6E89-441A-820C-BC848D037C64}"/>
                </a:ext>
              </a:extLst>
            </p:cNvPr>
            <p:cNvCxnSpPr>
              <a:cxnSpLocks noChangeShapeType="1"/>
              <a:stCxn id="12" idx="4"/>
              <a:endCxn id="11" idx="0"/>
            </p:cNvCxnSpPr>
            <p:nvPr/>
          </p:nvCxnSpPr>
          <p:spPr bwMode="auto">
            <a:xfrm>
              <a:off x="3120" y="3024"/>
              <a:ext cx="60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17">
              <a:extLst>
                <a:ext uri="{FF2B5EF4-FFF2-40B4-BE49-F238E27FC236}">
                  <a16:creationId xmlns:a16="http://schemas.microsoft.com/office/drawing/2014/main" id="{9A8AD510-A788-4805-93A9-0DAD946DC2E1}"/>
                </a:ext>
              </a:extLst>
            </p:cNvPr>
            <p:cNvCxnSpPr>
              <a:cxnSpLocks noChangeShapeType="1"/>
              <a:stCxn id="13" idx="4"/>
              <a:endCxn id="11" idx="0"/>
            </p:cNvCxnSpPr>
            <p:nvPr/>
          </p:nvCxnSpPr>
          <p:spPr bwMode="auto">
            <a:xfrm flipH="1">
              <a:off x="3720" y="302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Oval 18">
              <a:extLst>
                <a:ext uri="{FF2B5EF4-FFF2-40B4-BE49-F238E27FC236}">
                  <a16:creationId xmlns:a16="http://schemas.microsoft.com/office/drawing/2014/main" id="{5A11177D-8DB9-40E3-A488-E31B7531A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2094"/>
              <a:ext cx="1056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Flight_Number</a:t>
              </a:r>
              <a:endParaRPr lang="de-DE" altLang="en-US"/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B2B93F0E-42DB-4A4E-AC66-DC7FECC40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2250"/>
              <a:ext cx="110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Date</a:t>
              </a:r>
              <a:endParaRPr lang="de-DE" altLang="en-US"/>
            </a:p>
          </p:txBody>
        </p:sp>
        <p:cxnSp>
          <p:nvCxnSpPr>
            <p:cNvPr id="18" name="AutoShape 20">
              <a:extLst>
                <a:ext uri="{FF2B5EF4-FFF2-40B4-BE49-F238E27FC236}">
                  <a16:creationId xmlns:a16="http://schemas.microsoft.com/office/drawing/2014/main" id="{BA178016-4053-46A3-A3DC-F200596C9CD0}"/>
                </a:ext>
              </a:extLst>
            </p:cNvPr>
            <p:cNvCxnSpPr>
              <a:cxnSpLocks noChangeShapeType="1"/>
              <a:stCxn id="12" idx="0"/>
            </p:cNvCxnSpPr>
            <p:nvPr/>
          </p:nvCxnSpPr>
          <p:spPr bwMode="auto">
            <a:xfrm flipH="1" flipV="1">
              <a:off x="3018" y="2464"/>
              <a:ext cx="102" cy="1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21">
              <a:extLst>
                <a:ext uri="{FF2B5EF4-FFF2-40B4-BE49-F238E27FC236}">
                  <a16:creationId xmlns:a16="http://schemas.microsoft.com/office/drawing/2014/main" id="{AEA7FA48-B891-4068-8C43-42FFFC460319}"/>
                </a:ext>
              </a:extLst>
            </p:cNvPr>
            <p:cNvCxnSpPr>
              <a:cxnSpLocks noChangeShapeType="1"/>
              <a:stCxn id="12" idx="0"/>
            </p:cNvCxnSpPr>
            <p:nvPr/>
          </p:nvCxnSpPr>
          <p:spPr bwMode="auto">
            <a:xfrm flipV="1">
              <a:off x="3120" y="2538"/>
              <a:ext cx="851" cy="1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89935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FC07-08AD-498C-86B6-F79008E7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C4F3-AF0F-487F-B847-7CC39100A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Relationship- shows a relationship as a lozenge (‘diamond’ shape) connected with lines to the entities</a:t>
            </a:r>
          </a:p>
          <a:p>
            <a:r>
              <a:rPr lang="en-US" dirty="0"/>
              <a:t>The name of the relationship is shown in the lozenge. </a:t>
            </a:r>
          </a:p>
          <a:p>
            <a:r>
              <a:rPr lang="en-US" dirty="0"/>
              <a:t>The name of the relationship is usually written to make sense reading right from left, or top to bottom.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15555-822A-4F4A-BCFB-BFB8AB20D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4676775"/>
            <a:ext cx="52006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98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86D0-692F-40DA-A988-6748B39FE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A713-B0A4-47C3-B5ED-3A86BBA46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department to employee, we also concluded that a department can employ several (i.e. one or more) employees. </a:t>
            </a:r>
          </a:p>
          <a:p>
            <a:r>
              <a:rPr lang="en-US" dirty="0"/>
              <a:t>This is shown as an “m” at the far end of the relationship as we are reading it.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AB5F0-6350-40E8-B7B7-3372A2E8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4216400"/>
            <a:ext cx="55435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2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2F80-77E6-479E-B052-ED43013A1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CE486-0161-4663-A96F-512FF4B7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One-to-one (1:1) – both entities are associated with only one attribute of another entity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One-to-many (1:N) – one entity can be associated with multiple values of another entity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Many-to-one (N:1) – many entities are associated with only one attribute of another entity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Many-to-many (M:N) – multiple entities can be associated with multiple attributes of another entity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232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2F5A7345-0394-42CC-9281-6B4FD84D7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76200"/>
            <a:ext cx="8839200" cy="1066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de-DE" altLang="en-US" sz="4000" dirty="0"/>
              <a:t>	  Relationships  -Degree of 		   </a:t>
            </a:r>
            <a:br>
              <a:rPr lang="de-DE" altLang="en-US" sz="4000" dirty="0"/>
            </a:br>
            <a:r>
              <a:rPr lang="de-DE" altLang="en-US" sz="4000" dirty="0"/>
              <a:t>        Relationship (Binary examples)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978BDA6-DA06-4E18-9442-DB95D6D748E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790701"/>
            <a:ext cx="7391400" cy="1335088"/>
            <a:chOff x="384" y="1503"/>
            <a:chExt cx="4656" cy="841"/>
          </a:xfrm>
        </p:grpSpPr>
        <p:sp>
          <p:nvSpPr>
            <p:cNvPr id="29721" name="Rectangle 4">
              <a:extLst>
                <a:ext uri="{FF2B5EF4-FFF2-40B4-BE49-F238E27FC236}">
                  <a16:creationId xmlns:a16="http://schemas.microsoft.com/office/drawing/2014/main" id="{7C3BCB00-8AF6-4E61-A1A6-BAA325973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551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EMPLOYEE</a:t>
              </a:r>
              <a:endParaRPr lang="de-DE" altLang="en-US" b="1"/>
            </a:p>
          </p:txBody>
        </p:sp>
        <p:sp>
          <p:nvSpPr>
            <p:cNvPr id="29722" name="Rectangle 5">
              <a:extLst>
                <a:ext uri="{FF2B5EF4-FFF2-40B4-BE49-F238E27FC236}">
                  <a16:creationId xmlns:a16="http://schemas.microsoft.com/office/drawing/2014/main" id="{5ACE162F-207B-4404-8ED3-13C502F6D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551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 dirty="0"/>
                <a:t>Office</a:t>
              </a:r>
            </a:p>
          </p:txBody>
        </p:sp>
        <p:sp>
          <p:nvSpPr>
            <p:cNvPr id="29723" name="AutoShape 6">
              <a:extLst>
                <a:ext uri="{FF2B5EF4-FFF2-40B4-BE49-F238E27FC236}">
                  <a16:creationId xmlns:a16="http://schemas.microsoft.com/office/drawing/2014/main" id="{A8814BE1-5DB5-44D5-872A-33083E8FF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03"/>
              <a:ext cx="912" cy="528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Is_assigned</a:t>
              </a:r>
              <a:endParaRPr lang="de-DE" altLang="en-US" b="1"/>
            </a:p>
          </p:txBody>
        </p:sp>
        <p:cxnSp>
          <p:nvCxnSpPr>
            <p:cNvPr id="29724" name="AutoShape 7">
              <a:extLst>
                <a:ext uri="{FF2B5EF4-FFF2-40B4-BE49-F238E27FC236}">
                  <a16:creationId xmlns:a16="http://schemas.microsoft.com/office/drawing/2014/main" id="{6CACAB56-B473-4CE3-898C-42D2F9635CA8}"/>
                </a:ext>
              </a:extLst>
            </p:cNvPr>
            <p:cNvCxnSpPr>
              <a:cxnSpLocks noChangeShapeType="1"/>
              <a:stCxn id="29721" idx="3"/>
              <a:endCxn id="29723" idx="1"/>
            </p:cNvCxnSpPr>
            <p:nvPr/>
          </p:nvCxnSpPr>
          <p:spPr bwMode="auto">
            <a:xfrm>
              <a:off x="1680" y="1767"/>
              <a:ext cx="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5" name="AutoShape 8">
              <a:extLst>
                <a:ext uri="{FF2B5EF4-FFF2-40B4-BE49-F238E27FC236}">
                  <a16:creationId xmlns:a16="http://schemas.microsoft.com/office/drawing/2014/main" id="{AAD0BA28-41DE-4AA4-B662-90FE88BFC2D5}"/>
                </a:ext>
              </a:extLst>
            </p:cNvPr>
            <p:cNvCxnSpPr>
              <a:cxnSpLocks noChangeShapeType="1"/>
              <a:stCxn id="29723" idx="3"/>
              <a:endCxn id="29722" idx="1"/>
            </p:cNvCxnSpPr>
            <p:nvPr/>
          </p:nvCxnSpPr>
          <p:spPr bwMode="auto">
            <a:xfrm>
              <a:off x="3120" y="1767"/>
              <a:ext cx="62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6" name="Text Box 9">
              <a:extLst>
                <a:ext uri="{FF2B5EF4-FFF2-40B4-BE49-F238E27FC236}">
                  <a16:creationId xmlns:a16="http://schemas.microsoft.com/office/drawing/2014/main" id="{9C45C872-3217-4AC5-A9BB-1B72E02E5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" y="2111"/>
              <a:ext cx="10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 dirty="0"/>
                <a:t>One-to-one 1:1</a:t>
              </a: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25E72CD9-EF9A-4287-838E-E76D2EAAC5C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505201"/>
            <a:ext cx="7391400" cy="1335088"/>
            <a:chOff x="384" y="2208"/>
            <a:chExt cx="4656" cy="841"/>
          </a:xfrm>
        </p:grpSpPr>
        <p:sp>
          <p:nvSpPr>
            <p:cNvPr id="29713" name="Rectangle 11">
              <a:extLst>
                <a:ext uri="{FF2B5EF4-FFF2-40B4-BE49-F238E27FC236}">
                  <a16:creationId xmlns:a16="http://schemas.microsoft.com/office/drawing/2014/main" id="{38063B6F-3F3C-4AE9-8C67-08BF53387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256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ACCOUNT</a:t>
              </a:r>
              <a:endParaRPr lang="de-DE" altLang="en-US" b="1"/>
            </a:p>
          </p:txBody>
        </p:sp>
        <p:sp>
          <p:nvSpPr>
            <p:cNvPr id="29714" name="Rectangle 12">
              <a:extLst>
                <a:ext uri="{FF2B5EF4-FFF2-40B4-BE49-F238E27FC236}">
                  <a16:creationId xmlns:a16="http://schemas.microsoft.com/office/drawing/2014/main" id="{EAE1A0B2-8CAB-4545-9E2D-B5DD43EF6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256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EXPENSE</a:t>
              </a:r>
            </a:p>
          </p:txBody>
        </p:sp>
        <p:sp>
          <p:nvSpPr>
            <p:cNvPr id="29715" name="AutoShape 13">
              <a:extLst>
                <a:ext uri="{FF2B5EF4-FFF2-40B4-BE49-F238E27FC236}">
                  <a16:creationId xmlns:a16="http://schemas.microsoft.com/office/drawing/2014/main" id="{9DED0300-4189-433C-892E-47CC4E490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08"/>
              <a:ext cx="912" cy="528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Has</a:t>
              </a:r>
              <a:endParaRPr lang="de-DE" altLang="en-US" b="1"/>
            </a:p>
          </p:txBody>
        </p:sp>
        <p:cxnSp>
          <p:nvCxnSpPr>
            <p:cNvPr id="29716" name="AutoShape 14">
              <a:extLst>
                <a:ext uri="{FF2B5EF4-FFF2-40B4-BE49-F238E27FC236}">
                  <a16:creationId xmlns:a16="http://schemas.microsoft.com/office/drawing/2014/main" id="{E5AAF642-A04A-4F9D-8CB3-CD39EB5C37E2}"/>
                </a:ext>
              </a:extLst>
            </p:cNvPr>
            <p:cNvCxnSpPr>
              <a:cxnSpLocks noChangeShapeType="1"/>
              <a:stCxn id="29713" idx="3"/>
              <a:endCxn id="29715" idx="1"/>
            </p:cNvCxnSpPr>
            <p:nvPr/>
          </p:nvCxnSpPr>
          <p:spPr bwMode="auto">
            <a:xfrm>
              <a:off x="1680" y="2472"/>
              <a:ext cx="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7" name="AutoShape 15">
              <a:extLst>
                <a:ext uri="{FF2B5EF4-FFF2-40B4-BE49-F238E27FC236}">
                  <a16:creationId xmlns:a16="http://schemas.microsoft.com/office/drawing/2014/main" id="{FBCDE180-BF6D-4356-AA05-6B8D94320ED7}"/>
                </a:ext>
              </a:extLst>
            </p:cNvPr>
            <p:cNvCxnSpPr>
              <a:cxnSpLocks noChangeShapeType="1"/>
              <a:stCxn id="29715" idx="3"/>
              <a:endCxn id="29714" idx="1"/>
            </p:cNvCxnSpPr>
            <p:nvPr/>
          </p:nvCxnSpPr>
          <p:spPr bwMode="auto">
            <a:xfrm>
              <a:off x="3120" y="2472"/>
              <a:ext cx="62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8" name="Text Box 16">
              <a:extLst>
                <a:ext uri="{FF2B5EF4-FFF2-40B4-BE49-F238E27FC236}">
                  <a16:creationId xmlns:a16="http://schemas.microsoft.com/office/drawing/2014/main" id="{D1D8479E-82CE-48F8-B616-383A7D381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" y="2816"/>
              <a:ext cx="12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 dirty="0"/>
                <a:t>One-to-many 1:M</a:t>
              </a:r>
            </a:p>
          </p:txBody>
        </p:sp>
        <p:sp>
          <p:nvSpPr>
            <p:cNvPr id="29719" name="Line 17">
              <a:extLst>
                <a:ext uri="{FF2B5EF4-FFF2-40B4-BE49-F238E27FC236}">
                  <a16:creationId xmlns:a16="http://schemas.microsoft.com/office/drawing/2014/main" id="{0DFDADEC-7AC7-43F3-BC32-8D7BC56AA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3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Line 18">
              <a:extLst>
                <a:ext uri="{FF2B5EF4-FFF2-40B4-BE49-F238E27FC236}">
                  <a16:creationId xmlns:a16="http://schemas.microsoft.com/office/drawing/2014/main" id="{1F5C6B71-22E9-417F-9772-D52197983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47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CDD5222A-2CB6-4B71-B24D-8A8A62EB214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295902"/>
            <a:ext cx="7391400" cy="1335088"/>
            <a:chOff x="384" y="3336"/>
            <a:chExt cx="4656" cy="841"/>
          </a:xfrm>
        </p:grpSpPr>
        <p:sp>
          <p:nvSpPr>
            <p:cNvPr id="29703" name="Rectangle 20">
              <a:extLst>
                <a:ext uri="{FF2B5EF4-FFF2-40B4-BE49-F238E27FC236}">
                  <a16:creationId xmlns:a16="http://schemas.microsoft.com/office/drawing/2014/main" id="{EFA4A55E-C8CB-45AD-8639-4091181AE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384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STUDENT</a:t>
              </a:r>
            </a:p>
          </p:txBody>
        </p:sp>
        <p:sp>
          <p:nvSpPr>
            <p:cNvPr id="29704" name="Rectangle 21">
              <a:extLst>
                <a:ext uri="{FF2B5EF4-FFF2-40B4-BE49-F238E27FC236}">
                  <a16:creationId xmlns:a16="http://schemas.microsoft.com/office/drawing/2014/main" id="{EE87EE67-199C-422A-AD8B-585DFD6C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84"/>
              <a:ext cx="1296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en-US" b="1"/>
                <a:t>COURSE</a:t>
              </a:r>
            </a:p>
          </p:txBody>
        </p:sp>
        <p:sp>
          <p:nvSpPr>
            <p:cNvPr id="29705" name="AutoShape 22">
              <a:extLst>
                <a:ext uri="{FF2B5EF4-FFF2-40B4-BE49-F238E27FC236}">
                  <a16:creationId xmlns:a16="http://schemas.microsoft.com/office/drawing/2014/main" id="{BEC516A6-252F-49D8-8B17-08EB2D873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336"/>
              <a:ext cx="912" cy="528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Enrolls_in</a:t>
              </a:r>
              <a:endParaRPr lang="de-DE" altLang="en-US" b="1"/>
            </a:p>
          </p:txBody>
        </p:sp>
        <p:cxnSp>
          <p:nvCxnSpPr>
            <p:cNvPr id="29706" name="AutoShape 23">
              <a:extLst>
                <a:ext uri="{FF2B5EF4-FFF2-40B4-BE49-F238E27FC236}">
                  <a16:creationId xmlns:a16="http://schemas.microsoft.com/office/drawing/2014/main" id="{B40F2C40-4755-4967-848A-D7FDD34CF4C9}"/>
                </a:ext>
              </a:extLst>
            </p:cNvPr>
            <p:cNvCxnSpPr>
              <a:cxnSpLocks noChangeShapeType="1"/>
              <a:stCxn id="29703" idx="3"/>
              <a:endCxn id="29705" idx="1"/>
            </p:cNvCxnSpPr>
            <p:nvPr/>
          </p:nvCxnSpPr>
          <p:spPr bwMode="auto">
            <a:xfrm>
              <a:off x="1680" y="3600"/>
              <a:ext cx="52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7" name="AutoShape 24">
              <a:extLst>
                <a:ext uri="{FF2B5EF4-FFF2-40B4-BE49-F238E27FC236}">
                  <a16:creationId xmlns:a16="http://schemas.microsoft.com/office/drawing/2014/main" id="{8C9CDAB9-7346-4B32-8F40-2D6AFD290FA9}"/>
                </a:ext>
              </a:extLst>
            </p:cNvPr>
            <p:cNvCxnSpPr>
              <a:cxnSpLocks noChangeShapeType="1"/>
              <a:stCxn id="29705" idx="3"/>
              <a:endCxn id="29704" idx="1"/>
            </p:cNvCxnSpPr>
            <p:nvPr/>
          </p:nvCxnSpPr>
          <p:spPr bwMode="auto">
            <a:xfrm>
              <a:off x="3120" y="3600"/>
              <a:ext cx="62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08" name="Text Box 25">
              <a:extLst>
                <a:ext uri="{FF2B5EF4-FFF2-40B4-BE49-F238E27FC236}">
                  <a16:creationId xmlns:a16="http://schemas.microsoft.com/office/drawing/2014/main" id="{85893948-83E0-4F28-9256-EF37BF0F2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3944"/>
              <a:ext cx="137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 dirty="0"/>
                <a:t>Many-to-many N:M</a:t>
              </a:r>
            </a:p>
          </p:txBody>
        </p:sp>
        <p:sp>
          <p:nvSpPr>
            <p:cNvPr id="29709" name="Line 26">
              <a:extLst>
                <a:ext uri="{FF2B5EF4-FFF2-40B4-BE49-F238E27FC236}">
                  <a16:creationId xmlns:a16="http://schemas.microsoft.com/office/drawing/2014/main" id="{E8BCEC49-25EE-41CD-8723-153831A6F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50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Line 27">
              <a:extLst>
                <a:ext uri="{FF2B5EF4-FFF2-40B4-BE49-F238E27FC236}">
                  <a16:creationId xmlns:a16="http://schemas.microsoft.com/office/drawing/2014/main" id="{5F8C2640-CE9F-4428-AC47-3679FD9C9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6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28">
              <a:extLst>
                <a:ext uri="{FF2B5EF4-FFF2-40B4-BE49-F238E27FC236}">
                  <a16:creationId xmlns:a16="http://schemas.microsoft.com/office/drawing/2014/main" id="{D1848AC9-3125-45E5-AA9C-A3D9EB275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0" y="350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Line 29">
              <a:extLst>
                <a:ext uri="{FF2B5EF4-FFF2-40B4-BE49-F238E27FC236}">
                  <a16:creationId xmlns:a16="http://schemas.microsoft.com/office/drawing/2014/main" id="{EB027A70-5A55-43AC-88B0-646D09FC3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36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30709"/>
            <a:ext cx="7385990" cy="282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Crow’s Foot Example:</a:t>
            </a:r>
            <a:br>
              <a:rPr lang="en-US" sz="4000" dirty="0"/>
            </a:br>
            <a:r>
              <a:rPr lang="en-US" sz="4000" dirty="0"/>
              <a:t>One-to-Many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5802868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16" y="1653165"/>
            <a:ext cx="4398709" cy="440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456143"/>
          </a:xfrm>
        </p:spPr>
        <p:txBody>
          <a:bodyPr>
            <a:normAutofit fontScale="90000"/>
          </a:bodyPr>
          <a:lstStyle/>
          <a:p>
            <a:r>
              <a:rPr lang="en-US" dirty="0"/>
              <a:t>Crow’s Foot Notation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1" y="5955268"/>
            <a:ext cx="2317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563" y="2679465"/>
            <a:ext cx="7374612" cy="2787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Crow’s Foot Example:</a:t>
            </a:r>
            <a:br>
              <a:rPr lang="en-US" sz="4000" dirty="0"/>
            </a:br>
            <a:r>
              <a:rPr lang="en-US" sz="4000" dirty="0"/>
              <a:t>Many-to-Many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57266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FDD1-F932-4A8A-98EE-76BC564A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2857500"/>
            <a:ext cx="7239000" cy="1143000"/>
          </a:xfrm>
        </p:spPr>
        <p:txBody>
          <a:bodyPr>
            <a:normAutofit fontScale="90000"/>
          </a:bodyPr>
          <a:lstStyle/>
          <a:p>
            <a:r>
              <a:rPr lang="en-ZA" altLang="en-US" dirty="0"/>
              <a:t>Entity-Relationship Diagram</a:t>
            </a:r>
            <a:br>
              <a:rPr lang="en-ZA" altLang="en-US" dirty="0"/>
            </a:br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500758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19E64-1895-4F71-AC49-A8EB6FC94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914400"/>
            <a:ext cx="8534400" cy="990600"/>
          </a:xfrm>
        </p:spPr>
        <p:txBody>
          <a:bodyPr/>
          <a:lstStyle/>
          <a:p>
            <a:r>
              <a:rPr lang="en-US" altLang="en-US" sz="2000" dirty="0"/>
              <a:t>Entity with a multi-valued attribute (Skill) and derived attribute (</a:t>
            </a:r>
            <a:r>
              <a:rPr lang="en-US" altLang="en-US" sz="2000" dirty="0" err="1"/>
              <a:t>Years_Employed</a:t>
            </a:r>
            <a:r>
              <a:rPr lang="en-US" altLang="en-US" sz="2000" dirty="0"/>
              <a:t>)</a:t>
            </a:r>
          </a:p>
          <a:p>
            <a:endParaRPr lang="en-US" dirty="0"/>
          </a:p>
        </p:txBody>
      </p:sp>
      <p:pic>
        <p:nvPicPr>
          <p:cNvPr id="7" name="Picture 3" descr="C:\WINDOWS\Desktop\new_mcf_figs\mcf_3.08.pct">
            <a:extLst>
              <a:ext uri="{FF2B5EF4-FFF2-40B4-BE49-F238E27FC236}">
                <a16:creationId xmlns:a16="http://schemas.microsoft.com/office/drawing/2014/main" id="{E5DEEF27-931C-47EC-8AAD-6F1FC7237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06" y="1539151"/>
            <a:ext cx="8229600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4">
            <a:extLst>
              <a:ext uri="{FF2B5EF4-FFF2-40B4-BE49-F238E27FC236}">
                <a16:creationId xmlns:a16="http://schemas.microsoft.com/office/drawing/2014/main" id="{CBF869F7-8F02-4F86-BEA6-53B495AC4C93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257678"/>
            <a:ext cx="3556000" cy="1828801"/>
            <a:chOff x="56" y="3114"/>
            <a:chExt cx="2240" cy="1152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8480167F-48EE-4187-B827-07AFF7358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" y="3805"/>
              <a:ext cx="2240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 dirty="0">
                  <a:solidFill>
                    <a:srgbClr val="FF0000"/>
                  </a:solidFill>
                </a:rPr>
                <a:t>Derived </a:t>
              </a:r>
            </a:p>
            <a:p>
              <a:r>
                <a:rPr lang="en-US" altLang="en-US" dirty="0">
                  <a:solidFill>
                    <a:srgbClr val="FF0000"/>
                  </a:solidFill>
                </a:rPr>
                <a:t>from date employed and current date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1B35BD5C-48B9-4D2B-9446-850C7A1540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7" y="3114"/>
              <a:ext cx="144" cy="70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55709CF0-DA05-48B6-9998-4A198005CDCB}"/>
              </a:ext>
            </a:extLst>
          </p:cNvPr>
          <p:cNvGrpSpPr>
            <a:grpSpLocks/>
          </p:cNvGrpSpPr>
          <p:nvPr/>
        </p:nvGrpSpPr>
        <p:grpSpPr bwMode="auto">
          <a:xfrm>
            <a:off x="4659805" y="2179638"/>
            <a:ext cx="5092700" cy="1143000"/>
            <a:chOff x="2064" y="816"/>
            <a:chExt cx="3208" cy="720"/>
          </a:xfrm>
        </p:grpSpPr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F100FD6D-FA11-4F6A-90D3-FFB4B9544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816"/>
              <a:ext cx="2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 dirty="0">
                  <a:solidFill>
                    <a:srgbClr val="FF0000"/>
                  </a:solidFill>
                </a:rPr>
                <a:t>What’s wrong with this?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1346B2CB-404F-4BEC-BA6B-3418E6964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960"/>
              <a:ext cx="1200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Line 10">
            <a:extLst>
              <a:ext uri="{FF2B5EF4-FFF2-40B4-BE49-F238E27FC236}">
                <a16:creationId xmlns:a16="http://schemas.microsoft.com/office/drawing/2014/main" id="{4D28B1CC-FFD1-4410-9230-0D84579B2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5405" y="3678621"/>
            <a:ext cx="914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id="{F2C69E1F-87AE-47EB-9873-D2448904DCF8}"/>
              </a:ext>
            </a:extLst>
          </p:cNvPr>
          <p:cNvGrpSpPr>
            <a:grpSpLocks/>
          </p:cNvGrpSpPr>
          <p:nvPr/>
        </p:nvGrpSpPr>
        <p:grpSpPr bwMode="auto">
          <a:xfrm>
            <a:off x="7150101" y="4221226"/>
            <a:ext cx="2519363" cy="1968587"/>
            <a:chOff x="184" y="3093"/>
            <a:chExt cx="1587" cy="1709"/>
          </a:xfrm>
        </p:grpSpPr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0C947706-6695-4DBF-B29D-28FD546A2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" y="3867"/>
              <a:ext cx="1587" cy="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 dirty="0">
                  <a:solidFill>
                    <a:srgbClr val="FF0000"/>
                  </a:solidFill>
                </a:rPr>
                <a:t>Multivalued:</a:t>
              </a:r>
              <a:r>
                <a:rPr lang="en-US" altLang="en-US" sz="2000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altLang="en-US" sz="2000" dirty="0">
                  <a:solidFill>
                    <a:srgbClr val="FF0000"/>
                  </a:solidFill>
                </a:rPr>
                <a:t>an employee can have </a:t>
              </a:r>
            </a:p>
            <a:p>
              <a:r>
                <a:rPr lang="en-US" altLang="en-US" sz="2000" dirty="0">
                  <a:solidFill>
                    <a:srgbClr val="FF0000"/>
                  </a:solidFill>
                </a:rPr>
                <a:t>more than one skill</a:t>
              </a: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BECFC2BE-84C3-47F9-A933-380054D93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5" y="3093"/>
              <a:ext cx="144" cy="81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981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A8C69-395D-4F9F-8CBC-C6FC77C8A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900" y="504934"/>
            <a:ext cx="7239000" cy="8382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Cardinality – Diagramming Convention</a:t>
            </a:r>
          </a:p>
          <a:p>
            <a:endParaRPr lang="en-US" dirty="0"/>
          </a:p>
        </p:txBody>
      </p:sp>
      <p:pic>
        <p:nvPicPr>
          <p:cNvPr id="6" name="Picture 3" descr="C:\WINDOWS\Desktop\part_c.pct">
            <a:extLst>
              <a:ext uri="{FF2B5EF4-FFF2-40B4-BE49-F238E27FC236}">
                <a16:creationId xmlns:a16="http://schemas.microsoft.com/office/drawing/2014/main" id="{F32219ED-9027-4AEC-AEE2-5E28547C7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00200"/>
            <a:ext cx="74676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409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4A02-CBE1-4321-98D6-88A6A0C5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762000"/>
            <a:ext cx="7239000" cy="4648200"/>
          </a:xfrm>
        </p:spPr>
        <p:txBody>
          <a:bodyPr/>
          <a:lstStyle/>
          <a:p>
            <a:r>
              <a:rPr lang="en-US" altLang="en-US" dirty="0"/>
              <a:t>Ternary relationships</a:t>
            </a:r>
          </a:p>
          <a:p>
            <a:endParaRPr lang="en-US" dirty="0"/>
          </a:p>
        </p:txBody>
      </p:sp>
      <p:pic>
        <p:nvPicPr>
          <p:cNvPr id="6" name="Picture 3" descr="C:\WINDOWS\Desktop\new_mcf_figs\mcf_3.12c.pct">
            <a:extLst>
              <a:ext uri="{FF2B5EF4-FFF2-40B4-BE49-F238E27FC236}">
                <a16:creationId xmlns:a16="http://schemas.microsoft.com/office/drawing/2014/main" id="{DDCE04F5-0BC7-471B-8C4B-CD6CA25C6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2" r="13322"/>
          <a:stretch>
            <a:fillRect/>
          </a:stretch>
        </p:blipFill>
        <p:spPr bwMode="auto">
          <a:xfrm>
            <a:off x="2224088" y="1252539"/>
            <a:ext cx="73152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E4A2F8B7-A133-4683-8756-418C1F672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6018213"/>
            <a:ext cx="665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Note: a relationship can have attributes of its own</a:t>
            </a:r>
          </a:p>
        </p:txBody>
      </p:sp>
    </p:spTree>
    <p:extLst>
      <p:ext uri="{BB962C8B-B14F-4D97-AF65-F5344CB8AC3E}">
        <p14:creationId xmlns:p14="http://schemas.microsoft.com/office/powerpoint/2010/main" val="199741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DA84-7B92-420E-8292-74D245E3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B5509-96AA-4889-BE78-83BF3D13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Kroenke, D. M. &amp; Auer, D. (2018). Database concepts (7th ed.), Pearson</a:t>
            </a:r>
            <a:endParaRPr lang="en-US" dirty="0"/>
          </a:p>
          <a:p>
            <a:r>
              <a:rPr lang="en-GB" dirty="0"/>
              <a:t>Kroenke, D. M. &amp; Auer, D. (2018). Database concepts (9th ed.), Pearson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4689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6E4B-66B4-4F16-9B55-6FD0C7A8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835E5-4345-41D3-ABBD-C4BF81AC3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next lecture, we will discuss normalization and functional dependency </a:t>
            </a:r>
          </a:p>
          <a:p>
            <a:r>
              <a:rPr lang="en-US" dirty="0"/>
              <a:t>Draw ERDs using different notations (practical classes)</a:t>
            </a:r>
          </a:p>
          <a:p>
            <a:r>
              <a:rPr lang="en-US" dirty="0"/>
              <a:t>Explore tools that we can use to draw the ERDs.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74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</TotalTime>
  <Words>1088</Words>
  <Application>Microsoft Office PowerPoint</Application>
  <PresentationFormat>Widescreen</PresentationFormat>
  <Paragraphs>173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Inter</vt:lpstr>
      <vt:lpstr>RopaSoftPro-Regular</vt:lpstr>
      <vt:lpstr>Tw Cen MT</vt:lpstr>
      <vt:lpstr>Office 2013 - 2022 Theme</vt:lpstr>
      <vt:lpstr>PowerPoint Presentation</vt:lpstr>
      <vt:lpstr>Recap </vt:lpstr>
      <vt:lpstr>Database Development lifecycle</vt:lpstr>
      <vt:lpstr>Database development process </vt:lpstr>
      <vt:lpstr>  Relationships  -Degree of Relationship</vt:lpstr>
      <vt:lpstr>  Multiple  Relationships</vt:lpstr>
      <vt:lpstr>Relationships –Cardinality of a Relationship</vt:lpstr>
      <vt:lpstr>Objectives </vt:lpstr>
      <vt:lpstr>Constraints </vt:lpstr>
      <vt:lpstr>Entity Relationship Model</vt:lpstr>
      <vt:lpstr> E-R Data Model</vt:lpstr>
      <vt:lpstr>Entity-Relationship Diagrams</vt:lpstr>
      <vt:lpstr>Tips on ERDs</vt:lpstr>
      <vt:lpstr>Notations for   Entity-Relationship Diagrams</vt:lpstr>
      <vt:lpstr>Chen’s Notation</vt:lpstr>
      <vt:lpstr>Attributes </vt:lpstr>
      <vt:lpstr>Relationship</vt:lpstr>
      <vt:lpstr>Relationships</vt:lpstr>
      <vt:lpstr>Cardinality</vt:lpstr>
      <vt:lpstr>   Relationships  -Degree of               Relationship (Binary examples)</vt:lpstr>
      <vt:lpstr>Crow’s Foot Example: One-to-Many Relationship</vt:lpstr>
      <vt:lpstr>Crow’s Foot Notation </vt:lpstr>
      <vt:lpstr>Crow’s Foot Example: Many-to-Many Relationship</vt:lpstr>
      <vt:lpstr>Entity-Relationship Diagram Examples</vt:lpstr>
      <vt:lpstr>PowerPoint Presentation</vt:lpstr>
      <vt:lpstr>PowerPoint Presentation</vt:lpstr>
      <vt:lpstr>PowerPoint Presentation</vt:lpstr>
      <vt:lpstr>References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</dc:title>
  <dc:creator>Chikohora, Teressa (INT)</dc:creator>
  <cp:lastModifiedBy>Chivuno-Kuria, Shilumbe</cp:lastModifiedBy>
  <cp:revision>12</cp:revision>
  <dcterms:created xsi:type="dcterms:W3CDTF">2021-04-11T14:45:42Z</dcterms:created>
  <dcterms:modified xsi:type="dcterms:W3CDTF">2025-03-07T06:50:55Z</dcterms:modified>
</cp:coreProperties>
</file>