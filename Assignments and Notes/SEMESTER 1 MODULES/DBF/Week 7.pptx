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7"/>
  </p:notesMasterIdLst>
  <p:sldIdLst>
    <p:sldId id="309" r:id="rId2"/>
    <p:sldId id="259" r:id="rId3"/>
    <p:sldId id="260" r:id="rId4"/>
    <p:sldId id="258" r:id="rId5"/>
    <p:sldId id="264" r:id="rId6"/>
    <p:sldId id="263" r:id="rId7"/>
    <p:sldId id="266" r:id="rId8"/>
    <p:sldId id="267" r:id="rId9"/>
    <p:sldId id="265" r:id="rId10"/>
    <p:sldId id="262" r:id="rId11"/>
    <p:sldId id="280" r:id="rId12"/>
    <p:sldId id="268" r:id="rId13"/>
    <p:sldId id="269" r:id="rId14"/>
    <p:sldId id="272" r:id="rId15"/>
    <p:sldId id="273" r:id="rId16"/>
    <p:sldId id="276" r:id="rId17"/>
    <p:sldId id="275" r:id="rId18"/>
    <p:sldId id="277" r:id="rId19"/>
    <p:sldId id="270" r:id="rId20"/>
    <p:sldId id="271" r:id="rId21"/>
    <p:sldId id="283" r:id="rId22"/>
    <p:sldId id="285" r:id="rId23"/>
    <p:sldId id="282" r:id="rId24"/>
    <p:sldId id="284" r:id="rId25"/>
    <p:sldId id="28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91A82-115B-47B3-B2C9-0F555DCFE5E8}" v="1" dt="2025-04-13T17:10:37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2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vuno-Kuria, Shilumbe" userId="971a9ce4-f8fe-45be-a1b9-784e76a04f28" providerId="ADAL" clId="{6BF91A82-115B-47B3-B2C9-0F555DCFE5E8}"/>
    <pc:docChg chg="modSld">
      <pc:chgData name="Chivuno-Kuria, Shilumbe" userId="971a9ce4-f8fe-45be-a1b9-784e76a04f28" providerId="ADAL" clId="{6BF91A82-115B-47B3-B2C9-0F555DCFE5E8}" dt="2025-04-13T17:13:39.112" v="20" actId="403"/>
      <pc:docMkLst>
        <pc:docMk/>
      </pc:docMkLst>
      <pc:sldChg chg="modSp mod">
        <pc:chgData name="Chivuno-Kuria, Shilumbe" userId="971a9ce4-f8fe-45be-a1b9-784e76a04f28" providerId="ADAL" clId="{6BF91A82-115B-47B3-B2C9-0F555DCFE5E8}" dt="2025-04-13T17:11:34.022" v="8" actId="403"/>
        <pc:sldMkLst>
          <pc:docMk/>
          <pc:sldMk cId="2993170393" sldId="262"/>
        </pc:sldMkLst>
        <pc:spChg chg="mod">
          <ac:chgData name="Chivuno-Kuria, Shilumbe" userId="971a9ce4-f8fe-45be-a1b9-784e76a04f28" providerId="ADAL" clId="{6BF91A82-115B-47B3-B2C9-0F555DCFE5E8}" dt="2025-04-13T17:11:34.022" v="8" actId="403"/>
          <ac:spMkLst>
            <pc:docMk/>
            <pc:sldMk cId="2993170393" sldId="262"/>
            <ac:spMk id="3" creationId="{C98CC3BD-71DA-4D7B-AEA7-36289B33C4C3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1:21.562" v="7" actId="20577"/>
        <pc:sldMkLst>
          <pc:docMk/>
          <pc:sldMk cId="1661642539" sldId="265"/>
        </pc:sldMkLst>
        <pc:spChg chg="mod">
          <ac:chgData name="Chivuno-Kuria, Shilumbe" userId="971a9ce4-f8fe-45be-a1b9-784e76a04f28" providerId="ADAL" clId="{6BF91A82-115B-47B3-B2C9-0F555DCFE5E8}" dt="2025-04-13T17:11:21.562" v="7" actId="20577"/>
          <ac:spMkLst>
            <pc:docMk/>
            <pc:sldMk cId="1661642539" sldId="265"/>
            <ac:spMk id="3" creationId="{74DBBFE0-3F2B-42BC-B9B9-8AC8FF5B1443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1:49.866" v="10" actId="403"/>
        <pc:sldMkLst>
          <pc:docMk/>
          <pc:sldMk cId="213161625" sldId="267"/>
        </pc:sldMkLst>
        <pc:spChg chg="mod">
          <ac:chgData name="Chivuno-Kuria, Shilumbe" userId="971a9ce4-f8fe-45be-a1b9-784e76a04f28" providerId="ADAL" clId="{6BF91A82-115B-47B3-B2C9-0F555DCFE5E8}" dt="2025-04-13T17:11:49.866" v="10" actId="403"/>
          <ac:spMkLst>
            <pc:docMk/>
            <pc:sldMk cId="213161625" sldId="267"/>
            <ac:spMk id="3" creationId="{6B336920-6AA7-4870-B467-BDF5BD8A244B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3:01.752" v="16" actId="403"/>
        <pc:sldMkLst>
          <pc:docMk/>
          <pc:sldMk cId="2333630070" sldId="270"/>
        </pc:sldMkLst>
        <pc:spChg chg="mod">
          <ac:chgData name="Chivuno-Kuria, Shilumbe" userId="971a9ce4-f8fe-45be-a1b9-784e76a04f28" providerId="ADAL" clId="{6BF91A82-115B-47B3-B2C9-0F555DCFE5E8}" dt="2025-04-13T17:13:01.752" v="16" actId="403"/>
          <ac:spMkLst>
            <pc:docMk/>
            <pc:sldMk cId="2333630070" sldId="270"/>
            <ac:spMk id="3" creationId="{55011799-3D02-4464-B816-96E87C147E3B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3:09.364" v="17" actId="403"/>
        <pc:sldMkLst>
          <pc:docMk/>
          <pc:sldMk cId="1716597991" sldId="271"/>
        </pc:sldMkLst>
        <pc:spChg chg="mod">
          <ac:chgData name="Chivuno-Kuria, Shilumbe" userId="971a9ce4-f8fe-45be-a1b9-784e76a04f28" providerId="ADAL" clId="{6BF91A82-115B-47B3-B2C9-0F555DCFE5E8}" dt="2025-04-13T17:13:09.364" v="17" actId="403"/>
          <ac:spMkLst>
            <pc:docMk/>
            <pc:sldMk cId="1716597991" sldId="271"/>
            <ac:spMk id="3" creationId="{F7B303C5-178F-479B-9BB2-336156079288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2:09.933" v="11" actId="403"/>
        <pc:sldMkLst>
          <pc:docMk/>
          <pc:sldMk cId="2338523487" sldId="272"/>
        </pc:sldMkLst>
        <pc:spChg chg="mod">
          <ac:chgData name="Chivuno-Kuria, Shilumbe" userId="971a9ce4-f8fe-45be-a1b9-784e76a04f28" providerId="ADAL" clId="{6BF91A82-115B-47B3-B2C9-0F555DCFE5E8}" dt="2025-04-13T17:12:09.933" v="11" actId="403"/>
          <ac:spMkLst>
            <pc:docMk/>
            <pc:sldMk cId="2338523487" sldId="272"/>
            <ac:spMk id="3" creationId="{03FE7EAE-1C99-4AD2-8DCC-FDD6B4A097D2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2:18.323" v="12" actId="403"/>
        <pc:sldMkLst>
          <pc:docMk/>
          <pc:sldMk cId="382293923" sldId="273"/>
        </pc:sldMkLst>
        <pc:spChg chg="mod">
          <ac:chgData name="Chivuno-Kuria, Shilumbe" userId="971a9ce4-f8fe-45be-a1b9-784e76a04f28" providerId="ADAL" clId="{6BF91A82-115B-47B3-B2C9-0F555DCFE5E8}" dt="2025-04-13T17:12:18.323" v="12" actId="403"/>
          <ac:spMkLst>
            <pc:docMk/>
            <pc:sldMk cId="382293923" sldId="273"/>
            <ac:spMk id="3" creationId="{6FBF26BA-8B32-4504-8DD9-2E0E339FCECD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2:48.883" v="14" actId="403"/>
        <pc:sldMkLst>
          <pc:docMk/>
          <pc:sldMk cId="3784812734" sldId="275"/>
        </pc:sldMkLst>
        <pc:spChg chg="mod">
          <ac:chgData name="Chivuno-Kuria, Shilumbe" userId="971a9ce4-f8fe-45be-a1b9-784e76a04f28" providerId="ADAL" clId="{6BF91A82-115B-47B3-B2C9-0F555DCFE5E8}" dt="2025-04-13T17:12:48.883" v="14" actId="403"/>
          <ac:spMkLst>
            <pc:docMk/>
            <pc:sldMk cId="3784812734" sldId="275"/>
            <ac:spMk id="3" creationId="{E62E2C0F-27E8-4003-8E30-712D782357A2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2:26.575" v="13" actId="403"/>
        <pc:sldMkLst>
          <pc:docMk/>
          <pc:sldMk cId="2166496079" sldId="276"/>
        </pc:sldMkLst>
        <pc:spChg chg="mod">
          <ac:chgData name="Chivuno-Kuria, Shilumbe" userId="971a9ce4-f8fe-45be-a1b9-784e76a04f28" providerId="ADAL" clId="{6BF91A82-115B-47B3-B2C9-0F555DCFE5E8}" dt="2025-04-13T17:12:26.575" v="13" actId="403"/>
          <ac:spMkLst>
            <pc:docMk/>
            <pc:sldMk cId="2166496079" sldId="276"/>
            <ac:spMk id="3" creationId="{965F4A53-6485-42C2-BA01-DB9BF8069F20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2:54.928" v="15" actId="403"/>
        <pc:sldMkLst>
          <pc:docMk/>
          <pc:sldMk cId="1998860571" sldId="277"/>
        </pc:sldMkLst>
        <pc:spChg chg="mod">
          <ac:chgData name="Chivuno-Kuria, Shilumbe" userId="971a9ce4-f8fe-45be-a1b9-784e76a04f28" providerId="ADAL" clId="{6BF91A82-115B-47B3-B2C9-0F555DCFE5E8}" dt="2025-04-13T17:12:54.928" v="15" actId="403"/>
          <ac:spMkLst>
            <pc:docMk/>
            <pc:sldMk cId="1998860571" sldId="277"/>
            <ac:spMk id="3" creationId="{FF697632-8885-49B9-B52E-5AEF33AAA914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1:41.735" v="9" actId="403"/>
        <pc:sldMkLst>
          <pc:docMk/>
          <pc:sldMk cId="1599722219" sldId="280"/>
        </pc:sldMkLst>
        <pc:spChg chg="mod">
          <ac:chgData name="Chivuno-Kuria, Shilumbe" userId="971a9ce4-f8fe-45be-a1b9-784e76a04f28" providerId="ADAL" clId="{6BF91A82-115B-47B3-B2C9-0F555DCFE5E8}" dt="2025-04-13T17:11:41.735" v="9" actId="403"/>
          <ac:spMkLst>
            <pc:docMk/>
            <pc:sldMk cId="1599722219" sldId="280"/>
            <ac:spMk id="3" creationId="{8C4F1597-E6B1-4803-B799-CD6E1F1F89CA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3:24.326" v="19" actId="403"/>
        <pc:sldMkLst>
          <pc:docMk/>
          <pc:sldMk cId="654593685" sldId="282"/>
        </pc:sldMkLst>
        <pc:spChg chg="mod">
          <ac:chgData name="Chivuno-Kuria, Shilumbe" userId="971a9ce4-f8fe-45be-a1b9-784e76a04f28" providerId="ADAL" clId="{6BF91A82-115B-47B3-B2C9-0F555DCFE5E8}" dt="2025-04-13T17:13:24.326" v="19" actId="403"/>
          <ac:spMkLst>
            <pc:docMk/>
            <pc:sldMk cId="654593685" sldId="282"/>
            <ac:spMk id="3" creationId="{67FD0442-8492-4109-9545-8A359A1475C9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3:39.112" v="20" actId="403"/>
        <pc:sldMkLst>
          <pc:docMk/>
          <pc:sldMk cId="4108360375" sldId="284"/>
        </pc:sldMkLst>
        <pc:spChg chg="mod">
          <ac:chgData name="Chivuno-Kuria, Shilumbe" userId="971a9ce4-f8fe-45be-a1b9-784e76a04f28" providerId="ADAL" clId="{6BF91A82-115B-47B3-B2C9-0F555DCFE5E8}" dt="2025-04-13T17:13:39.112" v="20" actId="403"/>
          <ac:spMkLst>
            <pc:docMk/>
            <pc:sldMk cId="4108360375" sldId="284"/>
            <ac:spMk id="3" creationId="{236F8865-DFC7-4696-A6E7-49045501791B}"/>
          </ac:spMkLst>
        </pc:spChg>
      </pc:sldChg>
      <pc:sldChg chg="modSp mod">
        <pc:chgData name="Chivuno-Kuria, Shilumbe" userId="971a9ce4-f8fe-45be-a1b9-784e76a04f28" providerId="ADAL" clId="{6BF91A82-115B-47B3-B2C9-0F555DCFE5E8}" dt="2025-04-13T17:13:17.378" v="18" actId="403"/>
        <pc:sldMkLst>
          <pc:docMk/>
          <pc:sldMk cId="422961077" sldId="285"/>
        </pc:sldMkLst>
        <pc:spChg chg="mod">
          <ac:chgData name="Chivuno-Kuria, Shilumbe" userId="971a9ce4-f8fe-45be-a1b9-784e76a04f28" providerId="ADAL" clId="{6BF91A82-115B-47B3-B2C9-0F555DCFE5E8}" dt="2025-04-13T17:13:17.378" v="18" actId="403"/>
          <ac:spMkLst>
            <pc:docMk/>
            <pc:sldMk cId="422961077" sldId="285"/>
            <ac:spMk id="3" creationId="{70663EBD-922B-4632-B6C5-4F3C7A3AC5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D8F2D-66D5-43DD-B59A-4AFD2AAE769B}" type="datetimeFigureOut">
              <a:rPr lang="en-NA" smtClean="0"/>
              <a:t>13/04/2025</a:t>
            </a:fld>
            <a:endParaRPr lang="en-N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23B44-6EEC-4EF9-A62B-740FB40B08EF}" type="slidenum">
              <a:rPr lang="en-NA" smtClean="0"/>
              <a:t>‹#›</a:t>
            </a:fld>
            <a:endParaRPr lang="en-NA"/>
          </a:p>
        </p:txBody>
      </p:sp>
    </p:spTree>
    <p:extLst>
      <p:ext uri="{BB962C8B-B14F-4D97-AF65-F5344CB8AC3E}">
        <p14:creationId xmlns:p14="http://schemas.microsoft.com/office/powerpoint/2010/main" val="417249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C35AD5-F434-4B94-B32D-DD7AF82CF598}" type="datetime1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6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1063-C6CA-4A3B-9DE5-0BBAAB13900A}" type="datetime1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39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53611-A19D-496F-B402-D49499E6DDEC}" type="datetime1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32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040A-B596-46FB-AFFD-82DE2E66FD6B}" type="datetime1">
              <a:rPr lang="en-GB" smtClean="0"/>
              <a:t>13/04/2025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20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EC933-4C0D-42E8-8CF3-FCFF00C027C3}" type="datetime1">
              <a:rPr lang="en-GB" smtClean="0"/>
              <a:t>13/04/2025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637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1E1E-68F5-48DC-B4CD-4D29C28025AA}" type="datetime1">
              <a:rPr lang="en-GB" smtClean="0"/>
              <a:t>13/04/2025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1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61135-5B99-41E2-BA1A-DA55E299940E}" type="datetime1">
              <a:rPr lang="en-GB" smtClean="0"/>
              <a:t>13/04/2025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5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755-35C7-4F6F-B989-2A81A1605563}" type="datetime1">
              <a:rPr lang="en-GB" smtClean="0"/>
              <a:t>13/04/2025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06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A637-A1FB-43E0-ABFC-4E761554F213}" type="datetime1">
              <a:rPr lang="en-GB" smtClean="0"/>
              <a:t>13/04/2025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71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E4E3-DE0E-4FBA-85AC-E78BBE7BF29B}" type="datetime1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842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B2FB-56FB-4D8D-88CD-8E5F2FAB4781}" type="datetime1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455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1" y="0"/>
            <a:ext cx="12192000" cy="34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8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B28E840-A897-4164-BAD4-48C1AFFBDEF6}" type="datetime1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DE702D0-1A70-479D-8A2F-5129AF14229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24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sql-tutori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SC_0063 (2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15370" b="39874"/>
          <a:stretch/>
        </p:blipFill>
        <p:spPr>
          <a:xfrm>
            <a:off x="1578617" y="3434615"/>
            <a:ext cx="9132489" cy="3423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1561" y="1716573"/>
            <a:ext cx="8319734" cy="13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Week </a:t>
            </a:r>
            <a:r>
              <a:rPr lang="en-GB" sz="2694" dirty="0">
                <a:solidFill>
                  <a:srgbClr val="FFFFFF"/>
                </a:solidFill>
                <a:latin typeface="Tw Cen MT" panose="020B0602020104020603"/>
              </a:rPr>
              <a:t>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Introduction to SQL and Data Definition Language(DDL)</a:t>
            </a:r>
            <a:endParaRPr kumimoji="0" lang="en-US" sz="32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Database </a:t>
            </a:r>
            <a:r>
              <a:rPr lang="en-ZA" sz="2694" dirty="0">
                <a:solidFill>
                  <a:srgbClr val="FFFFFF"/>
                </a:solidFill>
                <a:latin typeface="Tw Cen MT" panose="020B0602020104020603"/>
              </a:rPr>
              <a:t>Implementation</a:t>
            </a:r>
            <a:endParaRPr kumimoji="0" lang="en-ZA" sz="269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65098" y="1242919"/>
            <a:ext cx="7193040" cy="36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paSoftPro-Regular"/>
                <a:ea typeface="+mn-ea"/>
                <a:cs typeface="+mn-cs"/>
              </a:rPr>
              <a:t>Faculty of Computing and Informatics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736" y="3857374"/>
            <a:ext cx="2144373" cy="26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7903-2B9C-453B-A65A-00B3CD84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5788-B82F-4CBF-B77C-D5822BEB6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previous lecture we discussed:</a:t>
            </a:r>
          </a:p>
          <a:p>
            <a:r>
              <a:rPr lang="en-US" dirty="0"/>
              <a:t>business rules and constraints</a:t>
            </a:r>
          </a:p>
          <a:p>
            <a:r>
              <a:rPr lang="en-US" dirty="0"/>
              <a:t>various constraints in relational databases</a:t>
            </a:r>
          </a:p>
          <a:p>
            <a:r>
              <a:rPr lang="en-US" dirty="0"/>
              <a:t>How to map a logical data model to a physical data model</a:t>
            </a:r>
          </a:p>
          <a:p>
            <a:r>
              <a:rPr lang="en-US" dirty="0"/>
              <a:t>Presentation of a physical schema for implementation</a:t>
            </a:r>
          </a:p>
          <a:p>
            <a:r>
              <a:rPr lang="en-US" dirty="0" err="1"/>
              <a:t>Normalisation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A77CD-68F3-74C2-7F8A-53443A58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11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7A0C-3E89-438C-9F45-9D9938294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1D87B3-C7ED-4234-9258-509B14BF7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816" y="2557463"/>
            <a:ext cx="8088759" cy="331787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A6B13A-7945-372D-C2CB-270A9D94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46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A62B3-5010-4051-B2B2-AB0A6082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33509-76F5-450D-B4D9-CB2F18B5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lesson, students should be able to :</a:t>
            </a:r>
          </a:p>
          <a:p>
            <a:r>
              <a:rPr lang="en-US" dirty="0"/>
              <a:t>Describe SQL </a:t>
            </a:r>
          </a:p>
          <a:p>
            <a:r>
              <a:rPr lang="en-US" dirty="0" err="1"/>
              <a:t>Categorise</a:t>
            </a:r>
            <a:r>
              <a:rPr lang="en-US" dirty="0"/>
              <a:t> SQL commands</a:t>
            </a:r>
          </a:p>
          <a:p>
            <a:r>
              <a:rPr lang="en-US" dirty="0"/>
              <a:t>Define database structures 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8673D-B28E-EDE4-5CE0-85048FE1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78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0580-EB8F-4BCD-92FD-4E15C71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923C3-9034-4770-A8A2-A0685AFDF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 used to perform operations on the records stored in the database such as updating records, deleting records, creating and modifying tables, views, etc.</a:t>
            </a:r>
          </a:p>
          <a:p>
            <a:r>
              <a:rPr lang="en-US" dirty="0"/>
              <a:t>SQL is a database language, it is used for database creation, deletion, fetching rows, and modifying rows,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It is pronounced as S-Q-L</a:t>
            </a:r>
          </a:p>
          <a:p>
            <a:r>
              <a:rPr lang="en-US" dirty="0"/>
              <a:t>SQL is just a query language; it is not a database.</a:t>
            </a:r>
          </a:p>
          <a:p>
            <a:r>
              <a:rPr lang="en-US" dirty="0"/>
              <a:t>SQL is not a programming language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72A1F-6482-4FD5-3B90-59C0EF53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451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72FD-B67B-425E-8087-CACC5ECE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513A1-40A1-4B99-AEB6-FD798DE9D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Data Definition Language- DDL</a:t>
            </a:r>
          </a:p>
          <a:p>
            <a:r>
              <a:rPr lang="en-US" altLang="en-US" sz="2600" dirty="0"/>
              <a:t>Data Manipulation Language - DML</a:t>
            </a:r>
          </a:p>
          <a:p>
            <a:r>
              <a:rPr lang="en-US" altLang="en-US" sz="2600" dirty="0"/>
              <a:t>Data Query Language- DQL </a:t>
            </a:r>
          </a:p>
          <a:p>
            <a:r>
              <a:rPr lang="en-US" altLang="en-US" sz="2600" dirty="0"/>
              <a:t>Data Control Language - DCL  </a:t>
            </a:r>
          </a:p>
          <a:p>
            <a:r>
              <a:rPr lang="en-US" altLang="en-US" sz="2600" dirty="0">
                <a:solidFill>
                  <a:schemeClr val="tx1"/>
                </a:solidFill>
              </a:rPr>
              <a:t>Data administration commands</a:t>
            </a:r>
          </a:p>
          <a:p>
            <a:r>
              <a:rPr lang="en-US" altLang="en-US" sz="2600" dirty="0">
                <a:solidFill>
                  <a:schemeClr val="tx1"/>
                </a:solidFill>
              </a:rPr>
              <a:t>Transaction control commands</a:t>
            </a:r>
          </a:p>
          <a:p>
            <a:r>
              <a:rPr lang="en-US" altLang="en-US" sz="2600" dirty="0">
                <a:solidFill>
                  <a:schemeClr val="tx1"/>
                </a:solidFill>
              </a:rPr>
              <a:t>Concurrency controls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99E1F-0028-A63D-4C06-E65A312DB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37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F387-77B7-4B12-8812-16D3CDB55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1F85D-44BA-47A9-8D06-26EC42AA0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SQL follows some unique set of rules and guidelines called syntax. </a:t>
            </a:r>
          </a:p>
          <a:p>
            <a:r>
              <a:rPr lang="en-US" sz="2600" dirty="0"/>
              <a:t>SQL is not case sensitive. Generally, SQL keywords are written in uppercase.</a:t>
            </a:r>
          </a:p>
          <a:p>
            <a:r>
              <a:rPr lang="en-US" sz="2600" dirty="0"/>
              <a:t>We can place a single SQL statement on one or multiple text lines.</a:t>
            </a:r>
          </a:p>
          <a:p>
            <a:r>
              <a:rPr lang="en-US" sz="2600" dirty="0"/>
              <a:t>You can perform most of the action in a database with SQL statements.</a:t>
            </a:r>
          </a:p>
          <a:p>
            <a:r>
              <a:rPr lang="en-US" sz="2600" dirty="0"/>
              <a:t>SQL statements are started with any of the </a:t>
            </a:r>
            <a:r>
              <a:rPr lang="en-US" sz="2600" dirty="0">
                <a:solidFill>
                  <a:srgbClr val="FF0000"/>
                </a:solidFill>
              </a:rPr>
              <a:t>SQL commands/keywords </a:t>
            </a:r>
            <a:r>
              <a:rPr lang="en-US" sz="2600" dirty="0"/>
              <a:t>like SELECT, INSERT, UPDATE, DELETE, ALTER, DROP etc. and the statement ends with a semicolon (;).</a:t>
            </a:r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C34D3-A67F-A30E-8DBE-9F7470C9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892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0CC0-CE93-4C54-937A-B502C8B0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Convention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6920-6AA7-4870-B467-BDF5BD8A2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Naming conventions determine the style in which you name objects in your database.</a:t>
            </a:r>
          </a:p>
          <a:p>
            <a:pPr algn="just"/>
            <a:r>
              <a:rPr lang="en-ZA" altLang="en-US" sz="2400" dirty="0"/>
              <a:t>It is advisable to follow a standard naming convention</a:t>
            </a:r>
          </a:p>
          <a:p>
            <a:pPr algn="just"/>
            <a:r>
              <a:rPr lang="en-ZA" altLang="en-US" sz="2400" dirty="0"/>
              <a:t>Always remember</a:t>
            </a:r>
          </a:p>
          <a:p>
            <a:pPr lvl="1" algn="just"/>
            <a:r>
              <a:rPr lang="en-ZA" altLang="en-US" sz="2000" dirty="0"/>
              <a:t>Don’t start any object name with a number.</a:t>
            </a:r>
          </a:p>
          <a:p>
            <a:pPr lvl="1" algn="just"/>
            <a:r>
              <a:rPr lang="en-ZA" altLang="en-US" sz="2000" dirty="0"/>
              <a:t>Don’t use spaces when naming objects.</a:t>
            </a:r>
          </a:p>
          <a:p>
            <a:pPr lvl="1" algn="just"/>
            <a:r>
              <a:rPr lang="en-ZA" altLang="en-US" sz="2000" dirty="0"/>
              <a:t>Don’t use keywords to name your objects such as TABLE, or INDEX.</a:t>
            </a:r>
          </a:p>
          <a:p>
            <a:pPr algn="just"/>
            <a:r>
              <a:rPr lang="en-ZA" altLang="en-US" sz="2400" dirty="0"/>
              <a:t>Adopt one naming convention throughout, and be consistent with it. </a:t>
            </a:r>
          </a:p>
          <a:p>
            <a:pPr algn="just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06E3-E3EB-8851-8F7B-96FEF8A3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6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E9B6-F9C3-41DF-8282-3098550E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BFE0-3F2B-42BC-B9B9-8AC8FF5B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958340"/>
            <a:ext cx="10119357" cy="4335780"/>
          </a:xfrm>
        </p:spPr>
        <p:txBody>
          <a:bodyPr>
            <a:noAutofit/>
          </a:bodyPr>
          <a:lstStyle/>
          <a:p>
            <a:r>
              <a:rPr lang="en-US" sz="2400" dirty="0"/>
              <a:t>Used to define database structures</a:t>
            </a:r>
          </a:p>
          <a:p>
            <a:r>
              <a:rPr lang="en-US" sz="2400" dirty="0"/>
              <a:t>definition statements include:</a:t>
            </a:r>
          </a:p>
          <a:p>
            <a:pPr lvl="1"/>
            <a:r>
              <a:rPr lang="en-US" sz="2000" dirty="0"/>
              <a:t>CREATE</a:t>
            </a:r>
          </a:p>
          <a:p>
            <a:pPr marL="1085850" lvl="4"/>
            <a:r>
              <a:rPr lang="en-US" sz="2400" dirty="0"/>
              <a:t>To create database objects</a:t>
            </a:r>
          </a:p>
          <a:p>
            <a:pPr lvl="1"/>
            <a:r>
              <a:rPr lang="en-US" sz="2000" dirty="0"/>
              <a:t>ALTER</a:t>
            </a:r>
          </a:p>
          <a:p>
            <a:pPr marL="1085850" lvl="4"/>
            <a:r>
              <a:rPr lang="en-US" sz="2400" dirty="0"/>
              <a:t>To modify the structure and/or characteristics of database objects</a:t>
            </a:r>
          </a:p>
          <a:p>
            <a:pPr lvl="1"/>
            <a:r>
              <a:rPr lang="en-US" sz="2000" dirty="0"/>
              <a:t>DROP</a:t>
            </a:r>
          </a:p>
          <a:p>
            <a:pPr marL="1085850" lvl="4"/>
            <a:r>
              <a:rPr lang="en-US" sz="2400" dirty="0"/>
              <a:t>To delete database objects</a:t>
            </a:r>
          </a:p>
          <a:p>
            <a:pPr lvl="1"/>
            <a:r>
              <a:rPr lang="en-US" sz="2000" dirty="0"/>
              <a:t>TRUNCATE- </a:t>
            </a:r>
            <a:r>
              <a:rPr lang="en-US" sz="2400" dirty="0"/>
              <a:t>To delete table data while keeping structure</a:t>
            </a:r>
          </a:p>
          <a:p>
            <a:r>
              <a:rPr lang="en-GB" sz="2400" dirty="0"/>
              <a:t>Can be used on database object like tables, views, indexes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6EB2E-EB51-83D2-AF5F-8AB05F00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642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2F60-1636-4585-BEC0-237EAA36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CC3BD-71DA-4D7B-AEA7-36289B33C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Create a database</a:t>
            </a:r>
          </a:p>
          <a:p>
            <a:pPr marL="0" indent="0">
              <a:buNone/>
            </a:pPr>
            <a:r>
              <a:rPr lang="en-US" sz="2400" dirty="0"/>
              <a:t>CREATE database </a:t>
            </a:r>
            <a:r>
              <a:rPr lang="en-US" sz="2400" dirty="0" err="1"/>
              <a:t>databaseName</a:t>
            </a:r>
            <a:r>
              <a:rPr lang="en-US" sz="2400" dirty="0"/>
              <a:t>;</a:t>
            </a:r>
          </a:p>
          <a:p>
            <a:r>
              <a:rPr lang="en-US" sz="2400" dirty="0"/>
              <a:t>Example</a:t>
            </a:r>
          </a:p>
          <a:p>
            <a:r>
              <a:rPr lang="en-US" sz="2400" dirty="0"/>
              <a:t>CREATE database Uni;</a:t>
            </a:r>
          </a:p>
          <a:p>
            <a:r>
              <a:rPr lang="en-US" sz="2400" dirty="0"/>
              <a:t>Creates a database named Uni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C0C2C-C9E8-5EC1-C20B-9F494683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170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46B9-F28C-4882-AFE7-F8EA4D7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F1597-E6B1-4803-B799-CD6E1F1F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Create table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CREATE TABLE </a:t>
            </a:r>
            <a:r>
              <a:rPr lang="en-GB" sz="2400" dirty="0" err="1">
                <a:solidFill>
                  <a:srgbClr val="FF0000"/>
                </a:solidFill>
              </a:rPr>
              <a:t>TableName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( </a:t>
            </a:r>
            <a:r>
              <a:rPr lang="en-GB" sz="2400" dirty="0" err="1">
                <a:solidFill>
                  <a:srgbClr val="FF0000"/>
                </a:solidFill>
              </a:rPr>
              <a:t>AttributeName</a:t>
            </a:r>
            <a:r>
              <a:rPr lang="en-GB" sz="2400" dirty="0">
                <a:solidFill>
                  <a:srgbClr val="FF0000"/>
                </a:solidFill>
              </a:rPr>
              <a:t> Domain [ Constraint ] ........ </a:t>
            </a:r>
          </a:p>
          <a:p>
            <a:pPr marL="0" indent="0">
              <a:buNone/>
            </a:pPr>
            <a:r>
              <a:rPr lang="en-GB" sz="2400" dirty="0" err="1">
                <a:solidFill>
                  <a:srgbClr val="FF0000"/>
                </a:solidFill>
              </a:rPr>
              <a:t>AttributeName</a:t>
            </a:r>
            <a:r>
              <a:rPr lang="en-GB" sz="2400" dirty="0">
                <a:solidFill>
                  <a:srgbClr val="FF0000"/>
                </a:solidFill>
              </a:rPr>
              <a:t> Domain [ Constraint ] [ </a:t>
            </a:r>
            <a:r>
              <a:rPr lang="en-GB" sz="2400" dirty="0" err="1">
                <a:solidFill>
                  <a:srgbClr val="FF0000"/>
                </a:solidFill>
              </a:rPr>
              <a:t>OtherConstraints</a:t>
            </a:r>
            <a:r>
              <a:rPr lang="en-GB" sz="2400" dirty="0">
                <a:solidFill>
                  <a:srgbClr val="FF0000"/>
                </a:solidFill>
              </a:rPr>
              <a:t> ] );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49017-9504-E18B-3FE8-976E5BCD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72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7C7C-AFF2-4AD9-B430-60F07CF54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F5BB-462A-4D67-9909-177CDE6B0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00300"/>
            <a:ext cx="9601196" cy="3475568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latin typeface="Arial Narrow" panose="020B0606020202030204" pitchFamily="34" charset="0"/>
              </a:rPr>
              <a:t>Create Table</a:t>
            </a:r>
          </a:p>
          <a:p>
            <a:pPr marL="0" indent="0">
              <a:buNone/>
            </a:pPr>
            <a:r>
              <a:rPr lang="en-US" sz="8000" dirty="0">
                <a:solidFill>
                  <a:srgbClr val="FF0000"/>
                </a:solidFill>
                <a:latin typeface="Arial Narrow" panose="020B0606020202030204" pitchFamily="34" charset="0"/>
              </a:rPr>
              <a:t>CREATE TABLE </a:t>
            </a:r>
            <a:r>
              <a:rPr lang="en-US" sz="80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tablename</a:t>
            </a:r>
            <a:r>
              <a:rPr lang="en-US" sz="8000" dirty="0">
                <a:solidFill>
                  <a:srgbClr val="FF0000"/>
                </a:solidFill>
                <a:latin typeface="Arial Narrow" panose="020B0606020202030204" pitchFamily="34" charset="0"/>
              </a:rPr>
              <a:t> (</a:t>
            </a:r>
          </a:p>
          <a:p>
            <a:pPr marL="0" indent="0">
              <a:buNone/>
            </a:pPr>
            <a:r>
              <a:rPr lang="en-US" sz="8000" dirty="0">
                <a:solidFill>
                  <a:srgbClr val="FF0000"/>
                </a:solidFill>
                <a:latin typeface="Arial Narrow" panose="020B0606020202030204" pitchFamily="34" charset="0"/>
              </a:rPr>
              <a:t>Attributename1 datatype, attributename2 datatype constraint, </a:t>
            </a:r>
            <a:r>
              <a:rPr lang="en-US" sz="80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attributenamen</a:t>
            </a:r>
            <a:r>
              <a:rPr lang="en-US" sz="8000" dirty="0">
                <a:solidFill>
                  <a:srgbClr val="FF0000"/>
                </a:solidFill>
                <a:latin typeface="Arial Narrow" panose="020B0606020202030204" pitchFamily="34" charset="0"/>
              </a:rPr>
              <a:t> datatype );</a:t>
            </a:r>
          </a:p>
          <a:p>
            <a:r>
              <a:rPr lang="en-US" sz="8000" dirty="0">
                <a:solidFill>
                  <a:srgbClr val="FF0000"/>
                </a:solidFill>
                <a:latin typeface="Arial Narrow" panose="020B0606020202030204" pitchFamily="34" charset="0"/>
              </a:rPr>
              <a:t>Example </a:t>
            </a:r>
          </a:p>
          <a:p>
            <a:pPr lvl="1">
              <a:buFont typeface="Arial"/>
              <a:buNone/>
            </a:pPr>
            <a:r>
              <a:rPr lang="en-US" sz="8000" dirty="0">
                <a:latin typeface="Arial Narrow" panose="020B0606020202030204" pitchFamily="34" charset="0"/>
              </a:rPr>
              <a:t>CREATE TABLE Student(</a:t>
            </a:r>
          </a:p>
          <a:p>
            <a:pPr lvl="1">
              <a:buFont typeface="Arial"/>
              <a:buNone/>
            </a:pPr>
            <a:r>
              <a:rPr lang="en-US" sz="8000" dirty="0">
                <a:latin typeface="Arial Narrow" panose="020B0606020202030204" pitchFamily="34" charset="0"/>
              </a:rPr>
              <a:t>   </a:t>
            </a:r>
            <a:r>
              <a:rPr lang="en-US" sz="8000" dirty="0" err="1">
                <a:latin typeface="Arial Narrow" panose="020B0606020202030204" pitchFamily="34" charset="0"/>
              </a:rPr>
              <a:t>studno</a:t>
            </a:r>
            <a:r>
              <a:rPr lang="en-US" sz="8000" dirty="0">
                <a:latin typeface="Arial Narrow" panose="020B0606020202030204" pitchFamily="34" charset="0"/>
              </a:rPr>
              <a:t>   int  PRIMARY KEY,</a:t>
            </a:r>
          </a:p>
          <a:p>
            <a:pPr lvl="1">
              <a:buFont typeface="Arial"/>
              <a:buNone/>
            </a:pPr>
            <a:r>
              <a:rPr lang="en-US" sz="8000" dirty="0">
                <a:latin typeface="Arial Narrow" panose="020B0606020202030204" pitchFamily="34" charset="0"/>
              </a:rPr>
              <a:t>   </a:t>
            </a:r>
            <a:r>
              <a:rPr lang="en-US" sz="8000" dirty="0" err="1">
                <a:latin typeface="Arial Narrow" panose="020B0606020202030204" pitchFamily="34" charset="0"/>
              </a:rPr>
              <a:t>GivenName</a:t>
            </a:r>
            <a:r>
              <a:rPr lang="en-US" sz="8000" dirty="0">
                <a:latin typeface="Arial Narrow" panose="020B0606020202030204" pitchFamily="34" charset="0"/>
              </a:rPr>
              <a:t>   varchar(25),</a:t>
            </a:r>
          </a:p>
          <a:p>
            <a:pPr lvl="1">
              <a:buFont typeface="Arial"/>
              <a:buNone/>
            </a:pPr>
            <a:r>
              <a:rPr lang="en-US" sz="8000" dirty="0">
                <a:latin typeface="Arial Narrow" panose="020B0606020202030204" pitchFamily="34" charset="0"/>
              </a:rPr>
              <a:t>   </a:t>
            </a:r>
            <a:r>
              <a:rPr lang="en-US" sz="8000" dirty="0" err="1">
                <a:latin typeface="Arial Narrow" panose="020B0606020202030204" pitchFamily="34" charset="0"/>
              </a:rPr>
              <a:t>FamilyName</a:t>
            </a:r>
            <a:r>
              <a:rPr lang="en-US" sz="8000" dirty="0">
                <a:latin typeface="Arial Narrow" panose="020B0606020202030204" pitchFamily="34" charset="0"/>
              </a:rPr>
              <a:t> varchar(50),</a:t>
            </a:r>
          </a:p>
          <a:p>
            <a:pPr lvl="1">
              <a:buFont typeface="Arial"/>
              <a:buNone/>
            </a:pPr>
            <a:r>
              <a:rPr lang="en-US" sz="8000" dirty="0">
                <a:latin typeface="Arial Narrow" panose="020B0606020202030204" pitchFamily="34" charset="0"/>
              </a:rPr>
              <a:t>   gender char(1)    );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F7018-6717-0FC8-0A20-7F6874C0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456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2FC3-ABB5-409A-8388-B125F17D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D5017-51EA-439C-B411-D3BA657C6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 algn="just">
              <a:buNone/>
            </a:pPr>
            <a:r>
              <a:rPr lang="en-GB" b="1" dirty="0"/>
              <a:t>CREATE</a:t>
            </a:r>
            <a:r>
              <a:rPr lang="en-GB" dirty="0"/>
              <a:t> </a:t>
            </a:r>
            <a:r>
              <a:rPr lang="en-GB" b="1" dirty="0"/>
              <a:t>TABLE</a:t>
            </a:r>
            <a:r>
              <a:rPr lang="en-GB" dirty="0"/>
              <a:t>  Student</a:t>
            </a:r>
          </a:p>
          <a:p>
            <a:pPr marL="0" indent="0" algn="just">
              <a:buNone/>
            </a:pPr>
            <a:r>
              <a:rPr lang="en-GB" dirty="0"/>
              <a:t>( </a:t>
            </a:r>
            <a:r>
              <a:rPr lang="en-GB" dirty="0" err="1"/>
              <a:t>Student_id</a:t>
            </a:r>
            <a:r>
              <a:rPr lang="en-GB" dirty="0"/>
              <a:t> int NOT NULL, </a:t>
            </a:r>
          </a:p>
          <a:p>
            <a:pPr marL="0" indent="0" algn="just">
              <a:buNone/>
            </a:pPr>
            <a:r>
              <a:rPr lang="en-GB" dirty="0" err="1"/>
              <a:t>Given_name</a:t>
            </a:r>
            <a:r>
              <a:rPr lang="en-GB" dirty="0"/>
              <a:t> VARCHAR(20),</a:t>
            </a:r>
          </a:p>
          <a:p>
            <a:pPr marL="0" indent="0" algn="just">
              <a:buNone/>
            </a:pPr>
            <a:r>
              <a:rPr lang="en-GB" dirty="0" err="1"/>
              <a:t>Course_id</a:t>
            </a:r>
            <a:r>
              <a:rPr lang="en-GB" dirty="0"/>
              <a:t> int,</a:t>
            </a:r>
          </a:p>
          <a:p>
            <a:pPr marL="0" indent="0" algn="just">
              <a:buNone/>
            </a:pPr>
            <a:r>
              <a:rPr lang="en-GB" dirty="0"/>
              <a:t> PRIMARY KEY (</a:t>
            </a:r>
            <a:r>
              <a:rPr lang="en-GB" dirty="0" err="1"/>
              <a:t>Student_id</a:t>
            </a:r>
            <a:r>
              <a:rPr lang="en-GB" dirty="0"/>
              <a:t>),</a:t>
            </a:r>
          </a:p>
          <a:p>
            <a:pPr marL="0" indent="0" algn="just">
              <a:buNone/>
            </a:pPr>
            <a:r>
              <a:rPr lang="en-GB" dirty="0"/>
              <a:t>FOREIGN KEY (</a:t>
            </a:r>
            <a:r>
              <a:rPr lang="en-GB" dirty="0" err="1"/>
              <a:t>Course_id</a:t>
            </a:r>
            <a:r>
              <a:rPr lang="en-GB" dirty="0"/>
              <a:t>) REFERENCES Course (</a:t>
            </a:r>
            <a:r>
              <a:rPr lang="en-GB" dirty="0" err="1"/>
              <a:t>course_id</a:t>
            </a:r>
            <a:r>
              <a:rPr lang="en-GB" dirty="0"/>
              <a:t>));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DE8A8-F468-85D8-20C5-F272C7AB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183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1158-760C-4AA4-BAAA-741E44A5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E7EAE-1C99-4AD2-8DCC-FDD6B4A09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ALTER TABLE</a:t>
            </a:r>
          </a:p>
          <a:p>
            <a:r>
              <a:rPr lang="en-US" sz="2400" dirty="0"/>
              <a:t>The ALTER TABLE statement is used to add, modify or delete columns in an existing table. </a:t>
            </a:r>
          </a:p>
          <a:p>
            <a:r>
              <a:rPr lang="en-US" sz="2400" dirty="0"/>
              <a:t>It is also used to rename a table.</a:t>
            </a:r>
          </a:p>
          <a:p>
            <a:r>
              <a:rPr lang="en-US" sz="2400" dirty="0"/>
              <a:t>You can also use SQL ALTER TABLE command to add and drop various constraints on an existing table.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5B71A-2197-5DB3-CA32-695E7D31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52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B377-03FA-4CCE-8872-E45B5844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F26BA-8B32-4504-8DD9-2E0E339F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610B4B"/>
                </a:solidFill>
                <a:effectLst/>
                <a:latin typeface="erdana"/>
              </a:rPr>
              <a:t> </a:t>
            </a:r>
            <a:r>
              <a:rPr lang="en-US" sz="2400" dirty="0"/>
              <a:t>ALTER TABLE  to Add Column use: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ALTER TABLE </a:t>
            </a:r>
            <a:r>
              <a:rPr lang="en-US" sz="2400" dirty="0" err="1">
                <a:solidFill>
                  <a:srgbClr val="FF0000"/>
                </a:solidFill>
              </a:rPr>
              <a:t>table_name</a:t>
            </a:r>
            <a:r>
              <a:rPr lang="en-US" sz="2400" dirty="0">
                <a:solidFill>
                  <a:srgbClr val="FF0000"/>
                </a:solidFill>
              </a:rPr>
              <a:t> ADD </a:t>
            </a:r>
            <a:r>
              <a:rPr lang="en-US" sz="2400" dirty="0" err="1">
                <a:solidFill>
                  <a:srgbClr val="FF0000"/>
                </a:solidFill>
              </a:rPr>
              <a:t>column_name</a:t>
            </a:r>
            <a:r>
              <a:rPr lang="en-US" sz="2400" dirty="0">
                <a:solidFill>
                  <a:srgbClr val="FF0000"/>
                </a:solidFill>
              </a:rPr>
              <a:t> column-definition;</a:t>
            </a:r>
          </a:p>
          <a:p>
            <a:r>
              <a:rPr lang="en-US" sz="2400" dirty="0"/>
              <a:t>example</a:t>
            </a:r>
          </a:p>
          <a:p>
            <a:pPr marL="0" indent="0">
              <a:buNone/>
            </a:pPr>
            <a:r>
              <a:rPr lang="en-US" sz="2400" dirty="0"/>
              <a:t>ALTER TABLE Student ADD Age int NOT NULL;</a:t>
            </a:r>
          </a:p>
          <a:p>
            <a:r>
              <a:rPr lang="en-US" sz="2400" dirty="0"/>
              <a:t>Adds a column age to the Student Table we created earlier;</a:t>
            </a:r>
          </a:p>
          <a:p>
            <a:pPr marL="0" indent="0">
              <a:buNone/>
            </a:pPr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56AAF-D52E-C870-E9B0-A1F00566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93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8E05-A8A4-4460-B217-A698BBAA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F4A53-6485-42C2-BA01-DB9BF8069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modify a column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ALTER TABLE </a:t>
            </a:r>
            <a:r>
              <a:rPr lang="en-US" sz="2400" dirty="0" err="1">
                <a:solidFill>
                  <a:srgbClr val="FF0000"/>
                </a:solidFill>
              </a:rPr>
              <a:t>table_name</a:t>
            </a:r>
            <a:r>
              <a:rPr lang="en-US" sz="2400" dirty="0">
                <a:solidFill>
                  <a:srgbClr val="FF0000"/>
                </a:solidFill>
              </a:rPr>
              <a:t> MODIFY </a:t>
            </a:r>
            <a:r>
              <a:rPr lang="en-US" sz="2400" dirty="0" err="1">
                <a:solidFill>
                  <a:srgbClr val="FF0000"/>
                </a:solidFill>
              </a:rPr>
              <a:t>column_name</a:t>
            </a:r>
            <a:r>
              <a:rPr lang="en-US" sz="2400" dirty="0">
                <a:solidFill>
                  <a:srgbClr val="FF0000"/>
                </a:solidFill>
              </a:rPr>
              <a:t> </a:t>
            </a:r>
            <a:r>
              <a:rPr lang="en-US" sz="2400" dirty="0" err="1">
                <a:solidFill>
                  <a:srgbClr val="FF0000"/>
                </a:solidFill>
              </a:rPr>
              <a:t>column_type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</a:rPr>
              <a:t>Write a statement to modify age column in Student so that it takes char values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E0B1F-9983-DEA7-E0C5-00D02954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496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D12C-1004-473D-AE22-7C6EC5BC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E2C0F-27E8-4003-8E30-712D7823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Rename column in a table </a:t>
            </a: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ALTER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table_name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RENAME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COLUMN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old_name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to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new_name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r>
              <a:rPr lang="en-GB" sz="2400" dirty="0"/>
              <a:t>Example </a:t>
            </a:r>
          </a:p>
          <a:p>
            <a:pPr marL="0" indent="0">
              <a:buNone/>
            </a:pPr>
            <a:r>
              <a:rPr lang="en-GB" sz="2400" dirty="0"/>
              <a:t>Alter Table Student Rename column </a:t>
            </a:r>
            <a:r>
              <a:rPr lang="en-GB" sz="2400" dirty="0" err="1"/>
              <a:t>GivenName</a:t>
            </a:r>
            <a:r>
              <a:rPr lang="en-GB" sz="2400" dirty="0"/>
              <a:t> to </a:t>
            </a:r>
            <a:r>
              <a:rPr lang="en-GB" sz="2400" dirty="0" err="1"/>
              <a:t>first_name</a:t>
            </a:r>
            <a:r>
              <a:rPr lang="en-GB" sz="2400" dirty="0"/>
              <a:t>;</a:t>
            </a:r>
          </a:p>
          <a:p>
            <a:r>
              <a:rPr lang="en-GB" sz="2400" dirty="0"/>
              <a:t>Renames column </a:t>
            </a:r>
            <a:r>
              <a:rPr lang="en-GB" sz="2400" dirty="0" err="1"/>
              <a:t>GivenName</a:t>
            </a:r>
            <a:r>
              <a:rPr lang="en-GB" sz="2400" dirty="0"/>
              <a:t> in table Student to </a:t>
            </a:r>
            <a:r>
              <a:rPr lang="en-GB" sz="2400" dirty="0" err="1"/>
              <a:t>first_name</a:t>
            </a:r>
            <a:r>
              <a:rPr lang="en-GB" sz="2400" dirty="0"/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4EADD-185E-79D4-B6E0-B818240A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812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5825-E5DA-46DB-922E-3D9E017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7632-8885-49B9-B52E-5AEF33AAA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drop a column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ALTER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table_name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DROP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COLUMN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column_name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; </a:t>
            </a:r>
            <a:endParaRPr lang="en-US" sz="2400" dirty="0"/>
          </a:p>
          <a:p>
            <a:r>
              <a:rPr lang="en-GB" sz="2400" dirty="0"/>
              <a:t>Example</a:t>
            </a:r>
          </a:p>
          <a:p>
            <a:pPr marL="0" indent="0">
              <a:buNone/>
            </a:pPr>
            <a:r>
              <a:rPr lang="en-GB" sz="2400" dirty="0"/>
              <a:t>Alter Table Student drop column Age;</a:t>
            </a:r>
          </a:p>
          <a:p>
            <a:r>
              <a:rPr lang="en-GB" sz="2400" dirty="0"/>
              <a:t>The statement deletes the column Age from the Table Student.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45801-50DB-CF91-6876-D09555F7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860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966C-6641-4E01-93DE-844DC3CE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11799-3D02-4464-B816-96E87C147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SQL DROP statement is used to delete or remove indexes from a table in the database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DROP DATABASE </a:t>
            </a:r>
            <a:r>
              <a:rPr lang="en-GB" sz="2400" dirty="0" err="1">
                <a:solidFill>
                  <a:srgbClr val="FF0000"/>
                </a:solidFill>
              </a:rPr>
              <a:t>database_name</a:t>
            </a:r>
            <a:r>
              <a:rPr lang="en-GB" sz="2400" dirty="0">
                <a:solidFill>
                  <a:srgbClr val="FF0000"/>
                </a:solidFill>
              </a:rPr>
              <a:t>;  </a:t>
            </a:r>
          </a:p>
          <a:p>
            <a:pPr marL="0" indent="0">
              <a:buFont typeface="Arial"/>
              <a:buNone/>
            </a:pPr>
            <a:r>
              <a:rPr lang="en-US" sz="2400" dirty="0">
                <a:solidFill>
                  <a:schemeClr val="tx1"/>
                </a:solidFill>
              </a:rPr>
              <a:t>Example </a:t>
            </a:r>
          </a:p>
          <a:p>
            <a:pPr marL="0" indent="0">
              <a:buFont typeface="Arial"/>
              <a:buNone/>
            </a:pPr>
            <a:r>
              <a:rPr lang="en-US" sz="2400" dirty="0">
                <a:solidFill>
                  <a:schemeClr val="tx1"/>
                </a:solidFill>
              </a:rPr>
              <a:t>DROP DATABASE Uni;</a:t>
            </a:r>
          </a:p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FF0000"/>
                </a:solidFill>
              </a:rPr>
              <a:t>NB: if you delete or drop the database, all the tables and views will also be deleted.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9F76D-F5EB-6F2C-AC06-8363C44D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630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A752-3F48-44D7-A5FB-B39A7EC9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303C5-178F-479B-9BB2-336156079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SQL DROP TABLE statement is used to delete a table definition and all data from a table.</a:t>
            </a:r>
          </a:p>
          <a:p>
            <a:r>
              <a:rPr lang="en-US" sz="2400" dirty="0"/>
              <a:t>This is very important to know that once a table is deleted all the information available in the table is lost forever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DROP TABLE </a:t>
            </a:r>
            <a:r>
              <a:rPr lang="en-GB" sz="2400" dirty="0" err="1">
                <a:solidFill>
                  <a:srgbClr val="FF0000"/>
                </a:solidFill>
              </a:rPr>
              <a:t>table_name</a:t>
            </a:r>
            <a:r>
              <a:rPr lang="en-GB" sz="2400" dirty="0">
                <a:solidFill>
                  <a:srgbClr val="FF0000"/>
                </a:solidFill>
              </a:rPr>
              <a:t>;  </a:t>
            </a:r>
          </a:p>
          <a:p>
            <a:r>
              <a:rPr lang="en-GB" sz="2400" dirty="0">
                <a:solidFill>
                  <a:schemeClr val="tx1"/>
                </a:solidFill>
              </a:rPr>
              <a:t>example</a:t>
            </a:r>
          </a:p>
          <a:p>
            <a:pPr marL="0" indent="0">
              <a:buNone/>
            </a:pPr>
            <a:r>
              <a:rPr lang="en-GB" sz="2400" dirty="0"/>
              <a:t>DROP TABLE Student;</a:t>
            </a:r>
          </a:p>
          <a:p>
            <a:pPr marL="0" indent="0">
              <a:buNone/>
            </a:pPr>
            <a:r>
              <a:rPr lang="en-GB" sz="2400" dirty="0"/>
              <a:t>Will delete table Student from the database and all data in it.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855A2-2AAD-6019-7F44-F86F14BC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59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0C76-0CD1-42AE-8249-877DE3D6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5825-65F5-4629-A9FC-B4C25DE3B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862" y="2381672"/>
            <a:ext cx="9601196" cy="3318936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truncate SQL statement is used to remove all rows from a table.</a:t>
            </a:r>
          </a:p>
          <a:p>
            <a:r>
              <a:rPr lang="en-GB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TRUNCATE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GB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table_name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r>
              <a:rPr lang="en-GB" dirty="0"/>
              <a:t>Example</a:t>
            </a:r>
          </a:p>
          <a:p>
            <a:r>
              <a:rPr lang="en-GB" dirty="0"/>
              <a:t>What will this statement do?</a:t>
            </a:r>
          </a:p>
          <a:p>
            <a:r>
              <a:rPr lang="en-GB" dirty="0"/>
              <a:t>Truncate Table Student;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430A7-6F27-92EF-435E-48CCB5F6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864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F2B4-2CAB-4443-A772-029F6EBB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Practicals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63EBD-922B-4632-B6C5-4F3C7A3AC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Review how to access Microsoft SQL Server Management Studio in Lab 1 and the guide provided on course resources.</a:t>
            </a:r>
          </a:p>
          <a:p>
            <a:r>
              <a:rPr lang="en-US" sz="2400" dirty="0"/>
              <a:t>Complete Lab 7 </a:t>
            </a:r>
          </a:p>
          <a:p>
            <a:r>
              <a:rPr lang="en-US" sz="2400" dirty="0"/>
              <a:t>Given the physical schema, write SQL statements to implement the defined database on Microsoft SQL Server Management Studio.</a:t>
            </a: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0615B-8288-5BDC-BE4D-9E64F2C0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61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1B25-CF0C-4A84-B13D-44F78021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D0442-8492-4109-9545-8A359A14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will learn about more database objects as we progress with SQL</a:t>
            </a:r>
          </a:p>
          <a:p>
            <a:r>
              <a:rPr lang="en-US" sz="2400" dirty="0"/>
              <a:t>All objects are defined using the </a:t>
            </a:r>
            <a:r>
              <a:rPr lang="en-US" sz="2400" dirty="0">
                <a:solidFill>
                  <a:srgbClr val="FF0000"/>
                </a:solidFill>
              </a:rPr>
              <a:t>CREATE</a:t>
            </a:r>
            <a:r>
              <a:rPr lang="en-US" sz="2400" dirty="0"/>
              <a:t> statement</a:t>
            </a:r>
          </a:p>
          <a:p>
            <a:r>
              <a:rPr lang="en-US" sz="2400" dirty="0"/>
              <a:t>change an already existing table structure using </a:t>
            </a:r>
            <a:r>
              <a:rPr lang="en-US" sz="2400" dirty="0">
                <a:solidFill>
                  <a:srgbClr val="FF0000"/>
                </a:solidFill>
              </a:rPr>
              <a:t>ALTER</a:t>
            </a:r>
            <a:r>
              <a:rPr lang="en-US" sz="2400" dirty="0"/>
              <a:t> statement</a:t>
            </a:r>
          </a:p>
          <a:p>
            <a:r>
              <a:rPr lang="en-US" sz="2400" dirty="0"/>
              <a:t>Delete existing objects and their contents using </a:t>
            </a:r>
            <a:r>
              <a:rPr lang="en-US" sz="2400" dirty="0">
                <a:solidFill>
                  <a:srgbClr val="FF0000"/>
                </a:solidFill>
              </a:rPr>
              <a:t>DROP</a:t>
            </a:r>
            <a:r>
              <a:rPr lang="en-US" sz="2400" dirty="0"/>
              <a:t> statement</a:t>
            </a:r>
          </a:p>
          <a:p>
            <a:r>
              <a:rPr lang="en-US" sz="2400" dirty="0"/>
              <a:t>Delete the contents of a database table using </a:t>
            </a:r>
            <a:r>
              <a:rPr lang="en-US" sz="2400" dirty="0">
                <a:solidFill>
                  <a:srgbClr val="FF0000"/>
                </a:solidFill>
              </a:rPr>
              <a:t>TRUNCATE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Note: the difference between DROP and TRUNCATE statements.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279EB-A3FC-BC03-3EE3-BE20FD30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593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03C0-4228-45EC-B987-4204DC24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F8865-DFC7-4696-A6E7-49045501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next lecture, we will discuss</a:t>
            </a:r>
          </a:p>
          <a:p>
            <a:r>
              <a:rPr lang="en-US" sz="2400" dirty="0"/>
              <a:t>Data Manipulation Language (DML)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4B90F-C02C-47F4-6A6D-B83BCD90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360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3390-7C35-401C-AD46-B45315C9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AA9C5-0065-4C4F-A462-60B160443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Lucida Sans" pitchFamily="34" charset="0"/>
              </a:rPr>
              <a:t>David M. Kroenke And David J. Auer (2013) </a:t>
            </a:r>
            <a:r>
              <a:rPr lang="en-US" sz="2800" dirty="0">
                <a:solidFill>
                  <a:schemeClr val="tx1"/>
                </a:solidFill>
                <a:latin typeface="Lucida Sans" pitchFamily="34" charset="0"/>
              </a:rPr>
              <a:t>Database Concepts, 6</a:t>
            </a:r>
            <a:r>
              <a:rPr lang="en-US" sz="2800" baseline="30000" dirty="0">
                <a:solidFill>
                  <a:schemeClr val="tx1"/>
                </a:solidFill>
                <a:latin typeface="Lucida Sans" pitchFamily="34" charset="0"/>
              </a:rPr>
              <a:t>th</a:t>
            </a:r>
            <a:r>
              <a:rPr lang="en-US" sz="2800" dirty="0">
                <a:solidFill>
                  <a:schemeClr val="tx1"/>
                </a:solidFill>
                <a:latin typeface="Lucida Sans" pitchFamily="34" charset="0"/>
              </a:rPr>
              <a:t> Edition.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800" dirty="0">
                <a:solidFill>
                  <a:schemeClr val="tx1"/>
                </a:solidFill>
                <a:latin typeface="Lucida Sans" pitchFamily="34" charset="0"/>
              </a:rPr>
              <a:t>Java Point SQL Tutorial [online] available at </a:t>
            </a:r>
            <a:r>
              <a:rPr lang="en-US" sz="2800" dirty="0">
                <a:solidFill>
                  <a:schemeClr val="tx1"/>
                </a:solidFill>
                <a:latin typeface="Lucida Sans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https://www.javatpoint.com/sql-tutorial</a:t>
            </a:r>
            <a:endParaRPr lang="en-US" sz="2800" dirty="0">
              <a:solidFill>
                <a:schemeClr val="tx1"/>
              </a:solidFill>
              <a:latin typeface="Lucida Sans" pitchFamily="34" charset="0"/>
            </a:endParaRPr>
          </a:p>
          <a:p>
            <a:pPr marL="0" indent="0">
              <a:spcBef>
                <a:spcPct val="50000"/>
              </a:spcBef>
              <a:buNone/>
            </a:pPr>
            <a:endParaRPr lang="en-US" sz="2800" dirty="0">
              <a:solidFill>
                <a:srgbClr val="1811A9"/>
              </a:solidFill>
              <a:latin typeface="Lucida Sans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AA3C-937D-3F03-FC46-E548D964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702D0-1A70-479D-8A2F-5129AF14229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800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1974</TotalTime>
  <Words>1134</Words>
  <Application>Microsoft Office PowerPoint</Application>
  <PresentationFormat>Widescreen</PresentationFormat>
  <Paragraphs>176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Aptos</vt:lpstr>
      <vt:lpstr>Arial</vt:lpstr>
      <vt:lpstr>Arial Narrow</vt:lpstr>
      <vt:lpstr>erdana</vt:lpstr>
      <vt:lpstr>Lucida Sans</vt:lpstr>
      <vt:lpstr>RopaSoftPro-Regular</vt:lpstr>
      <vt:lpstr>Tw Cen MT</vt:lpstr>
      <vt:lpstr>Tw Cen MT Condensed</vt:lpstr>
      <vt:lpstr>verdana</vt:lpstr>
      <vt:lpstr>Wingdings 3</vt:lpstr>
      <vt:lpstr>Integral</vt:lpstr>
      <vt:lpstr>PowerPoint Presentation</vt:lpstr>
      <vt:lpstr>Recap </vt:lpstr>
      <vt:lpstr>Recap</vt:lpstr>
      <vt:lpstr>Objectives </vt:lpstr>
      <vt:lpstr>Structured Query Language (SQL)</vt:lpstr>
      <vt:lpstr>Structured Query Language (SQL)</vt:lpstr>
      <vt:lpstr>Structured Query Language (SQL)</vt:lpstr>
      <vt:lpstr>Naming Convention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(DDL)</vt:lpstr>
      <vt:lpstr>Data Definition language </vt:lpstr>
      <vt:lpstr>Practicals</vt:lpstr>
      <vt:lpstr>Summary</vt:lpstr>
      <vt:lpstr>Next Lecture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 and DDL</dc:title>
  <dc:creator>Chikohora, Teressa (INT)</dc:creator>
  <cp:lastModifiedBy>Chivuno-Kuria, Shilumbe</cp:lastModifiedBy>
  <cp:revision>21</cp:revision>
  <dcterms:created xsi:type="dcterms:W3CDTF">2021-05-03T06:21:09Z</dcterms:created>
  <dcterms:modified xsi:type="dcterms:W3CDTF">2025-04-13T17:13:46Z</dcterms:modified>
</cp:coreProperties>
</file>