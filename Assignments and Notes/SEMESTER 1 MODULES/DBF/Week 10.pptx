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41"/>
  </p:notesMasterIdLst>
  <p:sldIdLst>
    <p:sldId id="309" r:id="rId2"/>
    <p:sldId id="257" r:id="rId3"/>
    <p:sldId id="258" r:id="rId4"/>
    <p:sldId id="421" r:id="rId5"/>
    <p:sldId id="428" r:id="rId6"/>
    <p:sldId id="443" r:id="rId7"/>
    <p:sldId id="422" r:id="rId8"/>
    <p:sldId id="280" r:id="rId9"/>
    <p:sldId id="429" r:id="rId10"/>
    <p:sldId id="444" r:id="rId11"/>
    <p:sldId id="445" r:id="rId12"/>
    <p:sldId id="261" r:id="rId13"/>
    <p:sldId id="431" r:id="rId14"/>
    <p:sldId id="433" r:id="rId15"/>
    <p:sldId id="432" r:id="rId16"/>
    <p:sldId id="293" r:id="rId17"/>
    <p:sldId id="269" r:id="rId18"/>
    <p:sldId id="262" r:id="rId19"/>
    <p:sldId id="434" r:id="rId20"/>
    <p:sldId id="270" r:id="rId21"/>
    <p:sldId id="423" r:id="rId22"/>
    <p:sldId id="283" r:id="rId23"/>
    <p:sldId id="284" r:id="rId24"/>
    <p:sldId id="424" r:id="rId25"/>
    <p:sldId id="412" r:id="rId26"/>
    <p:sldId id="414" r:id="rId27"/>
    <p:sldId id="415" r:id="rId28"/>
    <p:sldId id="426" r:id="rId29"/>
    <p:sldId id="416" r:id="rId30"/>
    <p:sldId id="427" r:id="rId31"/>
    <p:sldId id="417" r:id="rId32"/>
    <p:sldId id="418" r:id="rId33"/>
    <p:sldId id="419" r:id="rId34"/>
    <p:sldId id="420" r:id="rId35"/>
    <p:sldId id="277" r:id="rId36"/>
    <p:sldId id="278" r:id="rId37"/>
    <p:sldId id="271" r:id="rId38"/>
    <p:sldId id="267" r:id="rId39"/>
    <p:sldId id="43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BF72F-2AC8-45DB-8286-0F7377217C56}" v="1" dt="2025-04-23T13:09:24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vuno-Kuria, Shilumbe" userId="971a9ce4-f8fe-45be-a1b9-784e76a04f28" providerId="ADAL" clId="{282BF72F-2AC8-45DB-8286-0F7377217C56}"/>
    <pc:docChg chg="custSel modSld">
      <pc:chgData name="Chivuno-Kuria, Shilumbe" userId="971a9ce4-f8fe-45be-a1b9-784e76a04f28" providerId="ADAL" clId="{282BF72F-2AC8-45DB-8286-0F7377217C56}" dt="2025-04-23T13:09:54.026" v="9" actId="6549"/>
      <pc:docMkLst>
        <pc:docMk/>
      </pc:docMkLst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350157034" sldId="257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350157034" sldId="257"/>
            <ac:spMk id="2" creationId="{FC822DEB-489E-430F-8A04-21408A327006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350157034" sldId="257"/>
            <ac:spMk id="3" creationId="{404DB430-F846-4953-B041-3840171E223C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507414377" sldId="258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507414377" sldId="258"/>
            <ac:spMk id="2" creationId="{45C8C9D2-F9D6-441D-839D-1EEB63387364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507414377" sldId="258"/>
            <ac:spMk id="3" creationId="{1C9B03EE-3152-45EB-9334-ACF221646D59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426" v="3" actId="27636"/>
        <pc:sldMkLst>
          <pc:docMk/>
          <pc:sldMk cId="1611112446" sldId="261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611112446" sldId="261"/>
            <ac:spMk id="2" creationId="{4E5FC055-4566-452F-9DE7-8583077A09F8}"/>
          </ac:spMkLst>
        </pc:spChg>
        <pc:spChg chg="mod">
          <ac:chgData name="Chivuno-Kuria, Shilumbe" userId="971a9ce4-f8fe-45be-a1b9-784e76a04f28" providerId="ADAL" clId="{282BF72F-2AC8-45DB-8286-0F7377217C56}" dt="2025-04-23T13:09:25.426" v="3" actId="27636"/>
          <ac:spMkLst>
            <pc:docMk/>
            <pc:sldMk cId="1611112446" sldId="261"/>
            <ac:spMk id="3" creationId="{CDCB07EA-310A-4344-95C7-960F3E3FF32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593236792" sldId="262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93236792" sldId="262"/>
            <ac:spMk id="2" creationId="{150FDE98-46D0-4918-A691-F5E6FB6560F5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93236792" sldId="262"/>
            <ac:spMk id="3" creationId="{C8BE975E-84D9-4E15-B45E-C58ED57A70B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108469971" sldId="267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108469971" sldId="267"/>
            <ac:spMk id="2" creationId="{FD080D62-7E6A-4FAD-99EF-5C9B2075484A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108469971" sldId="267"/>
            <ac:spMk id="3" creationId="{DD1D9E93-9532-48D5-A7CA-52EAACE62FD8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740875986" sldId="270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740875986" sldId="270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740875986" sldId="270"/>
            <ac:spMk id="3" creationId="{00000000-0000-0000-0000-000000000000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693" v="8" actId="27636"/>
        <pc:sldMkLst>
          <pc:docMk/>
          <pc:sldMk cId="1004889578" sldId="271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004889578" sldId="271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5.693" v="8" actId="27636"/>
          <ac:spMkLst>
            <pc:docMk/>
            <pc:sldMk cId="1004889578" sldId="271"/>
            <ac:spMk id="3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588702234" sldId="277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88702234" sldId="277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88702234" sldId="277"/>
            <ac:spMk id="3" creationId="{00000000-0000-0000-0000-000000000000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682" v="7" actId="27636"/>
        <pc:sldMkLst>
          <pc:docMk/>
          <pc:sldMk cId="1714217405" sldId="278"/>
        </pc:sldMkLst>
        <pc:spChg chg="mod">
          <ac:chgData name="Chivuno-Kuria, Shilumbe" userId="971a9ce4-f8fe-45be-a1b9-784e76a04f28" providerId="ADAL" clId="{282BF72F-2AC8-45DB-8286-0F7377217C56}" dt="2025-04-23T13:09:25.682" v="7" actId="27636"/>
          <ac:spMkLst>
            <pc:docMk/>
            <pc:sldMk cId="1714217405" sldId="278"/>
            <ac:spMk id="2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300391214" sldId="280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300391214" sldId="280"/>
            <ac:spMk id="2" creationId="{00000000-0000-0000-0000-000000000000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544" v="4" actId="27636"/>
        <pc:sldMkLst>
          <pc:docMk/>
          <pc:sldMk cId="4103712217" sldId="283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4103712217" sldId="283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5.544" v="4" actId="27636"/>
          <ac:spMkLst>
            <pc:docMk/>
            <pc:sldMk cId="4103712217" sldId="283"/>
            <ac:spMk id="3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30753071" sldId="293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30753071" sldId="293"/>
            <ac:spMk id="8195" creationId="{EBFE49AE-99EF-4FEC-AC0D-34693ED470AF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967565322" sldId="412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967565322" sldId="412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967565322" sldId="412"/>
            <ac:spMk id="4" creationId="{00000000-0000-0000-0000-000000000000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579" v="5" actId="27636"/>
        <pc:sldMkLst>
          <pc:docMk/>
          <pc:sldMk cId="320361275" sldId="414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20361275" sldId="414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5.579" v="5" actId="27636"/>
          <ac:spMkLst>
            <pc:docMk/>
            <pc:sldMk cId="320361275" sldId="414"/>
            <ac:spMk id="3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20361275" sldId="414"/>
            <ac:spMk id="4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711592950" sldId="415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711592950" sldId="415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711592950" sldId="415"/>
            <ac:spMk id="3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4081587643" sldId="416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4081587643" sldId="416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4081587643" sldId="416"/>
            <ac:spMk id="4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258122768" sldId="417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258122768" sldId="417"/>
            <ac:spMk id="2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086535080" sldId="418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086535080" sldId="418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086535080" sldId="418"/>
            <ac:spMk id="4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290036626" sldId="419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290036626" sldId="419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290036626" sldId="419"/>
            <ac:spMk id="3" creationId="{00000000-0000-0000-0000-000000000000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675" v="6" actId="27636"/>
        <pc:sldMkLst>
          <pc:docMk/>
          <pc:sldMk cId="2025256578" sldId="420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025256578" sldId="420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5.675" v="6" actId="27636"/>
          <ac:spMkLst>
            <pc:docMk/>
            <pc:sldMk cId="2025256578" sldId="420"/>
            <ac:spMk id="3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534254824" sldId="421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34254824" sldId="421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534254824" sldId="421"/>
            <ac:spMk id="3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807712627" sldId="422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807712627" sldId="422"/>
            <ac:spMk id="2" creationId="{00000000-0000-0000-0000-00000000000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807712627" sldId="422"/>
            <ac:spMk id="4" creationId="{00000000-0000-0000-0000-000000000000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473323308" sldId="423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473323308" sldId="423"/>
            <ac:spMk id="2" creationId="{BF8A6DD4-06CB-483E-9E49-695803B43D60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473323308" sldId="423"/>
            <ac:spMk id="3" creationId="{4E33B7FD-023E-4683-8059-544332B0AFB3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642255172" sldId="424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642255172" sldId="424"/>
            <ac:spMk id="2" creationId="{1B051829-E14E-4EE6-9F02-8A92AE34F71D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642255172" sldId="424"/>
            <ac:spMk id="4" creationId="{CFB6BDF5-0A85-4239-882D-A4DAB33BA00D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336520243" sldId="426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336520243" sldId="426"/>
            <ac:spMk id="2" creationId="{9BCAD055-27EB-4401-A85D-FDF48890E4A2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336520243" sldId="426"/>
            <ac:spMk id="4" creationId="{3E6E421D-990F-4491-8DEA-7B61656CEB4B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1601581991" sldId="427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601581991" sldId="427"/>
            <ac:spMk id="2" creationId="{B8C847E0-36BD-4FEC-8444-D8A40E78A80D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1601581991" sldId="427"/>
            <ac:spMk id="3" creationId="{3C4FC7E3-DF4E-40CB-9D62-8BE2ED74D9D3}"/>
          </ac:spMkLst>
        </pc:spChg>
        <pc:picChg chg="mod">
          <ac:chgData name="Chivuno-Kuria, Shilumbe" userId="971a9ce4-f8fe-45be-a1b9-784e76a04f28" providerId="ADAL" clId="{282BF72F-2AC8-45DB-8286-0F7377217C56}" dt="2025-04-23T13:09:24.849" v="0"/>
          <ac:picMkLst>
            <pc:docMk/>
            <pc:sldMk cId="1601581991" sldId="427"/>
            <ac:picMk id="5" creationId="{59F18FD0-D6C7-4DCD-AE73-DF10D972DCF5}"/>
          </ac:picMkLst>
        </pc:pic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836875370" sldId="428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836875370" sldId="428"/>
            <ac:spMk id="2" creationId="{7F432A50-AEED-4137-8387-D180306F9E6F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836875370" sldId="428"/>
            <ac:spMk id="4" creationId="{F365D3A2-26F5-4831-82A4-5E27C20F8E83}"/>
          </ac:spMkLst>
        </pc:spChg>
        <pc:picChg chg="mod">
          <ac:chgData name="Chivuno-Kuria, Shilumbe" userId="971a9ce4-f8fe-45be-a1b9-784e76a04f28" providerId="ADAL" clId="{282BF72F-2AC8-45DB-8286-0F7377217C56}" dt="2025-04-23T13:09:24.849" v="0"/>
          <ac:picMkLst>
            <pc:docMk/>
            <pc:sldMk cId="2836875370" sldId="428"/>
            <ac:picMk id="5" creationId="{70A67303-64C2-4E54-856A-CBB525D42ECD}"/>
          </ac:picMkLst>
        </pc:pic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052408392" sldId="429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052408392" sldId="429"/>
            <ac:spMk id="2" creationId="{7F432A50-AEED-4137-8387-D180306F9E6F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052408392" sldId="429"/>
            <ac:spMk id="9" creationId="{6DD7F31B-BDC6-4A42-8394-2B9A553934FE}"/>
          </ac:spMkLst>
        </pc:spChg>
        <pc:picChg chg="mod">
          <ac:chgData name="Chivuno-Kuria, Shilumbe" userId="971a9ce4-f8fe-45be-a1b9-784e76a04f28" providerId="ADAL" clId="{282BF72F-2AC8-45DB-8286-0F7377217C56}" dt="2025-04-23T13:09:24.849" v="0"/>
          <ac:picMkLst>
            <pc:docMk/>
            <pc:sldMk cId="3052408392" sldId="429"/>
            <ac:picMk id="10" creationId="{662B48D9-4DB6-45E8-833C-CCFE64E136D9}"/>
          </ac:picMkLst>
        </pc:pic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3233937625" sldId="433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233937625" sldId="433"/>
            <ac:spMk id="2" creationId="{64E7819D-9B90-482E-B2DF-C87411E46E35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3233937625" sldId="433"/>
            <ac:spMk id="3" creationId="{C73881C6-190D-4E9B-9951-FB4F8F4144DE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54.026" v="9" actId="6549"/>
        <pc:sldMkLst>
          <pc:docMk/>
          <pc:sldMk cId="408168870" sldId="435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408168870" sldId="435"/>
            <ac:spMk id="2" creationId="{D3DD5C8F-2FD6-4139-8D38-D8802ADEC153}"/>
          </ac:spMkLst>
        </pc:spChg>
        <pc:spChg chg="mod">
          <ac:chgData name="Chivuno-Kuria, Shilumbe" userId="971a9ce4-f8fe-45be-a1b9-784e76a04f28" providerId="ADAL" clId="{282BF72F-2AC8-45DB-8286-0F7377217C56}" dt="2025-04-23T13:09:54.026" v="9" actId="6549"/>
          <ac:spMkLst>
            <pc:docMk/>
            <pc:sldMk cId="408168870" sldId="435"/>
            <ac:spMk id="3" creationId="{053B9A65-E55D-47C4-B29E-92D9FA3C0053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312" v="1" actId="27636"/>
        <pc:sldMkLst>
          <pc:docMk/>
          <pc:sldMk cId="2243544383" sldId="443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243544383" sldId="443"/>
            <ac:spMk id="2" creationId="{B170D82F-4080-4587-88A2-95CB77BCC032}"/>
          </ac:spMkLst>
        </pc:spChg>
        <pc:spChg chg="mod">
          <ac:chgData name="Chivuno-Kuria, Shilumbe" userId="971a9ce4-f8fe-45be-a1b9-784e76a04f28" providerId="ADAL" clId="{282BF72F-2AC8-45DB-8286-0F7377217C56}" dt="2025-04-23T13:09:25.312" v="1" actId="27636"/>
          <ac:spMkLst>
            <pc:docMk/>
            <pc:sldMk cId="2243544383" sldId="443"/>
            <ac:spMk id="3" creationId="{2AE1E581-C9F1-40D9-AC25-54EC2DB9A09C}"/>
          </ac:spMkLst>
        </pc:spChg>
      </pc:sldChg>
      <pc:sldChg chg="modSp mod">
        <pc:chgData name="Chivuno-Kuria, Shilumbe" userId="971a9ce4-f8fe-45be-a1b9-784e76a04f28" providerId="ADAL" clId="{282BF72F-2AC8-45DB-8286-0F7377217C56}" dt="2025-04-23T13:09:25.409" v="2" actId="27636"/>
        <pc:sldMkLst>
          <pc:docMk/>
          <pc:sldMk cId="2619096395" sldId="444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619096395" sldId="444"/>
            <ac:spMk id="2" creationId="{694B4AE6-F7FC-4FCC-B0A4-60B7DE4DF48C}"/>
          </ac:spMkLst>
        </pc:spChg>
        <pc:spChg chg="mod">
          <ac:chgData name="Chivuno-Kuria, Shilumbe" userId="971a9ce4-f8fe-45be-a1b9-784e76a04f28" providerId="ADAL" clId="{282BF72F-2AC8-45DB-8286-0F7377217C56}" dt="2025-04-23T13:09:25.409" v="2" actId="27636"/>
          <ac:spMkLst>
            <pc:docMk/>
            <pc:sldMk cId="2619096395" sldId="444"/>
            <ac:spMk id="3" creationId="{3721A886-8702-4659-A5A5-653983B2277B}"/>
          </ac:spMkLst>
        </pc:spChg>
      </pc:sldChg>
      <pc:sldChg chg="modSp">
        <pc:chgData name="Chivuno-Kuria, Shilumbe" userId="971a9ce4-f8fe-45be-a1b9-784e76a04f28" providerId="ADAL" clId="{282BF72F-2AC8-45DB-8286-0F7377217C56}" dt="2025-04-23T13:09:24.849" v="0"/>
        <pc:sldMkLst>
          <pc:docMk/>
          <pc:sldMk cId="2980604405" sldId="445"/>
        </pc:sldMkLst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980604405" sldId="445"/>
            <ac:spMk id="2" creationId="{79EF4E2E-110D-4F8F-9344-1134E8A282B9}"/>
          </ac:spMkLst>
        </pc:spChg>
        <pc:spChg chg="mod">
          <ac:chgData name="Chivuno-Kuria, Shilumbe" userId="971a9ce4-f8fe-45be-a1b9-784e76a04f28" providerId="ADAL" clId="{282BF72F-2AC8-45DB-8286-0F7377217C56}" dt="2025-04-23T13:09:24.849" v="0"/>
          <ac:spMkLst>
            <pc:docMk/>
            <pc:sldMk cId="2980604405" sldId="445"/>
            <ac:spMk id="3" creationId="{E361D03A-B581-4D8E-AC5E-A2468258AD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35DA6-E532-4B9A-9048-6ACCFE8787F5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A2194-1BD4-4E81-A59A-3912833D7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91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D83649E-B2F4-46C9-B929-A0690B396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fld id="{802F2DC8-13BB-480A-82D0-C27B811F7368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89CBB81-553E-4423-AE74-99938FBFA9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34D644A-ADC0-4354-B3D0-0F2AD7552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3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4CDB867-9FF2-4362-A14F-472DCD42E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fld id="{4654F45F-6B8E-4219-8721-B0067AECDB7D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0EA5A2D-DADF-4582-B458-7F8E698B1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3FB66375-4BC0-4ECE-8417-CD4F99378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162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A9F8EE4-EF4E-4992-A1C2-F1BAEBED9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fld id="{3A8B1501-4FA8-4E1B-B7F8-25EB8E67CD09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622CDA0-48FE-4B09-9E81-108D6DDFB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CA94E24-EA74-4F8A-9B59-5986DE68C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89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19AB0570-EB0A-4F0D-9A52-4EFF07D99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fld id="{59B7BE1D-D6F4-4C28-A978-4FAFBB3EBE91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24119B3-F271-46F6-BC5C-EBC56B2A02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7EBBC51-C731-4FF3-9853-D63A04B7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090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3CDD22D7-6B26-4433-86F3-FD0BBA632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fld id="{999C8229-A7C4-4FD4-BC8E-2E7808780A9F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3B7E286-E406-4CFB-A328-C22A4C9E4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3474242-C04C-400E-8E51-77AE7677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1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W" dirty="0"/>
              <a:t>input is a relation(table from which data has to be accessed) and output is also a relation(a temporary table holding the data asked for by the user).</a:t>
            </a:r>
          </a:p>
          <a:p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17EBB-EE3C-4980-A477-8EF403A9994B}" type="slidenum">
              <a:rPr lang="en-ZW" smtClean="0"/>
              <a:t>20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65753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ZW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 =‘</a:t>
            </a:r>
            <a:r>
              <a:rPr lang="en-ZW" sz="1200" b="0" i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Rundu</a:t>
            </a:r>
            <a:r>
              <a:rPr lang="en-ZW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en-Z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(Team)</a:t>
            </a:r>
          </a:p>
          <a:p>
            <a:r>
              <a:rPr lang="en-Z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* from Team where City = ‘</a:t>
            </a:r>
            <a:r>
              <a:rPr lang="en-Z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Rundu</a:t>
            </a:r>
            <a:r>
              <a:rPr lang="en-Z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’;</a:t>
            </a:r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17EBB-EE3C-4980-A477-8EF403A9994B}" type="slidenum">
              <a:rPr lang="en-ZW" smtClean="0"/>
              <a:t>23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81187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∏</a:t>
            </a:r>
            <a:r>
              <a:rPr lang="en-ZW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Name, Age</a:t>
            </a:r>
            <a:r>
              <a:rPr lang="en-Z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(Student)</a:t>
            </a:r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17EBB-EE3C-4980-A477-8EF403A9994B}" type="slidenum">
              <a:rPr lang="en-ZW" smtClean="0"/>
              <a:t>27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20029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69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41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6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47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40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5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08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24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14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88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5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4C6AA-316E-4722-B749-8240B830E36B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53BB-5D18-47C4-B917-D779AFB16A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18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0.wmf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2.wmf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2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2.wmf"/><Relationship Id="rId4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78617" y="3434615"/>
            <a:ext cx="9132489" cy="3423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1561" y="1716573"/>
            <a:ext cx="8319734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Week </a:t>
            </a:r>
            <a:r>
              <a:rPr lang="en-GB" sz="2694" dirty="0">
                <a:solidFill>
                  <a:srgbClr val="FFFFFF"/>
                </a:solidFill>
                <a:latin typeface="Tw Cen MT" panose="020B0602020104020603"/>
              </a:rPr>
              <a:t>10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Relational Algebra and JOINS</a:t>
            </a:r>
            <a:endParaRPr kumimoji="0" lang="en-US" sz="32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Database </a:t>
            </a:r>
            <a:r>
              <a:rPr lang="en-ZA" sz="2694" dirty="0">
                <a:solidFill>
                  <a:srgbClr val="FFFFFF"/>
                </a:solidFill>
                <a:latin typeface="Tw Cen MT" panose="020B0602020104020603"/>
              </a:rPr>
              <a:t>Implementation</a:t>
            </a:r>
            <a:endParaRPr kumimoji="0" lang="en-ZA" sz="269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65098" y="1242919"/>
            <a:ext cx="7193040" cy="36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paSoftPro-Regular"/>
                <a:ea typeface="+mn-ea"/>
                <a:cs typeface="+mn-cs"/>
              </a:rPr>
              <a:t>Faculty of Computing and Informatics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736" y="3857374"/>
            <a:ext cx="2144373" cy="26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2DEB-489E-430F-8A04-21408A32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430-F846-4953-B041-3840171E2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lesson, we discussed</a:t>
            </a:r>
          </a:p>
          <a:p>
            <a:r>
              <a:rPr lang="en-US" dirty="0"/>
              <a:t>the SELECT command </a:t>
            </a:r>
          </a:p>
          <a:p>
            <a:r>
              <a:rPr lang="en-US" dirty="0"/>
              <a:t>Use various clauses with SELECT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015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8C9D2-F9D6-441D-839D-1EEB6338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03EE-3152-45EB-9334-ACF221646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lesson, students should be able to :</a:t>
            </a:r>
          </a:p>
          <a:p>
            <a:r>
              <a:rPr lang="en-US" dirty="0"/>
              <a:t>Extract data from various relations, joins </a:t>
            </a:r>
          </a:p>
          <a:p>
            <a:r>
              <a:rPr lang="en-GB" dirty="0"/>
              <a:t>Describe and use basic operators</a:t>
            </a:r>
          </a:p>
          <a:p>
            <a:r>
              <a:rPr lang="en-GB" dirty="0"/>
              <a:t>Identify syntax for various operations</a:t>
            </a:r>
          </a:p>
          <a:p>
            <a:r>
              <a:rPr lang="en-GB" dirty="0"/>
              <a:t>Translate relational algebra expressions to SQL statements (vice versa)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41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ZW" dirty="0"/>
              <a:t>This is used to combine data from two different relations(tables) into one and fetch data from the combined relation</a:t>
            </a:r>
          </a:p>
          <a:p>
            <a:pPr algn="just"/>
            <a:r>
              <a:rPr lang="en-ZA" dirty="0">
                <a:solidFill>
                  <a:srgbClr val="FF0000"/>
                </a:solidFill>
              </a:rPr>
              <a:t>Theta join or inner join</a:t>
            </a:r>
          </a:p>
          <a:p>
            <a:pPr lvl="2"/>
            <a:r>
              <a:rPr lang="en-ZA" sz="2000" dirty="0"/>
              <a:t>R</a:t>
            </a:r>
            <a:r>
              <a:rPr lang="en-ZA" sz="2400" b="1" dirty="0"/>
              <a:t> </a:t>
            </a:r>
            <a:r>
              <a:rPr lang="en-US" sz="2400" baseline="30000" dirty="0"/>
              <a:t>⋈</a:t>
            </a:r>
            <a:r>
              <a:rPr lang="en-US" sz="2400" dirty="0"/>
              <a:t>&lt;join condition&gt;</a:t>
            </a:r>
            <a:r>
              <a:rPr lang="en-US" sz="2400" baseline="30000" dirty="0"/>
              <a:t>S</a:t>
            </a:r>
          </a:p>
          <a:p>
            <a:pPr lvl="2"/>
            <a:r>
              <a:rPr lang="en-US" sz="2400" dirty="0"/>
              <a:t>Combines rows from two tables into a single record for records meeting the join condition</a:t>
            </a:r>
            <a:endParaRPr lang="en-US" sz="2400" baseline="30000" dirty="0"/>
          </a:p>
          <a:p>
            <a:pPr>
              <a:lnSpc>
                <a:spcPct val="150000"/>
              </a:lnSpc>
            </a:pP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153425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2A50-AEED-4137-8387-D180306F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Theta Join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A67303-64C2-4E54-856A-CBB525D42EC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52550" y="3153569"/>
            <a:ext cx="4152900" cy="169545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5D3A2-26F5-4831-82A4-5E27C20F8E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C113A33-E347-48C6-B847-4B6849820C2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394892"/>
            <a:ext cx="3744416" cy="864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A84E72-CCB2-4BEB-B14D-9963F1778B9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6565" y="3470595"/>
            <a:ext cx="4840794" cy="220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885B9C-6C27-4D17-9D0C-43607617766F}"/>
              </a:ext>
            </a:extLst>
          </p:cNvPr>
          <p:cNvSpPr txBox="1"/>
          <p:nvPr/>
        </p:nvSpPr>
        <p:spPr>
          <a:xfrm>
            <a:off x="1171575" y="2647950"/>
            <a:ext cx="477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these two relations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6875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D82F-4080-4587-88A2-95CB77BC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E581-C9F1-40D9-AC25-54EC2DB9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Joins clause is used to combine records from two or more tables in a database. A JOIN is a means for combining fields from two tables by using values common to each.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INNER JOIN</a:t>
            </a:r>
            <a:r>
              <a:rPr lang="en-GB" dirty="0"/>
              <a:t> is used to select data that have matching records in both tables</a:t>
            </a:r>
          </a:p>
          <a:p>
            <a:pPr lvl="1"/>
            <a:r>
              <a:rPr lang="en-GB" sz="2000" dirty="0">
                <a:solidFill>
                  <a:srgbClr val="FF0000"/>
                </a:solidFill>
              </a:rPr>
              <a:t>SELECT </a:t>
            </a:r>
            <a:r>
              <a:rPr lang="en-GB" sz="2000" dirty="0" err="1">
                <a:solidFill>
                  <a:srgbClr val="FF0000"/>
                </a:solidFill>
              </a:rPr>
              <a:t>column_name</a:t>
            </a:r>
            <a:r>
              <a:rPr lang="en-GB" sz="2000" dirty="0">
                <a:solidFill>
                  <a:srgbClr val="FF0000"/>
                </a:solidFill>
              </a:rPr>
              <a:t>(s)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FROM table1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INNER JOIN table2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ON table1.column_name = table2.column_name;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LEFT JOIN </a:t>
            </a:r>
            <a:r>
              <a:rPr lang="en-GB" dirty="0"/>
              <a:t>selects data from the left table that have been matched to the right table</a:t>
            </a:r>
          </a:p>
          <a:p>
            <a:pPr lvl="1"/>
            <a:r>
              <a:rPr lang="en-GB" sz="2000" dirty="0">
                <a:solidFill>
                  <a:schemeClr val="accent3"/>
                </a:solidFill>
              </a:rPr>
              <a:t>SELECT </a:t>
            </a:r>
            <a:r>
              <a:rPr lang="en-GB" sz="2000" dirty="0" err="1">
                <a:solidFill>
                  <a:schemeClr val="accent3"/>
                </a:solidFill>
              </a:rPr>
              <a:t>column_name</a:t>
            </a:r>
            <a:r>
              <a:rPr lang="en-GB" sz="2000" dirty="0">
                <a:solidFill>
                  <a:schemeClr val="accent3"/>
                </a:solidFill>
              </a:rPr>
              <a:t>(s)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FROM table1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LEFT OUTER JOIN table2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ON table1.column_name = table2.column_name;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4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059"/>
    </mc:Choice>
    <mc:Fallback xmlns="">
      <p:transition spd="slow" advTm="299059"/>
    </mc:Fallback>
  </mc:AlternateContent>
  <p:extLst>
    <p:ext uri="{3A86A75C-4F4B-4683-9AE1-C65F6400EC91}">
      <p14:laserTraceLst xmlns:p14="http://schemas.microsoft.com/office/powerpoint/2010/main">
        <p14:tracePtLst>
          <p14:tracePt t="2505" x="8420100" y="4868863"/>
          <p14:tracePt t="2515" x="8828088" y="5157788"/>
          <p14:tracePt t="2526" x="9337675" y="5481638"/>
          <p14:tracePt t="2535" x="9812338" y="5702300"/>
          <p14:tracePt t="2545" x="10280650" y="5864225"/>
          <p14:tracePt t="2556" x="10645775" y="5940425"/>
          <p14:tracePt t="2566" x="11002963" y="5973763"/>
          <p14:tracePt t="2575" x="11274425" y="5948363"/>
          <p14:tracePt t="2585" x="11487150" y="5880100"/>
          <p14:tracePt t="2595" x="11707813" y="5770563"/>
          <p14:tracePt t="2605" x="11869738" y="5626100"/>
          <p14:tracePt t="2615" x="11996738" y="5438775"/>
          <p14:tracePt t="2626" x="12123738" y="5218113"/>
          <p14:tracePt t="2634" x="12158663" y="4911725"/>
          <p14:tracePt t="2644" x="12149138" y="4503738"/>
          <p14:tracePt t="2654" x="11988800" y="4011613"/>
          <p14:tracePt t="2664" x="11707813" y="3449638"/>
          <p14:tracePt t="2674" x="11333163" y="2881313"/>
          <p14:tracePt t="2684" x="10952163" y="2413000"/>
          <p14:tracePt t="2694" x="10585450" y="2065338"/>
          <p14:tracePt t="2703" x="10212388" y="1809750"/>
          <p14:tracePt t="2714" x="9931400" y="1674813"/>
          <p14:tracePt t="2723" x="9685338" y="1622425"/>
          <p14:tracePt t="2734" x="9498013" y="1614488"/>
          <p14:tracePt t="2743" x="9286875" y="1631950"/>
          <p14:tracePt t="2753" x="9117013" y="1674813"/>
          <p14:tracePt t="2763" x="9031288" y="1716088"/>
          <p14:tracePt t="2773" x="8980488" y="1758950"/>
          <p14:tracePt t="2783" x="8955088" y="1819275"/>
          <p14:tracePt t="2794" x="8886825" y="2014538"/>
          <p14:tracePt t="2802" x="8853488" y="2311400"/>
          <p14:tracePt t="2813" x="8878888" y="2668588"/>
          <p14:tracePt t="2822" x="9013825" y="3101975"/>
          <p14:tracePt t="2832" x="9201150" y="3568700"/>
          <p14:tracePt t="2844" x="9371013" y="3935413"/>
          <p14:tracePt t="2853" x="9591675" y="4325938"/>
          <p14:tracePt t="2861" x="9720263" y="4579938"/>
          <p14:tracePt t="2873" x="9839325" y="4749800"/>
          <p14:tracePt t="2882" x="9864725" y="4792663"/>
          <p14:tracePt t="2893" x="9890125" y="4818063"/>
          <p14:tracePt t="2902" x="9906000" y="4827588"/>
          <p14:tracePt t="2912" x="9931400" y="4843463"/>
          <p14:tracePt t="2922" x="9940925" y="4843463"/>
          <p14:tracePt t="2931" x="9956800" y="4852988"/>
          <p14:tracePt t="2943" x="9974263" y="4852988"/>
          <p14:tracePt t="2971" x="9983788" y="4852988"/>
          <p14:tracePt t="3050" x="9956800" y="4860925"/>
          <p14:tracePt t="3061" x="9948863" y="4860925"/>
          <p14:tracePt t="3070" x="9931400" y="4868863"/>
          <p14:tracePt t="3081" x="9906000" y="4878388"/>
          <p14:tracePt t="3089" x="9890125" y="4894263"/>
          <p14:tracePt t="3099" x="9880600" y="4903788"/>
          <p14:tracePt t="3110" x="9864725" y="4911725"/>
          <p14:tracePt t="3119" x="9847263" y="4929188"/>
          <p14:tracePt t="3129" x="9829800" y="4946650"/>
          <p14:tracePt t="3140" x="9821863" y="4954588"/>
          <p14:tracePt t="3149" x="9821863" y="4972050"/>
          <p14:tracePt t="3160" x="9812338" y="4979988"/>
          <p14:tracePt t="3169" x="9804400" y="4987925"/>
          <p14:tracePt t="3179" x="9796463" y="4987925"/>
          <p14:tracePt t="3189" x="9796463" y="4997450"/>
          <p14:tracePt t="3210" x="9796463" y="5005388"/>
          <p14:tracePt t="3218" x="9786938" y="5005388"/>
          <p14:tracePt t="3241" x="9779000" y="5005388"/>
          <p14:tracePt t="3260" x="9779000" y="5013325"/>
          <p14:tracePt t="3289" x="9771063" y="5013325"/>
          <p14:tracePt t="3298" x="9761538" y="5022850"/>
          <p14:tracePt t="3318" x="9753600" y="5022850"/>
          <p14:tracePt t="3358" x="9745663" y="5022850"/>
          <p14:tracePt t="3368" x="9736138" y="5022850"/>
          <p14:tracePt t="3397" x="9728200" y="5022850"/>
          <p14:tracePt t="3408" x="9720263" y="5022850"/>
          <p14:tracePt t="3437" x="9710738" y="5022850"/>
          <p14:tracePt t="3477" x="9702800" y="5022850"/>
          <p14:tracePt t="3496" x="9694863" y="5022850"/>
          <p14:tracePt t="4043" x="9431338" y="4868863"/>
          <p14:tracePt t="4051" x="8716963" y="4452938"/>
          <p14:tracePt t="4060" x="8088313" y="4052888"/>
          <p14:tracePt t="4071" x="7518400" y="3679825"/>
          <p14:tracePt t="4080" x="7034213" y="3382963"/>
          <p14:tracePt t="4091" x="6524625" y="3101975"/>
          <p14:tracePt t="4100" x="6134100" y="2889250"/>
          <p14:tracePt t="4110" x="5708650" y="2686050"/>
          <p14:tracePt t="4120" x="5411788" y="2566988"/>
          <p14:tracePt t="4130" x="5173663" y="2489200"/>
          <p14:tracePt t="4141" x="5089525" y="2463800"/>
          <p14:tracePt t="4150" x="5046663" y="2455863"/>
          <p14:tracePt t="4160" x="5003800" y="2455863"/>
          <p14:tracePt t="4170" x="4953000" y="2455863"/>
          <p14:tracePt t="4180" x="4935538" y="2455863"/>
          <p14:tracePt t="4189" x="4902200" y="2463800"/>
          <p14:tracePt t="4199" x="4884738" y="2481263"/>
          <p14:tracePt t="4210" x="4859338" y="2498725"/>
          <p14:tracePt t="4219" x="4843463" y="2506663"/>
          <p14:tracePt t="4230" x="4833938" y="2524125"/>
          <p14:tracePt t="4239" x="4818063" y="2549525"/>
          <p14:tracePt t="4249" x="4808538" y="2566988"/>
          <p14:tracePt t="4259" x="4791075" y="2582863"/>
          <p14:tracePt t="4269" x="4791075" y="2608263"/>
          <p14:tracePt t="4279" x="4783138" y="2643188"/>
          <p14:tracePt t="4289" x="4783138" y="2676525"/>
          <p14:tracePt t="4298" x="4783138" y="2719388"/>
          <p14:tracePt t="4309" x="4876800" y="2871788"/>
          <p14:tracePt t="4319" x="5157788" y="3178175"/>
          <p14:tracePt t="4329" x="5538788" y="3459163"/>
          <p14:tracePt t="4338" x="6024563" y="3730625"/>
          <p14:tracePt t="4348" x="6338888" y="3841750"/>
          <p14:tracePt t="4359" x="6686550" y="3925888"/>
          <p14:tracePt t="4368" x="6967538" y="3976688"/>
          <p14:tracePt t="4379" x="7145338" y="3994150"/>
          <p14:tracePt t="4388" x="7221538" y="3994150"/>
          <p14:tracePt t="4397" x="7281863" y="3986213"/>
          <p14:tracePt t="4409" x="7315200" y="3968750"/>
          <p14:tracePt t="4418" x="7366000" y="3943350"/>
          <p14:tracePt t="4428" x="7426325" y="3883025"/>
          <p14:tracePt t="4439" x="7535863" y="3748088"/>
          <p14:tracePt t="4447" x="7688263" y="3492500"/>
          <p14:tracePt t="4459" x="7791450" y="3170238"/>
          <p14:tracePt t="4467" x="7859713" y="2855913"/>
          <p14:tracePt t="4476" x="7893050" y="2608263"/>
          <p14:tracePt t="4488" x="7893050" y="2405063"/>
          <p14:tracePt t="4496" x="7893050" y="2200275"/>
          <p14:tracePt t="4507" x="7893050" y="2116138"/>
          <p14:tracePt t="4516" x="7893050" y="2055813"/>
          <p14:tracePt t="4526" x="7885113" y="2022475"/>
          <p14:tracePt t="4537" x="7875588" y="1979613"/>
          <p14:tracePt t="4546" x="7867650" y="1954213"/>
          <p14:tracePt t="4557" x="7850188" y="1928813"/>
          <p14:tracePt t="4566" x="7842250" y="1920875"/>
          <p14:tracePt t="4575" x="7832725" y="1903413"/>
          <p14:tracePt t="4586" x="7824788" y="1895475"/>
          <p14:tracePt t="4596" x="7824788" y="1885950"/>
          <p14:tracePt t="4607" x="7799388" y="1878013"/>
          <p14:tracePt t="4614" x="7766050" y="1878013"/>
          <p14:tracePt t="4625" x="7723188" y="1878013"/>
          <p14:tracePt t="4635" x="7493000" y="1954213"/>
          <p14:tracePt t="4645" x="7213600" y="2116138"/>
          <p14:tracePt t="4656" x="6932613" y="2371725"/>
          <p14:tracePt t="4664" x="6719888" y="2643188"/>
          <p14:tracePt t="4675" x="6542088" y="2922588"/>
          <p14:tracePt t="4685" x="6405563" y="3178175"/>
          <p14:tracePt t="4694" x="6338888" y="3355975"/>
          <p14:tracePt t="4705" x="6303963" y="3459163"/>
          <p14:tracePt t="4713" x="6296025" y="3509963"/>
          <p14:tracePt t="4725" x="6296025" y="3527425"/>
          <p14:tracePt t="4734" x="6286500" y="3552825"/>
          <p14:tracePt t="4744" x="6286500" y="3578225"/>
          <p14:tracePt t="4754" x="6286500" y="3586163"/>
          <p14:tracePt t="4763" x="6286500" y="3594100"/>
          <p14:tracePt t="4774" x="6286500" y="3603625"/>
          <p14:tracePt t="4784" x="6286500" y="3611563"/>
          <p14:tracePt t="4794" x="6338888" y="3629025"/>
          <p14:tracePt t="4805" x="6508750" y="3697288"/>
          <p14:tracePt t="4813" x="6711950" y="3756025"/>
          <p14:tracePt t="4824" x="6924675" y="3781425"/>
          <p14:tracePt t="4833" x="7102475" y="3781425"/>
          <p14:tracePt t="4843" x="7391400" y="3705225"/>
          <p14:tracePt t="4853" x="7662863" y="3586163"/>
          <p14:tracePt t="4863" x="7918450" y="3459163"/>
          <p14:tracePt t="4874" x="8070850" y="3314700"/>
          <p14:tracePt t="4882" x="8232775" y="3160713"/>
          <p14:tracePt t="4892" x="8301038" y="3076575"/>
          <p14:tracePt t="4903" x="8351838" y="3000375"/>
          <p14:tracePt t="4912" x="8369300" y="2932113"/>
          <p14:tracePt t="4923" x="8369300" y="2889250"/>
          <p14:tracePt t="4932" x="8369300" y="2830513"/>
          <p14:tracePt t="4943" x="8359775" y="2787650"/>
          <p14:tracePt t="4954" x="8275638" y="2608263"/>
          <p14:tracePt t="4961" x="8080375" y="2397125"/>
          <p14:tracePt t="4972" x="7832725" y="2166938"/>
          <p14:tracePt t="4982" x="7570788" y="1989138"/>
          <p14:tracePt t="4991" x="7272338" y="1870075"/>
          <p14:tracePt t="5002" x="7008813" y="1784350"/>
          <p14:tracePt t="5011" x="6643688" y="1733550"/>
          <p14:tracePt t="5021" x="6354763" y="1733550"/>
          <p14:tracePt t="5038" x="5905500" y="1801813"/>
          <p14:tracePt t="5042" x="5548313" y="1954213"/>
          <p14:tracePt t="5052" x="5106988" y="2174875"/>
          <p14:tracePt t="5061" x="4724400" y="2481263"/>
          <p14:tracePt t="5071" x="4349750" y="2863850"/>
          <p14:tracePt t="5081" x="4044950" y="3271838"/>
          <p14:tracePt t="5092" x="3806825" y="3671888"/>
          <p14:tracePt t="5101" x="3670300" y="4105275"/>
          <p14:tracePt t="5110" x="3594100" y="4529138"/>
          <p14:tracePt t="5121" x="3551238" y="4911725"/>
          <p14:tracePt t="5131" x="3559175" y="5243513"/>
          <p14:tracePt t="5142" x="3619500" y="5575300"/>
          <p14:tracePt t="5151" x="3695700" y="5838825"/>
          <p14:tracePt t="5160" x="3797300" y="6102350"/>
          <p14:tracePt t="5171" x="3900488" y="6272213"/>
          <p14:tracePt t="5180" x="4027488" y="6424613"/>
          <p14:tracePt t="5192" x="4060825" y="6467475"/>
          <p14:tracePt t="5199" x="4129088" y="6500813"/>
          <p14:tracePt t="5210" x="4214813" y="6535738"/>
          <p14:tracePt t="5221" x="4418013" y="6561138"/>
          <p14:tracePt t="5230" x="4646613" y="6561138"/>
          <p14:tracePt t="5241" x="4919663" y="6535738"/>
          <p14:tracePt t="5249" x="5216525" y="6432550"/>
          <p14:tracePt t="5259" x="5581650" y="6237288"/>
          <p14:tracePt t="5269" x="5895975" y="6016625"/>
          <p14:tracePt t="5279" x="6227763" y="5702300"/>
          <p14:tracePt t="5290" x="6465888" y="5430838"/>
          <p14:tracePt t="5299" x="6686550" y="5132388"/>
          <p14:tracePt t="5309" x="6873875" y="4827588"/>
          <p14:tracePt t="5321" x="7008813" y="4546600"/>
          <p14:tracePt t="5329" x="7069138" y="4316413"/>
          <p14:tracePt t="5339" x="7085013" y="4079875"/>
          <p14:tracePt t="5349" x="7043738" y="3798888"/>
          <p14:tracePt t="5359" x="6873875" y="3459163"/>
          <p14:tracePt t="5369" x="6669088" y="3119438"/>
          <p14:tracePt t="5379" x="6372225" y="2762250"/>
          <p14:tracePt t="5390" x="6065838" y="2455863"/>
          <p14:tracePt t="5398" x="5708650" y="2141538"/>
          <p14:tracePt t="5409" x="5446713" y="1946275"/>
          <p14:tracePt t="5418" x="5191125" y="1793875"/>
          <p14:tracePt t="5428" x="5114925" y="1751013"/>
          <p14:tracePt t="5438" x="5064125" y="1733550"/>
          <p14:tracePt t="5449" x="5029200" y="1733550"/>
          <p14:tracePt t="5458" x="4987925" y="1733550"/>
          <p14:tracePt t="5468" x="4935538" y="1751013"/>
          <p14:tracePt t="5478" x="4740275" y="1878013"/>
          <p14:tracePt t="5487" x="4519613" y="2082800"/>
          <p14:tracePt t="5497" x="4230688" y="2413000"/>
          <p14:tracePt t="5508" x="3992563" y="2813050"/>
          <p14:tracePt t="5517" x="3756025" y="3314700"/>
          <p14:tracePt t="5528" x="3594100" y="3806825"/>
          <p14:tracePt t="5538" x="3492500" y="4283075"/>
          <p14:tracePt t="5547" x="3432175" y="4759325"/>
          <p14:tracePt t="5558" x="3432175" y="5132388"/>
          <p14:tracePt t="5566" x="3441700" y="5456238"/>
          <p14:tracePt t="5577" x="3533775" y="5778500"/>
          <p14:tracePt t="5587" x="3652838" y="6076950"/>
          <p14:tracePt t="5596" x="3822700" y="6305550"/>
          <p14:tracePt t="5607" x="3967163" y="6467475"/>
          <p14:tracePt t="5616" x="4137025" y="6569075"/>
          <p14:tracePt t="5626" x="4240213" y="6611938"/>
          <p14:tracePt t="5638" x="4418013" y="6627813"/>
          <p14:tracePt t="5645" x="4570413" y="6619875"/>
          <p14:tracePt t="5656" x="4791075" y="6518275"/>
          <p14:tracePt t="5666" x="5054600" y="6330950"/>
          <p14:tracePt t="5675" x="5360988" y="6024563"/>
          <p14:tracePt t="5687" x="5641975" y="5616575"/>
          <p14:tracePt t="5695" x="5880100" y="5218113"/>
          <p14:tracePt t="5705" x="6116638" y="4691063"/>
          <p14:tracePt t="5715" x="6245225" y="4308475"/>
          <p14:tracePt t="5725" x="6364288" y="3849688"/>
          <p14:tracePt t="5734" x="6380163" y="3502025"/>
          <p14:tracePt t="5744" x="6372225" y="3094038"/>
          <p14:tracePt t="5755" x="6303963" y="2719388"/>
          <p14:tracePt t="5764" x="6210300" y="2405063"/>
          <p14:tracePt t="5774" x="6091238" y="2133600"/>
          <p14:tracePt t="5785" x="5972175" y="1938338"/>
          <p14:tracePt t="5794" x="5880100" y="1793875"/>
          <p14:tracePt t="5805" x="5827713" y="1741488"/>
          <p14:tracePt t="5813" x="5802313" y="1716088"/>
          <p14:tracePt t="5824" x="5768975" y="1682750"/>
          <p14:tracePt t="5834" x="5735638" y="1682750"/>
          <p14:tracePt t="5844" x="5700713" y="1682750"/>
          <p14:tracePt t="5854" x="5624513" y="1716088"/>
          <p14:tracePt t="5863" x="5394325" y="1885950"/>
          <p14:tracePt t="5874" x="5122863" y="2116138"/>
          <p14:tracePt t="5884" x="4826000" y="2473325"/>
          <p14:tracePt t="5893" x="4486275" y="2965450"/>
          <p14:tracePt t="5904" x="4154488" y="3586163"/>
          <p14:tracePt t="5913" x="3900488" y="4359275"/>
          <p14:tracePt t="5924" x="3746500" y="5157788"/>
          <p14:tracePt t="5933" x="3695700" y="5940425"/>
          <p14:tracePt t="5943" x="3713163" y="6543675"/>
          <p14:tracePt t="6072" x="5870575" y="6407150"/>
          <p14:tracePt t="6081" x="6024563" y="6049963"/>
          <p14:tracePt t="6091" x="6159500" y="5583238"/>
          <p14:tracePt t="6101" x="6219825" y="5141913"/>
          <p14:tracePt t="6111" x="6219825" y="4648200"/>
          <p14:tracePt t="6122" x="6134100" y="4283075"/>
          <p14:tracePt t="6130" x="5972175" y="3790950"/>
          <p14:tracePt t="6141" x="5786438" y="3475038"/>
          <p14:tracePt t="6151" x="5505450" y="3101975"/>
          <p14:tracePt t="6160" x="5302250" y="2855913"/>
          <p14:tracePt t="6171" x="5114925" y="2701925"/>
          <p14:tracePt t="6181" x="5013325" y="2651125"/>
          <p14:tracePt t="6191" x="4818063" y="2651125"/>
          <p14:tracePt t="6201" x="4503738" y="2736850"/>
          <p14:tracePt t="6210" x="4197350" y="2881313"/>
          <p14:tracePt t="6220" x="3865563" y="3067050"/>
          <p14:tracePt t="6230" x="3543300" y="3271838"/>
          <p14:tracePt t="6241" x="3194050" y="3517900"/>
          <p14:tracePt t="6250" x="2863850" y="3857625"/>
          <p14:tracePt t="6260" x="2574925" y="4291013"/>
          <p14:tracePt t="6270" x="2379663" y="4708525"/>
          <p14:tracePt t="6280" x="2286000" y="5048250"/>
          <p14:tracePt t="6291" x="2235200" y="5302250"/>
          <p14:tracePt t="6300" x="2235200" y="5413375"/>
          <p14:tracePt t="6309" x="2235200" y="5464175"/>
          <p14:tracePt t="6321" x="2251075" y="5497513"/>
          <p14:tracePt t="6330" x="2293938" y="5524500"/>
          <p14:tracePt t="6341" x="2506663" y="5591175"/>
          <p14:tracePt t="6349" x="2803525" y="5626100"/>
          <p14:tracePt t="6359" x="3100388" y="5616575"/>
          <p14:tracePt t="6370" x="3381375" y="5549900"/>
          <p14:tracePt t="6379" x="3721100" y="5387975"/>
          <p14:tracePt t="6391" x="4121150" y="5124450"/>
          <p14:tracePt t="6399" x="4486275" y="4759325"/>
          <p14:tracePt t="6408" x="4749800" y="4435475"/>
          <p14:tracePt t="6420" x="5046663" y="3976688"/>
          <p14:tracePt t="6430" x="5216525" y="3619500"/>
          <p14:tracePt t="6439" x="5353050" y="3178175"/>
          <p14:tracePt t="6448" x="5403850" y="2906713"/>
          <p14:tracePt t="6458" x="5403850" y="2643188"/>
          <p14:tracePt t="6471" x="5378450" y="2422525"/>
          <p14:tracePt t="6479" x="5318125" y="2192338"/>
          <p14:tracePt t="6489" x="5224463" y="1979613"/>
          <p14:tracePt t="6498" x="5173663" y="1878013"/>
          <p14:tracePt t="6508" x="5132388" y="1835150"/>
          <p14:tracePt t="6520" x="5106988" y="1809750"/>
          <p14:tracePt t="6528" x="5089525" y="1793875"/>
          <p14:tracePt t="6539" x="5072063" y="1776413"/>
          <p14:tracePt t="6548" x="5054600" y="1776413"/>
          <p14:tracePt t="6558" x="5029200" y="1776413"/>
          <p14:tracePt t="6569" x="4995863" y="1776413"/>
          <p14:tracePt t="6577" x="4859338" y="1844675"/>
          <p14:tracePt t="6589" x="4486275" y="2098675"/>
          <p14:tracePt t="6597" x="4154488" y="2438400"/>
          <p14:tracePt t="6608" x="3848100" y="2846388"/>
          <p14:tracePt t="6616" x="3678238" y="3178175"/>
          <p14:tracePt t="6626" x="3576638" y="3475038"/>
          <p14:tracePt t="6639" x="3500438" y="3679825"/>
          <p14:tracePt t="6646" x="3492500" y="3738563"/>
          <p14:tracePt t="6657" x="3482975" y="3773488"/>
          <p14:tracePt t="6666" x="3482975" y="3798888"/>
          <p14:tracePt t="6676" x="3482975" y="3816350"/>
          <p14:tracePt t="6686" x="3492500" y="3832225"/>
          <p14:tracePt t="6696" x="3533775" y="3857625"/>
          <p14:tracePt t="6707" x="3797300" y="3908425"/>
          <p14:tracePt t="6716" x="4171950" y="3908425"/>
          <p14:tracePt t="6725" x="4595813" y="3857625"/>
          <p14:tracePt t="6736" x="4919663" y="3713163"/>
          <p14:tracePt t="6745" x="5378450" y="3441700"/>
          <p14:tracePt t="6756" x="5735638" y="3127375"/>
          <p14:tracePt t="6765" x="6159500" y="2701925"/>
          <p14:tracePt t="6775" x="6440488" y="2328863"/>
          <p14:tracePt t="6787" x="6678613" y="1903413"/>
          <p14:tracePt t="6795" x="6856413" y="1512888"/>
          <p14:tracePt t="6806" x="6942138" y="1198563"/>
          <p14:tracePt t="6815" x="6975475" y="917575"/>
          <p14:tracePt t="6824" x="6958013" y="730250"/>
          <p14:tracePt t="6837" x="6932613" y="671513"/>
          <p14:tracePt t="6844" x="6856413" y="577850"/>
          <p14:tracePt t="6855" x="6711950" y="458788"/>
          <p14:tracePt t="6864" x="6465888" y="339725"/>
          <p14:tracePt t="6873" x="6159500" y="203200"/>
          <p14:tracePt t="6886" x="5888038" y="101600"/>
          <p14:tracePt t="6894" x="5599113" y="0"/>
          <p14:tracePt t="6953" x="3822700" y="382588"/>
          <p14:tracePt t="6963" x="3602038" y="704850"/>
          <p14:tracePt t="6973" x="3449638" y="1036638"/>
          <p14:tracePt t="6984" x="3381375" y="1376363"/>
          <p14:tracePt t="6993" x="3363913" y="1674813"/>
          <p14:tracePt t="7004" x="3389313" y="1971675"/>
          <p14:tracePt t="7012" x="3492500" y="2268538"/>
          <p14:tracePt t="7023" x="3652838" y="2574925"/>
          <p14:tracePt t="7037" x="3857625" y="2863850"/>
          <p14:tracePt t="7042" x="4078288" y="3084513"/>
          <p14:tracePt t="7052" x="4324350" y="3330575"/>
          <p14:tracePt t="7063" x="4613275" y="3535363"/>
          <p14:tracePt t="7073" x="4868863" y="3687763"/>
          <p14:tracePt t="7082" x="5106988" y="3763963"/>
          <p14:tracePt t="7092" x="5302250" y="3790950"/>
          <p14:tracePt t="7102" x="5480050" y="3790950"/>
          <p14:tracePt t="7112" x="5667375" y="3722688"/>
          <p14:tracePt t="7123" x="5845175" y="3586163"/>
          <p14:tracePt t="7131" x="6007100" y="3441700"/>
          <p14:tracePt t="7141" x="6100763" y="3271838"/>
          <p14:tracePt t="7152" x="6126163" y="3211513"/>
          <p14:tracePt t="7162" x="6134100" y="3160713"/>
          <p14:tracePt t="7172" x="6134100" y="3127375"/>
          <p14:tracePt t="7182" x="6134100" y="3101975"/>
          <p14:tracePt t="7191" x="6108700" y="3051175"/>
          <p14:tracePt t="7202" x="6083300" y="3016250"/>
          <p14:tracePt t="7211" x="6015038" y="2949575"/>
          <p14:tracePt t="7222" x="5964238" y="2906713"/>
          <p14:tracePt t="7230" x="5921375" y="2881313"/>
          <p14:tracePt t="7240" x="5880100" y="2855913"/>
          <p14:tracePt t="7252" x="5845175" y="2838450"/>
          <p14:tracePt t="7260" x="5827713" y="2838450"/>
          <p14:tracePt t="7272" x="5794375" y="2838450"/>
          <p14:tracePt t="7280" x="5768975" y="2838450"/>
          <p14:tracePt t="7290" x="5751513" y="2838450"/>
          <p14:tracePt t="7303" x="5735638" y="2855913"/>
          <p14:tracePt t="7310" x="5708650" y="2871788"/>
          <p14:tracePt t="7321" x="5683250" y="2906713"/>
          <p14:tracePt t="7330" x="5667375" y="2957513"/>
          <p14:tracePt t="7340" x="5667375" y="3084513"/>
          <p14:tracePt t="7350" x="5708650" y="3271838"/>
          <p14:tracePt t="7360" x="5837238" y="3492500"/>
          <p14:tracePt t="7370" x="5946775" y="3646488"/>
          <p14:tracePt t="7380" x="6024563" y="3738563"/>
          <p14:tracePt t="7390" x="6049963" y="3756025"/>
          <p14:tracePt t="7399" x="6075363" y="3763963"/>
          <p14:tracePt t="7409" x="6100763" y="3773488"/>
          <p14:tracePt t="7421" x="6134100" y="3773488"/>
          <p14:tracePt t="7429" x="6167438" y="3756025"/>
          <p14:tracePt t="7440" x="6311900" y="3611563"/>
          <p14:tracePt t="7449" x="6465888" y="3424238"/>
          <p14:tracePt t="7459" x="6575425" y="3203575"/>
          <p14:tracePt t="7469" x="6600825" y="3152775"/>
          <p14:tracePt t="7478" x="6610350" y="3109913"/>
          <p14:tracePt t="7489" x="6610350" y="3084513"/>
          <p14:tracePt t="7500" x="6610350" y="3059113"/>
          <p14:tracePt t="7509" x="6610350" y="3041650"/>
          <p14:tracePt t="7518" x="6610350" y="3025775"/>
          <p14:tracePt t="7541" x="6600825" y="3016250"/>
          <p14:tracePt t="7549" x="6600825" y="3008313"/>
          <p14:tracePt t="7578" x="6600825" y="3000375"/>
          <p14:tracePt t="7589" x="6592888" y="2990850"/>
          <p14:tracePt t="7598" x="6584950" y="2990850"/>
          <p14:tracePt t="7607" x="6575425" y="2982913"/>
          <p14:tracePt t="8143" x="6592888" y="2965450"/>
          <p14:tracePt t="8153" x="6610350" y="2940050"/>
          <p14:tracePt t="8163" x="6626225" y="2897188"/>
          <p14:tracePt t="8172" x="6643688" y="2846388"/>
          <p14:tracePt t="8182" x="6653213" y="2805113"/>
          <p14:tracePt t="8192" x="6653213" y="2770188"/>
          <p14:tracePt t="8202" x="6661150" y="2736850"/>
          <p14:tracePt t="8211" x="6661150" y="2719388"/>
          <p14:tracePt t="8222" x="6661150" y="2693988"/>
          <p14:tracePt t="8231" x="6661150" y="2668588"/>
          <p14:tracePt t="8241" x="6661150" y="2651125"/>
          <p14:tracePt t="8251" x="6661150" y="2625725"/>
          <p14:tracePt t="8262" x="6653213" y="2600325"/>
          <p14:tracePt t="8272" x="6635750" y="2574925"/>
          <p14:tracePt t="8282" x="6626225" y="2541588"/>
          <p14:tracePt t="8291" x="6610350" y="2516188"/>
          <p14:tracePt t="8301" x="6584950" y="2481263"/>
          <p14:tracePt t="8312" x="6567488" y="2463800"/>
          <p14:tracePt t="8322" x="6534150" y="2430463"/>
          <p14:tracePt t="8330" x="6508750" y="2413000"/>
          <p14:tracePt t="8340" x="6483350" y="2397125"/>
          <p14:tracePt t="8351" x="6465888" y="2379663"/>
          <p14:tracePt t="8361" x="6440488" y="2371725"/>
          <p14:tracePt t="8371" x="6423025" y="2362200"/>
          <p14:tracePt t="8380" x="6389688" y="2362200"/>
          <p14:tracePt t="8390" x="6235700" y="2413000"/>
          <p14:tracePt t="8401" x="5930900" y="2592388"/>
          <p14:tracePt t="8410" x="5632450" y="2838450"/>
          <p14:tracePt t="8421" x="5368925" y="3109913"/>
          <p14:tracePt t="8430" x="5216525" y="3297238"/>
          <p14:tracePt t="8440" x="5089525" y="3517900"/>
          <p14:tracePt t="8451" x="5021263" y="3705225"/>
          <p14:tracePt t="8460" x="4945063" y="3943350"/>
          <p14:tracePt t="8470" x="4876800" y="4197350"/>
          <p14:tracePt t="8480" x="4833938" y="4419600"/>
          <p14:tracePt t="8489" x="4800600" y="4640263"/>
          <p14:tracePt t="8501" x="4791075" y="4818063"/>
          <p14:tracePt t="8509" x="4775200" y="5030788"/>
          <p14:tracePt t="8520" x="4775200" y="5208588"/>
          <p14:tracePt t="8529" x="4775200" y="5319713"/>
          <p14:tracePt t="8538" x="4775200" y="5380038"/>
          <p14:tracePt t="8551" x="4775200" y="5421313"/>
          <p14:tracePt t="8559" x="4800600" y="5464175"/>
          <p14:tracePt t="8569" x="4800600" y="5489575"/>
          <p14:tracePt t="8580" x="4818063" y="5514975"/>
          <p14:tracePt t="8589" x="4843463" y="5540375"/>
          <p14:tracePt t="8599" x="4868863" y="5557838"/>
          <p14:tracePt t="8609" x="4902200" y="5565775"/>
          <p14:tracePt t="8619" x="4987925" y="5583238"/>
          <p14:tracePt t="8628" x="5097463" y="5583238"/>
          <p14:tracePt t="8639" x="5276850" y="5583238"/>
          <p14:tracePt t="8649" x="5472113" y="5540375"/>
          <p14:tracePt t="8658" x="5718175" y="5446713"/>
          <p14:tracePt t="8668" x="5972175" y="5294313"/>
          <p14:tracePt t="8678" x="6261100" y="5091113"/>
          <p14:tracePt t="8688" x="6508750" y="4860925"/>
          <p14:tracePt t="8698" x="6686550" y="4648200"/>
          <p14:tracePt t="8707" x="6856413" y="4419600"/>
          <p14:tracePt t="8717" x="6975475" y="4240213"/>
          <p14:tracePt t="8727" x="7059613" y="4052888"/>
          <p14:tracePt t="8738" x="7094538" y="3883025"/>
          <p14:tracePt t="8747" x="7137400" y="3713163"/>
          <p14:tracePt t="8756" x="7137400" y="3509963"/>
          <p14:tracePt t="8768" x="7127875" y="3271838"/>
          <p14:tracePt t="8776" x="7059613" y="2957513"/>
          <p14:tracePt t="8788" x="7000875" y="2727325"/>
          <p14:tracePt t="8796" x="6915150" y="2438400"/>
          <p14:tracePt t="8806" x="6823075" y="2227263"/>
          <p14:tracePt t="8817" x="6729413" y="2005013"/>
          <p14:tracePt t="8828" x="6661150" y="1827213"/>
          <p14:tracePt t="8837" x="6618288" y="1725613"/>
          <p14:tracePt t="8845" x="6584950" y="1674813"/>
          <p14:tracePt t="8855" x="6567488" y="1639888"/>
          <p14:tracePt t="8866" x="6550025" y="1614488"/>
          <p14:tracePt t="8875" x="6534150" y="1589088"/>
          <p14:tracePt t="8887" x="6508750" y="1563688"/>
          <p14:tracePt t="8895" x="6491288" y="1538288"/>
          <p14:tracePt t="8905" x="6473825" y="1520825"/>
          <p14:tracePt t="8915" x="6448425" y="1504950"/>
          <p14:tracePt t="8925" x="6397625" y="1470025"/>
          <p14:tracePt t="8936" x="6296025" y="1401763"/>
          <p14:tracePt t="8945" x="6134100" y="1325563"/>
          <p14:tracePt t="8955" x="5964238" y="1266825"/>
          <p14:tracePt t="8964" x="5913438" y="1257300"/>
          <p14:tracePt t="8974" x="5870575" y="1249363"/>
          <p14:tracePt t="8986" x="5819775" y="1241425"/>
          <p14:tracePt t="8994" x="5802313" y="1241425"/>
          <p14:tracePt t="9004" x="5768975" y="1249363"/>
          <p14:tracePt t="9014" x="5743575" y="1266825"/>
          <p14:tracePt t="9024" x="5718175" y="1300163"/>
          <p14:tracePt t="9035" x="5641975" y="1419225"/>
          <p14:tracePt t="9043" x="5565775" y="1614488"/>
          <p14:tracePt t="9054" x="5497513" y="1895475"/>
          <p14:tracePt t="9063" x="5462588" y="2227263"/>
          <p14:tracePt t="9074" x="5462588" y="2541588"/>
          <p14:tracePt t="9083" x="5505450" y="2881313"/>
          <p14:tracePt t="9093" x="5573713" y="3221038"/>
          <p14:tracePt t="9103" x="5667375" y="3535363"/>
          <p14:tracePt t="9113" x="5751513" y="3849688"/>
          <p14:tracePt t="9123" x="5862638" y="4171950"/>
          <p14:tracePt t="9134" x="5956300" y="4410075"/>
          <p14:tracePt t="9142" x="6049963" y="4657725"/>
          <p14:tracePt t="9153" x="6116638" y="4810125"/>
          <p14:tracePt t="9163" x="6159500" y="4903788"/>
          <p14:tracePt t="9172" x="6194425" y="4937125"/>
          <p14:tracePt t="9183" x="6210300" y="4987925"/>
          <p14:tracePt t="9193" x="6235700" y="5013325"/>
          <p14:tracePt t="9204" x="6253163" y="5038725"/>
          <p14:tracePt t="9211" x="6261100" y="5048250"/>
          <p14:tracePt t="9222" x="6278563" y="5064125"/>
          <p14:tracePt t="9233" x="6286500" y="5073650"/>
          <p14:tracePt t="9243" x="6296025" y="5081588"/>
          <p14:tracePt t="9253" x="6311900" y="5091113"/>
          <p14:tracePt t="9261" x="6321425" y="5091113"/>
          <p14:tracePt t="9271" x="6329363" y="5099050"/>
          <p14:tracePt t="9282" x="6346825" y="5099050"/>
          <p14:tracePt t="9292" x="6364288" y="5106988"/>
          <p14:tracePt t="9302" x="6380163" y="5106988"/>
          <p14:tracePt t="9311" x="6397625" y="5116513"/>
          <p14:tracePt t="9321" x="6423025" y="5116513"/>
          <p14:tracePt t="9331" x="6430963" y="5116513"/>
          <p14:tracePt t="9341" x="6456363" y="5116513"/>
          <p14:tracePt t="9351" x="6473825" y="5116513"/>
          <p14:tracePt t="9361" x="6483350" y="5116513"/>
          <p14:tracePt t="9371" x="6499225" y="5116513"/>
          <p14:tracePt t="9382" x="6524625" y="5116513"/>
          <p14:tracePt t="9390" x="6550025" y="5106988"/>
          <p14:tracePt t="9401" x="6600825" y="5073650"/>
          <p14:tracePt t="9410" x="6669088" y="5030788"/>
          <p14:tracePt t="9421" x="6762750" y="4954588"/>
          <p14:tracePt t="9430" x="6823075" y="4886325"/>
          <p14:tracePt t="9440" x="6942138" y="4741863"/>
          <p14:tracePt t="9450" x="7059613" y="4572000"/>
          <p14:tracePt t="9459" x="7162800" y="4376738"/>
          <p14:tracePt t="9471" x="7264400" y="4105275"/>
          <p14:tracePt t="9480" x="7315200" y="3824288"/>
          <p14:tracePt t="9489" x="7348538" y="3527425"/>
          <p14:tracePt t="9500" x="7348538" y="3297238"/>
          <p14:tracePt t="9509" x="7340600" y="3051175"/>
          <p14:tracePt t="9521" x="7281863" y="2820988"/>
          <p14:tracePt t="9529" x="7221538" y="2592388"/>
          <p14:tracePt t="9538" x="7119938" y="2354263"/>
          <p14:tracePt t="9550" x="7008813" y="2133600"/>
          <p14:tracePt t="9558" x="6915150" y="1963738"/>
          <p14:tracePt t="9572" x="6797675" y="1793875"/>
          <p14:tracePt t="9578" x="6678613" y="1657350"/>
          <p14:tracePt t="9589" x="6559550" y="1530350"/>
          <p14:tracePt t="9600" x="6524625" y="1487488"/>
          <p14:tracePt t="9608" x="6491288" y="1462088"/>
          <p14:tracePt t="9620" x="6448425" y="1444625"/>
          <p14:tracePt t="9629" x="6430963" y="1419225"/>
          <p14:tracePt t="9638" x="6405563" y="1411288"/>
          <p14:tracePt t="9650" x="6380163" y="1401763"/>
          <p14:tracePt t="9658" x="6354763" y="1393825"/>
          <p14:tracePt t="9670" x="6338888" y="1385888"/>
          <p14:tracePt t="9678" x="6303963" y="1385888"/>
          <p14:tracePt t="9688" x="6270625" y="1385888"/>
          <p14:tracePt t="9698" x="6245225" y="1385888"/>
          <p14:tracePt t="9707" x="6202363" y="1393825"/>
          <p14:tracePt t="9720" x="6151563" y="1436688"/>
          <p14:tracePt t="9726" x="6024563" y="1563688"/>
          <p14:tracePt t="9738" x="5819775" y="1784350"/>
          <p14:tracePt t="9747" x="5667375" y="2065338"/>
          <p14:tracePt t="9757" x="5530850" y="2344738"/>
          <p14:tracePt t="9768" x="5446713" y="2600325"/>
          <p14:tracePt t="9777" x="5378450" y="2889250"/>
          <p14:tracePt t="9787" x="5360988" y="3152775"/>
          <p14:tracePt t="9797" x="5343525" y="3424238"/>
          <p14:tracePt t="9808" x="5343525" y="3687763"/>
          <p14:tracePt t="9817" x="5353050" y="3867150"/>
          <p14:tracePt t="9826" x="5360988" y="4052888"/>
          <p14:tracePt t="9837" x="5360988" y="4095750"/>
          <p14:tracePt t="9846" x="5378450" y="4156075"/>
          <p14:tracePt t="9856" x="5378450" y="4189413"/>
          <p14:tracePt t="9866" x="5386388" y="4206875"/>
          <p14:tracePt t="9876" x="5394325" y="4232275"/>
          <p14:tracePt t="9887" x="5403850" y="4249738"/>
          <p14:tracePt t="9896" x="5403850" y="4257675"/>
          <p14:tracePt t="9905" x="5411788" y="4265613"/>
          <p14:tracePt t="9917" x="5429250" y="4275138"/>
          <p14:tracePt t="9925" x="5437188" y="4283075"/>
          <p14:tracePt t="9937" x="5480050" y="4283075"/>
          <p14:tracePt t="9944" x="5718175" y="4283075"/>
          <p14:tracePt t="9955" x="6108700" y="4214813"/>
          <p14:tracePt t="9966" x="6499225" y="4062413"/>
          <p14:tracePt t="9975" x="6805613" y="3875088"/>
          <p14:tracePt t="9987" x="7069138" y="3687763"/>
          <p14:tracePt t="9995" x="7229475" y="3560763"/>
          <p14:tracePt t="10004" x="7366000" y="3424238"/>
          <p14:tracePt t="10016" x="7400925" y="3382963"/>
          <p14:tracePt t="10033" x="7426325" y="3348038"/>
          <p14:tracePt t="10035" x="7442200" y="3330575"/>
          <p14:tracePt t="10044" x="7459663" y="3314700"/>
          <p14:tracePt t="10055" x="7467600" y="3305175"/>
          <p14:tracePt t="10065" x="7485063" y="3289300"/>
          <p14:tracePt t="10074" x="7485063" y="3279775"/>
          <p14:tracePt t="10084" x="7493000" y="3271838"/>
          <p14:tracePt t="53600" x="7842250" y="3365500"/>
          <p14:tracePt t="53610" x="8343900" y="3578225"/>
          <p14:tracePt t="53619" x="8853488" y="3832225"/>
          <p14:tracePt t="53629" x="9302750" y="4079875"/>
          <p14:tracePt t="53639" x="9728200" y="4341813"/>
          <p14:tracePt t="53649" x="10101263" y="4597400"/>
          <p14:tracePt t="53659" x="10450513" y="4852988"/>
          <p14:tracePt t="53668" x="10747375" y="5073650"/>
          <p14:tracePt t="53680" x="11036300" y="5268913"/>
          <p14:tracePt t="53688" x="11274425" y="5438775"/>
          <p14:tracePt t="53698" x="11477625" y="5575300"/>
          <p14:tracePt t="53708" x="11682413" y="5719763"/>
          <p14:tracePt t="53718" x="11834813" y="5846763"/>
          <p14:tracePt t="53729" x="11885613" y="5872163"/>
          <p14:tracePt t="53739" x="11920538" y="5905500"/>
          <p14:tracePt t="53748" x="11953875" y="5932488"/>
          <p14:tracePt t="53761" x="11979275" y="5948363"/>
          <p14:tracePt t="53768" x="12014200" y="5965825"/>
          <p14:tracePt t="53780" x="12039600" y="5991225"/>
          <p14:tracePt t="53788" x="12065000" y="6008688"/>
          <p14:tracePt t="53799" x="12080875" y="6016625"/>
          <p14:tracePt t="53807" x="12090400" y="6024563"/>
          <p14:tracePt t="53817" x="12106275" y="6042025"/>
          <p14:tracePt t="53829" x="12123738" y="6049963"/>
          <p14:tracePt t="53837" x="12141200" y="6059488"/>
          <p14:tracePt t="53857" x="12149138" y="6059488"/>
          <p14:tracePt t="53866" x="12158663" y="6067425"/>
          <p14:tracePt t="53887" x="12166600" y="6076950"/>
          <p14:tracePt t="53896" x="12166600" y="6084888"/>
          <p14:tracePt t="53928" x="12166600" y="6092825"/>
          <p14:tracePt t="53936" x="12174538" y="6102350"/>
          <p14:tracePt t="53956" x="12174538" y="6110288"/>
          <p14:tracePt t="53966" x="12174538" y="6118225"/>
          <p14:tracePt t="53977" x="12174538" y="6127750"/>
          <p14:tracePt t="53996" x="12174538" y="6135688"/>
          <p14:tracePt t="54005" x="12174538" y="6143625"/>
          <p14:tracePt t="54036" x="12174538" y="6153150"/>
          <p14:tracePt t="54046" x="12174538" y="6161088"/>
          <p14:tracePt t="54065" x="12174538" y="6169025"/>
          <p14:tracePt t="54096" x="12174538" y="6178550"/>
          <p14:tracePt t="54114" x="12174538" y="6186488"/>
          <p14:tracePt t="271993" x="11410950" y="5565775"/>
          <p14:tracePt t="272002" x="10534650" y="4716463"/>
          <p14:tracePt t="272012" x="9983788" y="4095750"/>
          <p14:tracePt t="272023" x="9779000" y="3781425"/>
          <p14:tracePt t="272032" x="9694863" y="3568700"/>
          <p14:tracePt t="272043" x="9677400" y="3517900"/>
          <p14:tracePt t="272053" x="9677400" y="3492500"/>
          <p14:tracePt t="272062" x="9677400" y="3459163"/>
          <p14:tracePt t="272071" x="9702800" y="3433763"/>
          <p14:tracePt t="272082" x="9753600" y="3398838"/>
          <p14:tracePt t="272092" x="9812338" y="3382963"/>
          <p14:tracePt t="272102" x="9872663" y="3373438"/>
          <p14:tracePt t="272111" x="9906000" y="3373438"/>
          <p14:tracePt t="272123" x="9931400" y="3390900"/>
          <p14:tracePt t="272132" x="9948863" y="3433763"/>
          <p14:tracePt t="272142" x="9991725" y="3619500"/>
          <p14:tracePt t="272151" x="9966325" y="3943350"/>
          <p14:tracePt t="272162" x="9872663" y="4265613"/>
          <p14:tracePt t="272171" x="9745663" y="4589463"/>
          <p14:tracePt t="272181" x="9626600" y="4886325"/>
          <p14:tracePt t="272192" x="9456738" y="5218113"/>
          <p14:tracePt t="272201" x="9286875" y="5583238"/>
          <p14:tracePt t="272211" x="9117013" y="5940425"/>
          <p14:tracePt t="272221" x="8886825" y="6416675"/>
          <p14:tracePt t="272577" x="3908425" y="6561138"/>
          <p14:tracePt t="272588" x="3441700" y="6356350"/>
          <p14:tracePt t="272597" x="3135313" y="6211888"/>
          <p14:tracePt t="272608" x="2940050" y="6102350"/>
          <p14:tracePt t="272617" x="2914650" y="6092825"/>
          <p14:tracePt t="272627" x="2889250" y="6067425"/>
          <p14:tracePt t="272638" x="2889250" y="6049963"/>
          <p14:tracePt t="272895" x="3092450" y="5915025"/>
          <p14:tracePt t="272904" x="3652838" y="5608638"/>
          <p14:tracePt t="272914" x="4205288" y="5421313"/>
          <p14:tracePt t="272924" x="4775200" y="5276850"/>
          <p14:tracePt t="272934" x="5224463" y="5192713"/>
          <p14:tracePt t="272943" x="5700713" y="5132388"/>
          <p14:tracePt t="272954" x="6024563" y="5116513"/>
          <p14:tracePt t="272964" x="6261100" y="5106988"/>
          <p14:tracePt t="272974" x="6465888" y="5106988"/>
          <p14:tracePt t="272983" x="6550025" y="5106988"/>
          <p14:tracePt t="272993" x="6592888" y="5106988"/>
          <p14:tracePt t="273005" x="6618288" y="5106988"/>
          <p14:tracePt t="273012" x="6643688" y="5106988"/>
          <p14:tracePt t="273024" x="6653213" y="5106988"/>
          <p14:tracePt t="273043" x="6661150" y="5106988"/>
          <p14:tracePt t="273102" x="6653213" y="5106988"/>
          <p14:tracePt t="273112" x="6635750" y="5116513"/>
          <p14:tracePt t="273123" x="6610350" y="5124450"/>
          <p14:tracePt t="273131" x="6559550" y="5141913"/>
          <p14:tracePt t="273141" x="6483350" y="5175250"/>
          <p14:tracePt t="273152" x="6303963" y="5268913"/>
          <p14:tracePt t="273162" x="6108700" y="5380038"/>
          <p14:tracePt t="273173" x="5888038" y="5481638"/>
          <p14:tracePt t="273181" x="5667375" y="5616575"/>
          <p14:tracePt t="273192" x="5472113" y="5719763"/>
          <p14:tracePt t="273202" x="5259388" y="5813425"/>
          <p14:tracePt t="273212" x="5165725" y="5846763"/>
          <p14:tracePt t="273222" x="5114925" y="5864225"/>
          <p14:tracePt t="273231" x="5072063" y="5880100"/>
          <p14:tracePt t="273240" x="5013325" y="5905500"/>
          <p14:tracePt t="273251" x="4962525" y="5922963"/>
          <p14:tracePt t="273262" x="4910138" y="5940425"/>
          <p14:tracePt t="273270" x="4868863" y="5948363"/>
          <p14:tracePt t="273280" x="4833938" y="5957888"/>
          <p14:tracePt t="273291" x="4800600" y="5965825"/>
          <p14:tracePt t="273302" x="4783138" y="5973763"/>
          <p14:tracePt t="273310" x="4775200" y="5973763"/>
          <p14:tracePt t="273321" x="4757738" y="5973763"/>
          <p14:tracePt t="273330" x="4749800" y="5973763"/>
          <p14:tracePt t="273341" x="4740275" y="5973763"/>
          <p14:tracePt t="273350" x="4732338" y="5973763"/>
          <p14:tracePt t="273369" x="4724400" y="5973763"/>
          <p14:tracePt t="273400" x="4714875" y="5973763"/>
          <p14:tracePt t="273409" x="4706938" y="5965825"/>
          <p14:tracePt t="273429" x="4706938" y="5957888"/>
          <p14:tracePt t="273449" x="4706938" y="5948363"/>
          <p14:tracePt t="273469" x="4706938" y="5940425"/>
          <p14:tracePt t="273479" x="4706938" y="5932488"/>
          <p14:tracePt t="273489" x="4706938" y="5922963"/>
          <p14:tracePt t="273498" x="4706938" y="5915025"/>
          <p14:tracePt t="273509" x="4706938" y="5905500"/>
          <p14:tracePt t="273522" x="4714875" y="5889625"/>
          <p14:tracePt t="273528" x="4724400" y="5872163"/>
          <p14:tracePt t="273541" x="4740275" y="5854700"/>
          <p14:tracePt t="273548" x="4749800" y="5838825"/>
          <p14:tracePt t="273557" x="4765675" y="5813425"/>
          <p14:tracePt t="273569" x="4783138" y="5788025"/>
          <p14:tracePt t="273578" x="4800600" y="5770563"/>
          <p14:tracePt t="273591" x="4818063" y="5753100"/>
          <p14:tracePt t="273597" x="4833938" y="5735638"/>
          <p14:tracePt t="273607" x="4833938" y="5727700"/>
          <p14:tracePt t="273618" x="4843463" y="5710238"/>
          <p14:tracePt t="273628" x="4851400" y="5710238"/>
          <p14:tracePt t="273636" x="4851400" y="5702300"/>
          <p14:tracePt t="273646" x="4859338" y="5694363"/>
          <p14:tracePt t="273667" x="4859338" y="5684838"/>
          <p14:tracePt t="273696" x="4868863" y="5684838"/>
          <p14:tracePt t="273706" x="4868863" y="5676900"/>
          <p14:tracePt t="273736" x="4868863" y="5668963"/>
          <p14:tracePt t="273876" x="4876800" y="5659438"/>
          <p14:tracePt t="273915" x="4876800" y="5651500"/>
          <p14:tracePt t="273945" x="4884738" y="5651500"/>
          <p14:tracePt t="273964" x="4894263" y="5641975"/>
          <p14:tracePt t="273974" x="4902200" y="5641975"/>
          <p14:tracePt t="273994" x="4910138" y="5641975"/>
          <p14:tracePt t="274004" x="4919663" y="5641975"/>
          <p14:tracePt t="274014" x="4927600" y="5641975"/>
          <p14:tracePt t="274023" x="4945063" y="5641975"/>
          <p14:tracePt t="274033" x="4962525" y="5634038"/>
          <p14:tracePt t="274043" x="4978400" y="5634038"/>
          <p14:tracePt t="274054" x="4995863" y="5634038"/>
          <p14:tracePt t="274064" x="5013325" y="5634038"/>
          <p14:tracePt t="274073" x="5029200" y="5634038"/>
          <p14:tracePt t="274083" x="5046663" y="5634038"/>
          <p14:tracePt t="274092" x="5064125" y="5634038"/>
          <p14:tracePt t="274103" x="5089525" y="5634038"/>
          <p14:tracePt t="274113" x="5114925" y="5634038"/>
          <p14:tracePt t="274123" x="5148263" y="5634038"/>
          <p14:tracePt t="274133" x="5165725" y="5634038"/>
          <p14:tracePt t="274142" x="5199063" y="5634038"/>
          <p14:tracePt t="274153" x="5233988" y="5634038"/>
          <p14:tracePt t="274163" x="5276850" y="5634038"/>
          <p14:tracePt t="274173" x="5318125" y="5634038"/>
          <p14:tracePt t="274182" x="5487988" y="5634038"/>
          <p14:tracePt t="274191" x="5726113" y="5616575"/>
          <p14:tracePt t="274203" x="5997575" y="5583238"/>
          <p14:tracePt t="274211" x="6278563" y="5557838"/>
          <p14:tracePt t="274222" x="6491288" y="5524500"/>
          <p14:tracePt t="274232" x="6610350" y="5514975"/>
          <p14:tracePt t="274242" x="6653213" y="5514975"/>
          <p14:tracePt t="274252" x="6678613" y="5514975"/>
          <p14:tracePt t="274261" x="6711950" y="5514975"/>
          <p14:tracePt t="274273" x="6737350" y="5514975"/>
          <p14:tracePt t="274281" x="6745288" y="5514975"/>
          <p14:tracePt t="274292" x="6762750" y="5514975"/>
          <p14:tracePt t="274303" x="6780213" y="5514975"/>
          <p14:tracePt t="274311" x="6788150" y="5514975"/>
          <p14:tracePt t="274321" x="6797675" y="5514975"/>
          <p14:tracePt t="274331" x="6805613" y="5514975"/>
          <p14:tracePt t="274340" x="6813550" y="5514975"/>
          <p14:tracePt t="274380" x="6823075" y="5524500"/>
          <p14:tracePt t="274411" x="6831013" y="5524500"/>
          <p14:tracePt t="274421" x="6831013" y="5532438"/>
          <p14:tracePt t="274550" x="6831013" y="5540375"/>
          <p14:tracePt t="274599" x="6831013" y="5549900"/>
          <p14:tracePt t="274608" x="6813550" y="5549900"/>
          <p14:tracePt t="274618" x="6805613" y="5549900"/>
          <p14:tracePt t="274628" x="6780213" y="5557838"/>
          <p14:tracePt t="274640" x="6745288" y="5557838"/>
          <p14:tracePt t="274648" x="6719888" y="5557838"/>
          <p14:tracePt t="274658" x="6678613" y="5557838"/>
          <p14:tracePt t="274670" x="6653213" y="5557838"/>
          <p14:tracePt t="274678" x="6618288" y="5557838"/>
          <p14:tracePt t="274689" x="6600825" y="5557838"/>
          <p14:tracePt t="274698" x="6584950" y="5557838"/>
          <p14:tracePt t="274707" x="6559550" y="5557838"/>
          <p14:tracePt t="274716" x="6550025" y="5557838"/>
          <p14:tracePt t="274727" x="6542088" y="5557838"/>
          <p14:tracePt t="274738" x="6524625" y="5557838"/>
          <p14:tracePt t="274767" x="6516688" y="5557838"/>
          <p14:tracePt t="274777" x="6508750" y="5557838"/>
          <p14:tracePt t="274817" x="6499225" y="5557838"/>
          <p14:tracePt t="274856" x="6491288" y="5557838"/>
          <p14:tracePt t="274886" x="6483350" y="5557838"/>
          <p14:tracePt t="275550" x="6346825" y="5507038"/>
          <p14:tracePt t="275560" x="6049963" y="5395913"/>
          <p14:tracePt t="275569" x="5708650" y="5311775"/>
          <p14:tracePt t="275579" x="5421313" y="5243513"/>
          <p14:tracePt t="275590" x="5114925" y="5192713"/>
          <p14:tracePt t="275600" x="4902200" y="5157788"/>
          <p14:tracePt t="275608" x="4699000" y="5157788"/>
          <p14:tracePt t="275619" x="4486275" y="5167313"/>
          <p14:tracePt t="275629" x="4316413" y="5208588"/>
          <p14:tracePt t="275639" x="4265613" y="5226050"/>
          <p14:tracePt t="275649" x="4222750" y="5243513"/>
          <p14:tracePt t="275658" x="4197350" y="5268913"/>
          <p14:tracePt t="275670" x="4179888" y="5294313"/>
          <p14:tracePt t="275679" x="4162425" y="5319713"/>
          <p14:tracePt t="275689" x="4146550" y="5337175"/>
          <p14:tracePt t="275699" x="4137025" y="5362575"/>
          <p14:tracePt t="275708" x="4129088" y="5387975"/>
          <p14:tracePt t="275717" x="4129088" y="5405438"/>
          <p14:tracePt t="275728" x="4129088" y="5421313"/>
          <p14:tracePt t="275739" x="4129088" y="5438775"/>
          <p14:tracePt t="275748" x="4129088" y="5446713"/>
          <p14:tracePt t="275758" x="4129088" y="5464175"/>
          <p14:tracePt t="275768" x="4146550" y="5489575"/>
          <p14:tracePt t="275778" x="4162425" y="5514975"/>
          <p14:tracePt t="275788" x="4179888" y="5524500"/>
          <p14:tracePt t="275798" x="4197350" y="5549900"/>
          <p14:tracePt t="275807" x="4240213" y="5583238"/>
          <p14:tracePt t="275819" x="4273550" y="5608638"/>
          <p14:tracePt t="275827" x="4306888" y="5626100"/>
          <p14:tracePt t="275837" x="4359275" y="5651500"/>
          <p14:tracePt t="275848" x="4410075" y="5676900"/>
          <p14:tracePt t="275856" x="4443413" y="5684838"/>
          <p14:tracePt t="275867" x="4486275" y="5694363"/>
          <p14:tracePt t="275877" x="4529138" y="5694363"/>
          <p14:tracePt t="275888" x="4587875" y="5694363"/>
          <p14:tracePt t="275896" x="4630738" y="5694363"/>
          <p14:tracePt t="275906" x="4749800" y="5659438"/>
          <p14:tracePt t="275918" x="4868863" y="5608638"/>
          <p14:tracePt t="275926" x="4953000" y="5575300"/>
          <p14:tracePt t="275936" x="4995863" y="5549900"/>
          <p14:tracePt t="275945" x="5038725" y="5532438"/>
          <p14:tracePt t="275955" x="5064125" y="5514975"/>
          <p14:tracePt t="275966" x="5089525" y="5497513"/>
          <p14:tracePt t="275975" x="5106988" y="5472113"/>
          <p14:tracePt t="275986" x="5122863" y="5456238"/>
          <p14:tracePt t="275995" x="5122863" y="5446713"/>
          <p14:tracePt t="276005" x="5132388" y="5438775"/>
          <p14:tracePt t="276015" x="5140325" y="5421313"/>
          <p14:tracePt t="276035" x="5148263" y="5395913"/>
          <p14:tracePt t="276045" x="5148263" y="5380038"/>
          <p14:tracePt t="276056" x="5148263" y="5370513"/>
          <p14:tracePt t="276065" x="5148263" y="5345113"/>
          <p14:tracePt t="276074" x="5148263" y="5319713"/>
          <p14:tracePt t="276085" x="5132388" y="5302250"/>
          <p14:tracePt t="276094" x="5114925" y="5268913"/>
          <p14:tracePt t="276104" x="5097463" y="5243513"/>
          <p14:tracePt t="276114" x="5072063" y="5208588"/>
          <p14:tracePt t="276124" x="5038725" y="5175250"/>
          <p14:tracePt t="276134" x="4995863" y="5149850"/>
          <p14:tracePt t="276143" x="4962525" y="5132388"/>
          <p14:tracePt t="276154" x="4927600" y="5124450"/>
          <p14:tracePt t="276164" x="4884738" y="5124450"/>
          <p14:tracePt t="276174" x="4851400" y="5124450"/>
          <p14:tracePt t="276185" x="4808538" y="5132388"/>
          <p14:tracePt t="276193" x="4757738" y="5167313"/>
          <p14:tracePt t="276205" x="4724400" y="5200650"/>
          <p14:tracePt t="276213" x="4673600" y="5251450"/>
          <p14:tracePt t="276223" x="4646613" y="5302250"/>
          <p14:tracePt t="276234" x="4630738" y="5362575"/>
          <p14:tracePt t="276243" x="4621213" y="5421313"/>
          <p14:tracePt t="276254" x="4621213" y="5481638"/>
          <p14:tracePt t="276262" x="4621213" y="5524500"/>
          <p14:tracePt t="276272" x="4630738" y="5583238"/>
          <p14:tracePt t="276284" x="4638675" y="5634038"/>
          <p14:tracePt t="276292" x="4656138" y="5668963"/>
          <p14:tracePt t="276303" x="4689475" y="5702300"/>
          <p14:tracePt t="276313" x="4706938" y="5727700"/>
          <p14:tracePt t="276322" x="4724400" y="5753100"/>
          <p14:tracePt t="276332" x="4749800" y="5770563"/>
          <p14:tracePt t="276342" x="4775200" y="5795963"/>
          <p14:tracePt t="276353" x="4826000" y="5813425"/>
          <p14:tracePt t="276361" x="4910138" y="5854700"/>
          <p14:tracePt t="276372" x="5114925" y="5880100"/>
          <p14:tracePt t="276381" x="5335588" y="5915025"/>
          <p14:tracePt t="276391" x="5505450" y="5915025"/>
          <p14:tracePt t="276403" x="5708650" y="5915025"/>
          <p14:tracePt t="276411" x="5905500" y="5897563"/>
          <p14:tracePt t="276422" x="5946775" y="5897563"/>
          <p14:tracePt t="276431" x="5981700" y="5889625"/>
          <p14:tracePt t="276441" x="5997575" y="5880100"/>
          <p14:tracePt t="276450" x="6015038" y="5864225"/>
          <p14:tracePt t="276460" x="6032500" y="5846763"/>
          <p14:tracePt t="276471" x="6049963" y="5838825"/>
          <p14:tracePt t="276480" x="6057900" y="5829300"/>
          <p14:tracePt t="276490" x="6065838" y="5813425"/>
          <p14:tracePt t="276499" x="6075363" y="5803900"/>
          <p14:tracePt t="276509" x="6075363" y="5795963"/>
          <p14:tracePt t="276520" x="6083300" y="5778500"/>
          <p14:tracePt t="276530" x="6083300" y="5761038"/>
          <p14:tracePt t="276539" x="6091238" y="5753100"/>
          <p14:tracePt t="276549" x="6091238" y="5735638"/>
          <p14:tracePt t="276559" x="6091238" y="5719763"/>
          <p14:tracePt t="276571" x="6091238" y="5702300"/>
          <p14:tracePt t="276579" x="6091238" y="5676900"/>
          <p14:tracePt t="276589" x="6083300" y="5651500"/>
          <p14:tracePt t="276600" x="6075363" y="5641975"/>
          <p14:tracePt t="276609" x="6075363" y="5626100"/>
          <p14:tracePt t="276620" x="6065838" y="5616575"/>
          <p14:tracePt t="276649" x="6057900" y="5608638"/>
          <p14:tracePt t="276660" x="6057900" y="5600700"/>
          <p14:tracePt t="276679" x="6057900" y="5591175"/>
          <p14:tracePt t="276700" x="6049963" y="5591175"/>
          <p14:tracePt t="276728" x="6040438" y="5591175"/>
          <p14:tracePt t="280811" x="6040438" y="5583238"/>
          <p14:tracePt t="280821" x="6032500" y="5583238"/>
          <p14:tracePt t="280830" x="6032500" y="5575300"/>
          <p14:tracePt t="280841" x="6024563" y="5575300"/>
          <p14:tracePt t="280852" x="6024563" y="5565775"/>
          <p14:tracePt t="280860" x="6015038" y="5557838"/>
          <p14:tracePt t="280870" x="6007100" y="5549900"/>
          <p14:tracePt t="280882" x="5997575" y="5532438"/>
          <p14:tracePt t="280890" x="5989638" y="5514975"/>
          <p14:tracePt t="280901" x="5981700" y="5497513"/>
          <p14:tracePt t="280909" x="5972175" y="5489575"/>
          <p14:tracePt t="280919" x="5956300" y="5472113"/>
          <p14:tracePt t="280930" x="5938838" y="5456238"/>
          <p14:tracePt t="280940" x="5921375" y="5438775"/>
          <p14:tracePt t="280950" x="5913438" y="5430838"/>
          <p14:tracePt t="280959" x="5888038" y="5421313"/>
          <p14:tracePt t="280969" x="5870575" y="5413375"/>
          <p14:tracePt t="280979" x="5870575" y="5405438"/>
          <p14:tracePt t="280989" x="5853113" y="5405438"/>
          <p14:tracePt t="281001" x="5837238" y="5405438"/>
          <p14:tracePt t="281009" x="5827713" y="5405438"/>
          <p14:tracePt t="281018" x="5819775" y="5405438"/>
          <p14:tracePt t="281029" x="5811838" y="5405438"/>
          <p14:tracePt t="281038" x="5802313" y="5421313"/>
          <p14:tracePt t="281050" x="5786438" y="5421313"/>
          <p14:tracePt t="281058" x="5776913" y="5446713"/>
          <p14:tracePt t="281068" x="5768975" y="5464175"/>
          <p14:tracePt t="281077" x="5761038" y="5489575"/>
          <p14:tracePt t="281087" x="5761038" y="5507038"/>
          <p14:tracePt t="281100" x="5761038" y="5532438"/>
          <p14:tracePt t="281107" x="5761038" y="5557838"/>
          <p14:tracePt t="281117" x="5761038" y="5565775"/>
          <p14:tracePt t="281127" x="5776913" y="5591175"/>
          <p14:tracePt t="281137" x="5794375" y="5608638"/>
          <p14:tracePt t="281147" x="5819775" y="5634038"/>
          <p14:tracePt t="281157" x="5853113" y="5641975"/>
          <p14:tracePt t="281166" x="5895975" y="5659438"/>
          <p14:tracePt t="281177" x="5930900" y="5659438"/>
          <p14:tracePt t="281186" x="5964238" y="5659438"/>
          <p14:tracePt t="281198" x="5981700" y="5659438"/>
          <p14:tracePt t="281207" x="6007100" y="5659438"/>
          <p14:tracePt t="281217" x="6015038" y="5659438"/>
          <p14:tracePt t="281228" x="6024563" y="5659438"/>
          <p14:tracePt t="281247" x="6032500" y="5659438"/>
          <p14:tracePt t="281267" x="6032500" y="5651500"/>
          <p14:tracePt t="281277" x="6032500" y="5634038"/>
          <p14:tracePt t="281296" x="6032500" y="5616575"/>
          <p14:tracePt t="281306" x="6015038" y="5600700"/>
          <p14:tracePt t="281318" x="6015038" y="5591175"/>
          <p14:tracePt t="281325" x="5997575" y="5575300"/>
          <p14:tracePt t="281336" x="5989638" y="5565775"/>
          <p14:tracePt t="281345" x="5981700" y="5557838"/>
          <p14:tracePt t="281375" x="5972175" y="5557838"/>
          <p14:tracePt t="281395" x="5964238" y="5557838"/>
          <p14:tracePt t="281416" x="5956300" y="5557838"/>
          <p14:tracePt t="281752" x="5956300" y="5549900"/>
          <p14:tracePt t="282872" x="5930900" y="5514975"/>
          <p14:tracePt t="282883" x="5862638" y="5456238"/>
          <p14:tracePt t="282892" x="5735638" y="5319713"/>
          <p14:tracePt t="282901" x="5591175" y="5167313"/>
          <p14:tracePt t="282911" x="5429250" y="5022850"/>
          <p14:tracePt t="282922" x="5394325" y="4979988"/>
          <p14:tracePt t="282932" x="5353050" y="4954588"/>
          <p14:tracePt t="282943" x="5335588" y="4929188"/>
          <p14:tracePt t="282951" x="5310188" y="4911725"/>
          <p14:tracePt t="282961" x="5284788" y="4894263"/>
          <p14:tracePt t="282971" x="5259388" y="4886325"/>
          <p14:tracePt t="282982" x="5241925" y="4878388"/>
          <p14:tracePt t="282991" x="5224463" y="4878388"/>
          <p14:tracePt t="283000" x="5208588" y="4878388"/>
          <p14:tracePt t="283011" x="5191125" y="4878388"/>
          <p14:tracePt t="283020" x="5183188" y="4878388"/>
          <p14:tracePt t="283044" x="5157788" y="4878388"/>
          <p14:tracePt t="283050" x="5148263" y="4878388"/>
          <p14:tracePt t="283061" x="5132388" y="4878388"/>
          <p14:tracePt t="283070" x="5122863" y="4878388"/>
          <p14:tracePt t="283081" x="5106988" y="4878388"/>
          <p14:tracePt t="283090" x="5089525" y="4878388"/>
          <p14:tracePt t="283099" x="5080000" y="4878388"/>
          <p14:tracePt t="283112" x="5072063" y="4886325"/>
          <p14:tracePt t="283119" x="5064125" y="4894263"/>
          <p14:tracePt t="283130" x="5054600" y="4894263"/>
          <p14:tracePt t="283139" x="5046663" y="4894263"/>
          <p14:tracePt t="283149" x="5038725" y="4903788"/>
          <p14:tracePt t="283168" x="5029200" y="4911725"/>
          <p14:tracePt t="283181" x="5021263" y="4919663"/>
          <p14:tracePt t="283199" x="5013325" y="4919663"/>
          <p14:tracePt t="283211" x="5003800" y="4929188"/>
          <p14:tracePt t="283219" x="4995863" y="4937125"/>
          <p14:tracePt t="283238" x="4995863" y="4946650"/>
          <p14:tracePt t="283248" x="4987925" y="4954588"/>
          <p14:tracePt t="283258" x="4978400" y="4962525"/>
          <p14:tracePt t="283289" x="4970463" y="4972050"/>
          <p14:tracePt t="283298" x="4962525" y="4979988"/>
          <p14:tracePt t="283317" x="4953000" y="4987925"/>
          <p14:tracePt t="283338" x="4945063" y="4997450"/>
          <p14:tracePt t="283347" x="4935538" y="5005388"/>
          <p14:tracePt t="283358" x="4935538" y="5013325"/>
          <p14:tracePt t="283368" x="4927600" y="5022850"/>
          <p14:tracePt t="283378" x="4919663" y="5030788"/>
          <p14:tracePt t="283388" x="4910138" y="5038725"/>
          <p14:tracePt t="283398" x="4910138" y="5048250"/>
          <p14:tracePt t="283408" x="4902200" y="5056188"/>
          <p14:tracePt t="283417" x="4894263" y="5056188"/>
          <p14:tracePt t="283428" x="4894263" y="5064125"/>
          <p14:tracePt t="283437" x="4884738" y="5073650"/>
          <p14:tracePt t="283448" x="4876800" y="5081588"/>
          <p14:tracePt t="283457" x="4876800" y="5091113"/>
          <p14:tracePt t="283466" x="4868863" y="5099050"/>
          <p14:tracePt t="283487" x="4859338" y="5116513"/>
          <p14:tracePt t="283498" x="4859338" y="5124450"/>
          <p14:tracePt t="283506" x="4859338" y="5132388"/>
          <p14:tracePt t="283516" x="4851400" y="5141913"/>
          <p14:tracePt t="283527" x="4851400" y="5149850"/>
          <p14:tracePt t="283536" x="4843463" y="5167313"/>
          <p14:tracePt t="283547" x="4843463" y="5175250"/>
          <p14:tracePt t="283556" x="4843463" y="5183188"/>
          <p14:tracePt t="283565" x="4843463" y="5200650"/>
          <p14:tracePt t="283578" x="4843463" y="5218113"/>
          <p14:tracePt t="283586" x="4843463" y="5226050"/>
          <p14:tracePt t="283596" x="4843463" y="5243513"/>
          <p14:tracePt t="283605" x="4843463" y="5260975"/>
          <p14:tracePt t="283615" x="4843463" y="5276850"/>
          <p14:tracePt t="283626" x="4843463" y="5302250"/>
          <p14:tracePt t="283635" x="4843463" y="5311775"/>
          <p14:tracePt t="283644" x="4843463" y="5337175"/>
          <p14:tracePt t="283654" x="4843463" y="5353050"/>
          <p14:tracePt t="283664" x="4843463" y="5362575"/>
          <p14:tracePt t="283674" x="4851400" y="5380038"/>
          <p14:tracePt t="283685" x="4851400" y="5395913"/>
          <p14:tracePt t="283695" x="4851400" y="5405438"/>
          <p14:tracePt t="283705" x="4851400" y="5413375"/>
          <p14:tracePt t="283715" x="4859338" y="5421313"/>
          <p14:tracePt t="283725" x="4859338" y="5430838"/>
          <p14:tracePt t="283734" x="4859338" y="5446713"/>
          <p14:tracePt t="283755" x="4859338" y="5464175"/>
          <p14:tracePt t="283764" x="4868863" y="5472113"/>
          <p14:tracePt t="283784" x="4876800" y="5489575"/>
          <p14:tracePt t="283794" x="4884738" y="5497513"/>
          <p14:tracePt t="283814" x="4884738" y="5514975"/>
          <p14:tracePt t="283823" x="4884738" y="5524500"/>
          <p14:tracePt t="283834" x="4894263" y="5524500"/>
          <p14:tracePt t="283844" x="4894263" y="5532438"/>
          <p14:tracePt t="283864" x="4902200" y="5540375"/>
          <p14:tracePt t="283892" x="4902200" y="5549900"/>
          <p14:tracePt t="283902" x="4910138" y="5549900"/>
          <p14:tracePt t="283913" x="4910138" y="5557838"/>
          <p14:tracePt t="283932" x="4910138" y="5565775"/>
          <p14:tracePt t="283982" x="4910138" y="5575300"/>
          <p14:tracePt t="284012" x="4910138" y="5583238"/>
          <p14:tracePt t="285370" x="4902200" y="5575300"/>
          <p14:tracePt t="285380" x="4894263" y="5549900"/>
          <p14:tracePt t="285389" x="4876800" y="5532438"/>
          <p14:tracePt t="285399" x="4859338" y="5507038"/>
          <p14:tracePt t="285408" x="4843463" y="5481638"/>
          <p14:tracePt t="285420" x="4833938" y="5464175"/>
          <p14:tracePt t="285429" x="4818063" y="5446713"/>
          <p14:tracePt t="285439" x="4800600" y="5438775"/>
          <p14:tracePt t="285449" x="4783138" y="5421313"/>
          <p14:tracePt t="285460" x="4775200" y="5413375"/>
          <p14:tracePt t="285468" x="4765675" y="5405438"/>
          <p14:tracePt t="285480" x="4757738" y="5395913"/>
          <p14:tracePt t="285488" x="4740275" y="5387975"/>
          <p14:tracePt t="285508" x="4724400" y="5380038"/>
          <p14:tracePt t="285518" x="4714875" y="5370513"/>
          <p14:tracePt t="285529" x="4706938" y="5370513"/>
          <p14:tracePt t="285538" x="4699000" y="5362575"/>
          <p14:tracePt t="285548" x="4689475" y="5362575"/>
          <p14:tracePt t="285561" x="4689475" y="5353050"/>
          <p14:tracePt t="285568" x="4681538" y="5353050"/>
          <p14:tracePt t="285579" x="4673600" y="5345113"/>
          <p14:tracePt t="285598" x="4664075" y="5345113"/>
          <p14:tracePt t="285618" x="4656138" y="5345113"/>
          <p14:tracePt t="285637" x="4646613" y="5337175"/>
          <p14:tracePt t="285667" x="4638675" y="5327650"/>
          <p14:tracePt t="285687" x="4630738" y="5327650"/>
          <p14:tracePt t="285707" x="4621213" y="5327650"/>
          <p14:tracePt t="285728" x="4613275" y="5327650"/>
          <p14:tracePt t="285736" x="4613275" y="5319713"/>
          <p14:tracePt t="285746" x="4605338" y="5319713"/>
          <p14:tracePt t="285778" x="4605338" y="5311775"/>
          <p14:tracePt t="285786" x="4595813" y="5311775"/>
          <p14:tracePt t="285815" x="4587875" y="5302250"/>
          <p14:tracePt t="287243" x="4570413" y="5302250"/>
          <p14:tracePt t="287252" x="4545013" y="5302250"/>
          <p14:tracePt t="287262" x="4537075" y="5302250"/>
          <p14:tracePt t="287273" x="4503738" y="5302250"/>
          <p14:tracePt t="287282" x="4476750" y="5302250"/>
          <p14:tracePt t="287293" x="4460875" y="5302250"/>
          <p14:tracePt t="287302" x="4425950" y="5302250"/>
          <p14:tracePt t="287312" x="4400550" y="5302250"/>
          <p14:tracePt t="287324" x="4367213" y="5302250"/>
          <p14:tracePt t="287332" x="4349750" y="5302250"/>
          <p14:tracePt t="287342" x="4324350" y="5311775"/>
          <p14:tracePt t="287352" x="4291013" y="5311775"/>
          <p14:tracePt t="287362" x="4265613" y="5319713"/>
          <p14:tracePt t="287372" x="4248150" y="5319713"/>
          <p14:tracePt t="287381" x="4222750" y="5327650"/>
          <p14:tracePt t="287391" x="4197350" y="5337175"/>
          <p14:tracePt t="287402" x="4179888" y="5337175"/>
          <p14:tracePt t="287412" x="4154488" y="5345113"/>
          <p14:tracePt t="287422" x="4129088" y="5345113"/>
          <p14:tracePt t="287430" x="4121150" y="5353050"/>
          <p14:tracePt t="287443" x="4095750" y="5362575"/>
          <p14:tracePt t="287451" x="4070350" y="5362575"/>
          <p14:tracePt t="287462" x="4044950" y="5370513"/>
          <p14:tracePt t="287471" x="4027488" y="5370513"/>
          <p14:tracePt t="287480" x="4010025" y="5370513"/>
          <p14:tracePt t="287490" x="3984625" y="5370513"/>
          <p14:tracePt t="287500" x="3967163" y="5380038"/>
          <p14:tracePt t="287510" x="3941763" y="5387975"/>
          <p14:tracePt t="287520" x="3925888" y="5387975"/>
          <p14:tracePt t="287529" x="3916363" y="5387975"/>
          <p14:tracePt t="287540" x="3900488" y="5395913"/>
          <p14:tracePt t="287550" x="3883025" y="5395913"/>
          <p14:tracePt t="287561" x="3873500" y="5395913"/>
          <p14:tracePt t="287570" x="3865563" y="5405438"/>
          <p14:tracePt t="287579" x="3848100" y="5405438"/>
          <p14:tracePt t="287599" x="3840163" y="5405438"/>
          <p14:tracePt t="287611" x="3832225" y="5413375"/>
          <p14:tracePt t="287630" x="3822700" y="5413375"/>
          <p14:tracePt t="287642" x="3814763" y="5413375"/>
          <p14:tracePt t="287649" x="3806825" y="5413375"/>
          <p14:tracePt t="287660" x="3806825" y="5421313"/>
          <p14:tracePt t="287669" x="3797300" y="5430838"/>
          <p14:tracePt t="287679" x="3789363" y="5430838"/>
          <p14:tracePt t="287710" x="3781425" y="5438775"/>
          <p14:tracePt t="287718" x="3771900" y="5438775"/>
          <p14:tracePt t="287729" x="3771900" y="5446713"/>
          <p14:tracePt t="287759" x="3763963" y="5456238"/>
          <p14:tracePt t="287773" x="3756025" y="5456238"/>
          <p14:tracePt t="287788" x="3746500" y="5456238"/>
          <p14:tracePt t="287809" x="3746500" y="5464175"/>
          <p14:tracePt t="287838" x="3738563" y="5472113"/>
          <p14:tracePt t="287858" x="3729038" y="5472113"/>
          <p14:tracePt t="287877" x="3729038" y="5481638"/>
          <p14:tracePt t="287898" x="3729038" y="5489575"/>
          <p14:tracePt t="287917" x="3729038" y="5497513"/>
          <p14:tracePt t="287946" x="3729038" y="5507038"/>
          <p14:tracePt t="287966" x="3729038" y="5514975"/>
          <p14:tracePt t="288006" x="3729038" y="5524500"/>
          <p14:tracePt t="288016" x="3729038" y="5532438"/>
          <p14:tracePt t="288036" x="3729038" y="5540375"/>
          <p14:tracePt t="288045" x="3729038" y="5549900"/>
          <p14:tracePt t="288057" x="3738563" y="5557838"/>
          <p14:tracePt t="288077" x="3746500" y="5557838"/>
          <p14:tracePt t="288085" x="3746500" y="5565775"/>
          <p14:tracePt t="288095" x="3756025" y="5575300"/>
          <p14:tracePt t="288106" x="3763963" y="5575300"/>
          <p14:tracePt t="288115" x="3763963" y="5583238"/>
          <p14:tracePt t="288126" x="3771900" y="5591175"/>
          <p14:tracePt t="288144" x="3781425" y="5600700"/>
          <p14:tracePt t="288165" x="3781425" y="5608638"/>
          <p14:tracePt t="288175" x="3789363" y="5608638"/>
          <p14:tracePt t="288184" x="3789363" y="5616575"/>
          <p14:tracePt t="288205" x="3797300" y="5616575"/>
          <p14:tracePt t="288234" x="3797300" y="5626100"/>
          <p14:tracePt t="288273" x="3797300" y="5634038"/>
          <p14:tracePt t="288313" x="3806825" y="5634038"/>
          <p14:tracePt t="288987" x="3806825" y="5626100"/>
          <p14:tracePt t="288997" x="3797300" y="5608638"/>
          <p14:tracePt t="289009" x="3781425" y="5583238"/>
          <p14:tracePt t="289016" x="3763963" y="5557838"/>
          <p14:tracePt t="289028" x="3746500" y="5532438"/>
          <p14:tracePt t="289038" x="3729038" y="5507038"/>
          <p14:tracePt t="289047" x="3713163" y="5481638"/>
          <p14:tracePt t="289058" x="3687763" y="5464175"/>
          <p14:tracePt t="289067" x="3678238" y="5446713"/>
          <p14:tracePt t="289077" x="3652838" y="5421313"/>
          <p14:tracePt t="289086" x="3636963" y="5405438"/>
          <p14:tracePt t="289097" x="3611563" y="5387975"/>
          <p14:tracePt t="289106" x="3586163" y="5380038"/>
          <p14:tracePt t="289115" x="3568700" y="5370513"/>
          <p14:tracePt t="289126" x="3543300" y="5370513"/>
          <p14:tracePt t="289137" x="3508375" y="5362575"/>
          <p14:tracePt t="289146" x="3482975" y="5362575"/>
          <p14:tracePt t="289156" x="3457575" y="5362575"/>
          <p14:tracePt t="289165" x="3424238" y="5362575"/>
          <p14:tracePt t="289176" x="3398838" y="5362575"/>
          <p14:tracePt t="289186" x="3389313" y="5362575"/>
          <p14:tracePt t="289195" x="3363913" y="5362575"/>
          <p14:tracePt t="289206" x="3338513" y="5362575"/>
          <p14:tracePt t="289215" x="3330575" y="5362575"/>
          <p14:tracePt t="289226" x="3305175" y="5362575"/>
          <p14:tracePt t="289235" x="3287713" y="5370513"/>
          <p14:tracePt t="289244" x="3270250" y="5370513"/>
          <p14:tracePt t="289255" x="3244850" y="5380038"/>
          <p14:tracePt t="289264" x="3228975" y="5380038"/>
          <p14:tracePt t="289275" x="3211513" y="5387975"/>
          <p14:tracePt t="289285" x="3194050" y="5395913"/>
          <p14:tracePt t="289294" x="3168650" y="5405438"/>
          <p14:tracePt t="289305" x="3152775" y="5405438"/>
          <p14:tracePt t="289314" x="3143250" y="5413375"/>
          <p14:tracePt t="289326" x="3117850" y="5421313"/>
          <p14:tracePt t="289335" x="3100388" y="5421313"/>
          <p14:tracePt t="289343" x="3092450" y="5430838"/>
          <p14:tracePt t="289354" x="3067050" y="5430838"/>
          <p14:tracePt t="289363" x="3049588" y="5438775"/>
          <p14:tracePt t="289375" x="3024188" y="5446713"/>
          <p14:tracePt t="289383" x="3016250" y="5456238"/>
          <p14:tracePt t="289393" x="2998788" y="5456238"/>
          <p14:tracePt t="289405" x="2982913" y="5464175"/>
          <p14:tracePt t="289413" x="2982913" y="5472113"/>
          <p14:tracePt t="289424" x="2965450" y="5472113"/>
          <p14:tracePt t="289433" x="2947988" y="5481638"/>
          <p14:tracePt t="289443" x="2940050" y="5489575"/>
          <p14:tracePt t="289454" x="2922588" y="5497513"/>
          <p14:tracePt t="289463" x="2905125" y="5507038"/>
          <p14:tracePt t="289475" x="2905125" y="5514975"/>
          <p14:tracePt t="289482" x="2889250" y="5514975"/>
          <p14:tracePt t="289493" x="2879725" y="5524500"/>
          <p14:tracePt t="289502" x="2871788" y="5540375"/>
          <p14:tracePt t="289512" x="2863850" y="5540375"/>
          <p14:tracePt t="289524" x="2854325" y="5549900"/>
          <p14:tracePt t="289532" x="2854325" y="5565775"/>
          <p14:tracePt t="289543" x="2838450" y="5565775"/>
          <p14:tracePt t="289552" x="2828925" y="5575300"/>
          <p14:tracePt t="289562" x="2820988" y="5591175"/>
          <p14:tracePt t="289581" x="2820988" y="5608638"/>
          <p14:tracePt t="289592" x="2811463" y="5616575"/>
          <p14:tracePt t="289611" x="2803525" y="5634038"/>
          <p14:tracePt t="289623" x="2803525" y="5641975"/>
          <p14:tracePt t="289631" x="2795588" y="5651500"/>
          <p14:tracePt t="289642" x="2795588" y="5659438"/>
          <p14:tracePt t="289651" x="2795588" y="5676900"/>
          <p14:tracePt t="289661" x="2795588" y="5684838"/>
          <p14:tracePt t="289671" x="2795588" y="5702300"/>
          <p14:tracePt t="289680" x="2795588" y="5710238"/>
          <p14:tracePt t="289692" x="2795588" y="5727700"/>
          <p14:tracePt t="289700" x="2795588" y="5745163"/>
          <p14:tracePt t="289711" x="2803525" y="5753100"/>
          <p14:tracePt t="289720" x="2811463" y="5770563"/>
          <p14:tracePt t="289730" x="2811463" y="5788025"/>
          <p14:tracePt t="289741" x="2820988" y="5795963"/>
          <p14:tracePt t="289750" x="2820988" y="5803900"/>
          <p14:tracePt t="289761" x="2828925" y="5821363"/>
          <p14:tracePt t="289780" x="2838450" y="5829300"/>
          <p14:tracePt t="289791" x="2838450" y="5838825"/>
          <p14:tracePt t="289799" x="2846388" y="5838825"/>
          <p14:tracePt t="289810" x="2846388" y="5846763"/>
          <p14:tracePt t="289829" x="2846388" y="5854700"/>
          <p14:tracePt t="289839" x="2854325" y="5854700"/>
          <p14:tracePt t="289849" x="2854325" y="5864225"/>
          <p14:tracePt t="289859" x="2863850" y="5864225"/>
          <p14:tracePt t="289899" x="2863850" y="5872163"/>
          <p14:tracePt t="289909" x="2871788" y="5872163"/>
          <p14:tracePt t="289929" x="2871788" y="5880100"/>
          <p14:tracePt t="289949" x="2879725" y="5880100"/>
          <p14:tracePt t="289979" x="2889250" y="5880100"/>
          <p14:tracePt t="290425" x="2897188" y="5880100"/>
          <p14:tracePt t="290454" x="2905125" y="5880100"/>
          <p14:tracePt t="290464" x="2905125" y="5872163"/>
          <p14:tracePt t="290504" x="2905125" y="5864225"/>
          <p14:tracePt t="291120" x="2905125" y="5854700"/>
          <p14:tracePt t="291128" x="2905125" y="5846763"/>
          <p14:tracePt t="291148" x="2905125" y="5838825"/>
          <p14:tracePt t="291159" x="2889250" y="5829300"/>
          <p14:tracePt t="291169" x="2871788" y="5813425"/>
          <p14:tracePt t="291179" x="2846388" y="5795963"/>
          <p14:tracePt t="291189" x="2803525" y="5761038"/>
          <p14:tracePt t="291198" x="2744788" y="5694363"/>
          <p14:tracePt t="291208" x="2582863" y="5591175"/>
          <p14:tracePt t="291218" x="2489200" y="5524500"/>
          <p14:tracePt t="291228" x="2455863" y="5497513"/>
          <p14:tracePt t="291239" x="2413000" y="5472113"/>
          <p14:tracePt t="291248" x="2395538" y="5464175"/>
          <p14:tracePt t="291259" x="2370138" y="5456238"/>
          <p14:tracePt t="291268" x="2352675" y="5446713"/>
          <p14:tracePt t="291277" x="2336800" y="5446713"/>
          <p14:tracePt t="291288" x="2319338" y="5446713"/>
          <p14:tracePt t="291298" x="2293938" y="5446713"/>
          <p14:tracePt t="291308" x="2286000" y="5446713"/>
          <p14:tracePt t="291318" x="2260600" y="5464175"/>
          <p14:tracePt t="291327" x="2243138" y="5464175"/>
          <p14:tracePt t="291337" x="2225675" y="5481638"/>
          <p14:tracePt t="291347" x="2217738" y="5497513"/>
          <p14:tracePt t="291358" x="2208213" y="5507038"/>
          <p14:tracePt t="291366" x="2192338" y="5514975"/>
          <p14:tracePt t="291376" x="2182813" y="5532438"/>
          <p14:tracePt t="291387" x="2182813" y="5549900"/>
          <p14:tracePt t="291397" x="2182813" y="5557838"/>
          <p14:tracePt t="291407" x="2174875" y="5583238"/>
          <p14:tracePt t="291416" x="2174875" y="5600700"/>
          <p14:tracePt t="291426" x="2174875" y="5608638"/>
          <p14:tracePt t="291436" x="2174875" y="5626100"/>
          <p14:tracePt t="291446" x="2174875" y="5641975"/>
          <p14:tracePt t="291455" x="2174875" y="5659438"/>
          <p14:tracePt t="291465" x="2174875" y="5684838"/>
          <p14:tracePt t="291475" x="2192338" y="5702300"/>
          <p14:tracePt t="291486" x="2217738" y="5727700"/>
          <p14:tracePt t="291494" x="2311400" y="5770563"/>
          <p14:tracePt t="291506" x="2497138" y="5838825"/>
          <p14:tracePt t="291515" x="2786063" y="5922963"/>
          <p14:tracePt t="291524" x="3100388" y="5991225"/>
          <p14:tracePt t="291536" x="3348038" y="6042025"/>
          <p14:tracePt t="291544" x="3576638" y="6084888"/>
          <p14:tracePt t="291556" x="3822700" y="6127750"/>
          <p14:tracePt t="291564" x="4044950" y="6161088"/>
          <p14:tracePt t="291575" x="4265613" y="6186488"/>
          <p14:tracePt t="291586" x="4435475" y="6229350"/>
          <p14:tracePt t="291594" x="4621213" y="6254750"/>
          <p14:tracePt t="291605" x="4706938" y="6262688"/>
          <p14:tracePt t="291614" x="4833938" y="6288088"/>
          <p14:tracePt t="291624" x="4927600" y="6297613"/>
          <p14:tracePt t="291634" x="4995863" y="6297613"/>
          <p14:tracePt t="291643" x="5046663" y="6313488"/>
          <p14:tracePt t="291654" x="5097463" y="6313488"/>
          <p14:tracePt t="291664" x="5157788" y="6313488"/>
          <p14:tracePt t="291673" x="5216525" y="6313488"/>
          <p14:tracePt t="291683" x="5259388" y="6305550"/>
          <p14:tracePt t="291694" x="5310188" y="6297613"/>
          <p14:tracePt t="291704" x="5343525" y="6280150"/>
          <p14:tracePt t="291712" x="5386388" y="6262688"/>
          <p14:tracePt t="291723" x="5411788" y="6237288"/>
          <p14:tracePt t="291733" x="5454650" y="6211888"/>
          <p14:tracePt t="291743" x="5480050" y="6186488"/>
          <p14:tracePt t="291754" x="5505450" y="6161088"/>
          <p14:tracePt t="291763" x="5513388" y="6135688"/>
          <p14:tracePt t="291773" x="5530850" y="6110288"/>
          <p14:tracePt t="291782" x="5556250" y="6092825"/>
          <p14:tracePt t="291793" x="5573713" y="6067425"/>
          <p14:tracePt t="291804" x="5591175" y="6042025"/>
          <p14:tracePt t="291812" x="5607050" y="6016625"/>
          <p14:tracePt t="291823" x="5624513" y="5999163"/>
          <p14:tracePt t="291832" x="5624513" y="5983288"/>
          <p14:tracePt t="291841" x="5641975" y="5965825"/>
          <p14:tracePt t="291853" x="5649913" y="5948363"/>
          <p14:tracePt t="291861" x="5657850" y="5932488"/>
          <p14:tracePt t="291873" x="5667375" y="5932488"/>
          <p14:tracePt t="291882" x="5667375" y="5915025"/>
          <p14:tracePt t="291902" x="5667375" y="5897563"/>
          <p14:tracePt t="291911" x="5667375" y="5889625"/>
          <p14:tracePt t="291923" x="5667375" y="5880100"/>
          <p14:tracePt t="291931" x="5667375" y="5864225"/>
          <p14:tracePt t="291941" x="5657850" y="5838825"/>
          <p14:tracePt t="291953" x="5632450" y="5803900"/>
          <p14:tracePt t="291961" x="5454650" y="5668963"/>
          <p14:tracePt t="291972" x="5080000" y="5446713"/>
          <p14:tracePt t="291981" x="4664075" y="5276850"/>
          <p14:tracePt t="291992" x="4298950" y="5183188"/>
          <p14:tracePt t="292002" x="3992563" y="5132388"/>
          <p14:tracePt t="292010" x="3670300" y="5132388"/>
          <p14:tracePt t="292022" x="3373438" y="5132388"/>
          <p14:tracePt t="292030" x="2990850" y="5175250"/>
          <p14:tracePt t="292041" x="2651125" y="5243513"/>
          <p14:tracePt t="292050" x="2311400" y="5319713"/>
          <p14:tracePt t="292060" x="2055813" y="5380038"/>
          <p14:tracePt t="292070" x="1817688" y="5481638"/>
          <p14:tracePt t="292080" x="1631950" y="5549900"/>
          <p14:tracePt t="292091" x="1579563" y="5565775"/>
          <p14:tracePt t="292099" x="1546225" y="5583238"/>
          <p14:tracePt t="292109" x="1520825" y="5600700"/>
          <p14:tracePt t="292122" x="1503363" y="5616575"/>
          <p14:tracePt t="292129" x="1477963" y="5634038"/>
          <p14:tracePt t="292140" x="1462088" y="5641975"/>
          <p14:tracePt t="292149" x="1452563" y="5651500"/>
          <p14:tracePt t="292159" x="1444625" y="5659438"/>
          <p14:tracePt t="292170" x="1435100" y="5668963"/>
          <p14:tracePt t="292179" x="1427163" y="5676900"/>
          <p14:tracePt t="292190" x="1419225" y="5676900"/>
          <p14:tracePt t="292208" x="1419225" y="5684838"/>
          <p14:tracePt t="292220" x="1409700" y="5684838"/>
          <p14:tracePt t="292229" x="1409700" y="5694363"/>
          <p14:tracePt t="292241" x="1401763" y="5694363"/>
          <p14:tracePt t="292278" x="1401763" y="5702300"/>
          <p14:tracePt t="292358" x="1409700" y="5702300"/>
          <p14:tracePt t="292368" x="1419225" y="5702300"/>
          <p14:tracePt t="292378" x="1427163" y="5702300"/>
          <p14:tracePt t="292389" x="1444625" y="5702300"/>
          <p14:tracePt t="292407" x="1462088" y="5694363"/>
          <p14:tracePt t="292418" x="1470025" y="5694363"/>
          <p14:tracePt t="292428" x="1477963" y="5684838"/>
          <p14:tracePt t="292438" x="1487488" y="5684838"/>
          <p14:tracePt t="292448" x="1495425" y="5684838"/>
          <p14:tracePt t="292457" x="1503363" y="5676900"/>
          <p14:tracePt t="292466" x="1512888" y="5676900"/>
          <p14:tracePt t="292486" x="1520825" y="5676900"/>
          <p14:tracePt t="292496" x="1528763" y="5676900"/>
          <p14:tracePt t="292506" x="1538288" y="5668963"/>
          <p14:tracePt t="292536" x="1546225" y="5668963"/>
          <p14:tracePt t="292546" x="1546225" y="5659438"/>
          <p14:tracePt t="292556" x="1554163" y="5659438"/>
          <p14:tracePt t="292616" x="1563688" y="5659438"/>
          <p14:tracePt t="292655" x="1571625" y="5659438"/>
          <p14:tracePt t="292674" x="1571625" y="5651500"/>
          <p14:tracePt t="292685" x="1579563" y="5651500"/>
          <p14:tracePt t="292714" x="1579563" y="5641975"/>
          <p14:tracePt t="292824" x="1589088" y="5641975"/>
          <p14:tracePt t="292873" x="1597025" y="5641975"/>
          <p14:tracePt t="293270" x="1597025" y="5634038"/>
          <p14:tracePt t="295043" x="1716088" y="5370513"/>
          <p14:tracePt t="295054" x="1903413" y="5030788"/>
          <p14:tracePt t="295063" x="2098675" y="4767263"/>
          <p14:tracePt t="295072" x="2243138" y="4605338"/>
          <p14:tracePt t="295083" x="2293938" y="4564063"/>
          <p14:tracePt t="295093" x="2327275" y="4546600"/>
          <p14:tracePt t="295104" x="2344738" y="4529138"/>
          <p14:tracePt t="295113" x="2362200" y="4529138"/>
          <p14:tracePt t="295143" x="2362200" y="4538663"/>
          <p14:tracePt t="295153" x="2362200" y="4554538"/>
          <p14:tracePt t="295162" x="2293938" y="4640263"/>
          <p14:tracePt t="295172" x="2166938" y="4827588"/>
          <p14:tracePt t="295183" x="2012950" y="5005388"/>
          <p14:tracePt t="295192" x="1971675" y="5056188"/>
          <p14:tracePt t="295203" x="1936750" y="5081588"/>
          <p14:tracePt t="295211" x="1920875" y="5106988"/>
          <p14:tracePt t="295222" x="1903413" y="5124450"/>
          <p14:tracePt t="295233" x="1893888" y="5132388"/>
          <p14:tracePt t="295242" x="1885950" y="5141913"/>
          <p14:tracePt t="295262" x="1878013" y="5141913"/>
          <p14:tracePt t="295303" x="1885950" y="5141913"/>
          <p14:tracePt t="295311" x="1911350" y="5124450"/>
          <p14:tracePt t="295321" x="1928813" y="5106988"/>
          <p14:tracePt t="295332" x="1962150" y="5091113"/>
          <p14:tracePt t="295340" x="1987550" y="5081588"/>
          <p14:tracePt t="295353" x="2005013" y="5073650"/>
          <p14:tracePt t="295361" x="2012950" y="5073650"/>
          <p14:tracePt t="295371" x="2030413" y="5064125"/>
          <p14:tracePt t="295381" x="2038350" y="5064125"/>
          <p14:tracePt t="295390" x="2047875" y="5064125"/>
          <p14:tracePt t="295401" x="2047875" y="5091113"/>
          <p14:tracePt t="295410" x="2047875" y="5106988"/>
          <p14:tracePt t="295421" x="2047875" y="5141913"/>
          <p14:tracePt t="295430" x="2047875" y="5167313"/>
          <p14:tracePt t="295440" x="2038350" y="5183188"/>
          <p14:tracePt t="295450" x="2038350" y="5200650"/>
          <p14:tracePt t="295460" x="2030413" y="5208588"/>
          <p14:tracePt t="295470" x="2022475" y="5218113"/>
          <p14:tracePt t="295489" x="2022475" y="5226050"/>
          <p14:tracePt t="295501" x="2022475" y="5235575"/>
          <p14:tracePt t="295510" x="2047875" y="5235575"/>
          <p14:tracePt t="295520" x="2208213" y="5268913"/>
          <p14:tracePt t="295529" x="2481263" y="5302250"/>
          <p14:tracePt t="295539" x="2786063" y="5327650"/>
          <p14:tracePt t="295549" x="3041650" y="5395913"/>
          <p14:tracePt t="295559" x="3254375" y="5472113"/>
          <p14:tracePt t="295570" x="3441700" y="5557838"/>
          <p14:tracePt t="295578" x="3482975" y="5575300"/>
          <p14:tracePt t="295588" x="3533775" y="5608638"/>
          <p14:tracePt t="295601" x="3559175" y="5634038"/>
          <p14:tracePt t="295608" x="3602038" y="5659438"/>
          <p14:tracePt t="295620" x="3611563" y="5684838"/>
          <p14:tracePt t="295628" x="3636963" y="5702300"/>
          <p14:tracePt t="295638" x="3644900" y="5719763"/>
          <p14:tracePt t="295650" x="3662363" y="5735638"/>
          <p14:tracePt t="295659" x="3670300" y="5753100"/>
          <p14:tracePt t="295670" x="3670300" y="5761038"/>
          <p14:tracePt t="295688" x="3670300" y="5770563"/>
          <p14:tracePt t="295699" x="3678238" y="5770563"/>
          <p14:tracePt t="295708" x="3678238" y="57785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Natural Join Operator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824" y="1981200"/>
            <a:ext cx="8229600" cy="4389120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Also known as a binary operator</a:t>
            </a:r>
          </a:p>
          <a:p>
            <a:pPr algn="just"/>
            <a:r>
              <a:rPr lang="en-ZA" sz="2000" dirty="0"/>
              <a:t>R</a:t>
            </a:r>
            <a:r>
              <a:rPr lang="en-ZA" b="1" dirty="0"/>
              <a:t> </a:t>
            </a:r>
            <a:r>
              <a:rPr lang="en-US" baseline="30000" dirty="0"/>
              <a:t>⋈ </a:t>
            </a:r>
            <a:r>
              <a:rPr lang="en-US" dirty="0"/>
              <a:t>S</a:t>
            </a:r>
            <a:endParaRPr lang="en-US" sz="1600" dirty="0"/>
          </a:p>
          <a:p>
            <a:pPr algn="just"/>
            <a:r>
              <a:rPr lang="en-ZA" dirty="0"/>
              <a:t>Enforces equality on the attributes that have the same name</a:t>
            </a:r>
          </a:p>
          <a:p>
            <a:pPr lvl="1" algn="just"/>
            <a:r>
              <a:rPr lang="en-ZA" dirty="0"/>
              <a:t>If we have two tables A and B. Student id in table A is identical to student id in table B, then it retrieves details for both records. </a:t>
            </a:r>
          </a:p>
          <a:p>
            <a:pPr algn="just"/>
            <a:r>
              <a:rPr lang="en-ZA" dirty="0"/>
              <a:t>Removes one copy of duplicate attributes</a:t>
            </a:r>
          </a:p>
          <a:p>
            <a:pPr lvl="1" algn="just"/>
            <a:r>
              <a:rPr lang="en-ZA" dirty="0"/>
              <a:t>Since we are selecting the same information from table A and table B, natural join just displays one information.</a:t>
            </a:r>
            <a:endParaRPr lang="en-US" dirty="0"/>
          </a:p>
          <a:p>
            <a:pPr lvl="1" algn="just"/>
            <a:endParaRPr lang="en-ZA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ZA" dirty="0"/>
          </a:p>
          <a:p>
            <a:pPr marL="667512" lvl="2" indent="0">
              <a:buNone/>
            </a:pPr>
            <a:endParaRPr lang="en-ZA" sz="2400" baseline="30000" dirty="0"/>
          </a:p>
          <a:p>
            <a:pPr lvl="1"/>
            <a:endParaRPr lang="en-ZA" sz="1900" dirty="0"/>
          </a:p>
          <a:p>
            <a:pPr lvl="1"/>
            <a:endParaRPr lang="en-ZA" sz="1900" dirty="0"/>
          </a:p>
          <a:p>
            <a:pPr marL="667512" lvl="2" indent="0" algn="just">
              <a:buNone/>
            </a:pPr>
            <a:endParaRPr lang="en-ZA" sz="1600" dirty="0"/>
          </a:p>
          <a:p>
            <a:pPr lvl="2" algn="just"/>
            <a:endParaRPr lang="en-ZA" sz="1700" dirty="0"/>
          </a:p>
          <a:p>
            <a:pPr algn="just"/>
            <a:endParaRPr lang="en-ZA" sz="2200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1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Natural Joins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237" y="2285999"/>
            <a:ext cx="2808312" cy="936104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761593" y="2996952"/>
            <a:ext cx="527862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2A50-AEED-4137-8387-D180306F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D7F31B-BDC6-4A42-8394-2B9A553934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62B48D9-4DB6-45E8-833C-CCFE64E136D9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8500" y="3115469"/>
            <a:ext cx="3429000" cy="1771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A84E72-CCB2-4BEB-B14D-9963F1778B9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6565" y="3470595"/>
            <a:ext cx="4840794" cy="220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885B9C-6C27-4D17-9D0C-43607617766F}"/>
              </a:ext>
            </a:extLst>
          </p:cNvPr>
          <p:cNvSpPr txBox="1"/>
          <p:nvPr/>
        </p:nvSpPr>
        <p:spPr>
          <a:xfrm>
            <a:off x="1171575" y="2647950"/>
            <a:ext cx="477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these two relations</a:t>
            </a:r>
            <a:endParaRPr lang="en-GB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46A893EA-74B4-4AC0-9610-CEA8359F964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91" y="2393677"/>
            <a:ext cx="2808312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4AE6-F7FC-4FCC-B0A4-60B7DE4D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A886-8702-4659-A5A5-653983B2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3"/>
                </a:solidFill>
              </a:rPr>
              <a:t>RIGHT JOIN </a:t>
            </a:r>
            <a:r>
              <a:rPr lang="en-GB" dirty="0"/>
              <a:t>selects data from the right table that have been matched to the left table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3"/>
                </a:solidFill>
              </a:rPr>
              <a:t>SELECT </a:t>
            </a:r>
            <a:r>
              <a:rPr lang="en-GB" sz="2000" dirty="0" err="1">
                <a:solidFill>
                  <a:schemeClr val="accent3"/>
                </a:solidFill>
              </a:rPr>
              <a:t>column_name</a:t>
            </a:r>
            <a:r>
              <a:rPr lang="en-GB" sz="2000" dirty="0">
                <a:solidFill>
                  <a:schemeClr val="accent3"/>
                </a:solidFill>
              </a:rPr>
              <a:t>(s)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FROM table1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RIGHT OUTER JOIN table2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ON table1.column_name = table2.column_name;</a:t>
            </a:r>
          </a:p>
          <a:p>
            <a:r>
              <a:rPr lang="en-GB" dirty="0">
                <a:solidFill>
                  <a:schemeClr val="tx2"/>
                </a:solidFill>
              </a:rPr>
              <a:t>FULL OUTER JOIN selects data when there is a match in the left or right table.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SELECT </a:t>
            </a:r>
            <a:r>
              <a:rPr lang="en-GB" sz="2000" dirty="0" err="1">
                <a:solidFill>
                  <a:schemeClr val="tx2"/>
                </a:solidFill>
              </a:rPr>
              <a:t>column_name</a:t>
            </a:r>
            <a:r>
              <a:rPr lang="en-GB" sz="2000" dirty="0">
                <a:solidFill>
                  <a:schemeClr val="tx2"/>
                </a:solidFill>
              </a:rPr>
              <a:t>(s)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FROM table1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FULL OUTER JOIN table2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ON table1.column_name = table2.column_name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WHERE condition;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09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69"/>
    </mc:Choice>
    <mc:Fallback xmlns="">
      <p:transition spd="slow" advTm="3346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4E2E-110D-4F8F-9344-1134E8A2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1D03A-B581-4D8E-AC5E-A2468258A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300" dirty="0"/>
              <a:t>SELF JOIN is used when you want to join a table to itself</a:t>
            </a:r>
          </a:p>
          <a:p>
            <a:pPr marL="0" indent="0">
              <a:buNone/>
            </a:pPr>
            <a:r>
              <a:rPr lang="en-GB" sz="1900" dirty="0"/>
              <a:t>SELECT </a:t>
            </a:r>
            <a:r>
              <a:rPr lang="en-GB" sz="1900" dirty="0" err="1"/>
              <a:t>column_name</a:t>
            </a:r>
            <a:r>
              <a:rPr lang="en-GB" sz="1900" dirty="0"/>
              <a:t>(s)</a:t>
            </a:r>
            <a:br>
              <a:rPr lang="en-GB" sz="1900" dirty="0"/>
            </a:br>
            <a:r>
              <a:rPr lang="en-GB" sz="1900" dirty="0"/>
              <a:t>FROM table1 T1 JOIN table1 T2</a:t>
            </a:r>
            <a:br>
              <a:rPr lang="en-GB" sz="1900" dirty="0"/>
            </a:br>
            <a:r>
              <a:rPr lang="en-GB" sz="1900" dirty="0"/>
              <a:t>WHERE condition;</a:t>
            </a:r>
          </a:p>
          <a:p>
            <a:pPr lvl="1" algn="just"/>
            <a:endParaRPr lang="en-GB" dirty="0"/>
          </a:p>
          <a:p>
            <a:endParaRPr lang="en-GB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1EAF255-9875-4E84-B9DB-A7A4468C75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0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7"/>
    </mc:Choice>
    <mc:Fallback xmlns="">
      <p:transition spd="slow" advTm="2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C055-4566-452F-9DE7-8583077A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07EA-310A-4344-95C7-960F3E3F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0" dirty="0"/>
              <a:t>The operation take two input relations, which must be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union-compatible:</a:t>
            </a:r>
          </a:p>
          <a:p>
            <a:pPr lvl="1"/>
            <a:r>
              <a:rPr lang="en-US" altLang="en-US" sz="2400" dirty="0"/>
              <a:t>Same number of fields.</a:t>
            </a:r>
          </a:p>
          <a:p>
            <a:pPr lvl="1"/>
            <a:r>
              <a:rPr lang="en-US" altLang="en-US" sz="2400" dirty="0"/>
              <a:t>`Corresponding’ fields have the same type.</a:t>
            </a:r>
          </a:p>
          <a:p>
            <a:pPr lvl="1"/>
            <a:r>
              <a:rPr lang="en-US" sz="2400" dirty="0"/>
              <a:t>Duplicate tuples are automatically eliminated.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									r U s</a:t>
            </a:r>
          </a:p>
          <a:p>
            <a:pPr algn="just"/>
            <a:r>
              <a:rPr lang="en-US" dirty="0"/>
              <a:t>Where r and s are either database relations or relation result set (temporary relation).</a:t>
            </a:r>
          </a:p>
          <a:p>
            <a:pPr lvl="1"/>
            <a:endParaRPr lang="en-US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Freeform 1">
            <a:extLst>
              <a:ext uri="{FF2B5EF4-FFF2-40B4-BE49-F238E27FC236}">
                <a16:creationId xmlns:a16="http://schemas.microsoft.com/office/drawing/2014/main" id="{175E5B25-5157-4C5B-BF64-7006E8C4672D}"/>
              </a:ext>
            </a:extLst>
          </p:cNvPr>
          <p:cNvSpPr>
            <a:spLocks/>
          </p:cNvSpPr>
          <p:nvPr/>
        </p:nvSpPr>
        <p:spPr bwMode="auto">
          <a:xfrm>
            <a:off x="2209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8" name="Freeform 2">
            <a:extLst>
              <a:ext uri="{FF2B5EF4-FFF2-40B4-BE49-F238E27FC236}">
                <a16:creationId xmlns:a16="http://schemas.microsoft.com/office/drawing/2014/main" id="{E491DDBE-BDA7-4250-94C3-CD3C05A3D9AA}"/>
              </a:ext>
            </a:extLst>
          </p:cNvPr>
          <p:cNvSpPr>
            <a:spLocks/>
          </p:cNvSpPr>
          <p:nvPr/>
        </p:nvSpPr>
        <p:spPr bwMode="auto">
          <a:xfrm>
            <a:off x="4648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B4BBE29-E019-49E9-AE80-2E04E8FC6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7800" y="676275"/>
            <a:ext cx="6941105" cy="542926"/>
          </a:xfrm>
          <a:noFill/>
        </p:spPr>
        <p:txBody>
          <a:bodyPr>
            <a:normAutofit fontScale="90000"/>
          </a:bodyPr>
          <a:lstStyle/>
          <a:p>
            <a:pPr>
              <a:spcAft>
                <a:spcPts val="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 dirty="0"/>
              <a:t>Union    U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DEBD2441-5618-49BA-B1C9-477F64E92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4975" y="1785938"/>
            <a:ext cx="4273550" cy="5072062"/>
          </a:xfrm>
          <a:noFill/>
        </p:spPr>
        <p:txBody>
          <a:bodyPr/>
          <a:lstStyle/>
          <a:p>
            <a:pPr>
              <a:lnSpc>
                <a:spcPts val="2400"/>
              </a:lnSpc>
              <a:spcAft>
                <a:spcPts val="13"/>
              </a:spcAft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 sz="2800"/>
              <a:t> </a:t>
            </a: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445B64D7-5E94-4458-9415-A7781470D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25" y="1260475"/>
            <a:ext cx="4402138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6">
            <a:extLst>
              <a:ext uri="{FF2B5EF4-FFF2-40B4-BE49-F238E27FC236}">
                <a16:creationId xmlns:a16="http://schemas.microsoft.com/office/drawing/2014/main" id="{7501232C-3713-4B9D-8752-BB47B717B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38" y="4051301"/>
            <a:ext cx="0" cy="162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7">
            <a:extLst>
              <a:ext uri="{FF2B5EF4-FFF2-40B4-BE49-F238E27FC236}">
                <a16:creationId xmlns:a16="http://schemas.microsoft.com/office/drawing/2014/main" id="{464EFDDD-C66C-45E5-86DD-355A4660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4" y="1354138"/>
            <a:ext cx="41544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8">
            <a:extLst>
              <a:ext uri="{FF2B5EF4-FFF2-40B4-BE49-F238E27FC236}">
                <a16:creationId xmlns:a16="http://schemas.microsoft.com/office/drawing/2014/main" id="{75D0AB7B-3C93-407A-8EE9-E05ECA39D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1" y="3971925"/>
            <a:ext cx="43227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Text Box 9">
            <a:extLst>
              <a:ext uri="{FF2B5EF4-FFF2-40B4-BE49-F238E27FC236}">
                <a16:creationId xmlns:a16="http://schemas.microsoft.com/office/drawing/2014/main" id="{A265046B-F61F-4E8A-9B2B-7AE41705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438525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6156" name="Text Box 10">
            <a:extLst>
              <a:ext uri="{FF2B5EF4-FFF2-40B4-BE49-F238E27FC236}">
                <a16:creationId xmlns:a16="http://schemas.microsoft.com/office/drawing/2014/main" id="{13794A29-F072-496F-8D89-A41BB6932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202363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S2</a:t>
            </a:r>
          </a:p>
        </p:txBody>
      </p:sp>
      <p:graphicFrame>
        <p:nvGraphicFramePr>
          <p:cNvPr id="13324" name="Object 12">
            <a:extLst>
              <a:ext uri="{FF2B5EF4-FFF2-40B4-BE49-F238E27FC236}">
                <a16:creationId xmlns:a16="http://schemas.microsoft.com/office/drawing/2014/main" id="{CEC6F32B-BFFA-4D7F-9421-FA4A9F1E0205}"/>
              </a:ext>
            </a:extLst>
          </p:cNvPr>
          <p:cNvGraphicFramePr>
            <a:graphicFrameLocks/>
          </p:cNvGraphicFramePr>
          <p:nvPr/>
        </p:nvGraphicFramePr>
        <p:xfrm>
          <a:off x="7424739" y="4051301"/>
          <a:ext cx="18176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17600" imgH="453960" progId="Equation.3">
                  <p:embed/>
                </p:oleObj>
              </mc:Choice>
              <mc:Fallback>
                <p:oleObj name="Equation" r:id="rId7" imgW="1317600" imgH="453960" progId="Equation.3">
                  <p:embed/>
                  <p:pic>
                    <p:nvPicPr>
                      <p:cNvPr id="13324" name="Object 12">
                        <a:extLst>
                          <a:ext uri="{FF2B5EF4-FFF2-40B4-BE49-F238E27FC236}">
                            <a16:creationId xmlns:a16="http://schemas.microsoft.com/office/drawing/2014/main" id="{CEC6F32B-BFFA-4D7F-9421-FA4A9F1E02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9" y="4051301"/>
                        <a:ext cx="18176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6534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819D-9B90-482E-B2DF-C87411E4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Difference -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81C6-190D-4E9B-9951-FB4F8F41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of set difference operation is tuples, which are present in one relation but are not in the second relation.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                   r − 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93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reeform 1">
            <a:extLst>
              <a:ext uri="{FF2B5EF4-FFF2-40B4-BE49-F238E27FC236}">
                <a16:creationId xmlns:a16="http://schemas.microsoft.com/office/drawing/2014/main" id="{766F4DB1-5C30-4B62-A499-98862BDD1684}"/>
              </a:ext>
            </a:extLst>
          </p:cNvPr>
          <p:cNvSpPr>
            <a:spLocks/>
          </p:cNvSpPr>
          <p:nvPr/>
        </p:nvSpPr>
        <p:spPr bwMode="auto">
          <a:xfrm>
            <a:off x="2209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2" name="Freeform 2">
            <a:extLst>
              <a:ext uri="{FF2B5EF4-FFF2-40B4-BE49-F238E27FC236}">
                <a16:creationId xmlns:a16="http://schemas.microsoft.com/office/drawing/2014/main" id="{699ACD65-70C8-4191-BD5F-EC8DF0CB556F}"/>
              </a:ext>
            </a:extLst>
          </p:cNvPr>
          <p:cNvSpPr>
            <a:spLocks/>
          </p:cNvSpPr>
          <p:nvPr/>
        </p:nvSpPr>
        <p:spPr bwMode="auto">
          <a:xfrm>
            <a:off x="4648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A8756F3-08F5-4DE5-BD1D-E230809D8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0175" y="222251"/>
            <a:ext cx="3987800" cy="835025"/>
          </a:xfrm>
          <a:noFill/>
        </p:spPr>
        <p:txBody>
          <a:bodyPr/>
          <a:lstStyle/>
          <a:p>
            <a:pPr>
              <a:spcAft>
                <a:spcPts val="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 dirty="0"/>
              <a:t>Set Difference  -</a:t>
            </a:r>
          </a:p>
        </p:txBody>
      </p:sp>
      <p:sp>
        <p:nvSpPr>
          <p:cNvPr id="7174" name="Rectangle 4">
            <a:extLst>
              <a:ext uri="{FF2B5EF4-FFF2-40B4-BE49-F238E27FC236}">
                <a16:creationId xmlns:a16="http://schemas.microsoft.com/office/drawing/2014/main" id="{393B918C-B722-4EC0-9D76-7AD93493B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4975" y="1785938"/>
            <a:ext cx="4273550" cy="5072062"/>
          </a:xfrm>
          <a:noFill/>
        </p:spPr>
        <p:txBody>
          <a:bodyPr/>
          <a:lstStyle/>
          <a:p>
            <a:pPr>
              <a:lnSpc>
                <a:spcPts val="2400"/>
              </a:lnSpc>
              <a:spcAft>
                <a:spcPts val="13"/>
              </a:spcAft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 sz="2800"/>
              <a:t> </a:t>
            </a:r>
          </a:p>
        </p:txBody>
      </p:sp>
      <p:pic>
        <p:nvPicPr>
          <p:cNvPr id="7175" name="Picture 5">
            <a:extLst>
              <a:ext uri="{FF2B5EF4-FFF2-40B4-BE49-F238E27FC236}">
                <a16:creationId xmlns:a16="http://schemas.microsoft.com/office/drawing/2014/main" id="{C8F32BFE-331A-4D4E-9C76-85F2A8DCF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354138"/>
            <a:ext cx="41544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6">
            <a:extLst>
              <a:ext uri="{FF2B5EF4-FFF2-40B4-BE49-F238E27FC236}">
                <a16:creationId xmlns:a16="http://schemas.microsoft.com/office/drawing/2014/main" id="{40E675FB-DDAF-402E-A97B-21C3BFB0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88" y="3971925"/>
            <a:ext cx="4322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7" name="Text Box 7">
            <a:extLst>
              <a:ext uri="{FF2B5EF4-FFF2-40B4-BE49-F238E27FC236}">
                <a16:creationId xmlns:a16="http://schemas.microsoft.com/office/drawing/2014/main" id="{D71F0DC3-08E5-4856-89E2-44F0A3BE4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438525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7178" name="Text Box 8">
            <a:extLst>
              <a:ext uri="{FF2B5EF4-FFF2-40B4-BE49-F238E27FC236}">
                <a16:creationId xmlns:a16="http://schemas.microsoft.com/office/drawing/2014/main" id="{F524BB6D-881F-4849-8920-A03D90504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202363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S2</a:t>
            </a:r>
          </a:p>
        </p:txBody>
      </p:sp>
      <p:pic>
        <p:nvPicPr>
          <p:cNvPr id="14345" name="Picture 9">
            <a:extLst>
              <a:ext uri="{FF2B5EF4-FFF2-40B4-BE49-F238E27FC236}">
                <a16:creationId xmlns:a16="http://schemas.microsoft.com/office/drawing/2014/main" id="{874914C4-1332-4C12-9BFA-B4138E4DD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6" y="1355725"/>
            <a:ext cx="4259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0">
            <a:extLst>
              <a:ext uri="{FF2B5EF4-FFF2-40B4-BE49-F238E27FC236}">
                <a16:creationId xmlns:a16="http://schemas.microsoft.com/office/drawing/2014/main" id="{C860BB80-8FA5-45AA-941A-1D345CE8C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713" y="2544764"/>
            <a:ext cx="0" cy="1247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7" name="Text Box 11">
            <a:extLst>
              <a:ext uri="{FF2B5EF4-FFF2-40B4-BE49-F238E27FC236}">
                <a16:creationId xmlns:a16="http://schemas.microsoft.com/office/drawing/2014/main" id="{83FDCD99-EB9C-4661-B64E-EC5BA5AB5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988" y="5392738"/>
            <a:ext cx="1219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3800"/>
              </a:lnSpc>
            </a:pPr>
            <a:r>
              <a:rPr lang="en-US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S2 – S1</a:t>
            </a:r>
          </a:p>
        </p:txBody>
      </p:sp>
      <p:pic>
        <p:nvPicPr>
          <p:cNvPr id="14348" name="Picture 12">
            <a:extLst>
              <a:ext uri="{FF2B5EF4-FFF2-40B4-BE49-F238E27FC236}">
                <a16:creationId xmlns:a16="http://schemas.microsoft.com/office/drawing/2014/main" id="{5FB899EB-FAB6-4589-96ED-3C04F5137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4105275"/>
            <a:ext cx="4338638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4EA3CDF4-02BE-42EB-8AEF-FAAE3A0F5732}"/>
              </a:ext>
            </a:extLst>
          </p:cNvPr>
          <p:cNvGraphicFramePr>
            <a:graphicFrameLocks/>
          </p:cNvGraphicFramePr>
          <p:nvPr/>
        </p:nvGraphicFramePr>
        <p:xfrm>
          <a:off x="7861301" y="2544764"/>
          <a:ext cx="15668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1120" imgH="403200" progId="Equation.3">
                  <p:embed/>
                </p:oleObj>
              </mc:Choice>
              <mc:Fallback>
                <p:oleObj name="Equation" r:id="rId8" imgW="1581120" imgH="403200" progId="Equation.3">
                  <p:embed/>
                  <p:pic>
                    <p:nvPicPr>
                      <p:cNvPr id="14350" name="Object 14">
                        <a:extLst>
                          <a:ext uri="{FF2B5EF4-FFF2-40B4-BE49-F238E27FC236}">
                            <a16:creationId xmlns:a16="http://schemas.microsoft.com/office/drawing/2014/main" id="{4EA3CDF4-02BE-42EB-8AEF-FAAE3A0F57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544764"/>
                        <a:ext cx="156686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2068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4">
            <a:extLst>
              <a:ext uri="{FF2B5EF4-FFF2-40B4-BE49-F238E27FC236}">
                <a16:creationId xmlns:a16="http://schemas.microsoft.com/office/drawing/2014/main" id="{2239463F-DBAE-45B4-ADE1-84A101B1C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242218"/>
            <a:ext cx="7772400" cy="792163"/>
          </a:xfrm>
          <a:noFill/>
        </p:spPr>
        <p:txBody>
          <a:bodyPr/>
          <a:lstStyle/>
          <a:p>
            <a:r>
              <a:rPr lang="en-US" altLang="en-US" dirty="0"/>
              <a:t>Cartesian-Product   X</a:t>
            </a:r>
          </a:p>
        </p:txBody>
      </p:sp>
      <p:sp>
        <p:nvSpPr>
          <p:cNvPr id="8199" name="Rectangle 5">
            <a:extLst>
              <a:ext uri="{FF2B5EF4-FFF2-40B4-BE49-F238E27FC236}">
                <a16:creationId xmlns:a16="http://schemas.microsoft.com/office/drawing/2014/main" id="{323C9391-EEDB-45A9-9211-8D28D7973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2521257"/>
            <a:ext cx="9144000" cy="3213717"/>
          </a:xfrm>
          <a:noFill/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chemeClr val="tx1"/>
                </a:solidFill>
              </a:rPr>
              <a:t>S1 </a:t>
            </a: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2800" dirty="0">
                <a:solidFill>
                  <a:schemeClr val="tx1"/>
                </a:solidFill>
              </a:rPr>
              <a:t> R1: Each row of S1 paired with each row of R1.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Result schema has one field per field of S1 and R1, with field names `inherited’ if possible.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May have a naming conflict:  Both S1 and R1 have a field with the same name.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In this case, can use the renaming operator:</a:t>
            </a:r>
          </a:p>
        </p:txBody>
      </p:sp>
      <p:sp>
        <p:nvSpPr>
          <p:cNvPr id="8195" name="Footer Placeholder 3">
            <a:extLst>
              <a:ext uri="{FF2B5EF4-FFF2-40B4-BE49-F238E27FC236}">
                <a16:creationId xmlns:a16="http://schemas.microsoft.com/office/drawing/2014/main" id="{EBFE49AE-99EF-4FEC-AC0D-34693ED4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2400BA3B-CC8B-45C4-BFAA-CAE6191E2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72D52DE8-518C-4560-BF71-34D2EF47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530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D70300B7-5C00-4E10-A8F3-5DD3B00FF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1300" y="0"/>
            <a:ext cx="6440488" cy="1333500"/>
          </a:xfrm>
          <a:noFill/>
        </p:spPr>
        <p:txBody>
          <a:bodyPr/>
          <a:lstStyle/>
          <a:p>
            <a:pPr>
              <a:spcAft>
                <a:spcPts val="13"/>
              </a:spcAft>
            </a:pPr>
            <a:r>
              <a:rPr lang="en-US" altLang="en-US" dirty="0"/>
              <a:t>Cartesian Product Example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5F23470D-6F02-478E-88F2-E37CF8316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333" y="3405975"/>
            <a:ext cx="6910388" cy="284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3">
            <a:extLst>
              <a:ext uri="{FF2B5EF4-FFF2-40B4-BE49-F238E27FC236}">
                <a16:creationId xmlns:a16="http://schemas.microsoft.com/office/drawing/2014/main" id="{DBCB4989-01B4-48F5-AEE7-64DA12F5C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325" y="1047750"/>
            <a:ext cx="41544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>
            <a:extLst>
              <a:ext uri="{FF2B5EF4-FFF2-40B4-BE49-F238E27FC236}">
                <a16:creationId xmlns:a16="http://schemas.microsoft.com/office/drawing/2014/main" id="{7F1D9ADB-8063-4417-8E19-503CFCE94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1193801"/>
            <a:ext cx="3319462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5">
            <a:extLst>
              <a:ext uri="{FF2B5EF4-FFF2-40B4-BE49-F238E27FC236}">
                <a16:creationId xmlns:a16="http://schemas.microsoft.com/office/drawing/2014/main" id="{18D7AAD1-F6F0-457A-B867-A6F12C561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4" y="2932113"/>
            <a:ext cx="820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26631" name="Text Box 6">
            <a:extLst>
              <a:ext uri="{FF2B5EF4-FFF2-40B4-BE49-F238E27FC236}">
                <a16:creationId xmlns:a16="http://schemas.microsoft.com/office/drawing/2014/main" id="{32C19372-D3BC-440C-AE25-E24E901E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3100389"/>
            <a:ext cx="341440" cy="36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6632" name="Text Box 7">
            <a:extLst>
              <a:ext uri="{FF2B5EF4-FFF2-40B4-BE49-F238E27FC236}">
                <a16:creationId xmlns:a16="http://schemas.microsoft.com/office/drawing/2014/main" id="{94009CC6-215B-482F-8F28-40E1AB2EE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113" y="4581526"/>
            <a:ext cx="1505220" cy="4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en-US" altLang="en-US" sz="2800" b="1">
                <a:solidFill>
                  <a:srgbClr val="000000"/>
                </a:solidFill>
              </a:rPr>
              <a:t>S1 x R1 =</a:t>
            </a:r>
          </a:p>
        </p:txBody>
      </p:sp>
    </p:spTree>
    <p:extLst>
      <p:ext uri="{BB962C8B-B14F-4D97-AF65-F5344CB8AC3E}">
        <p14:creationId xmlns:p14="http://schemas.microsoft.com/office/powerpoint/2010/main" val="39233680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DE98-46D0-4918-A691-F5E6FB65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E975E-84D9-4E15-B45E-C58ED57A7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Intersection takes two input relations, which must </a:t>
            </a:r>
            <a:r>
              <a:rPr lang="en-US" altLang="en-US" b="0" dirty="0">
                <a:solidFill>
                  <a:srgbClr val="FF0000"/>
                </a:solidFill>
              </a:rPr>
              <a:t>be</a:t>
            </a:r>
            <a:r>
              <a:rPr lang="en-US" altLang="en-US" dirty="0">
                <a:solidFill>
                  <a:srgbClr val="FF0000"/>
                </a:solidFill>
              </a:rPr>
              <a:t> union-compatible</a:t>
            </a:r>
            <a:r>
              <a:rPr lang="en-US" altLang="en-US" dirty="0">
                <a:solidFill>
                  <a:schemeClr val="accent2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236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reeform 1">
            <a:extLst>
              <a:ext uri="{FF2B5EF4-FFF2-40B4-BE49-F238E27FC236}">
                <a16:creationId xmlns:a16="http://schemas.microsoft.com/office/drawing/2014/main" id="{3FA7B508-0F62-4D28-93CB-31593874BD78}"/>
              </a:ext>
            </a:extLst>
          </p:cNvPr>
          <p:cNvSpPr>
            <a:spLocks/>
          </p:cNvSpPr>
          <p:nvPr/>
        </p:nvSpPr>
        <p:spPr bwMode="auto">
          <a:xfrm>
            <a:off x="2209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0" name="Freeform 2">
            <a:extLst>
              <a:ext uri="{FF2B5EF4-FFF2-40B4-BE49-F238E27FC236}">
                <a16:creationId xmlns:a16="http://schemas.microsoft.com/office/drawing/2014/main" id="{E0822F3B-F283-4A15-A9EA-BFB84A5CA763}"/>
              </a:ext>
            </a:extLst>
          </p:cNvPr>
          <p:cNvSpPr>
            <a:spLocks/>
          </p:cNvSpPr>
          <p:nvPr/>
        </p:nvSpPr>
        <p:spPr bwMode="auto">
          <a:xfrm>
            <a:off x="4648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578F4F56-39E0-40E9-A55B-CE7EE7AF0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5238" y="-92075"/>
            <a:ext cx="3987800" cy="1822450"/>
          </a:xfrm>
          <a:noFill/>
        </p:spPr>
        <p:txBody>
          <a:bodyPr/>
          <a:lstStyle/>
          <a:p>
            <a:pPr>
              <a:spcAft>
                <a:spcPts val="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/>
              <a:t>Intersection</a:t>
            </a:r>
          </a:p>
        </p:txBody>
      </p:sp>
      <p:sp>
        <p:nvSpPr>
          <p:cNvPr id="9222" name="Rectangle 4">
            <a:extLst>
              <a:ext uri="{FF2B5EF4-FFF2-40B4-BE49-F238E27FC236}">
                <a16:creationId xmlns:a16="http://schemas.microsoft.com/office/drawing/2014/main" id="{84F52393-F3A6-435A-B37A-B8DDCD403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4975" y="1785938"/>
            <a:ext cx="4273550" cy="5072062"/>
          </a:xfrm>
          <a:noFill/>
        </p:spPr>
        <p:txBody>
          <a:bodyPr/>
          <a:lstStyle/>
          <a:p>
            <a:pPr>
              <a:lnSpc>
                <a:spcPts val="2400"/>
              </a:lnSpc>
              <a:spcAft>
                <a:spcPts val="13"/>
              </a:spcAft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altLang="en-US" sz="2800"/>
              <a:t> </a:t>
            </a:r>
          </a:p>
        </p:txBody>
      </p:sp>
      <p:pic>
        <p:nvPicPr>
          <p:cNvPr id="9223" name="Picture 5">
            <a:extLst>
              <a:ext uri="{FF2B5EF4-FFF2-40B4-BE49-F238E27FC236}">
                <a16:creationId xmlns:a16="http://schemas.microsoft.com/office/drawing/2014/main" id="{EBAC70AB-4724-48FF-9B2E-BB2FA3BBE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9" y="1354138"/>
            <a:ext cx="41544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6">
            <a:extLst>
              <a:ext uri="{FF2B5EF4-FFF2-40B4-BE49-F238E27FC236}">
                <a16:creationId xmlns:a16="http://schemas.microsoft.com/office/drawing/2014/main" id="{2BDAF87D-F2C5-4C45-ACF7-71A096EB9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3971925"/>
            <a:ext cx="4322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5" name="Text Box 7">
            <a:extLst>
              <a:ext uri="{FF2B5EF4-FFF2-40B4-BE49-F238E27FC236}">
                <a16:creationId xmlns:a16="http://schemas.microsoft.com/office/drawing/2014/main" id="{7A48718F-15B9-4236-81AE-B3A76179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438525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9226" name="Text Box 8">
            <a:extLst>
              <a:ext uri="{FF2B5EF4-FFF2-40B4-BE49-F238E27FC236}">
                <a16:creationId xmlns:a16="http://schemas.microsoft.com/office/drawing/2014/main" id="{81618E96-BD9E-4557-A484-32FD9E668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202363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anose="02040602050305030304" pitchFamily="18" charset="0"/>
                <a:ea typeface="Osaka" pitchFamily="-32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altLang="en-US" sz="2400" b="1">
                <a:solidFill>
                  <a:srgbClr val="000000"/>
                </a:solidFill>
              </a:rPr>
              <a:t>S2</a:t>
            </a:r>
          </a:p>
        </p:txBody>
      </p:sp>
      <p:pic>
        <p:nvPicPr>
          <p:cNvPr id="18441" name="Picture 9">
            <a:extLst>
              <a:ext uri="{FF2B5EF4-FFF2-40B4-BE49-F238E27FC236}">
                <a16:creationId xmlns:a16="http://schemas.microsoft.com/office/drawing/2014/main" id="{BD6158F8-A4B5-43CA-A364-527434C3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8" y="2779713"/>
            <a:ext cx="4265612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0370743C-722D-4366-9CB7-5808738261DF}"/>
              </a:ext>
            </a:extLst>
          </p:cNvPr>
          <p:cNvGraphicFramePr>
            <a:graphicFrameLocks/>
          </p:cNvGraphicFramePr>
          <p:nvPr/>
        </p:nvGraphicFramePr>
        <p:xfrm>
          <a:off x="7543800" y="4343401"/>
          <a:ext cx="15890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2200" imgH="317500" progId="Equation.3">
                  <p:embed/>
                </p:oleObj>
              </mc:Choice>
              <mc:Fallback>
                <p:oleObj name="Equation" r:id="rId6" imgW="1092200" imgH="317500" progId="Equation.3">
                  <p:embed/>
                  <p:pic>
                    <p:nvPicPr>
                      <p:cNvPr id="18444" name="Object 12">
                        <a:extLst>
                          <a:ext uri="{FF2B5EF4-FFF2-40B4-BE49-F238E27FC236}">
                            <a16:creationId xmlns:a16="http://schemas.microsoft.com/office/drawing/2014/main" id="{0370743C-722D-4366-9CB7-5808738261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343401"/>
                        <a:ext cx="15890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63910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Relational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 is a procedural query language used to query the database tables to access data in different ways.</a:t>
            </a:r>
          </a:p>
          <a:p>
            <a:r>
              <a:rPr lang="en-ZW" dirty="0"/>
              <a:t>provides sets of operators to perform queries.​</a:t>
            </a:r>
          </a:p>
          <a:p>
            <a:r>
              <a:rPr lang="en-ZW" dirty="0"/>
              <a:t>input is a relation and output is also a temporary relation also know as a result set.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3740875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6DD4-06CB-483E-9E49-695803B4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B7FD-023E-4683-8059-544332B0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0" dirty="0">
                <a:solidFill>
                  <a:schemeClr val="tx1"/>
                </a:solidFill>
              </a:rPr>
              <a:t>5 Basic Operations </a:t>
            </a:r>
          </a:p>
          <a:p>
            <a:pPr marL="0" indent="0">
              <a:buNone/>
            </a:pPr>
            <a:r>
              <a:rPr lang="en-US" altLang="en-US" b="0" dirty="0">
                <a:solidFill>
                  <a:srgbClr val="FF0000"/>
                </a:solidFill>
              </a:rPr>
              <a:t>1. Selection  </a:t>
            </a:r>
            <a:r>
              <a:rPr lang="en-US" altLang="en-US" b="0" dirty="0"/>
              <a:t>( </a:t>
            </a:r>
            <a:r>
              <a:rPr lang="en-US" altLang="en-US" b="0" dirty="0">
                <a:latin typeface="Symbol" panose="05050102010706020507" pitchFamily="18" charset="2"/>
              </a:rPr>
              <a:t>s</a:t>
            </a:r>
            <a:r>
              <a:rPr lang="en-US" altLang="en-US" b="0" dirty="0"/>
              <a:t> )    Selects a subset of </a:t>
            </a:r>
            <a:r>
              <a:rPr lang="en-US" altLang="en-US" i="1" dirty="0">
                <a:solidFill>
                  <a:srgbClr val="FF0000"/>
                </a:solidFill>
              </a:rPr>
              <a:t>rows</a:t>
            </a:r>
            <a:r>
              <a:rPr lang="en-US" altLang="en-US" b="0" dirty="0"/>
              <a:t> from relation (horizontal).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2. Projection  </a:t>
            </a:r>
            <a:r>
              <a:rPr lang="en-US" altLang="en-US" b="0" dirty="0"/>
              <a:t>( </a:t>
            </a:r>
            <a:r>
              <a:rPr lang="en-US" altLang="en-US" b="0" dirty="0">
                <a:latin typeface="Symbol" panose="05050102010706020507" pitchFamily="18" charset="2"/>
              </a:rPr>
              <a:t>p</a:t>
            </a:r>
            <a:r>
              <a:rPr lang="en-US" altLang="en-US" b="0" dirty="0"/>
              <a:t> )  Retains only wanted </a:t>
            </a:r>
            <a:r>
              <a:rPr lang="en-US" altLang="en-US" i="1" dirty="0">
                <a:solidFill>
                  <a:srgbClr val="FF0000"/>
                </a:solidFill>
              </a:rPr>
              <a:t>columns</a:t>
            </a:r>
            <a:r>
              <a:rPr lang="en-US" altLang="en-US" b="0" dirty="0"/>
              <a:t> from relation (vertical).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3. Cross-product  </a:t>
            </a:r>
            <a:r>
              <a:rPr lang="en-US" altLang="en-US" b="0" dirty="0"/>
              <a:t>( </a:t>
            </a:r>
            <a:r>
              <a:rPr lang="en-US" altLang="en-US" sz="2800" b="0" dirty="0">
                <a:sym typeface="Symbol" panose="05050102010706020507" pitchFamily="18" charset="2"/>
              </a:rPr>
              <a:t> </a:t>
            </a:r>
            <a:r>
              <a:rPr lang="en-US" altLang="en-US" b="0" dirty="0"/>
              <a:t>)  Allows us to combine two relations.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4. Set-difference  </a:t>
            </a:r>
            <a:r>
              <a:rPr lang="en-US" altLang="en-US" b="0" dirty="0"/>
              <a:t>( </a:t>
            </a:r>
            <a:r>
              <a:rPr lang="en-US" altLang="en-US" b="0" dirty="0">
                <a:cs typeface="Tahoma" panose="020B0604030504040204" pitchFamily="34" charset="0"/>
              </a:rPr>
              <a:t>— </a:t>
            </a:r>
            <a:r>
              <a:rPr lang="en-US" altLang="en-US" b="0" dirty="0"/>
              <a:t>)  Tuples in r1, but not in r2.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5. Union  </a:t>
            </a:r>
            <a:r>
              <a:rPr lang="en-US" altLang="en-US" b="0" dirty="0"/>
              <a:t>( </a:t>
            </a:r>
            <a:r>
              <a:rPr lang="en-US" altLang="en-US" b="0" dirty="0">
                <a:sym typeface="Symbol" panose="05050102010706020507" pitchFamily="18" charset="2"/>
              </a:rPr>
              <a:t> </a:t>
            </a:r>
            <a:r>
              <a:rPr lang="en-US" altLang="en-US" b="0" dirty="0"/>
              <a:t>)  Tuples in r1 or in r2.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32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Selection </a:t>
            </a:r>
            <a:r>
              <a:rPr lang="el-GR" dirty="0"/>
              <a:t>σ</a:t>
            </a:r>
            <a:endParaRPr lang="en-ZW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ZA" dirty="0"/>
              <a:t>The select operator returns results that meets a condition. </a:t>
            </a:r>
          </a:p>
          <a:p>
            <a:pPr>
              <a:lnSpc>
                <a:spcPct val="90000"/>
              </a:lnSpc>
            </a:pPr>
            <a:r>
              <a:rPr lang="en-US" altLang="en-US" b="0" dirty="0"/>
              <a:t>Result is a relation.</a:t>
            </a:r>
            <a:endParaRPr lang="en-ZA" dirty="0"/>
          </a:p>
          <a:p>
            <a:pPr marL="0" indent="0" algn="just">
              <a:buNone/>
            </a:pPr>
            <a:r>
              <a:rPr lang="en-US" sz="2800" baseline="30000" dirty="0">
                <a:solidFill>
                  <a:srgbClr val="FF0000"/>
                </a:solidFill>
              </a:rPr>
              <a:t>					</a:t>
            </a:r>
            <a:r>
              <a:rPr lang="el-GR" sz="2800" baseline="30000" dirty="0">
                <a:solidFill>
                  <a:srgbClr val="FF0000"/>
                </a:solidFill>
              </a:rPr>
              <a:t>σ</a:t>
            </a:r>
            <a:r>
              <a:rPr lang="en-ZA" sz="2800" dirty="0">
                <a:solidFill>
                  <a:srgbClr val="FF0000"/>
                </a:solidFill>
              </a:rPr>
              <a:t>&lt;select condition&gt; </a:t>
            </a:r>
            <a:r>
              <a:rPr lang="en-ZA" sz="2800" baseline="30000" dirty="0">
                <a:solidFill>
                  <a:srgbClr val="FF0000"/>
                </a:solidFill>
              </a:rPr>
              <a:t>(R)</a:t>
            </a:r>
          </a:p>
          <a:p>
            <a:pPr marL="0" indent="0" algn="just">
              <a:buNone/>
            </a:pPr>
            <a:endParaRPr lang="en-ZA" baseline="30000" dirty="0"/>
          </a:p>
          <a:p>
            <a:pPr algn="just"/>
            <a:r>
              <a:rPr lang="en-ZA" dirty="0"/>
              <a:t>Where </a:t>
            </a:r>
          </a:p>
          <a:p>
            <a:r>
              <a:rPr lang="el-GR" dirty="0"/>
              <a:t>σ</a:t>
            </a:r>
            <a:r>
              <a:rPr lang="en-ZA" dirty="0"/>
              <a:t> is the selection operator</a:t>
            </a:r>
          </a:p>
          <a:p>
            <a:r>
              <a:rPr lang="en-ZA" dirty="0"/>
              <a:t>&lt;select condition&gt; - the specific condition </a:t>
            </a:r>
          </a:p>
          <a:p>
            <a:r>
              <a:rPr lang="en-ZA" dirty="0"/>
              <a:t>(R) is the name of the relation </a:t>
            </a:r>
          </a:p>
          <a:p>
            <a:r>
              <a:rPr lang="en-ZA" dirty="0"/>
              <a:t>The condition is built using operators like =, &gt;, &lt; , AND,OR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4103712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18069"/>
          </a:xfrm>
        </p:spPr>
        <p:txBody>
          <a:bodyPr>
            <a:normAutofit fontScale="90000"/>
          </a:bodyPr>
          <a:lstStyle/>
          <a:p>
            <a:r>
              <a:rPr lang="en-ZW" dirty="0"/>
              <a:t>Select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764904"/>
          </a:xfrm>
        </p:spPr>
        <p:txBody>
          <a:bodyPr/>
          <a:lstStyle/>
          <a:p>
            <a:endParaRPr lang="en-ZW" dirty="0"/>
          </a:p>
          <a:p>
            <a:endParaRPr lang="en-ZW" dirty="0"/>
          </a:p>
          <a:p>
            <a:r>
              <a:rPr lang="el-GR" dirty="0"/>
              <a:t>σ</a:t>
            </a:r>
            <a:r>
              <a:rPr lang="en-ZW" baseline="-25000" dirty="0"/>
              <a:t>age &gt; 17</a:t>
            </a:r>
            <a:r>
              <a:rPr lang="en-ZW" dirty="0"/>
              <a:t> (Student)</a:t>
            </a:r>
          </a:p>
          <a:p>
            <a:r>
              <a:rPr lang="el-GR" dirty="0"/>
              <a:t>σ</a:t>
            </a:r>
            <a:r>
              <a:rPr lang="en-ZW" baseline="-25000" dirty="0"/>
              <a:t>age &gt; 17</a:t>
            </a:r>
            <a:r>
              <a:rPr lang="en-ZW" dirty="0"/>
              <a:t> (Student)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1944242"/>
            <a:ext cx="9601196" cy="242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95402" y="4270056"/>
            <a:ext cx="94377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/>
              <a:t>σ</a:t>
            </a:r>
            <a:r>
              <a:rPr lang="en-ZW" sz="3200" baseline="-25000" dirty="0"/>
              <a:t>City =“Rundu”</a:t>
            </a:r>
            <a:r>
              <a:rPr lang="en-ZW" sz="3200" dirty="0"/>
              <a:t> (Team) will be </a:t>
            </a:r>
          </a:p>
          <a:p>
            <a:endParaRPr lang="en-ZW" sz="3200" dirty="0"/>
          </a:p>
          <a:p>
            <a:r>
              <a:rPr lang="en-ZW" sz="3200" dirty="0"/>
              <a:t>Select * from Team where City = ‘</a:t>
            </a:r>
            <a:r>
              <a:rPr lang="en-ZW" sz="3200" dirty="0" err="1"/>
              <a:t>Rundu</a:t>
            </a:r>
            <a:r>
              <a:rPr lang="en-ZW" sz="3200" dirty="0"/>
              <a:t>’;</a:t>
            </a:r>
          </a:p>
          <a:p>
            <a:endParaRPr lang="en-ZW" sz="3200" dirty="0"/>
          </a:p>
          <a:p>
            <a:endParaRPr lang="en-ZW" sz="3200" dirty="0"/>
          </a:p>
        </p:txBody>
      </p:sp>
    </p:spTree>
    <p:extLst>
      <p:ext uri="{BB962C8B-B14F-4D97-AF65-F5344CB8AC3E}">
        <p14:creationId xmlns:p14="http://schemas.microsoft.com/office/powerpoint/2010/main" val="2537972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1829-E14E-4EE6-9F02-8A92AE34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</a:t>
            </a:r>
            <a:endParaRPr lang="en-GB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F49065F-1AC1-472D-B7AA-C806B686DA6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9851" y="2560320"/>
            <a:ext cx="2639489" cy="8686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6BDF5-0A85-4239-882D-A4DAB33BA0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W" dirty="0"/>
              <a:t>Result set</a:t>
            </a:r>
          </a:p>
          <a:p>
            <a:pPr marL="0" indent="0">
              <a:buNone/>
            </a:pPr>
            <a:endParaRPr lang="en-ZW" dirty="0"/>
          </a:p>
          <a:p>
            <a:endParaRPr lang="en-GB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C095E4B-EB95-43F8-AA40-FAB12CDE73C9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45623"/>
          <a:stretch/>
        </p:blipFill>
        <p:spPr bwMode="auto">
          <a:xfrm>
            <a:off x="872960" y="3513831"/>
            <a:ext cx="4718304" cy="24482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AAD0C-D529-466C-BD9C-DE437885B80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59128" y="3222838"/>
            <a:ext cx="4191254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55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Select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824" y="1981200"/>
            <a:ext cx="8229600" cy="4389120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Example</a:t>
            </a:r>
            <a:endParaRPr lang="en-ZA" sz="2200" dirty="0"/>
          </a:p>
          <a:p>
            <a:pPr lvl="2"/>
            <a:r>
              <a:rPr lang="el-GR" baseline="30000" dirty="0"/>
              <a:t>σ</a:t>
            </a:r>
            <a:r>
              <a:rPr lang="en-ZA" dirty="0" err="1"/>
              <a:t>Minister_Id</a:t>
            </a:r>
            <a:r>
              <a:rPr lang="en-ZA" dirty="0"/>
              <a:t>  IN (100, 200, 300) AND salary &gt;= 100</a:t>
            </a:r>
            <a:r>
              <a:rPr lang="en-ZA" baseline="30000" dirty="0"/>
              <a:t>(Minister)</a:t>
            </a:r>
          </a:p>
          <a:p>
            <a:r>
              <a:rPr lang="en-ZA" sz="2100" dirty="0"/>
              <a:t>This operation presented would read as</a:t>
            </a:r>
          </a:p>
          <a:p>
            <a:pPr lvl="1"/>
            <a:r>
              <a:rPr lang="el-GR" dirty="0"/>
              <a:t>σ</a:t>
            </a:r>
            <a:r>
              <a:rPr lang="en-ZA" dirty="0"/>
              <a:t> – select</a:t>
            </a:r>
          </a:p>
          <a:p>
            <a:pPr lvl="1"/>
            <a:r>
              <a:rPr lang="en-ZA" dirty="0"/>
              <a:t>&lt;select condition&gt; - select query which meets the two conditions </a:t>
            </a:r>
            <a:r>
              <a:rPr lang="en-ZA" dirty="0" err="1"/>
              <a:t>i.e</a:t>
            </a:r>
            <a:r>
              <a:rPr lang="en-ZA" dirty="0"/>
              <a:t> </a:t>
            </a:r>
            <a:r>
              <a:rPr lang="en-ZA" dirty="0" err="1"/>
              <a:t>Minister_Id</a:t>
            </a:r>
            <a:r>
              <a:rPr lang="en-ZA" dirty="0"/>
              <a:t> as in the list with a salary greater or equal to 100.</a:t>
            </a:r>
          </a:p>
          <a:p>
            <a:pPr lvl="1"/>
            <a:r>
              <a:rPr lang="en-ZA" dirty="0"/>
              <a:t>(R) – in this case is Minister thus the query will be retrieved from the Minister table</a:t>
            </a:r>
          </a:p>
          <a:p>
            <a:pPr lvl="1"/>
            <a:endParaRPr lang="en-ZA" sz="1900" dirty="0"/>
          </a:p>
          <a:p>
            <a:pPr lvl="1"/>
            <a:endParaRPr lang="en-ZA" sz="1900" dirty="0"/>
          </a:p>
          <a:p>
            <a:pPr marL="667512" lvl="2" indent="0" algn="just">
              <a:buNone/>
            </a:pPr>
            <a:endParaRPr lang="en-ZA" sz="1600" dirty="0"/>
          </a:p>
          <a:p>
            <a:pPr lvl="2" algn="just"/>
            <a:endParaRPr lang="en-ZA" sz="1700" dirty="0"/>
          </a:p>
          <a:p>
            <a:pPr algn="just"/>
            <a:endParaRPr lang="en-ZA" sz="2200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65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Select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981200"/>
            <a:ext cx="8305800" cy="4389120"/>
          </a:xfrm>
        </p:spPr>
        <p:txBody>
          <a:bodyPr>
            <a:normAutofit fontScale="92500"/>
          </a:bodyPr>
          <a:lstStyle/>
          <a:p>
            <a:pPr algn="just"/>
            <a:r>
              <a:rPr lang="en-ZA" dirty="0"/>
              <a:t>Exercises</a:t>
            </a:r>
            <a:endParaRPr lang="en-ZA" sz="2200" dirty="0"/>
          </a:p>
          <a:p>
            <a:pPr marL="0" indent="0" algn="just">
              <a:buNone/>
            </a:pPr>
            <a:r>
              <a:rPr lang="en-ZA" dirty="0"/>
              <a:t>What do the following Relational Algebra expressions mean?</a:t>
            </a:r>
          </a:p>
          <a:p>
            <a:pPr marL="514350" indent="-514350" algn="just">
              <a:buAutoNum type="arabicPeriod"/>
            </a:pPr>
            <a:r>
              <a:rPr lang="el-GR" baseline="30000" dirty="0"/>
              <a:t>σ</a:t>
            </a:r>
            <a:r>
              <a:rPr lang="en-ZA" dirty="0" err="1"/>
              <a:t>Minister_marital_status</a:t>
            </a:r>
            <a:r>
              <a:rPr lang="en-ZA" dirty="0"/>
              <a:t> = ‘M’ OR salary &gt; 5000</a:t>
            </a:r>
            <a:r>
              <a:rPr lang="en-ZA" baseline="30000" dirty="0"/>
              <a:t>(Minister)</a:t>
            </a:r>
          </a:p>
          <a:p>
            <a:pPr marL="514350" indent="-514350" algn="just">
              <a:buAutoNum type="arabicPeriod"/>
            </a:pPr>
            <a:r>
              <a:rPr lang="el-GR" baseline="30000" dirty="0"/>
              <a:t>σ</a:t>
            </a:r>
            <a:r>
              <a:rPr lang="en-ZA" dirty="0" err="1"/>
              <a:t>employee_dob</a:t>
            </a:r>
            <a:r>
              <a:rPr lang="en-ZA" dirty="0"/>
              <a:t> &gt; ’01-MARCH-1999’</a:t>
            </a:r>
            <a:r>
              <a:rPr lang="en-ZA" baseline="30000" dirty="0"/>
              <a:t>(Employee)</a:t>
            </a:r>
          </a:p>
          <a:p>
            <a:pPr marL="0" indent="0" algn="just">
              <a:buNone/>
            </a:pPr>
            <a:r>
              <a:rPr lang="en-ZA" dirty="0"/>
              <a:t>Translate the following select statement to relational algebra expressions</a:t>
            </a:r>
          </a:p>
          <a:p>
            <a:pPr lvl="3"/>
            <a:r>
              <a:rPr lang="en-ZA" dirty="0"/>
              <a:t>SELECT </a:t>
            </a:r>
            <a:r>
              <a:rPr lang="en-ZA" dirty="0" err="1"/>
              <a:t>first_name</a:t>
            </a:r>
            <a:r>
              <a:rPr lang="en-ZA" dirty="0"/>
              <a:t>, </a:t>
            </a:r>
            <a:r>
              <a:rPr lang="en-ZA" dirty="0" err="1"/>
              <a:t>last_name</a:t>
            </a:r>
            <a:r>
              <a:rPr lang="en-ZA" dirty="0"/>
              <a:t>, </a:t>
            </a:r>
            <a:r>
              <a:rPr lang="en-ZA" dirty="0" err="1"/>
              <a:t>date_of_birth</a:t>
            </a:r>
            <a:r>
              <a:rPr lang="en-ZA" dirty="0"/>
              <a:t>, sex</a:t>
            </a:r>
            <a:endParaRPr lang="en-ZA" baseline="30000" dirty="0"/>
          </a:p>
          <a:p>
            <a:pPr marL="978408" lvl="3" indent="0">
              <a:buNone/>
            </a:pPr>
            <a:r>
              <a:rPr lang="en-ZA" dirty="0"/>
              <a:t>     FROM EMPLOYEE</a:t>
            </a:r>
          </a:p>
          <a:p>
            <a:pPr marL="978408" lvl="3" indent="0">
              <a:buNone/>
            </a:pPr>
            <a:r>
              <a:rPr lang="en-ZA" dirty="0"/>
              <a:t>    WHERE </a:t>
            </a:r>
            <a:r>
              <a:rPr lang="en-ZA" dirty="0" err="1"/>
              <a:t>graduation_school</a:t>
            </a:r>
            <a:r>
              <a:rPr lang="en-ZA" dirty="0"/>
              <a:t> = ‘Harvard’ AND Qualification =           ‘MSc’ AND </a:t>
            </a:r>
            <a:r>
              <a:rPr lang="en-ZA" dirty="0" err="1"/>
              <a:t>graduation_year</a:t>
            </a:r>
            <a:r>
              <a:rPr lang="en-ZA" dirty="0"/>
              <a:t> = ‘2007’</a:t>
            </a:r>
          </a:p>
          <a:p>
            <a:pPr marL="978408" lvl="3" indent="0">
              <a:buNone/>
            </a:pPr>
            <a:endParaRPr lang="en-ZA" dirty="0"/>
          </a:p>
          <a:p>
            <a:pPr lvl="3"/>
            <a:endParaRPr lang="en-ZA" baseline="30000" dirty="0"/>
          </a:p>
          <a:p>
            <a:pPr lvl="3"/>
            <a:endParaRPr lang="en-ZA" baseline="30000" dirty="0"/>
          </a:p>
          <a:p>
            <a:pPr lvl="1"/>
            <a:endParaRPr lang="en-ZA" sz="1900" dirty="0"/>
          </a:p>
          <a:p>
            <a:pPr lvl="1"/>
            <a:endParaRPr lang="en-ZA" sz="1900" dirty="0"/>
          </a:p>
          <a:p>
            <a:pPr marL="667512" lvl="2" indent="0" algn="just">
              <a:buNone/>
            </a:pPr>
            <a:endParaRPr lang="en-ZA" sz="1600" dirty="0"/>
          </a:p>
          <a:p>
            <a:pPr lvl="2" algn="just"/>
            <a:endParaRPr lang="en-ZA" sz="1700" dirty="0"/>
          </a:p>
          <a:p>
            <a:pPr algn="just"/>
            <a:endParaRPr lang="en-ZA" sz="2200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1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Project Operation </a:t>
            </a:r>
            <a:r>
              <a:rPr lang="el-GR" dirty="0"/>
              <a:t>π</a:t>
            </a:r>
            <a:endParaRPr lang="en-ZW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used to project only a certain set of attributes of a relation, removing duplicate data</a:t>
            </a:r>
          </a:p>
          <a:p>
            <a:r>
              <a:rPr lang="en-US" altLang="en-US" dirty="0"/>
              <a:t>Retains only attributes that are in the “projection list”.</a:t>
            </a:r>
          </a:p>
          <a:p>
            <a:r>
              <a:rPr lang="en-US" altLang="en-US" dirty="0"/>
              <a:t>Schema of result: </a:t>
            </a:r>
            <a:r>
              <a:rPr lang="en-US" altLang="en-US" sz="2400" dirty="0"/>
              <a:t>exactly the fields in the projection list, with the same names that they had in the input relation.</a:t>
            </a:r>
          </a:p>
          <a:p>
            <a:pPr marL="0" lvl="2" indent="0">
              <a:buNone/>
            </a:pPr>
            <a:r>
              <a:rPr lang="el-GR" sz="3600" baseline="30000" dirty="0"/>
              <a:t>π</a:t>
            </a:r>
            <a:r>
              <a:rPr lang="en-ZA" sz="3600" dirty="0"/>
              <a:t>&lt;attribute list&gt; </a:t>
            </a:r>
            <a:r>
              <a:rPr lang="en-ZA" sz="3600" baseline="30000" dirty="0"/>
              <a:t>(R) </a:t>
            </a:r>
          </a:p>
          <a:p>
            <a:pPr marL="0" lvl="2" indent="0">
              <a:buNone/>
            </a:pPr>
            <a:endParaRPr lang="en-ZA" baseline="30000" dirty="0"/>
          </a:p>
          <a:p>
            <a:endParaRPr lang="en-ZW" dirty="0"/>
          </a:p>
          <a:p>
            <a:pPr marL="0" indent="0">
              <a:buNone/>
            </a:pPr>
            <a:endParaRPr lang="en-ZW" dirty="0"/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711592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D055-27EB-4401-A85D-FDF48890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</a:t>
            </a:r>
            <a:r>
              <a:rPr lang="el-GR" dirty="0"/>
              <a:t>π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69815-3210-457A-8309-CFD01619A3A9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39246" y="2629787"/>
            <a:ext cx="2493562" cy="47739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E421D-990F-4491-8DEA-7B61656CEB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 set </a:t>
            </a:r>
          </a:p>
          <a:p>
            <a:endParaRPr lang="en-GB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8766E87B-70F5-4800-AAD9-25FD9A1FD2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07184"/>
            <a:ext cx="5054353" cy="2467994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18DA260-86C6-4C35-99D4-DF15EFB26EF7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5394" r="19909" b="45623"/>
          <a:stretch/>
        </p:blipFill>
        <p:spPr bwMode="auto">
          <a:xfrm>
            <a:off x="1127464" y="3494109"/>
            <a:ext cx="3524435" cy="24482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36520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485" y="1981200"/>
            <a:ext cx="8980939" cy="4389120"/>
          </a:xfrm>
        </p:spPr>
        <p:txBody>
          <a:bodyPr>
            <a:normAutofit/>
          </a:bodyPr>
          <a:lstStyle/>
          <a:p>
            <a:pPr algn="just"/>
            <a:endParaRPr lang="en-ZA" dirty="0"/>
          </a:p>
          <a:p>
            <a:pPr algn="just"/>
            <a:r>
              <a:rPr lang="en-ZA" dirty="0"/>
              <a:t>Example</a:t>
            </a:r>
            <a:endParaRPr lang="en-ZA" sz="2200" dirty="0"/>
          </a:p>
          <a:p>
            <a:pPr lvl="2"/>
            <a:r>
              <a:rPr lang="el-GR" baseline="30000" dirty="0"/>
              <a:t>π </a:t>
            </a:r>
            <a:r>
              <a:rPr lang="en-ZA" dirty="0" err="1"/>
              <a:t>first_name</a:t>
            </a:r>
            <a:r>
              <a:rPr lang="en-ZA" dirty="0"/>
              <a:t>, </a:t>
            </a:r>
            <a:r>
              <a:rPr lang="en-ZA" dirty="0" err="1"/>
              <a:t>last_name</a:t>
            </a:r>
            <a:r>
              <a:rPr lang="en-ZA" dirty="0"/>
              <a:t>, </a:t>
            </a:r>
            <a:r>
              <a:rPr lang="en-ZA" dirty="0" err="1"/>
              <a:t>date_of_birth</a:t>
            </a:r>
            <a:r>
              <a:rPr lang="en-ZA" dirty="0"/>
              <a:t>, salary</a:t>
            </a:r>
            <a:r>
              <a:rPr lang="en-ZA" baseline="30000" dirty="0"/>
              <a:t>(Employee)</a:t>
            </a:r>
          </a:p>
          <a:p>
            <a:r>
              <a:rPr lang="en-ZA" sz="2100" dirty="0"/>
              <a:t>This operation presented would read as</a:t>
            </a:r>
          </a:p>
          <a:p>
            <a:pPr lvl="1"/>
            <a:r>
              <a:rPr lang="el-GR" baseline="30000" dirty="0"/>
              <a:t>π</a:t>
            </a:r>
            <a:r>
              <a:rPr lang="en-ZA" dirty="0"/>
              <a:t> – select a distinct result</a:t>
            </a:r>
          </a:p>
          <a:p>
            <a:pPr lvl="1"/>
            <a:r>
              <a:rPr lang="en-ZA" dirty="0"/>
              <a:t>&lt;attribute list&gt; - the list of columns to be retrieved</a:t>
            </a:r>
          </a:p>
          <a:p>
            <a:pPr lvl="1"/>
            <a:r>
              <a:rPr lang="en-ZA" dirty="0"/>
              <a:t>(R) – in this case, is Employee</a:t>
            </a:r>
          </a:p>
          <a:p>
            <a:pPr lvl="2"/>
            <a:r>
              <a:rPr lang="en-ZA" dirty="0"/>
              <a:t>The query will be retrieved from the Employee table</a:t>
            </a:r>
          </a:p>
          <a:p>
            <a:pPr lvl="1"/>
            <a:endParaRPr lang="en-ZA" sz="1900" dirty="0"/>
          </a:p>
          <a:p>
            <a:pPr lvl="1"/>
            <a:endParaRPr lang="en-ZA" sz="1900" dirty="0"/>
          </a:p>
          <a:p>
            <a:pPr marL="667512" lvl="2" indent="0" algn="just">
              <a:buNone/>
            </a:pPr>
            <a:endParaRPr lang="en-ZA" sz="1600" dirty="0"/>
          </a:p>
          <a:p>
            <a:pPr lvl="2" algn="just"/>
            <a:endParaRPr lang="en-ZA" sz="1700" dirty="0"/>
          </a:p>
          <a:p>
            <a:pPr algn="just"/>
            <a:endParaRPr lang="en-ZA" sz="2200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47E0-36BD-4FEC-8444-D8A40E78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Activity-Projection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C7E3-DF4E-40CB-9D62-8BE2ED74D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W" sz="2400" dirty="0"/>
              <a:t>What will be the result set given ?</a:t>
            </a:r>
          </a:p>
          <a:p>
            <a:r>
              <a:rPr lang="en-ZW" sz="2400" dirty="0"/>
              <a:t>∏</a:t>
            </a:r>
            <a:r>
              <a:rPr lang="en-ZW" sz="2400" baseline="-25000" dirty="0" err="1"/>
              <a:t>TeamName</a:t>
            </a:r>
            <a:r>
              <a:rPr lang="en-ZW" sz="2400" baseline="-25000" dirty="0"/>
              <a:t>, City</a:t>
            </a:r>
            <a:r>
              <a:rPr lang="en-ZW" sz="2400" dirty="0"/>
              <a:t>(Team)</a:t>
            </a:r>
          </a:p>
          <a:p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F18FD0-D6C7-4DCD-AE73-DF10D972DC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998040"/>
            <a:ext cx="5181600" cy="2006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581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Activity Projection -Answer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21"/>
          <a:stretch/>
        </p:blipFill>
        <p:spPr bwMode="auto">
          <a:xfrm>
            <a:off x="1981201" y="2469965"/>
            <a:ext cx="7499175" cy="2986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8122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1852" y="1981200"/>
            <a:ext cx="9007572" cy="4389120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Exercise</a:t>
            </a:r>
          </a:p>
          <a:p>
            <a:pPr lvl="2"/>
            <a:r>
              <a:rPr lang="el-GR" sz="2400" baseline="30000" dirty="0"/>
              <a:t>π </a:t>
            </a:r>
            <a:r>
              <a:rPr lang="en-ZA" sz="2400" dirty="0" err="1"/>
              <a:t>first_name</a:t>
            </a:r>
            <a:r>
              <a:rPr lang="en-ZA" sz="2400" dirty="0"/>
              <a:t>, </a:t>
            </a:r>
            <a:r>
              <a:rPr lang="en-ZA" sz="2400" dirty="0" err="1"/>
              <a:t>last_name</a:t>
            </a:r>
            <a:r>
              <a:rPr lang="en-ZA" sz="2400" dirty="0"/>
              <a:t>, </a:t>
            </a:r>
            <a:r>
              <a:rPr lang="en-ZA" sz="2400" dirty="0" err="1"/>
              <a:t>date_of_birth</a:t>
            </a:r>
            <a:r>
              <a:rPr lang="en-ZA" sz="2400" dirty="0"/>
              <a:t>, salary</a:t>
            </a:r>
            <a:r>
              <a:rPr lang="en-ZA" sz="2400" baseline="30000" dirty="0"/>
              <a:t>(Employee)</a:t>
            </a:r>
          </a:p>
          <a:p>
            <a:r>
              <a:rPr lang="en-ZA" dirty="0"/>
              <a:t>Translate the following relational algebra expression to SQL query</a:t>
            </a:r>
          </a:p>
          <a:p>
            <a:pPr lvl="2"/>
            <a:r>
              <a:rPr lang="el-GR" sz="2400" baseline="30000" dirty="0"/>
              <a:t>π </a:t>
            </a:r>
            <a:r>
              <a:rPr lang="en-ZA" sz="2400" dirty="0" err="1"/>
              <a:t>Lecturer_surname</a:t>
            </a:r>
            <a:r>
              <a:rPr lang="en-ZA" sz="2400" dirty="0"/>
              <a:t>, </a:t>
            </a:r>
            <a:r>
              <a:rPr lang="en-ZA" sz="2400" dirty="0" err="1"/>
              <a:t>Lecturer_date_of_birth</a:t>
            </a:r>
            <a:r>
              <a:rPr lang="en-ZA" sz="2400" baseline="30000" dirty="0"/>
              <a:t>(Lecturer)</a:t>
            </a:r>
          </a:p>
          <a:p>
            <a:pPr lvl="2"/>
            <a:r>
              <a:rPr lang="el-GR" sz="2400" baseline="30000" dirty="0"/>
              <a:t>π </a:t>
            </a:r>
            <a:r>
              <a:rPr lang="en-ZA" sz="2400" dirty="0" err="1"/>
              <a:t>Student_id</a:t>
            </a:r>
            <a:r>
              <a:rPr lang="en-ZA" sz="2400" dirty="0"/>
              <a:t>, </a:t>
            </a:r>
            <a:r>
              <a:rPr lang="en-ZA" sz="2400" dirty="0" err="1"/>
              <a:t>Student_course</a:t>
            </a:r>
            <a:r>
              <a:rPr lang="en-ZA" sz="2400" dirty="0"/>
              <a:t>, </a:t>
            </a:r>
            <a:r>
              <a:rPr lang="en-ZA" sz="2400" dirty="0" err="1"/>
              <a:t>student_admission_year</a:t>
            </a:r>
            <a:r>
              <a:rPr lang="en-ZA" sz="2400" baseline="30000" dirty="0"/>
              <a:t>(Student)</a:t>
            </a:r>
          </a:p>
          <a:p>
            <a:pPr lvl="2"/>
            <a:r>
              <a:rPr lang="el-GR" sz="2400" baseline="30000" dirty="0"/>
              <a:t>π </a:t>
            </a:r>
            <a:r>
              <a:rPr lang="en-ZA" sz="2400" dirty="0" err="1"/>
              <a:t>Staff_name</a:t>
            </a:r>
            <a:r>
              <a:rPr lang="en-ZA" sz="2400" dirty="0"/>
              <a:t>, </a:t>
            </a:r>
            <a:r>
              <a:rPr lang="en-ZA" sz="2400" dirty="0" err="1"/>
              <a:t>Staff_id</a:t>
            </a:r>
            <a:r>
              <a:rPr lang="en-ZA" sz="2400" dirty="0"/>
              <a:t>, </a:t>
            </a:r>
            <a:r>
              <a:rPr lang="en-ZA" sz="2400" dirty="0" err="1"/>
              <a:t>staff_date_of_birth</a:t>
            </a:r>
            <a:r>
              <a:rPr lang="en-ZA" sz="2400" baseline="30000" dirty="0"/>
              <a:t>(Staff)</a:t>
            </a:r>
          </a:p>
          <a:p>
            <a:pPr lvl="2"/>
            <a:endParaRPr lang="en-ZA" sz="2400" baseline="30000" dirty="0"/>
          </a:p>
          <a:p>
            <a:pPr lvl="1"/>
            <a:endParaRPr lang="en-ZA" sz="1900" dirty="0"/>
          </a:p>
          <a:p>
            <a:pPr lvl="1"/>
            <a:endParaRPr lang="en-ZA" sz="1900" dirty="0"/>
          </a:p>
          <a:p>
            <a:pPr marL="667512" lvl="2" indent="0" algn="just">
              <a:buNone/>
            </a:pPr>
            <a:endParaRPr lang="en-ZA" sz="1600" dirty="0"/>
          </a:p>
          <a:p>
            <a:pPr lvl="2" algn="just"/>
            <a:endParaRPr lang="en-ZA" sz="1700" dirty="0"/>
          </a:p>
          <a:p>
            <a:pPr algn="just"/>
            <a:endParaRPr lang="en-ZA" sz="2200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35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Rename Operation </a:t>
            </a:r>
            <a:r>
              <a:rPr lang="el-GR" dirty="0"/>
              <a:t>ρ</a:t>
            </a:r>
            <a:r>
              <a:rPr lang="en-ZW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This operation is used to rename the output relation for any query operation which returns result like Select, Project</a:t>
            </a:r>
          </a:p>
          <a:p>
            <a:pPr marL="342900" lvl="2" indent="-342900"/>
            <a:r>
              <a:rPr lang="el-GR" sz="3200" dirty="0"/>
              <a:t>ρ</a:t>
            </a:r>
            <a:r>
              <a:rPr lang="en-ZA" baseline="-25000" dirty="0"/>
              <a:t> S</a:t>
            </a:r>
            <a:r>
              <a:rPr lang="en-ZA" baseline="30000" dirty="0"/>
              <a:t>(R)</a:t>
            </a:r>
          </a:p>
          <a:p>
            <a:pPr lvl="1"/>
            <a:r>
              <a:rPr lang="el-GR" dirty="0"/>
              <a:t>ρ</a:t>
            </a:r>
            <a:r>
              <a:rPr lang="en-ZA" dirty="0"/>
              <a:t> – a rename operator</a:t>
            </a:r>
          </a:p>
          <a:p>
            <a:pPr lvl="1"/>
            <a:r>
              <a:rPr lang="en-ZA" dirty="0"/>
              <a:t>S- the new name of the relation</a:t>
            </a:r>
          </a:p>
          <a:p>
            <a:pPr lvl="1"/>
            <a:r>
              <a:rPr lang="en-ZA" dirty="0"/>
              <a:t>(R) – the name of the relation to be changed</a:t>
            </a:r>
          </a:p>
        </p:txBody>
      </p:sp>
    </p:spTree>
    <p:extLst>
      <p:ext uri="{BB962C8B-B14F-4D97-AF65-F5344CB8AC3E}">
        <p14:creationId xmlns:p14="http://schemas.microsoft.com/office/powerpoint/2010/main" val="1290036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Rename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ZA" sz="4000" dirty="0"/>
              <a:t>Renaming attribute</a:t>
            </a:r>
          </a:p>
          <a:p>
            <a:pPr lvl="2"/>
            <a:r>
              <a:rPr lang="el-GR" sz="4000" dirty="0"/>
              <a:t>ρ</a:t>
            </a:r>
            <a:r>
              <a:rPr lang="en-ZA" sz="4000" baseline="-25000" dirty="0"/>
              <a:t> (Attr1…</a:t>
            </a:r>
            <a:r>
              <a:rPr lang="en-ZA" sz="4000" baseline="-25000" dirty="0" err="1"/>
              <a:t>Attrn</a:t>
            </a:r>
            <a:r>
              <a:rPr lang="en-ZA" sz="4000" baseline="-25000" dirty="0"/>
              <a:t>)</a:t>
            </a:r>
            <a:r>
              <a:rPr lang="en-ZA" sz="4000" baseline="30000" dirty="0"/>
              <a:t>(R)</a:t>
            </a:r>
          </a:p>
          <a:p>
            <a:pPr lvl="1"/>
            <a:r>
              <a:rPr lang="en-ZA" sz="4000" dirty="0"/>
              <a:t>Renaming relation and its attribute</a:t>
            </a:r>
            <a:endParaRPr lang="en-ZA" sz="4000" baseline="30000" dirty="0"/>
          </a:p>
          <a:p>
            <a:pPr lvl="2"/>
            <a:r>
              <a:rPr lang="el-GR" sz="4000" dirty="0"/>
              <a:t>Ρ</a:t>
            </a:r>
            <a:r>
              <a:rPr lang="en-ZA" sz="4000" baseline="-25000" dirty="0"/>
              <a:t>S(Attr1…</a:t>
            </a:r>
            <a:r>
              <a:rPr lang="en-ZA" sz="4000" baseline="-25000" dirty="0" err="1"/>
              <a:t>Attrn</a:t>
            </a:r>
            <a:r>
              <a:rPr lang="en-ZA" sz="4000" baseline="-25000" dirty="0"/>
              <a:t>)</a:t>
            </a:r>
            <a:r>
              <a:rPr lang="en-ZA" sz="4000" baseline="30000" dirty="0"/>
              <a:t>(R)</a:t>
            </a:r>
          </a:p>
          <a:p>
            <a:pPr lvl="1"/>
            <a:r>
              <a:rPr lang="el-GR" sz="3600" dirty="0"/>
              <a:t>ρ</a:t>
            </a:r>
            <a:r>
              <a:rPr lang="en-ZA" baseline="-25000" dirty="0"/>
              <a:t> </a:t>
            </a:r>
            <a:r>
              <a:rPr lang="en-ZA" baseline="-25000" dirty="0" err="1"/>
              <a:t>Minister_Accommodation</a:t>
            </a:r>
            <a:r>
              <a:rPr lang="en-ZA" baseline="30000" dirty="0"/>
              <a:t>(Accommodation)</a:t>
            </a:r>
          </a:p>
          <a:p>
            <a:pPr lvl="2"/>
            <a:r>
              <a:rPr lang="en-ZA" dirty="0"/>
              <a:t>Renames the </a:t>
            </a:r>
            <a:r>
              <a:rPr lang="en-ZA" dirty="0" err="1"/>
              <a:t>Accomdation</a:t>
            </a:r>
            <a:r>
              <a:rPr lang="en-ZA" dirty="0"/>
              <a:t> table to </a:t>
            </a:r>
            <a:r>
              <a:rPr lang="en-ZA" dirty="0" err="1"/>
              <a:t>Minister_Accommodation</a:t>
            </a:r>
            <a:endParaRPr lang="en-ZA" dirty="0"/>
          </a:p>
          <a:p>
            <a:endParaRPr lang="en-ZW" dirty="0"/>
          </a:p>
          <a:p>
            <a:pPr lvl="2"/>
            <a:endParaRPr lang="en-ZA" sz="4000" baseline="30000" dirty="0"/>
          </a:p>
          <a:p>
            <a:endParaRPr lang="en-ZW" sz="4000" dirty="0"/>
          </a:p>
        </p:txBody>
      </p:sp>
    </p:spTree>
    <p:extLst>
      <p:ext uri="{BB962C8B-B14F-4D97-AF65-F5344CB8AC3E}">
        <p14:creationId xmlns:p14="http://schemas.microsoft.com/office/powerpoint/2010/main" val="2025256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Rename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Consider this relation </a:t>
            </a:r>
          </a:p>
          <a:p>
            <a:r>
              <a:rPr lang="en-ZW" dirty="0"/>
              <a:t>1.  rename the attribute name to bar</a:t>
            </a:r>
          </a:p>
          <a:p>
            <a:endParaRPr lang="en-ZW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63903" y="3626521"/>
            <a:ext cx="612068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02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W" dirty="0"/>
              <a:t>Rename</a:t>
            </a:r>
            <a:br>
              <a:rPr lang="en-ZW" dirty="0"/>
            </a:br>
            <a:endParaRPr lang="en-ZW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253" y="2411691"/>
            <a:ext cx="3384376" cy="1008112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52562" y="2842754"/>
            <a:ext cx="5456262" cy="288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17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Activity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ZW" sz="4600" dirty="0"/>
              <a:t>Write the relational Algebraic statement to: 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ZW" sz="4600" dirty="0"/>
              <a:t>Rename the following attribute Coach and Captain to </a:t>
            </a:r>
            <a:r>
              <a:rPr lang="en-ZW" sz="4600" dirty="0" err="1"/>
              <a:t>TeamCoach</a:t>
            </a:r>
            <a:r>
              <a:rPr lang="en-ZW" sz="4600" dirty="0"/>
              <a:t> and </a:t>
            </a:r>
            <a:r>
              <a:rPr lang="en-ZW" sz="4600" dirty="0" err="1"/>
              <a:t>TeamCap</a:t>
            </a:r>
            <a:r>
              <a:rPr lang="en-ZW" sz="4600" dirty="0"/>
              <a:t> respectively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ZW" sz="4600" dirty="0"/>
              <a:t>Rename the Team relation to </a:t>
            </a:r>
            <a:r>
              <a:rPr lang="en-ZW" sz="4600" dirty="0" err="1"/>
              <a:t>PlayerDetails</a:t>
            </a:r>
            <a:endParaRPr lang="en-ZW" sz="4600" dirty="0"/>
          </a:p>
          <a:p>
            <a:pPr marL="0" indent="0">
              <a:lnSpc>
                <a:spcPct val="150000"/>
              </a:lnSpc>
              <a:buNone/>
            </a:pPr>
            <a:endParaRPr lang="en-ZW" sz="41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ZW" sz="3500" dirty="0"/>
          </a:p>
          <a:p>
            <a:pPr marL="0" indent="0">
              <a:buNone/>
            </a:pPr>
            <a:r>
              <a:rPr lang="en-ZW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4889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0D62-7E6A-4FAD-99EF-5C9B2075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9E93-9532-48D5-A7CA-52EAACE6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 we discussed</a:t>
            </a:r>
          </a:p>
          <a:p>
            <a:r>
              <a:rPr lang="en-US" dirty="0"/>
              <a:t>Joins  </a:t>
            </a:r>
          </a:p>
          <a:p>
            <a:r>
              <a:rPr lang="en-US" dirty="0"/>
              <a:t>Relational Algebra </a:t>
            </a:r>
          </a:p>
          <a:p>
            <a:r>
              <a:rPr lang="en-US" dirty="0"/>
              <a:t>Syntax of basic operators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8469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5C8F-2FD6-4139-8D38-D8802ADE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9A65-E55D-47C4-B29E-92D9FA3C0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Marks (follow up with practical lecturers)</a:t>
            </a:r>
          </a:p>
          <a:p>
            <a:r>
              <a:rPr lang="en-US" dirty="0"/>
              <a:t>Attend practical classes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6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449</TotalTime>
  <Words>1525</Words>
  <Application>Microsoft Office PowerPoint</Application>
  <PresentationFormat>Widescreen</PresentationFormat>
  <Paragraphs>260</Paragraphs>
  <Slides>39</Slides>
  <Notes>8</Notes>
  <HiddenSlides>0</HiddenSlides>
  <MMClips>1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Book Antiqua</vt:lpstr>
      <vt:lpstr>Calibri</vt:lpstr>
      <vt:lpstr>Calibri Light</vt:lpstr>
      <vt:lpstr>RopaSoftPro-Regular</vt:lpstr>
      <vt:lpstr>Symbol</vt:lpstr>
      <vt:lpstr>Tahoma</vt:lpstr>
      <vt:lpstr>Times New Roman</vt:lpstr>
      <vt:lpstr>Tw Cen MT</vt:lpstr>
      <vt:lpstr>Office 2013 - 2022 Theme</vt:lpstr>
      <vt:lpstr>Equation</vt:lpstr>
      <vt:lpstr>PowerPoint Presentation</vt:lpstr>
      <vt:lpstr>Recap</vt:lpstr>
      <vt:lpstr>Objectives </vt:lpstr>
      <vt:lpstr>Joins</vt:lpstr>
      <vt:lpstr>Theta Join</vt:lpstr>
      <vt:lpstr>JOINS</vt:lpstr>
      <vt:lpstr>Natural Join Operator </vt:lpstr>
      <vt:lpstr>Natural Joins</vt:lpstr>
      <vt:lpstr>Natural Join</vt:lpstr>
      <vt:lpstr>JOINS</vt:lpstr>
      <vt:lpstr>JOINS </vt:lpstr>
      <vt:lpstr>Union  </vt:lpstr>
      <vt:lpstr>Union    U</vt:lpstr>
      <vt:lpstr>Set Difference -</vt:lpstr>
      <vt:lpstr>Set Difference  -</vt:lpstr>
      <vt:lpstr>Cartesian-Product   X</vt:lpstr>
      <vt:lpstr>Cartesian Product Example</vt:lpstr>
      <vt:lpstr>Intersection</vt:lpstr>
      <vt:lpstr>Intersection</vt:lpstr>
      <vt:lpstr>Relational Algebra</vt:lpstr>
      <vt:lpstr>Relational Algebra </vt:lpstr>
      <vt:lpstr>Selection σ</vt:lpstr>
      <vt:lpstr>Select Operation</vt:lpstr>
      <vt:lpstr>Selection </vt:lpstr>
      <vt:lpstr>Select Operator</vt:lpstr>
      <vt:lpstr>Select Operator</vt:lpstr>
      <vt:lpstr>Project Operation π</vt:lpstr>
      <vt:lpstr>Projection π </vt:lpstr>
      <vt:lpstr>Project Operator</vt:lpstr>
      <vt:lpstr>Activity-Projection</vt:lpstr>
      <vt:lpstr>Activity Projection -Answer</vt:lpstr>
      <vt:lpstr>Project Operator</vt:lpstr>
      <vt:lpstr>Rename Operation ρ </vt:lpstr>
      <vt:lpstr>Rename Operation</vt:lpstr>
      <vt:lpstr>Rename</vt:lpstr>
      <vt:lpstr>Rename </vt:lpstr>
      <vt:lpstr>Activity </vt:lpstr>
      <vt:lpstr>Summary </vt:lpstr>
      <vt:lpstr>Announcements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Chikohora, Teressa (INT)</dc:creator>
  <cp:lastModifiedBy>Chivuno-Kuria, Shilumbe</cp:lastModifiedBy>
  <cp:revision>22</cp:revision>
  <dcterms:created xsi:type="dcterms:W3CDTF">2021-05-24T05:54:30Z</dcterms:created>
  <dcterms:modified xsi:type="dcterms:W3CDTF">2025-04-23T13:10:02Z</dcterms:modified>
</cp:coreProperties>
</file>