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1" r:id="rId1"/>
    <p:sldMasterId id="2147483704" r:id="rId2"/>
  </p:sldMasterIdLst>
  <p:notesMasterIdLst>
    <p:notesMasterId r:id="rId36"/>
  </p:notesMasterIdLst>
  <p:sldIdLst>
    <p:sldId id="309" r:id="rId3"/>
    <p:sldId id="257" r:id="rId4"/>
    <p:sldId id="258" r:id="rId5"/>
    <p:sldId id="359" r:id="rId6"/>
    <p:sldId id="261" r:id="rId7"/>
    <p:sldId id="368" r:id="rId8"/>
    <p:sldId id="262" r:id="rId9"/>
    <p:sldId id="369" r:id="rId10"/>
    <p:sldId id="263" r:id="rId11"/>
    <p:sldId id="264" r:id="rId12"/>
    <p:sldId id="265" r:id="rId13"/>
    <p:sldId id="370" r:id="rId14"/>
    <p:sldId id="371" r:id="rId15"/>
    <p:sldId id="373" r:id="rId16"/>
    <p:sldId id="493" r:id="rId17"/>
    <p:sldId id="320" r:id="rId18"/>
    <p:sldId id="490" r:id="rId19"/>
    <p:sldId id="419" r:id="rId20"/>
    <p:sldId id="454" r:id="rId21"/>
    <p:sldId id="384" r:id="rId22"/>
    <p:sldId id="492" r:id="rId23"/>
    <p:sldId id="388" r:id="rId24"/>
    <p:sldId id="422" r:id="rId25"/>
    <p:sldId id="456" r:id="rId26"/>
    <p:sldId id="394" r:id="rId27"/>
    <p:sldId id="391" r:id="rId28"/>
    <p:sldId id="458" r:id="rId29"/>
    <p:sldId id="459" r:id="rId30"/>
    <p:sldId id="277" r:id="rId31"/>
    <p:sldId id="270" r:id="rId32"/>
    <p:sldId id="272" r:id="rId33"/>
    <p:sldId id="372" r:id="rId34"/>
    <p:sldId id="271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79" autoAdjust="0"/>
    <p:restoredTop sz="94660"/>
  </p:normalViewPr>
  <p:slideViewPr>
    <p:cSldViewPr snapToGrid="0">
      <p:cViewPr varScale="1">
        <p:scale>
          <a:sx n="83" d="100"/>
          <a:sy n="83" d="100"/>
        </p:scale>
        <p:origin x="91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7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vuno-Kuria, Shilumbe" userId="971a9ce4-f8fe-45be-a1b9-784e76a04f28" providerId="ADAL" clId="{3CB79466-290E-4A2B-9769-EB82112FF285}"/>
    <pc:docChg chg="modSld">
      <pc:chgData name="Chivuno-Kuria, Shilumbe" userId="971a9ce4-f8fe-45be-a1b9-784e76a04f28" providerId="ADAL" clId="{3CB79466-290E-4A2B-9769-EB82112FF285}" dt="2025-03-07T06:41:24.701" v="1" actId="20577"/>
      <pc:docMkLst>
        <pc:docMk/>
      </pc:docMkLst>
      <pc:sldChg chg="modSp mod">
        <pc:chgData name="Chivuno-Kuria, Shilumbe" userId="971a9ce4-f8fe-45be-a1b9-784e76a04f28" providerId="ADAL" clId="{3CB79466-290E-4A2B-9769-EB82112FF285}" dt="2025-03-07T06:41:24.701" v="1" actId="20577"/>
        <pc:sldMkLst>
          <pc:docMk/>
          <pc:sldMk cId="987501680" sldId="372"/>
        </pc:sldMkLst>
        <pc:spChg chg="mod">
          <ac:chgData name="Chivuno-Kuria, Shilumbe" userId="971a9ce4-f8fe-45be-a1b9-784e76a04f28" providerId="ADAL" clId="{3CB79466-290E-4A2B-9769-EB82112FF285}" dt="2025-03-07T06:41:24.701" v="1" actId="20577"/>
          <ac:spMkLst>
            <pc:docMk/>
            <pc:sldMk cId="987501680" sldId="372"/>
            <ac:spMk id="3" creationId="{D2BE558F-EC10-46ED-A1C7-298BD9FA8CE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68D5ED-0997-4710-AD17-771E634A534D}" type="datetimeFigureOut">
              <a:rPr lang="en-GB" smtClean="0"/>
              <a:t>07/03/2025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49B5A3-6CC9-43B3-8A81-440C6AB16F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1455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0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  <p:sp>
        <p:nvSpPr>
          <p:cNvPr id="32771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AB30A65-BF60-493F-9595-4182CA131BDE}" type="slidenum">
              <a:rPr lang="en-US" smtClean="0">
                <a:cs typeface="Arial" charset="0"/>
              </a:rPr>
              <a:pPr/>
              <a:t>16</a:t>
            </a:fld>
            <a:endParaRPr lang="en-US" dirty="0">
              <a:cs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  <p:sp>
        <p:nvSpPr>
          <p:cNvPr id="3481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E005026-B956-4AEC-85FF-95EFD0375ACB}" type="slidenum">
              <a:rPr lang="en-US" smtClean="0">
                <a:cs typeface="Arial" charset="0"/>
              </a:rPr>
              <a:pPr/>
              <a:t>19</a:t>
            </a:fld>
            <a:endParaRPr lang="en-US" dirty="0">
              <a:cs typeface="Arial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0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  <p:sp>
        <p:nvSpPr>
          <p:cNvPr id="43011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7BA151E-F544-4849-BC64-F12CC19863FE}" type="slidenum">
              <a:rPr lang="en-US" smtClean="0">
                <a:cs typeface="Arial" charset="0"/>
              </a:rPr>
              <a:pPr/>
              <a:t>24</a:t>
            </a:fld>
            <a:endParaRPr lang="en-US" dirty="0">
              <a:cs typeface="Arial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  <p:sp>
        <p:nvSpPr>
          <p:cNvPr id="4505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9244128-8DB5-4DA8-818F-94D68B7E16DE}" type="slidenum">
              <a:rPr lang="en-US" smtClean="0">
                <a:cs typeface="Arial" charset="0"/>
              </a:rPr>
              <a:pPr/>
              <a:t>27</a:t>
            </a:fld>
            <a:endParaRPr lang="en-US" dirty="0">
              <a:cs typeface="Arial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  <p:sp>
        <p:nvSpPr>
          <p:cNvPr id="4710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7AA820A-613C-4E9D-90DB-DE2D6943D060}" type="slidenum">
              <a:rPr lang="en-US" smtClean="0">
                <a:cs typeface="Arial" charset="0"/>
              </a:rPr>
              <a:pPr/>
              <a:t>28</a:t>
            </a:fld>
            <a:endParaRPr lang="en-US" dirty="0">
              <a:cs typeface="Arial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4210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  <p:sp>
        <p:nvSpPr>
          <p:cNvPr id="94211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946CDC9-F364-4ED2-A3C1-B43011E49B44}" type="slidenum">
              <a:rPr lang="en-US" smtClean="0">
                <a:cs typeface="Arial" charset="0"/>
              </a:rPr>
              <a:pPr/>
              <a:t>29</a:t>
            </a:fld>
            <a:endParaRPr lang="en-US" dirty="0">
              <a:cs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5743D-FFBA-49B6-8C74-0691B41B79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6814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5743D-FFBA-49B6-8C74-0691B41B79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7929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5743D-FFBA-49B6-8C74-0691B41B79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0164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5743D-FFBA-49B6-8C74-0691B41B79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6050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5743D-FFBA-49B6-8C74-0691B41B79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5568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5743D-FFBA-49B6-8C74-0691B41B79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3806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5743D-FFBA-49B6-8C74-0691B41B79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2284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5743D-FFBA-49B6-8C74-0691B41B79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3021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5743D-FFBA-49B6-8C74-0691B41B79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8654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5743D-FFBA-49B6-8C74-0691B41B79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0591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5743D-FFBA-49B6-8C74-0691B41B79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0168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/>
          <a:srcRect b="49802"/>
          <a:stretch/>
        </p:blipFill>
        <p:spPr>
          <a:xfrm>
            <a:off x="1" y="0"/>
            <a:ext cx="12192000" cy="343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843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1C0F57A-85A3-49E7-B8C8-AFC674E750CB}" type="datetime1">
              <a:rPr lang="en-GB" smtClean="0"/>
              <a:t>07/03/2025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98A7-B7F8-418E-BC89-7AA1FB5E83CF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98394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B3346-45B3-4811-92A0-14286F51245A}" type="datetime1">
              <a:rPr lang="en-GB" smtClean="0"/>
              <a:t>07/03/2025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98A7-B7F8-418E-BC89-7AA1FB5E83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59731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2354A-1EE6-4CE5-9C9D-3E9A54BDD7D4}" type="datetime1">
              <a:rPr lang="en-GB" smtClean="0"/>
              <a:t>07/03/2025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98A7-B7F8-418E-BC89-7AA1FB5E83CF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17647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A0194-CBE5-419D-9279-0DB736069C68}" type="datetime1">
              <a:rPr lang="en-GB" smtClean="0"/>
              <a:t>07/03/2025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98A7-B7F8-418E-BC89-7AA1FB5E83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27506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9DACF-FF32-4D13-B490-06551733F53C}" type="datetime1">
              <a:rPr lang="en-GB" smtClean="0"/>
              <a:t>07/03/2025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98A7-B7F8-418E-BC89-7AA1FB5E83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51985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198E1-F7A8-4763-901A-BB91D8F793D9}" type="datetime1">
              <a:rPr lang="en-GB" smtClean="0"/>
              <a:t>07/03/2025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98A7-B7F8-418E-BC89-7AA1FB5E83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70369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2605E-60EF-4495-ABA7-7778F322ED01}" type="datetime1">
              <a:rPr lang="en-GB" smtClean="0"/>
              <a:t>07/03/2025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98A7-B7F8-418E-BC89-7AA1FB5E83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7574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211E2-202F-4C72-9BDE-CB43D7D30A96}" type="datetime1">
              <a:rPr lang="en-GB" smtClean="0"/>
              <a:t>07/03/2025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98A7-B7F8-418E-BC89-7AA1FB5E83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13293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9A59F-3753-4CA8-BAA7-2FF74403CEC7}" type="datetime1">
              <a:rPr lang="en-GB" smtClean="0"/>
              <a:t>07/03/2025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98A7-B7F8-418E-BC89-7AA1FB5E83CF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75341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B1F36-A681-426E-894F-E19BF27F785C}" type="datetime1">
              <a:rPr lang="en-GB" smtClean="0"/>
              <a:t>07/03/2025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98A7-B7F8-418E-BC89-7AA1FB5E83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10058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83B6-8FBB-4E9E-8B9B-3DE88B8BB4E4}" type="datetime1">
              <a:rPr lang="en-GB" smtClean="0"/>
              <a:t>07/03/2025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98A7-B7F8-418E-BC89-7AA1FB5E83CF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51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962D6A-4438-4FF7-9A4F-BD68F0FFF05E}" type="datetime1">
              <a:rPr lang="en-GB" smtClean="0"/>
              <a:t>07/03/2025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D098A7-B7F8-418E-BC89-7AA1FB5E83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9249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1962D6A-4438-4FF7-9A4F-BD68F0FFF05E}" type="datetime1">
              <a:rPr lang="en-GB" smtClean="0"/>
              <a:t>07/03/2025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8D098A7-B7F8-418E-BC89-7AA1FB5E83CF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85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SC_0063 (2)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40" r="15370" b="39874"/>
          <a:stretch/>
        </p:blipFill>
        <p:spPr>
          <a:xfrm>
            <a:off x="1541239" y="2817982"/>
            <a:ext cx="9060902" cy="33965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13611" y="1113407"/>
            <a:ext cx="8254518" cy="147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2628">
              <a:spcAft>
                <a:spcPts val="600"/>
              </a:spcAft>
              <a:defRPr/>
            </a:pPr>
            <a:endParaRPr lang="en-ZA" sz="2667" kern="1200" dirty="0">
              <a:solidFill>
                <a:srgbClr val="FFFFFF"/>
              </a:solidFill>
              <a:latin typeface="Tw Cen MT" panose="020B0602020104020603"/>
              <a:ea typeface="+mn-ea"/>
              <a:cs typeface="+mn-cs"/>
            </a:endParaRPr>
          </a:p>
          <a:p>
            <a:pPr algn="ctr" defTabSz="452628">
              <a:spcAft>
                <a:spcPts val="600"/>
              </a:spcAft>
              <a:defRPr/>
            </a:pPr>
            <a:r>
              <a:rPr lang="en-ZA" sz="2667" kern="1200" dirty="0">
                <a:solidFill>
                  <a:srgbClr val="FFFFFF"/>
                </a:solidFill>
                <a:latin typeface="Tw Cen MT" panose="020B0602020104020603"/>
                <a:ea typeface="+mn-ea"/>
                <a:cs typeface="+mn-cs"/>
              </a:rPr>
              <a:t>Week </a:t>
            </a:r>
            <a:r>
              <a:rPr lang="en-GB" sz="2667" kern="1200" dirty="0">
                <a:solidFill>
                  <a:srgbClr val="FFFFFF"/>
                </a:solidFill>
                <a:latin typeface="Tw Cen MT" panose="020B0602020104020603"/>
                <a:ea typeface="+mn-ea"/>
                <a:cs typeface="+mn-cs"/>
              </a:rPr>
              <a:t>4</a:t>
            </a:r>
            <a:endParaRPr lang="en-US" sz="3201" kern="1200" dirty="0">
              <a:solidFill>
                <a:srgbClr val="FFFFFF"/>
              </a:solidFill>
              <a:latin typeface="Tw Cen MT" panose="020B0602020104020603"/>
              <a:ea typeface="+mn-ea"/>
              <a:cs typeface="+mn-cs"/>
            </a:endParaRPr>
          </a:p>
          <a:p>
            <a:pPr algn="ctr" defTabSz="452628">
              <a:spcAft>
                <a:spcPts val="600"/>
              </a:spcAft>
              <a:defRPr/>
            </a:pPr>
            <a:r>
              <a:rPr lang="en-ZA" sz="2667" kern="1200" dirty="0">
                <a:solidFill>
                  <a:srgbClr val="FFFFFF"/>
                </a:solidFill>
                <a:latin typeface="Tw Cen MT" panose="020B0602020104020603"/>
                <a:ea typeface="+mn-ea"/>
                <a:cs typeface="+mn-cs"/>
              </a:rPr>
              <a:t>The Database Development Process</a:t>
            </a:r>
            <a:endParaRPr kumimoji="0" lang="en-ZA" sz="2694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18420" y="643466"/>
            <a:ext cx="7136656" cy="716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2628">
              <a:spcAft>
                <a:spcPts val="600"/>
              </a:spcAft>
              <a:defRPr/>
            </a:pPr>
            <a:endParaRPr lang="en-US" sz="1778" b="1" kern="1200" dirty="0">
              <a:solidFill>
                <a:srgbClr val="FFFFFF"/>
              </a:solidFill>
              <a:latin typeface="RopaSoftPro-Regular"/>
              <a:ea typeface="+mn-ea"/>
              <a:cs typeface="+mn-cs"/>
            </a:endParaRPr>
          </a:p>
          <a:p>
            <a:pPr defTabSz="452628">
              <a:spcAft>
                <a:spcPts val="600"/>
              </a:spcAft>
              <a:defRPr/>
            </a:pPr>
            <a:r>
              <a:rPr lang="en-US" sz="1778" b="1" kern="1200">
                <a:solidFill>
                  <a:srgbClr val="FFFFFF"/>
                </a:solidFill>
                <a:latin typeface="RopaSoftPro-Regular"/>
                <a:ea typeface="+mn-ea"/>
                <a:cs typeface="+mn-cs"/>
              </a:rPr>
              <a:t>Faculty </a:t>
            </a:r>
            <a:r>
              <a:rPr lang="en-US" sz="1778" b="1" kern="1200" dirty="0">
                <a:solidFill>
                  <a:srgbClr val="FFFFFF"/>
                </a:solidFill>
                <a:latin typeface="RopaSoftPro-Regular"/>
                <a:ea typeface="+mn-ea"/>
                <a:cs typeface="+mn-cs"/>
              </a:rPr>
              <a:t>of Computing and Informatics</a:t>
            </a:r>
            <a:endParaRPr kumimoji="0" lang="en-US" sz="1796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paSoftPro-Regular"/>
              <a:ea typeface="+mn-ea"/>
              <a:cs typeface="+mn-cs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3196" y="3237427"/>
            <a:ext cx="2127564" cy="2614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233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03503-9DEC-4C77-A1C2-4134D7C6C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CF092-15F8-4F68-AFBD-2DA5D45D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previous lecture, we discussed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server architecture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database systems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system concepts 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E29534-9B3E-CCD6-3722-C9F7F03F2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98A7-B7F8-418E-BC89-7AA1FB5E83CF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200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096EB-6F3D-42D0-B656-476C896BE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21267-6595-496E-9B74-E7776AC9C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the end of this lesson, students should be able to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the database development process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activities at each phase of the process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how the process is applied in real life projects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the activities conducted at the conceptual database design phase</a:t>
            </a: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1BC0B4-A36E-B4D1-FBA2-3DBC15384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98A7-B7F8-418E-BC89-7AA1FB5E83CF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0189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Database Development Life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1295400"/>
            <a:ext cx="9144000" cy="5181600"/>
          </a:xfrm>
        </p:spPr>
        <p:txBody>
          <a:bodyPr>
            <a:normAutofit/>
          </a:bodyPr>
          <a:lstStyle/>
          <a:p>
            <a:pPr lvl="1"/>
            <a:endParaRPr lang="en-US" b="1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C8A00-3EF5-C96F-47B7-10327BD8E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98A7-B7F8-418E-BC89-7AA1FB5E83CF}" type="slidenum">
              <a:rPr lang="en-GB" smtClean="0"/>
              <a:t>4</a:t>
            </a:fld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1676400" y="1447800"/>
            <a:ext cx="2514600" cy="762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ZA" dirty="0"/>
              <a:t>Feasibility and requirements gathering phase</a:t>
            </a:r>
            <a:endParaRPr lang="en-US" dirty="0"/>
          </a:p>
        </p:txBody>
      </p:sp>
      <p:cxnSp>
        <p:nvCxnSpPr>
          <p:cNvPr id="9" name="Elbow Connector 8"/>
          <p:cNvCxnSpPr>
            <a:stCxn id="5" idx="3"/>
          </p:cNvCxnSpPr>
          <p:nvPr/>
        </p:nvCxnSpPr>
        <p:spPr>
          <a:xfrm>
            <a:off x="4191000" y="1828800"/>
            <a:ext cx="1066800" cy="3810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257800" y="1828800"/>
            <a:ext cx="2514600" cy="762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ZA" dirty="0"/>
              <a:t>Design phase</a:t>
            </a:r>
            <a:endParaRPr lang="en-US" dirty="0"/>
          </a:p>
        </p:txBody>
      </p:sp>
      <p:cxnSp>
        <p:nvCxnSpPr>
          <p:cNvPr id="11" name="Elbow Connector 10"/>
          <p:cNvCxnSpPr/>
          <p:nvPr/>
        </p:nvCxnSpPr>
        <p:spPr>
          <a:xfrm>
            <a:off x="7772400" y="2175164"/>
            <a:ext cx="1066800" cy="3810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839200" y="2175164"/>
            <a:ext cx="1828800" cy="762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ZA" dirty="0"/>
              <a:t>Implementation phase</a:t>
            </a:r>
            <a:endParaRPr lang="en-US" dirty="0"/>
          </a:p>
        </p:txBody>
      </p:sp>
      <p:cxnSp>
        <p:nvCxnSpPr>
          <p:cNvPr id="15" name="Straight Arrow Connector 14"/>
          <p:cNvCxnSpPr>
            <a:stCxn id="13" idx="2"/>
          </p:cNvCxnSpPr>
          <p:nvPr/>
        </p:nvCxnSpPr>
        <p:spPr>
          <a:xfrm>
            <a:off x="9753600" y="2937164"/>
            <a:ext cx="0" cy="7204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839200" y="3699164"/>
            <a:ext cx="1828800" cy="762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ZA" dirty="0"/>
              <a:t>Data and Application phase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9739745" y="4461164"/>
            <a:ext cx="0" cy="7204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8693727" y="5202382"/>
            <a:ext cx="1974273" cy="762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ZA" dirty="0"/>
              <a:t>Testing Phase</a:t>
            </a:r>
            <a:endParaRPr lang="en-US" dirty="0"/>
          </a:p>
        </p:txBody>
      </p:sp>
      <p:cxnSp>
        <p:nvCxnSpPr>
          <p:cNvPr id="21" name="Straight Connector 20"/>
          <p:cNvCxnSpPr>
            <a:stCxn id="19" idx="1"/>
          </p:cNvCxnSpPr>
          <p:nvPr/>
        </p:nvCxnSpPr>
        <p:spPr>
          <a:xfrm flipH="1" flipV="1">
            <a:off x="2673928" y="5541818"/>
            <a:ext cx="6019798" cy="415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2673927" y="3997036"/>
            <a:ext cx="0" cy="15447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057400" y="3235036"/>
            <a:ext cx="1828800" cy="762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ZA" dirty="0"/>
              <a:t>Maintenance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685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3D580-D394-4E31-A00F-B302F0337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Database Development Process</a:t>
            </a:r>
            <a:endParaRPr lang="en-GB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AF5C76C-459C-4084-B627-C85142F444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9625" y="2565083"/>
            <a:ext cx="10210800" cy="3317875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B2C08C-C1A9-0846-0528-ED3E9185E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98A7-B7F8-418E-BC89-7AA1FB5E83CF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3951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800100"/>
            <a:ext cx="9601196" cy="1485899"/>
          </a:xfrm>
        </p:spPr>
        <p:txBody>
          <a:bodyPr>
            <a:normAutofit fontScale="90000"/>
          </a:bodyPr>
          <a:lstStyle/>
          <a:p>
            <a:r>
              <a:rPr lang="en-ZA" sz="4400" b="1" dirty="0"/>
              <a:t>Feasibility and requirements gathering phase</a:t>
            </a:r>
            <a:br>
              <a:rPr lang="en-ZA" sz="4400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2" y="2600325"/>
            <a:ext cx="9705973" cy="3286126"/>
          </a:xfrm>
        </p:spPr>
        <p:txBody>
          <a:bodyPr>
            <a:normAutofit/>
          </a:bodyPr>
          <a:lstStyle/>
          <a:p>
            <a:pPr marL="342900" lvl="2" indent="-342900">
              <a:lnSpc>
                <a:spcPct val="90000"/>
              </a:lnSpc>
            </a:pPr>
            <a:r>
              <a:rPr lang="en-Z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Examine the business case scenario within the organisation to determine </a:t>
            </a:r>
          </a:p>
          <a:p>
            <a:pPr marL="0" lvl="2" indent="0">
              <a:lnSpc>
                <a:spcPct val="90000"/>
              </a:lnSpc>
              <a:buNone/>
            </a:pPr>
            <a:r>
              <a:rPr lang="en-Z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needs of the organisation and how the needs can be resolved through the development of a database application.</a:t>
            </a:r>
          </a:p>
          <a:p>
            <a:pPr marL="0" lvl="2" indent="0">
              <a:lnSpc>
                <a:spcPct val="90000"/>
              </a:lnSpc>
              <a:buNone/>
            </a:pPr>
            <a:endParaRPr lang="en-Z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-ZA" dirty="0"/>
          </a:p>
          <a:p>
            <a:pPr marL="393192" lvl="1" indent="0" algn="just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C962A0-E582-FB7E-53B7-96CC179AA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98A7-B7F8-418E-BC89-7AA1FB5E83CF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9047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3BEDB-9DE9-42DE-A78A-40079C69F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specification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1654B-CD0B-4799-9F9D-3156D8F54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Discover DATA and OPERATIONS requirements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 with the customer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discuss DATA now, OPERATIONS later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– what data must be available? –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How are data elements to be related?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RESULT: DATABASE REQUIREMENTS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656C1-7979-EE52-6CFC-C9FA6B191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98A7-B7F8-418E-BC89-7AA1FB5E83CF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5658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907628"/>
          </a:xfrm>
        </p:spPr>
        <p:txBody>
          <a:bodyPr>
            <a:normAutofit fontScale="90000"/>
          </a:bodyPr>
          <a:lstStyle/>
          <a:p>
            <a:r>
              <a:rPr lang="en-ZA" sz="4400" b="1" dirty="0"/>
              <a:t>Design Phase</a:t>
            </a:r>
            <a:br>
              <a:rPr lang="en-ZA" sz="4400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320" y="2522220"/>
            <a:ext cx="10210800" cy="3680460"/>
          </a:xfrm>
        </p:spPr>
        <p:txBody>
          <a:bodyPr>
            <a:normAutofit/>
          </a:bodyPr>
          <a:lstStyle/>
          <a:p>
            <a:pPr lvl="1" algn="just"/>
            <a:r>
              <a:rPr lang="en-Z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relevant design to meet the needs of the organisation is carefully selected based on the findings from the feasibility and requirements gathering phase</a:t>
            </a:r>
          </a:p>
          <a:p>
            <a:pPr lvl="2" algn="just"/>
            <a:r>
              <a:rPr lang="en-Z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 includes the following:</a:t>
            </a:r>
          </a:p>
          <a:p>
            <a:pPr marL="1371600" lvl="3" indent="0" algn="just">
              <a:buNone/>
            </a:pPr>
            <a:r>
              <a:rPr lang="en-Z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Conceptual database design </a:t>
            </a:r>
          </a:p>
          <a:p>
            <a:pPr marL="1371600" lvl="3" indent="0" algn="just">
              <a:buNone/>
            </a:pPr>
            <a:r>
              <a:rPr lang="en-Z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Logical database design</a:t>
            </a:r>
          </a:p>
          <a:p>
            <a:pPr marL="1371600" lvl="3" indent="0" algn="just">
              <a:buNone/>
            </a:pPr>
            <a:r>
              <a:rPr lang="en-Z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Physical database design</a:t>
            </a:r>
          </a:p>
          <a:p>
            <a:pPr lvl="1" algn="just"/>
            <a:endParaRPr lang="en-ZA" dirty="0"/>
          </a:p>
          <a:p>
            <a:pPr lvl="1" algn="just"/>
            <a:endParaRPr lang="en-ZA" dirty="0"/>
          </a:p>
          <a:p>
            <a:pPr marL="393192" lvl="1" indent="0" algn="just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729E9-6EE3-B5B1-364F-8F5C21A6B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98A7-B7F8-418E-BC89-7AA1FB5E83CF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0837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5F312-7F28-4802-9361-5A7F8F9C0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140" y="972765"/>
            <a:ext cx="2835464" cy="722869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262626"/>
                </a:solidFill>
              </a:rPr>
              <a:t>Conceptual Design </a:t>
            </a:r>
            <a:endParaRPr lang="en-GB" sz="2800" dirty="0">
              <a:solidFill>
                <a:srgbClr val="262626"/>
              </a:solidFill>
            </a:endParaRP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B77073A2-3357-428E-BE44-D4BA63BE5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141" y="1908699"/>
            <a:ext cx="3119076" cy="4073811"/>
          </a:xfrm>
        </p:spPr>
        <p:txBody>
          <a:bodyPr>
            <a:normAutofit/>
          </a:bodyPr>
          <a:lstStyle/>
          <a:p>
            <a:r>
              <a:rPr lang="en-Z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entities (Weak entities and Strong entities), determine the relationships, Entity Relationship Diagram(ERD) connecting the entities and their relationships</a:t>
            </a:r>
            <a:endParaRPr lang="en-US" sz="1800" dirty="0">
              <a:solidFill>
                <a:srgbClr val="2626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ERD</a:t>
            </a:r>
          </a:p>
          <a:p>
            <a:r>
              <a:rPr lang="en-US" sz="1800" dirty="0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Crow’s foot</a:t>
            </a:r>
          </a:p>
          <a:p>
            <a:r>
              <a:rPr lang="en-US" sz="1800" dirty="0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Chen’s notation </a:t>
            </a:r>
          </a:p>
          <a:p>
            <a:r>
              <a:rPr lang="en-US" sz="1800" dirty="0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will learn the ERD in the next lecture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DAA8A2-F119-E091-7A08-D38730C7C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98A7-B7F8-418E-BC89-7AA1FB5E83CF}" type="slidenum">
              <a:rPr lang="en-GB" smtClean="0"/>
              <a:t>9</a:t>
            </a:fld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6F1E54-9EF9-4A49-BA23-D30828152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5947" y="496090"/>
            <a:ext cx="6098041" cy="6095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786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C23B2-1B3D-4E13-A2E7-245B8D066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Design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E969C-8D3B-4A70-B963-297342630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Z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dentify the attributes, cardinalities, determine the primary keys, foreign keys or composite keys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High Level CONCEPTUAL SCHEMA in some Database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DATA MODEL of that DB: Relational, Network, OO…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RESULT: Database CONCEPTUAL SCHEMA –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RDB, Table Schemas and Constraint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8AB97-C7D5-28D7-75D6-CED1BCF0E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98A7-B7F8-418E-BC89-7AA1FB5E83CF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8332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7542B-6E8B-4487-96FD-302FB6443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Design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DAAAC-6182-4353-B896-327CEB89A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Z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dentify the data types for each attribute and how you want data stored in the database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Incorporates knowledge of how the data will be used: – from the operations analysis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RESULT: INTERNAL SCHEMA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Layout – Clustering (what tables near other tables for faster disk access)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Access methods: B‐Tree, Hash Table, Indexes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E50873-D676-B177-7908-7D0EEAA7C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98A7-B7F8-418E-BC89-7AA1FB5E83CF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9011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999068"/>
          </a:xfrm>
        </p:spPr>
        <p:txBody>
          <a:bodyPr>
            <a:normAutofit fontScale="90000"/>
          </a:bodyPr>
          <a:lstStyle/>
          <a:p>
            <a:r>
              <a:rPr lang="en-ZA" sz="4400" b="1" dirty="0"/>
              <a:t>Database Implementation Phase</a:t>
            </a:r>
            <a:br>
              <a:rPr lang="en-ZA" sz="4400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2430780"/>
            <a:ext cx="9372598" cy="3627120"/>
          </a:xfrm>
        </p:spPr>
        <p:txBody>
          <a:bodyPr>
            <a:normAutofit/>
          </a:bodyPr>
          <a:lstStyle/>
          <a:p>
            <a:pPr lvl="1" algn="just"/>
            <a:r>
              <a:rPr lang="en-ZA" dirty="0"/>
              <a:t>This is the process of selecting the appropriate database management system to create a working database</a:t>
            </a:r>
          </a:p>
          <a:p>
            <a:pPr lvl="1" algn="just"/>
            <a:r>
              <a:rPr lang="en-ZA" dirty="0"/>
              <a:t>The is the actual implementation of the database and converting the physical design in a functional database application</a:t>
            </a:r>
          </a:p>
          <a:p>
            <a:pPr lvl="1" algn="just"/>
            <a:r>
              <a:rPr lang="en-ZA" dirty="0"/>
              <a:t>Our Data Definition Language using SQL comes in handy here:</a:t>
            </a:r>
          </a:p>
          <a:p>
            <a:pPr marL="393192" lvl="1" indent="0" algn="just">
              <a:buNone/>
            </a:pPr>
            <a:endParaRPr lang="en-ZA" dirty="0"/>
          </a:p>
          <a:p>
            <a:pPr lvl="1" algn="just"/>
            <a:endParaRPr lang="en-ZA" dirty="0"/>
          </a:p>
          <a:p>
            <a:pPr marL="393192" lvl="1" indent="0" algn="just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8FD30-C3C7-BF5A-CB89-C9C1CA254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98A7-B7F8-418E-BC89-7AA1FB5E83CF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9681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4400" b="1" dirty="0"/>
              <a:t>Data and Application Phase</a:t>
            </a:r>
            <a:br>
              <a:rPr lang="en-ZA" sz="4400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0660" y="2484120"/>
            <a:ext cx="8656320" cy="3672840"/>
          </a:xfrm>
        </p:spPr>
        <p:txBody>
          <a:bodyPr>
            <a:normAutofit/>
          </a:bodyPr>
          <a:lstStyle/>
          <a:p>
            <a:pPr lvl="1" algn="just"/>
            <a:r>
              <a:rPr lang="en-ZA" dirty="0"/>
              <a:t>This is the process of storing data in the database and connecting the database to an application.</a:t>
            </a:r>
          </a:p>
          <a:p>
            <a:pPr algn="just"/>
            <a:r>
              <a:rPr lang="en-ZA" sz="3600" b="1" dirty="0"/>
              <a:t>Testing Phase</a:t>
            </a:r>
          </a:p>
          <a:p>
            <a:pPr lvl="1" algn="just"/>
            <a:r>
              <a:rPr lang="en-ZA" dirty="0"/>
              <a:t>This is the process of testing the application to check whether it meets the requirements and produces the right results.</a:t>
            </a:r>
            <a:endParaRPr lang="en-ZA" sz="1900" dirty="0"/>
          </a:p>
          <a:p>
            <a:pPr algn="just"/>
            <a:r>
              <a:rPr lang="en-ZA" sz="3600" b="1" dirty="0"/>
              <a:t>Maintenance Phase</a:t>
            </a:r>
          </a:p>
          <a:p>
            <a:pPr lvl="1" algn="just"/>
            <a:r>
              <a:rPr lang="en-ZA" dirty="0"/>
              <a:t>This is the process of testing the application to check whether it meets the requirements and produces the right results.</a:t>
            </a:r>
            <a:endParaRPr lang="en-ZA" sz="1900" dirty="0"/>
          </a:p>
          <a:p>
            <a:pPr lvl="1" algn="just"/>
            <a:endParaRPr lang="en-ZA" dirty="0"/>
          </a:p>
          <a:p>
            <a:pPr marL="393192" lvl="1" indent="0" algn="just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142F2B-A7F1-C4AF-775A-EDFAA4352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98A7-B7F8-418E-BC89-7AA1FB5E83CF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7168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A04F2-5AA0-4B2A-85C3-650480D4C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Conceptual database design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8953E-2E5B-48B8-AB09-547D7685F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questions to ask: </a:t>
            </a:r>
          </a:p>
          <a:p>
            <a:r>
              <a:rPr lang="en-US" dirty="0"/>
              <a:t> What are the entities (= objects, individuals) in the organization? </a:t>
            </a:r>
          </a:p>
          <a:p>
            <a:r>
              <a:rPr lang="en-US" dirty="0"/>
              <a:t> Which relationships exist among the entities? </a:t>
            </a:r>
          </a:p>
          <a:p>
            <a:r>
              <a:rPr lang="en-US" dirty="0"/>
              <a:t> What information (= attributes) do we want to store about these entities and relationships? </a:t>
            </a:r>
          </a:p>
          <a:p>
            <a:r>
              <a:rPr lang="en-US" dirty="0"/>
              <a:t> What are the business rules of the organization? </a:t>
            </a:r>
          </a:p>
          <a:p>
            <a:r>
              <a:rPr lang="en-US" dirty="0"/>
              <a:t>Which integrity constraints do arise from them? </a:t>
            </a:r>
          </a:p>
          <a:p>
            <a:r>
              <a:rPr lang="en-US" dirty="0"/>
              <a:t>The answers are represented in an Entity Relationship Diagram (ER diagram)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5735BE-AB78-849E-6DD2-60C7ABCF3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98A7-B7F8-418E-BC89-7AA1FB5E83CF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9171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8A40E-7FA7-450A-8376-C39E3E6D4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8EAEC-60BC-49C2-B761-FFE3768BE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Entity: </a:t>
            </a:r>
            <a:r>
              <a:rPr lang="en-US" dirty="0"/>
              <a:t>An object distinguishable from other objects (e.g., an employee) </a:t>
            </a:r>
          </a:p>
          <a:p>
            <a:r>
              <a:rPr lang="en-US" dirty="0"/>
              <a:t> An entity is described by a set of </a:t>
            </a:r>
            <a:r>
              <a:rPr lang="en-US" dirty="0">
                <a:solidFill>
                  <a:srgbClr val="FF0000"/>
                </a:solidFill>
              </a:rPr>
              <a:t>attributes.</a:t>
            </a:r>
            <a:r>
              <a:rPr lang="en-US" dirty="0"/>
              <a:t> </a:t>
            </a:r>
          </a:p>
          <a:p>
            <a:r>
              <a:rPr lang="en-US" dirty="0"/>
              <a:t>Examples of entities?</a:t>
            </a:r>
          </a:p>
          <a:p>
            <a:r>
              <a:rPr lang="en-US" dirty="0"/>
              <a:t>Examples of things that are not entities? </a:t>
            </a:r>
          </a:p>
          <a:p>
            <a:r>
              <a:rPr lang="en-US" dirty="0">
                <a:solidFill>
                  <a:srgbClr val="FF0000"/>
                </a:solidFill>
              </a:rPr>
              <a:t>Entity Set/Entity Type</a:t>
            </a:r>
            <a:r>
              <a:rPr lang="en-US" dirty="0"/>
              <a:t>: A collection of similar entities (e.g., all employees)</a:t>
            </a:r>
          </a:p>
          <a:p>
            <a:r>
              <a:rPr lang="en-US" dirty="0"/>
              <a:t>All entities in an entity set have the same set of attributes.</a:t>
            </a:r>
          </a:p>
          <a:p>
            <a:r>
              <a:rPr lang="en-US" dirty="0"/>
              <a:t> Each attribute has a </a:t>
            </a:r>
            <a:r>
              <a:rPr lang="en-US" dirty="0">
                <a:solidFill>
                  <a:srgbClr val="FF0000"/>
                </a:solidFill>
              </a:rPr>
              <a:t>domain. </a:t>
            </a:r>
          </a:p>
          <a:p>
            <a:r>
              <a:rPr lang="en-US" dirty="0"/>
              <a:t> Each entity set has a </a:t>
            </a:r>
            <a:r>
              <a:rPr lang="en-US" dirty="0">
                <a:solidFill>
                  <a:srgbClr val="FF0000"/>
                </a:solidFill>
              </a:rPr>
              <a:t>key/ identifier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D2322D-8745-EAD0-191D-B8FD74F3B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98A7-B7F8-418E-BC89-7AA1FB5E83CF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32285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6388" y="1640255"/>
            <a:ext cx="3411693" cy="4067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2" y="982133"/>
            <a:ext cx="9601196" cy="522816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Entity Class and Entity Instance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0B7FC2-524A-9A6B-5930-7EF0F6948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98A7-B7F8-418E-BC89-7AA1FB5E83CF}" type="slidenum">
              <a:rPr lang="en-GB" smtClean="0"/>
              <a:t>16</a:t>
            </a:fld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3810000" y="5879068"/>
            <a:ext cx="6248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Kroenke &amp; Auer (2013)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8CF61-DD65-4206-B748-3528AC12C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Strong and Weak Entities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1FCD09-3BC9-BB79-9415-3DB75FEF4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98A7-B7F8-418E-BC89-7AA1FB5E83CF}" type="slidenum">
              <a:rPr lang="en-GB" smtClean="0"/>
              <a:t>17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C32B76-6FC8-4829-B510-278EE46F8A7B}"/>
              </a:ext>
            </a:extLst>
          </p:cNvPr>
          <p:cNvSpPr txBox="1"/>
          <p:nvPr/>
        </p:nvSpPr>
        <p:spPr>
          <a:xfrm>
            <a:off x="1439333" y="2531533"/>
            <a:ext cx="9457265" cy="3283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r>
              <a:rPr lang="en-US" alt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Strong entities </a:t>
            </a:r>
          </a:p>
          <a:p>
            <a:pPr marL="0" lvl="1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</a:pPr>
            <a:r>
              <a:rPr lang="en-US" alt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-exist independently of other types of entities</a:t>
            </a:r>
          </a:p>
          <a:p>
            <a:pPr marL="0" lvl="1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</a:pPr>
            <a:r>
              <a:rPr lang="en-US" alt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-has its own unique identifier</a:t>
            </a:r>
          </a:p>
          <a:p>
            <a:pPr marL="0" lvl="1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</a:pPr>
            <a:r>
              <a:rPr lang="en-US" alt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-represented with single-line rectangle</a:t>
            </a:r>
          </a:p>
          <a:p>
            <a:pPr marL="285750" indent="-285750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r>
              <a:rPr lang="en-US" alt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Weak entity</a:t>
            </a:r>
          </a:p>
          <a:p>
            <a:pPr marL="0" lvl="1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</a:pPr>
            <a:r>
              <a:rPr lang="en-US" alt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-dependent on a strong entity…cannot exist on its own</a:t>
            </a:r>
          </a:p>
          <a:p>
            <a:pPr marL="0" lvl="1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</a:pPr>
            <a:r>
              <a:rPr lang="en-US" alt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-Does not have a unique identifier</a:t>
            </a:r>
          </a:p>
          <a:p>
            <a:pPr marL="0" lvl="1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</a:pPr>
            <a:r>
              <a:rPr lang="en-US" alt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-represented with double-line rectangle</a:t>
            </a:r>
          </a:p>
        </p:txBody>
      </p:sp>
    </p:spTree>
    <p:extLst>
      <p:ext uri="{BB962C8B-B14F-4D97-AF65-F5344CB8AC3E}">
        <p14:creationId xmlns:p14="http://schemas.microsoft.com/office/powerpoint/2010/main" val="17428271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>
            <a:extLst>
              <a:ext uri="{FF2B5EF4-FFF2-40B4-BE49-F238E27FC236}">
                <a16:creationId xmlns:a16="http://schemas.microsoft.com/office/drawing/2014/main" id="{814A5D03-A665-4ECD-8449-CBDE8E90E5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76450" y="4953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	Entities – What should it be?</a:t>
            </a:r>
            <a:endParaRPr lang="en-GB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58A4BF-3166-EFCC-0906-839D0F273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98A7-B7F8-418E-BC89-7AA1FB5E83CF}" type="slidenum">
              <a:rPr lang="en-GB" smtClean="0"/>
              <a:t>18</a:t>
            </a:fld>
            <a:endParaRPr lang="en-GB"/>
          </a:p>
        </p:txBody>
      </p:sp>
      <p:sp>
        <p:nvSpPr>
          <p:cNvPr id="473091" name="Rectangle 3">
            <a:extLst>
              <a:ext uri="{FF2B5EF4-FFF2-40B4-BE49-F238E27FC236}">
                <a16:creationId xmlns:a16="http://schemas.microsoft.com/office/drawing/2014/main" id="{54304D60-4CE3-4506-9A85-A3700680B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75" y="2362200"/>
            <a:ext cx="9763272" cy="390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285750" indent="-285750" eaLnBrk="1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r>
              <a:rPr lang="en-US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SHOULD BE:</a:t>
            </a:r>
          </a:p>
          <a:p>
            <a:pPr marL="285750" lvl="1" eaLnBrk="1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r>
              <a:rPr lang="en-US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An object that will have many instances in the database</a:t>
            </a:r>
          </a:p>
          <a:p>
            <a:pPr marL="285750" lvl="1" eaLnBrk="1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r>
              <a:rPr lang="en-US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An object that will be composed of multiple attributes</a:t>
            </a:r>
          </a:p>
          <a:p>
            <a:pPr marL="285750" lvl="1" eaLnBrk="1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r>
              <a:rPr lang="en-US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An object that we are trying to model</a:t>
            </a:r>
          </a:p>
          <a:p>
            <a:pPr marL="285750" indent="-285750" eaLnBrk="1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r>
              <a:rPr lang="en-US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SHOULD NOT BE:</a:t>
            </a:r>
          </a:p>
          <a:p>
            <a:pPr marL="285750" lvl="1" eaLnBrk="1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r>
              <a:rPr lang="en-US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A user of the database system </a:t>
            </a:r>
          </a:p>
          <a:p>
            <a:pPr marL="285750" lvl="1" eaLnBrk="1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r>
              <a:rPr lang="en-US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An output of the database system (e.g. a report)</a:t>
            </a:r>
          </a:p>
        </p:txBody>
      </p:sp>
    </p:spTree>
    <p:extLst>
      <p:ext uri="{BB962C8B-B14F-4D97-AF65-F5344CB8AC3E}">
        <p14:creationId xmlns:p14="http://schemas.microsoft.com/office/powerpoint/2010/main" val="1519187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3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73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73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73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73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73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73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3091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title"/>
          </p:nvPr>
        </p:nvSpPr>
        <p:spPr>
          <a:xfrm>
            <a:off x="2971800" y="274638"/>
            <a:ext cx="7467600" cy="1143000"/>
          </a:xfrm>
        </p:spPr>
        <p:txBody>
          <a:bodyPr/>
          <a:lstStyle/>
          <a:p>
            <a:r>
              <a:rPr lang="en-US" dirty="0"/>
              <a:t>Attributes</a:t>
            </a:r>
          </a:p>
        </p:txBody>
      </p:sp>
      <p:sp>
        <p:nvSpPr>
          <p:cNvPr id="3379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Entities have </a:t>
            </a:r>
            <a:r>
              <a:rPr lang="en-US" b="1" dirty="0"/>
              <a:t>attributes</a:t>
            </a:r>
            <a:r>
              <a:rPr lang="en-US" dirty="0"/>
              <a:t> that describe the entity’s characteristics:</a:t>
            </a:r>
          </a:p>
          <a:p>
            <a:pPr lvl="1"/>
            <a:r>
              <a:rPr lang="en-US" dirty="0" err="1"/>
              <a:t>StudentName</a:t>
            </a:r>
            <a:endParaRPr lang="en-US" dirty="0"/>
          </a:p>
          <a:p>
            <a:pPr lvl="1"/>
            <a:r>
              <a:rPr lang="en-US" dirty="0" err="1"/>
              <a:t>DateOfBirth</a:t>
            </a:r>
            <a:endParaRPr lang="en-US" dirty="0"/>
          </a:p>
          <a:p>
            <a:pPr lvl="1"/>
            <a:r>
              <a:rPr lang="en-US" dirty="0"/>
              <a:t>Tribe</a:t>
            </a:r>
          </a:p>
          <a:p>
            <a:pPr lvl="1"/>
            <a:r>
              <a:rPr lang="en-US" dirty="0"/>
              <a:t>Gender</a:t>
            </a:r>
          </a:p>
          <a:p>
            <a:pPr lvl="1"/>
            <a:r>
              <a:rPr lang="en-US" dirty="0" err="1"/>
              <a:t>StudentNum</a:t>
            </a:r>
            <a:endParaRPr lang="en-US" dirty="0"/>
          </a:p>
          <a:p>
            <a:r>
              <a:rPr lang="en-US" dirty="0"/>
              <a:t>Attributes have a data type and properties.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7236D1-7AFF-568C-949F-F8A08E369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98A7-B7F8-418E-BC89-7AA1FB5E83CF}" type="slidenum">
              <a:rPr lang="en-GB" smtClean="0"/>
              <a:t>19</a:t>
            </a:fld>
            <a:endParaRPr lang="en-GB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>
            <a:extLst>
              <a:ext uri="{FF2B5EF4-FFF2-40B4-BE49-F238E27FC236}">
                <a16:creationId xmlns:a16="http://schemas.microsoft.com/office/drawing/2014/main" id="{0309AEFE-64A1-49F4-8645-3EBAB5F8E5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76867" y="1050836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Attributes</a:t>
            </a:r>
            <a:endParaRPr lang="de-DE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F67DCF-77E8-5F99-5A29-0980EEDDD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98A7-B7F8-418E-BC89-7AA1FB5E83CF}" type="slidenum">
              <a:rPr lang="en-GB" smtClean="0"/>
              <a:t>20</a:t>
            </a:fld>
            <a:endParaRPr lang="en-GB"/>
          </a:p>
        </p:txBody>
      </p:sp>
      <p:sp>
        <p:nvSpPr>
          <p:cNvPr id="16388" name="Text Box 3">
            <a:extLst>
              <a:ext uri="{FF2B5EF4-FFF2-40B4-BE49-F238E27FC236}">
                <a16:creationId xmlns:a16="http://schemas.microsoft.com/office/drawing/2014/main" id="{82541EFF-280D-4BBB-9613-566C0922DE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926" y="2387795"/>
            <a:ext cx="847407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2400" dirty="0"/>
              <a:t>An attribute is a property or characteristic of an entity type </a:t>
            </a:r>
            <a:r>
              <a:rPr lang="en-US" altLang="en-US" sz="2400" u="sng" dirty="0"/>
              <a:t>that is </a:t>
            </a:r>
          </a:p>
          <a:p>
            <a:pPr eaLnBrk="1" hangingPunct="1"/>
            <a:r>
              <a:rPr lang="en-US" altLang="en-US" sz="2400" u="sng" dirty="0"/>
              <a:t>of interest to the organization</a:t>
            </a:r>
            <a:r>
              <a:rPr lang="en-US" altLang="en-US" sz="2400" dirty="0"/>
              <a:t>.</a:t>
            </a:r>
          </a:p>
        </p:txBody>
      </p:sp>
      <p:sp>
        <p:nvSpPr>
          <p:cNvPr id="140292" name="Text Box 4">
            <a:extLst>
              <a:ext uri="{FF2B5EF4-FFF2-40B4-BE49-F238E27FC236}">
                <a16:creationId xmlns:a16="http://schemas.microsoft.com/office/drawing/2014/main" id="{D7494989-C17C-48A3-8E12-0DE043776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1400" y="3041276"/>
            <a:ext cx="1411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2400" b="1" dirty="0"/>
              <a:t>Example</a:t>
            </a:r>
            <a:r>
              <a:rPr lang="en-US" altLang="en-US" b="1" dirty="0"/>
              <a:t>:</a:t>
            </a:r>
            <a:endParaRPr lang="de-DE" altLang="en-US" b="1" dirty="0"/>
          </a:p>
        </p:txBody>
      </p:sp>
      <p:graphicFrame>
        <p:nvGraphicFramePr>
          <p:cNvPr id="140319" name="Group 31">
            <a:extLst>
              <a:ext uri="{FF2B5EF4-FFF2-40B4-BE49-F238E27FC236}">
                <a16:creationId xmlns:a16="http://schemas.microsoft.com/office/drawing/2014/main" id="{237BD3DE-E134-41B9-97B5-7E88089AE0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3784069"/>
              </p:ext>
            </p:extLst>
          </p:nvPr>
        </p:nvGraphicFramePr>
        <p:xfrm>
          <a:off x="1176867" y="3588124"/>
          <a:ext cx="8348134" cy="2567142"/>
        </p:xfrm>
        <a:graphic>
          <a:graphicData uri="http://schemas.openxmlformats.org/drawingml/2006/table">
            <a:tbl>
              <a:tblPr/>
              <a:tblGrid>
                <a:gridCol w="4174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4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26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Entity Type</a:t>
                      </a:r>
                      <a:endParaRPr kumimoji="0" lang="de-DE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Attributes</a:t>
                      </a:r>
                      <a:endParaRPr kumimoji="0" lang="de-DE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8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STUDENT</a:t>
                      </a:r>
                      <a:endParaRPr kumimoji="0" lang="de-D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ID,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First_name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Last_Name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Physical_Address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Phone_Number</a:t>
                      </a:r>
                      <a:endParaRPr kumimoji="0" lang="de-DE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8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CAR</a:t>
                      </a:r>
                      <a:endParaRPr kumimoji="0" lang="de-D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Registration_Number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Colour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, Horsepower</a:t>
                      </a:r>
                      <a:endParaRPr kumimoji="0" lang="de-DE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267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EMPLOYEE</a:t>
                      </a:r>
                      <a:endParaRPr kumimoji="0" lang="de-DE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Name, ID, Skill</a:t>
                      </a:r>
                      <a:endParaRPr kumimoji="0" lang="de-DE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0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0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2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D3E43-173F-40F5-905E-0D548BCE4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Attributes 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7D5E48-1997-6FB2-ED32-A489A87F3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98A7-B7F8-418E-BC89-7AA1FB5E83CF}" type="slidenum">
              <a:rPr lang="en-GB" smtClean="0"/>
              <a:t>21</a:t>
            </a:fld>
            <a:endParaRPr lang="en-GB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0DCEA90E-58F1-4619-8EFE-B92CB832D618}"/>
              </a:ext>
            </a:extLst>
          </p:cNvPr>
          <p:cNvGraphicFramePr>
            <a:graphicFrameLocks noGrp="1"/>
          </p:cNvGraphicFramePr>
          <p:nvPr/>
        </p:nvGraphicFramePr>
        <p:xfrm>
          <a:off x="1123950" y="2550160"/>
          <a:ext cx="10382250" cy="32406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91125">
                  <a:extLst>
                    <a:ext uri="{9D8B030D-6E8A-4147-A177-3AD203B41FA5}">
                      <a16:colId xmlns:a16="http://schemas.microsoft.com/office/drawing/2014/main" val="2845047750"/>
                    </a:ext>
                  </a:extLst>
                </a:gridCol>
                <a:gridCol w="5191125">
                  <a:extLst>
                    <a:ext uri="{9D8B030D-6E8A-4147-A177-3AD203B41FA5}">
                      <a16:colId xmlns:a16="http://schemas.microsoft.com/office/drawing/2014/main" val="3833045791"/>
                    </a:ext>
                  </a:extLst>
                </a:gridCol>
              </a:tblGrid>
              <a:tr h="494150">
                <a:tc>
                  <a:txBody>
                    <a:bodyPr/>
                    <a:lstStyle/>
                    <a:p>
                      <a:r>
                        <a:rPr lang="en-US" dirty="0"/>
                        <a:t>Single valued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800" dirty="0"/>
                        <a:t>can take only one value for an entity instance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454855"/>
                  </a:ext>
                </a:extLst>
              </a:tr>
              <a:tr h="286293">
                <a:tc>
                  <a:txBody>
                    <a:bodyPr/>
                    <a:lstStyle/>
                    <a:p>
                      <a:r>
                        <a:rPr lang="en-US" dirty="0"/>
                        <a:t>Multi-valued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800" dirty="0"/>
                        <a:t>can take many instances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701364"/>
                  </a:ext>
                </a:extLst>
              </a:tr>
              <a:tr h="917707">
                <a:tc>
                  <a:txBody>
                    <a:bodyPr/>
                    <a:lstStyle/>
                    <a:p>
                      <a:r>
                        <a:rPr lang="en-US" dirty="0"/>
                        <a:t>Derived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lang="en-US" altLang="en-US" sz="1800" dirty="0"/>
                        <a:t>is an attribute whose values can be calculated</a:t>
                      </a:r>
                    </a:p>
                    <a:p>
                      <a:pPr eaLnBrk="1" hangingPunct="1"/>
                      <a:r>
                        <a:rPr lang="en-US" altLang="en-US" sz="1800" dirty="0"/>
                        <a:t>from other attribute values. </a:t>
                      </a:r>
                      <a:endParaRPr lang="de-DE" altLang="en-US" sz="1800" dirty="0"/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6306859"/>
                  </a:ext>
                </a:extLst>
              </a:tr>
              <a:tr h="1341264">
                <a:tc>
                  <a:txBody>
                    <a:bodyPr/>
                    <a:lstStyle/>
                    <a:p>
                      <a:r>
                        <a:rPr lang="en-US" dirty="0"/>
                        <a:t>Composite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lang="en-US" altLang="en-US" sz="1800" dirty="0"/>
                        <a:t>Some attributes can be broken down into meaningful component parts. </a:t>
                      </a:r>
                    </a:p>
                    <a:p>
                      <a:pPr eaLnBrk="1" hangingPunct="1"/>
                      <a:r>
                        <a:rPr lang="en-US" altLang="en-US" sz="1800" dirty="0"/>
                        <a:t>The most common example  is address, which can be usually broken down </a:t>
                      </a:r>
                    </a:p>
                    <a:p>
                      <a:pPr eaLnBrk="1" hangingPunct="1"/>
                      <a:r>
                        <a:rPr lang="en-US" altLang="en-US" sz="1800" dirty="0"/>
                        <a:t>into the following components: Street, City, State etc..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2183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60441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>
            <a:extLst>
              <a:ext uri="{FF2B5EF4-FFF2-40B4-BE49-F238E27FC236}">
                <a16:creationId xmlns:a16="http://schemas.microsoft.com/office/drawing/2014/main" id="{24032930-26AA-43F3-934C-231F2A7063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49916" y="568489"/>
            <a:ext cx="7772400" cy="1143000"/>
          </a:xfrm>
        </p:spPr>
        <p:txBody>
          <a:bodyPr/>
          <a:lstStyle/>
          <a:p>
            <a:pPr algn="l" eaLnBrk="1" hangingPunct="1"/>
            <a:r>
              <a:rPr lang="en-US" altLang="en-US" dirty="0"/>
              <a:t>		Entities  - Identifiers</a:t>
            </a:r>
            <a:endParaRPr lang="de-DE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613E53-4A11-D500-8FC0-BC4020A23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98A7-B7F8-418E-BC89-7AA1FB5E83CF}" type="slidenum">
              <a:rPr lang="en-GB" smtClean="0"/>
              <a:t>22</a:t>
            </a:fld>
            <a:endParaRPr lang="en-GB"/>
          </a:p>
        </p:txBody>
      </p:sp>
      <p:sp>
        <p:nvSpPr>
          <p:cNvPr id="20484" name="Text Box 3">
            <a:extLst>
              <a:ext uri="{FF2B5EF4-FFF2-40B4-BE49-F238E27FC236}">
                <a16:creationId xmlns:a16="http://schemas.microsoft.com/office/drawing/2014/main" id="{C14C1D67-319B-4B56-9352-C56EC29791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4232" y="2626278"/>
            <a:ext cx="10203767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altLang="en-US" sz="2000" dirty="0"/>
              <a:t>An </a:t>
            </a:r>
            <a:r>
              <a:rPr lang="en-US" altLang="en-US" sz="2000" b="1" dirty="0">
                <a:solidFill>
                  <a:srgbClr val="FF0000"/>
                </a:solidFill>
              </a:rPr>
              <a:t>identifier</a:t>
            </a:r>
            <a:r>
              <a:rPr lang="en-US" altLang="en-US" sz="2000" dirty="0">
                <a:solidFill>
                  <a:srgbClr val="FF0000"/>
                </a:solidFill>
              </a:rPr>
              <a:t> or </a:t>
            </a:r>
            <a:r>
              <a:rPr lang="en-US" altLang="en-US" sz="2000" b="1" dirty="0">
                <a:solidFill>
                  <a:srgbClr val="FF0000"/>
                </a:solidFill>
              </a:rPr>
              <a:t>key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000" dirty="0"/>
              <a:t>is a combination of attributes that uniquely identifies individual instances of an entity type. In an E-R diagram, the respective attribute names are underlined.</a:t>
            </a:r>
          </a:p>
          <a:p>
            <a:pPr eaLnBrk="1" hangingPunct="1"/>
            <a:endParaRPr lang="en-US" altLang="en-US" sz="2000" dirty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altLang="en-US" sz="2000" dirty="0"/>
              <a:t>A </a:t>
            </a:r>
            <a:r>
              <a:rPr lang="en-US" altLang="en-US" sz="2000" b="1" dirty="0">
                <a:solidFill>
                  <a:srgbClr val="FF0000"/>
                </a:solidFill>
              </a:rPr>
              <a:t>composite identifier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000" dirty="0"/>
              <a:t>is an identifier that consists of a composite attribute (versus </a:t>
            </a:r>
            <a:r>
              <a:rPr lang="en-US" altLang="en-US" sz="2000" b="1" dirty="0"/>
              <a:t>Simple Identifier</a:t>
            </a:r>
            <a:r>
              <a:rPr lang="en-US" altLang="en-US" sz="2000" dirty="0"/>
              <a:t>).</a:t>
            </a:r>
          </a:p>
          <a:p>
            <a:pPr eaLnBrk="1" hangingPunct="1"/>
            <a:endParaRPr lang="en-US" altLang="en-US" sz="2000" dirty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altLang="en-US" sz="2000" dirty="0"/>
              <a:t>A </a:t>
            </a:r>
            <a:r>
              <a:rPr lang="en-US" altLang="en-US" sz="2000" dirty="0">
                <a:solidFill>
                  <a:srgbClr val="FF0000"/>
                </a:solidFill>
              </a:rPr>
              <a:t>Candidate key </a:t>
            </a:r>
            <a:r>
              <a:rPr lang="en-US" altLang="en-US" sz="2000" dirty="0"/>
              <a:t>is an attribute that could be a key… satisfies the requirements for being a key (all attributes depend upon this key)</a:t>
            </a:r>
            <a:endParaRPr lang="de-DE" alt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>
            <a:extLst>
              <a:ext uri="{FF2B5EF4-FFF2-40B4-BE49-F238E27FC236}">
                <a16:creationId xmlns:a16="http://schemas.microsoft.com/office/drawing/2014/main" id="{6A192DDC-44BC-4E79-BD77-577FD81965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90675" y="854612"/>
            <a:ext cx="91440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	 Entities – Characteristics of Identifiers</a:t>
            </a:r>
            <a:endParaRPr lang="en-GB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E343DD-1F4C-0696-52C6-4CB531AAD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98A7-B7F8-418E-BC89-7AA1FB5E83CF}" type="slidenum">
              <a:rPr lang="en-GB" smtClean="0"/>
              <a:t>23</a:t>
            </a:fld>
            <a:endParaRPr lang="en-GB"/>
          </a:p>
        </p:txBody>
      </p:sp>
      <p:sp>
        <p:nvSpPr>
          <p:cNvPr id="476163" name="Rectangle 3">
            <a:extLst>
              <a:ext uri="{FF2B5EF4-FFF2-40B4-BE49-F238E27FC236}">
                <a16:creationId xmlns:a16="http://schemas.microsoft.com/office/drawing/2014/main" id="{3164B332-783F-4D83-B59B-2F784CAAD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2552700"/>
            <a:ext cx="9753600" cy="332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3200" dirty="0"/>
              <a:t>Will not change in value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3200" dirty="0"/>
              <a:t>Will not be null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3200" dirty="0"/>
              <a:t>No intelligent identifiers (e.g. containing locations or people that might change)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3200" dirty="0"/>
              <a:t>Substitute new, simple keys for long, composite keys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6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6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76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6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76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6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76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6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6163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>
          <a:xfrm>
            <a:off x="2150533" y="982132"/>
            <a:ext cx="7391400" cy="1143000"/>
          </a:xfrm>
        </p:spPr>
        <p:txBody>
          <a:bodyPr/>
          <a:lstStyle/>
          <a:p>
            <a:r>
              <a:rPr lang="en-US" dirty="0"/>
              <a:t>Relationships</a:t>
            </a:r>
          </a:p>
        </p:txBody>
      </p:sp>
      <p:sp>
        <p:nvSpPr>
          <p:cNvPr id="4198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Entities can be associated with one another in </a:t>
            </a:r>
            <a:r>
              <a:rPr lang="en-US" b="1" dirty="0"/>
              <a:t>relationships.</a:t>
            </a:r>
          </a:p>
          <a:p>
            <a:r>
              <a:rPr lang="en-US" dirty="0"/>
              <a:t>Relationship </a:t>
            </a:r>
            <a:r>
              <a:rPr lang="en-US" i="1" dirty="0"/>
              <a:t>degree</a:t>
            </a:r>
            <a:r>
              <a:rPr lang="en-US" dirty="0"/>
              <a:t> defines the number of entity classes participating in the relationship:</a:t>
            </a:r>
          </a:p>
          <a:p>
            <a:pPr lvl="1"/>
            <a:r>
              <a:rPr lang="en-US" dirty="0"/>
              <a:t>Degree 2 is a </a:t>
            </a:r>
            <a:r>
              <a:rPr lang="en-US" b="1" dirty="0"/>
              <a:t>binary relationship.</a:t>
            </a:r>
          </a:p>
          <a:p>
            <a:pPr lvl="1"/>
            <a:r>
              <a:rPr lang="en-US" dirty="0"/>
              <a:t>Degree 3 is a </a:t>
            </a:r>
            <a:r>
              <a:rPr lang="en-US" b="1" dirty="0"/>
              <a:t>ternary relationship.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B5ADF1-AB69-4C3E-2DFB-91140C9F6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98A7-B7F8-418E-BC89-7AA1FB5E83CF}" type="slidenum">
              <a:rPr lang="en-GB" smtClean="0"/>
              <a:t>24</a:t>
            </a:fld>
            <a:endParaRPr lang="en-GB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>
            <a:extLst>
              <a:ext uri="{FF2B5EF4-FFF2-40B4-BE49-F238E27FC236}">
                <a16:creationId xmlns:a16="http://schemas.microsoft.com/office/drawing/2014/main" id="{28DF2A95-2571-40F0-995E-064F96806A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03538" y="457200"/>
            <a:ext cx="8839200" cy="1066800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de-DE" altLang="en-US" sz="4000" dirty="0"/>
              <a:t>		Relationships  -Degree of 	Relationship</a:t>
            </a:r>
          </a:p>
        </p:txBody>
      </p:sp>
      <p:sp>
        <p:nvSpPr>
          <p:cNvPr id="445443" name="Rectangle 3">
            <a:extLst>
              <a:ext uri="{FF2B5EF4-FFF2-40B4-BE49-F238E27FC236}">
                <a16:creationId xmlns:a16="http://schemas.microsoft.com/office/drawing/2014/main" id="{31439DD5-EAB2-4C10-9E04-0A266CB9F9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1550" y="1524000"/>
            <a:ext cx="9696450" cy="4698124"/>
          </a:xfrm>
        </p:spPr>
        <p:txBody>
          <a:bodyPr/>
          <a:lstStyle/>
          <a:p>
            <a:pPr eaLnBrk="1" hangingPunct="1"/>
            <a:r>
              <a:rPr lang="en-ZA" altLang="en-US" dirty="0"/>
              <a:t>The </a:t>
            </a:r>
            <a:r>
              <a:rPr lang="en-ZA" altLang="en-US" b="1" dirty="0"/>
              <a:t>degree</a:t>
            </a:r>
            <a:r>
              <a:rPr lang="en-ZA" altLang="en-US" dirty="0"/>
              <a:t> of a relationship is the number of entity types that participation in the relationship</a:t>
            </a:r>
          </a:p>
          <a:p>
            <a:pPr eaLnBrk="1" hangingPunct="1"/>
            <a:r>
              <a:rPr lang="en-ZA" altLang="en-US" dirty="0"/>
              <a:t>Thus, in the previous example, the relationship </a:t>
            </a:r>
            <a:r>
              <a:rPr lang="en-ZA" altLang="en-US" i="1" dirty="0"/>
              <a:t>Completes</a:t>
            </a:r>
            <a:r>
              <a:rPr lang="en-ZA" altLang="en-US" dirty="0"/>
              <a:t> is of degree 2</a:t>
            </a:r>
          </a:p>
          <a:p>
            <a:pPr eaLnBrk="1" hangingPunct="1"/>
            <a:r>
              <a:rPr lang="en-ZA" altLang="en-US" dirty="0"/>
              <a:t>The 3 most common relationships in E-R models are:</a:t>
            </a:r>
          </a:p>
          <a:p>
            <a:pPr lvl="1" eaLnBrk="1" hangingPunct="1"/>
            <a:r>
              <a:rPr lang="en-ZA" altLang="en-US" sz="2400" dirty="0"/>
              <a:t>Unary (degree 1) (also called recursive relationship)</a:t>
            </a:r>
          </a:p>
          <a:p>
            <a:pPr lvl="1" eaLnBrk="1" hangingPunct="1"/>
            <a:r>
              <a:rPr lang="en-ZA" altLang="en-US" sz="2400" dirty="0"/>
              <a:t>Binary (degree 2)</a:t>
            </a:r>
          </a:p>
          <a:p>
            <a:pPr lvl="1" eaLnBrk="1" hangingPunct="1"/>
            <a:r>
              <a:rPr lang="en-ZA" altLang="en-US" sz="2400" dirty="0"/>
              <a:t>Ternary (degree 3)</a:t>
            </a:r>
          </a:p>
          <a:p>
            <a:pPr eaLnBrk="1" hangingPunct="1"/>
            <a:r>
              <a:rPr lang="en-ZA" altLang="en-US" dirty="0"/>
              <a:t>Higher degree relationships are possible, but rarely occur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6FB7BB-F925-18E8-F0AA-0EB9B005A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98A7-B7F8-418E-BC89-7AA1FB5E83CF}" type="slidenum">
              <a:rPr lang="en-GB" smtClean="0"/>
              <a:t>25</a:t>
            </a:fld>
            <a:endParaRPr lang="en-GB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5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5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5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5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5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5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45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45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45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45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45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45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45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45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443" grpId="0" build="p" bldLvl="2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>
            <a:extLst>
              <a:ext uri="{FF2B5EF4-FFF2-40B4-BE49-F238E27FC236}">
                <a16:creationId xmlns:a16="http://schemas.microsoft.com/office/drawing/2014/main" id="{39FBE36B-458F-486B-A874-4FCE9FEF30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76400" y="642445"/>
            <a:ext cx="8839200" cy="1066800"/>
          </a:xfrm>
        </p:spPr>
        <p:txBody>
          <a:bodyPr>
            <a:normAutofit/>
          </a:bodyPr>
          <a:lstStyle/>
          <a:p>
            <a:pPr algn="l" eaLnBrk="1" hangingPunct="1"/>
            <a:r>
              <a:rPr lang="de-DE" altLang="en-US" sz="4000" dirty="0"/>
              <a:t>		Attributes on Relationships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E4891E-9313-68A6-FAF2-82DE15D20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98A7-B7F8-418E-BC89-7AA1FB5E83CF}" type="slidenum">
              <a:rPr lang="en-GB" smtClean="0"/>
              <a:t>26</a:t>
            </a:fld>
            <a:endParaRPr lang="en-GB"/>
          </a:p>
        </p:txBody>
      </p:sp>
      <p:grpSp>
        <p:nvGrpSpPr>
          <p:cNvPr id="2" name="Group 20">
            <a:extLst>
              <a:ext uri="{FF2B5EF4-FFF2-40B4-BE49-F238E27FC236}">
                <a16:creationId xmlns:a16="http://schemas.microsoft.com/office/drawing/2014/main" id="{CB1CE592-DD19-4E2B-AABB-B261648ACD12}"/>
              </a:ext>
            </a:extLst>
          </p:cNvPr>
          <p:cNvGrpSpPr>
            <a:grpSpLocks/>
          </p:cNvGrpSpPr>
          <p:nvPr/>
        </p:nvGrpSpPr>
        <p:grpSpPr bwMode="auto">
          <a:xfrm>
            <a:off x="2732088" y="4122683"/>
            <a:ext cx="7783513" cy="2133600"/>
            <a:chOff x="480" y="2064"/>
            <a:chExt cx="4903" cy="1344"/>
          </a:xfrm>
        </p:grpSpPr>
        <p:sp>
          <p:nvSpPr>
            <p:cNvPr id="25606" name="Rectangle 21">
              <a:extLst>
                <a:ext uri="{FF2B5EF4-FFF2-40B4-BE49-F238E27FC236}">
                  <a16:creationId xmlns:a16="http://schemas.microsoft.com/office/drawing/2014/main" id="{3BAFDC1D-479A-4EFE-9885-C09FB8BAA6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2902"/>
              <a:ext cx="1248" cy="4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b="1"/>
                <a:t>EMPLOYEE</a:t>
              </a:r>
              <a:endParaRPr lang="de-DE" altLang="en-US" b="1"/>
            </a:p>
          </p:txBody>
        </p:sp>
        <p:sp>
          <p:nvSpPr>
            <p:cNvPr id="25607" name="Rectangle 22">
              <a:extLst>
                <a:ext uri="{FF2B5EF4-FFF2-40B4-BE49-F238E27FC236}">
                  <a16:creationId xmlns:a16="http://schemas.microsoft.com/office/drawing/2014/main" id="{DD36FF73-0888-4266-9291-F9F08F7B28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5" y="2906"/>
              <a:ext cx="1248" cy="4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b="1"/>
                <a:t>COURSE</a:t>
              </a:r>
              <a:endParaRPr lang="de-DE" altLang="en-US" b="1"/>
            </a:p>
          </p:txBody>
        </p:sp>
        <p:sp>
          <p:nvSpPr>
            <p:cNvPr id="25608" name="AutoShape 23">
              <a:extLst>
                <a:ext uri="{FF2B5EF4-FFF2-40B4-BE49-F238E27FC236}">
                  <a16:creationId xmlns:a16="http://schemas.microsoft.com/office/drawing/2014/main" id="{A6076A12-C415-4DB4-B21F-4C58F4CD14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1" y="2832"/>
              <a:ext cx="768" cy="576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b="1"/>
                <a:t>Completes</a:t>
              </a:r>
              <a:endParaRPr lang="de-DE" altLang="en-US" b="1"/>
            </a:p>
          </p:txBody>
        </p:sp>
        <p:cxnSp>
          <p:nvCxnSpPr>
            <p:cNvPr id="25609" name="AutoShape 24">
              <a:extLst>
                <a:ext uri="{FF2B5EF4-FFF2-40B4-BE49-F238E27FC236}">
                  <a16:creationId xmlns:a16="http://schemas.microsoft.com/office/drawing/2014/main" id="{70C5D1E2-E919-44FD-84B4-E8A9F30537DC}"/>
                </a:ext>
              </a:extLst>
            </p:cNvPr>
            <p:cNvCxnSpPr>
              <a:cxnSpLocks noChangeShapeType="1"/>
              <a:stCxn id="25606" idx="3"/>
              <a:endCxn id="25608" idx="1"/>
            </p:cNvCxnSpPr>
            <p:nvPr/>
          </p:nvCxnSpPr>
          <p:spPr bwMode="auto">
            <a:xfrm>
              <a:off x="1728" y="3118"/>
              <a:ext cx="763" cy="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10" name="AutoShape 25">
              <a:extLst>
                <a:ext uri="{FF2B5EF4-FFF2-40B4-BE49-F238E27FC236}">
                  <a16:creationId xmlns:a16="http://schemas.microsoft.com/office/drawing/2014/main" id="{90C9A6D6-9D3F-4897-9FC8-86902C240E94}"/>
                </a:ext>
              </a:extLst>
            </p:cNvPr>
            <p:cNvCxnSpPr>
              <a:cxnSpLocks noChangeShapeType="1"/>
              <a:stCxn id="25608" idx="3"/>
              <a:endCxn id="25607" idx="1"/>
            </p:cNvCxnSpPr>
            <p:nvPr/>
          </p:nvCxnSpPr>
          <p:spPr bwMode="auto">
            <a:xfrm>
              <a:off x="3259" y="3120"/>
              <a:ext cx="876" cy="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5611" name="Group 26">
              <a:extLst>
                <a:ext uri="{FF2B5EF4-FFF2-40B4-BE49-F238E27FC236}">
                  <a16:creationId xmlns:a16="http://schemas.microsoft.com/office/drawing/2014/main" id="{AAB97BD0-DBB4-4748-81E5-C1128A77E7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32" y="3022"/>
              <a:ext cx="96" cy="192"/>
              <a:chOff x="4032" y="2784"/>
              <a:chExt cx="96" cy="192"/>
            </a:xfrm>
          </p:grpSpPr>
          <p:sp>
            <p:nvSpPr>
              <p:cNvPr id="25617" name="Line 27">
                <a:extLst>
                  <a:ext uri="{FF2B5EF4-FFF2-40B4-BE49-F238E27FC236}">
                    <a16:creationId xmlns:a16="http://schemas.microsoft.com/office/drawing/2014/main" id="{8BE763C0-AB90-4904-8C3D-E991D5A6DB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32" y="2784"/>
                <a:ext cx="96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18" name="Line 28">
                <a:extLst>
                  <a:ext uri="{FF2B5EF4-FFF2-40B4-BE49-F238E27FC236}">
                    <a16:creationId xmlns:a16="http://schemas.microsoft.com/office/drawing/2014/main" id="{030F03E8-8B99-4B69-B4DB-8A600AEE04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2" y="2880"/>
                <a:ext cx="96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5612" name="Group 29">
              <a:extLst>
                <a:ext uri="{FF2B5EF4-FFF2-40B4-BE49-F238E27FC236}">
                  <a16:creationId xmlns:a16="http://schemas.microsoft.com/office/drawing/2014/main" id="{396A7205-B203-43A3-908D-BFA8AB11E525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728" y="3022"/>
              <a:ext cx="96" cy="192"/>
              <a:chOff x="4032" y="2784"/>
              <a:chExt cx="96" cy="192"/>
            </a:xfrm>
          </p:grpSpPr>
          <p:sp>
            <p:nvSpPr>
              <p:cNvPr id="25615" name="Line 30">
                <a:extLst>
                  <a:ext uri="{FF2B5EF4-FFF2-40B4-BE49-F238E27FC236}">
                    <a16:creationId xmlns:a16="http://schemas.microsoft.com/office/drawing/2014/main" id="{0D985091-0431-42B9-AB46-62D774FFBD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32" y="2784"/>
                <a:ext cx="96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16" name="Line 31">
                <a:extLst>
                  <a:ext uri="{FF2B5EF4-FFF2-40B4-BE49-F238E27FC236}">
                    <a16:creationId xmlns:a16="http://schemas.microsoft.com/office/drawing/2014/main" id="{62918D70-F509-4713-88B0-F61330D88B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2" y="2880"/>
                <a:ext cx="96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5613" name="Oval 32">
              <a:extLst>
                <a:ext uri="{FF2B5EF4-FFF2-40B4-BE49-F238E27FC236}">
                  <a16:creationId xmlns:a16="http://schemas.microsoft.com/office/drawing/2014/main" id="{03E15A6F-0A1E-42DF-A274-7A6BD43C1F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2064"/>
              <a:ext cx="1152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ZA" altLang="en-US" b="1"/>
                <a:t>Date_Completed</a:t>
              </a:r>
            </a:p>
          </p:txBody>
        </p:sp>
        <p:sp>
          <p:nvSpPr>
            <p:cNvPr id="25614" name="Line 33">
              <a:extLst>
                <a:ext uri="{FF2B5EF4-FFF2-40B4-BE49-F238E27FC236}">
                  <a16:creationId xmlns:a16="http://schemas.microsoft.com/office/drawing/2014/main" id="{55BA4656-E68C-4162-AE53-9039165CB3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0" y="24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42402" name="Rectangle 34">
            <a:extLst>
              <a:ext uri="{FF2B5EF4-FFF2-40B4-BE49-F238E27FC236}">
                <a16:creationId xmlns:a16="http://schemas.microsoft.com/office/drawing/2014/main" id="{FFCA273D-B057-48B1-BA8A-DA8EEB85A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6188" y="1745757"/>
            <a:ext cx="87630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ZA" altLang="en-US" sz="2800" dirty="0"/>
              <a:t>Attributes may be associated with relationships, as well as with entities. 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800" dirty="0"/>
              <a:t>These describe features pertaining to the association between the entities in the relationship</a:t>
            </a:r>
            <a:endParaRPr lang="en-ZA" altLang="en-US" sz="2800" dirty="0"/>
          </a:p>
          <a:p>
            <a:pPr marL="0" indent="0" eaLnBrk="1" hangingPunct="1">
              <a:spcBef>
                <a:spcPct val="20000"/>
              </a:spcBef>
            </a:pPr>
            <a:r>
              <a:rPr lang="en-ZA" altLang="en-US" sz="2200" dirty="0"/>
              <a:t>Example:</a:t>
            </a:r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4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24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24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4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24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24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4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24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24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2402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1752601"/>
            <a:ext cx="3657600" cy="38164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4033" name="Rectangle 2"/>
          <p:cNvSpPr>
            <a:spLocks noGrp="1" noChangeArrowheads="1"/>
          </p:cNvSpPr>
          <p:nvPr>
            <p:ph type="title"/>
          </p:nvPr>
        </p:nvSpPr>
        <p:spPr>
          <a:xfrm>
            <a:off x="1430867" y="740452"/>
            <a:ext cx="8446558" cy="1096962"/>
          </a:xfrm>
        </p:spPr>
        <p:txBody>
          <a:bodyPr>
            <a:normAutofit/>
          </a:bodyPr>
          <a:lstStyle/>
          <a:p>
            <a:r>
              <a:rPr lang="en-US" sz="3600" dirty="0"/>
              <a:t>Degree 2 Relationship:</a:t>
            </a:r>
            <a:br>
              <a:rPr lang="en-US" sz="3600" dirty="0"/>
            </a:br>
            <a:r>
              <a:rPr lang="en-US" sz="3600" dirty="0"/>
              <a:t>Binary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5D3341-A2BF-F41A-7317-13B63429E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98A7-B7F8-418E-BC89-7AA1FB5E83CF}" type="slidenum">
              <a:rPr lang="en-GB" smtClean="0"/>
              <a:t>27</a:t>
            </a:fld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4895850" y="5765264"/>
            <a:ext cx="24021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Kroenke &amp; Auer (2013)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2182396"/>
            <a:ext cx="5943600" cy="3772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6081" name="Rectangle 2"/>
          <p:cNvSpPr>
            <a:spLocks noGrp="1" noChangeArrowheads="1"/>
          </p:cNvSpPr>
          <p:nvPr>
            <p:ph type="title"/>
          </p:nvPr>
        </p:nvSpPr>
        <p:spPr>
          <a:xfrm>
            <a:off x="2705100" y="722521"/>
            <a:ext cx="7391400" cy="895766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Degree 3 Relationship:</a:t>
            </a:r>
            <a:br>
              <a:rPr lang="en-US" sz="3600" dirty="0"/>
            </a:br>
            <a:r>
              <a:rPr lang="en-US" sz="3600" dirty="0"/>
              <a:t>Ternary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B0223A-3C2C-48D4-035E-CE200E53B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98A7-B7F8-418E-BC89-7AA1FB5E83CF}" type="slidenum">
              <a:rPr lang="en-GB" smtClean="0"/>
              <a:t>28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4876800" y="5955268"/>
            <a:ext cx="22499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Kroenke &amp; Auer (2013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1004" y="3200401"/>
            <a:ext cx="2493596" cy="3017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2971800" y="274638"/>
            <a:ext cx="7239000" cy="1096962"/>
          </a:xfrm>
        </p:spPr>
        <p:txBody>
          <a:bodyPr/>
          <a:lstStyle/>
          <a:p>
            <a:r>
              <a:rPr lang="en-US" dirty="0"/>
              <a:t>Recursive Relationships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idx="1"/>
          </p:nvPr>
        </p:nvSpPr>
        <p:spPr>
          <a:xfrm>
            <a:off x="976544" y="1600200"/>
            <a:ext cx="9234256" cy="1524000"/>
          </a:xfrm>
        </p:spPr>
        <p:txBody>
          <a:bodyPr/>
          <a:lstStyle/>
          <a:p>
            <a:r>
              <a:rPr lang="en-US" dirty="0"/>
              <a:t>It is possible for an entity to have a relationship to itself</a:t>
            </a:r>
            <a:r>
              <a:rPr lang="en-US" dirty="0">
                <a:cs typeface="Arial" charset="0"/>
              </a:rPr>
              <a:t>—this is called a </a:t>
            </a:r>
            <a:r>
              <a:rPr lang="en-US" b="1" dirty="0">
                <a:cs typeface="Arial" charset="0"/>
              </a:rPr>
              <a:t>recursive relationship.</a:t>
            </a:r>
          </a:p>
          <a:p>
            <a:endParaRPr lang="en-US" sz="2800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B8BA66-7CB4-C7C1-9349-EAB239EF3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98A7-B7F8-418E-BC89-7AA1FB5E83CF}" type="slidenum">
              <a:rPr lang="en-GB" smtClean="0"/>
              <a:t>29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6629400" y="5602070"/>
            <a:ext cx="3581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Example Recursive Relationship</a:t>
            </a:r>
          </a:p>
          <a:p>
            <a:r>
              <a:rPr lang="en-US" dirty="0"/>
              <a:t>Kroenke &amp; Auer (2013)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89CAC-70BB-436F-9B2E-ED1790125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5825" y="982132"/>
            <a:ext cx="3360772" cy="1303867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262626"/>
                </a:solidFill>
              </a:rPr>
              <a:t>Summary </a:t>
            </a:r>
            <a:endParaRPr lang="en-GB">
              <a:solidFill>
                <a:srgbClr val="262626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3D4D4BD-D3EB-4E80-A9CD-71F6B1D668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5824" y="2556932"/>
            <a:ext cx="3360771" cy="331893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262626"/>
                </a:solidFill>
              </a:rPr>
              <a:t>The diagram </a:t>
            </a:r>
            <a:r>
              <a:rPr lang="en-US" dirty="0" err="1">
                <a:solidFill>
                  <a:srgbClr val="262626"/>
                </a:solidFill>
              </a:rPr>
              <a:t>summarises</a:t>
            </a:r>
            <a:r>
              <a:rPr lang="en-US" dirty="0">
                <a:solidFill>
                  <a:srgbClr val="262626"/>
                </a:solidFill>
              </a:rPr>
              <a:t> the phases in the Database development process.</a:t>
            </a:r>
          </a:p>
          <a:p>
            <a:r>
              <a:rPr lang="en-US" dirty="0">
                <a:solidFill>
                  <a:srgbClr val="262626"/>
                </a:solidFill>
              </a:rPr>
              <a:t>Take note of the activities involved at each of the phases.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F2F253-226B-138E-9959-7CAF114A7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98A7-B7F8-418E-BC89-7AA1FB5E83CF}" type="slidenum">
              <a:rPr lang="en-GB" smtClean="0"/>
              <a:t>30</a:t>
            </a:fld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34A98B-5016-42D9-BAB2-8179154D9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135" y="1250695"/>
            <a:ext cx="5605472" cy="4264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1208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BEA40-B137-4C27-BD6B-3618D1EF8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C86B7-C8B8-4724-AB17-B999B7CA8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Kroenke, D. M. &amp; Auer, D. (2020). Database concepts (9th ed.), Pearson</a:t>
            </a:r>
            <a:endParaRPr lang="en-US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45180-4262-6155-450E-101512E3B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98A7-B7F8-418E-BC89-7AA1FB5E83CF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90958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60A78-E891-46FE-B269-7AFEB582E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 home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E558F-EC10-46ED-A1C7-298BD9FA8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 lecture on the database concepts .</a:t>
            </a:r>
          </a:p>
          <a:p>
            <a:r>
              <a:rPr lang="en-US" dirty="0"/>
              <a:t>Ensure you complete the study on data types </a:t>
            </a:r>
          </a:p>
          <a:p>
            <a:r>
              <a:rPr lang="en-US" dirty="0"/>
              <a:t>Attend practical classes</a:t>
            </a:r>
          </a:p>
          <a:p>
            <a:r>
              <a:rPr lang="en-US" dirty="0"/>
              <a:t>Work on the lab 3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AA4D4-7628-E1EA-89E0-0F9102941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98A7-B7F8-418E-BC89-7AA1FB5E83CF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75016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C7DD0-9FB2-48DE-9D27-B64EC9229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lecture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55AB6-3751-4EE1-992A-4BD15D9C7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next lecture we will learn about the conceptual model.</a:t>
            </a:r>
          </a:p>
          <a:p>
            <a:r>
              <a:rPr lang="en-US" dirty="0"/>
              <a:t>The Entity Relationship Diagram (Crow’s foot, Chen’s notation)</a:t>
            </a:r>
          </a:p>
          <a:p>
            <a:r>
              <a:rPr lang="en-US" dirty="0"/>
              <a:t>Introduce the logical design stage.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FB8FAA-3188-FF62-FE04-0D5B8609A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98A7-B7F8-418E-BC89-7AA1FB5E83CF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9929780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3836</TotalTime>
  <Words>1413</Words>
  <Application>Microsoft Office PowerPoint</Application>
  <PresentationFormat>Widescreen</PresentationFormat>
  <Paragraphs>240</Paragraphs>
  <Slides>33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Arial</vt:lpstr>
      <vt:lpstr>Calibri</vt:lpstr>
      <vt:lpstr>Calibri Light</vt:lpstr>
      <vt:lpstr>RopaSoftPro-Regular</vt:lpstr>
      <vt:lpstr>Times New Roman</vt:lpstr>
      <vt:lpstr>Tw Cen MT</vt:lpstr>
      <vt:lpstr>Tw Cen MT Condensed</vt:lpstr>
      <vt:lpstr>Wingdings 3</vt:lpstr>
      <vt:lpstr>Office 2013 - 2022 Theme</vt:lpstr>
      <vt:lpstr>Integral</vt:lpstr>
      <vt:lpstr>PowerPoint Presentation</vt:lpstr>
      <vt:lpstr>Recap</vt:lpstr>
      <vt:lpstr>Objectives </vt:lpstr>
      <vt:lpstr>Database Development Life Cycle</vt:lpstr>
      <vt:lpstr>The Database Development Process</vt:lpstr>
      <vt:lpstr>Feasibility and requirements gathering phase </vt:lpstr>
      <vt:lpstr>Requirements specification </vt:lpstr>
      <vt:lpstr>Design Phase </vt:lpstr>
      <vt:lpstr>Conceptual Design </vt:lpstr>
      <vt:lpstr>Logical Design </vt:lpstr>
      <vt:lpstr>Physical Design </vt:lpstr>
      <vt:lpstr>Database Implementation Phase </vt:lpstr>
      <vt:lpstr>Data and Application Phase </vt:lpstr>
      <vt:lpstr>Conceptual database design </vt:lpstr>
      <vt:lpstr>Entity</vt:lpstr>
      <vt:lpstr>Entity Class and Entity Instance</vt:lpstr>
      <vt:lpstr>Strong and Weak Entities</vt:lpstr>
      <vt:lpstr> Entities – What should it be?</vt:lpstr>
      <vt:lpstr>Attributes</vt:lpstr>
      <vt:lpstr>Attributes</vt:lpstr>
      <vt:lpstr>Attributes </vt:lpstr>
      <vt:lpstr>  Entities  - Identifiers</vt:lpstr>
      <vt:lpstr>  Entities – Characteristics of Identifiers</vt:lpstr>
      <vt:lpstr>Relationships</vt:lpstr>
      <vt:lpstr>  Relationships  -Degree of  Relationship</vt:lpstr>
      <vt:lpstr>  Attributes on Relationships</vt:lpstr>
      <vt:lpstr>Degree 2 Relationship: Binary</vt:lpstr>
      <vt:lpstr>Degree 3 Relationship: Ternary</vt:lpstr>
      <vt:lpstr>Recursive Relationships</vt:lpstr>
      <vt:lpstr>Summary </vt:lpstr>
      <vt:lpstr>References </vt:lpstr>
      <vt:lpstr>Take home</vt:lpstr>
      <vt:lpstr>Next lecture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Database development Process</dc:title>
  <dc:creator>Chikohora, Teressa (INT)</dc:creator>
  <cp:lastModifiedBy>Chivuno-Kuria, Shilumbe</cp:lastModifiedBy>
  <cp:revision>12</cp:revision>
  <dcterms:created xsi:type="dcterms:W3CDTF">2021-04-07T10:47:22Z</dcterms:created>
  <dcterms:modified xsi:type="dcterms:W3CDTF">2025-03-07T06:41:31Z</dcterms:modified>
</cp:coreProperties>
</file>