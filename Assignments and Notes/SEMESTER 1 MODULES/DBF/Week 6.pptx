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63"/>
  </p:notesMasterIdLst>
  <p:sldIdLst>
    <p:sldId id="309" r:id="rId2"/>
    <p:sldId id="262" r:id="rId3"/>
    <p:sldId id="494" r:id="rId4"/>
    <p:sldId id="512" r:id="rId5"/>
    <p:sldId id="294" r:id="rId6"/>
    <p:sldId id="324" r:id="rId7"/>
    <p:sldId id="511" r:id="rId8"/>
    <p:sldId id="257" r:id="rId9"/>
    <p:sldId id="495" r:id="rId10"/>
    <p:sldId id="518" r:id="rId11"/>
    <p:sldId id="519" r:id="rId12"/>
    <p:sldId id="520" r:id="rId13"/>
    <p:sldId id="521" r:id="rId14"/>
    <p:sldId id="522" r:id="rId15"/>
    <p:sldId id="425" r:id="rId16"/>
    <p:sldId id="496" r:id="rId17"/>
    <p:sldId id="497" r:id="rId18"/>
    <p:sldId id="498" r:id="rId19"/>
    <p:sldId id="477" r:id="rId20"/>
    <p:sldId id="442" r:id="rId21"/>
    <p:sldId id="443" r:id="rId22"/>
    <p:sldId id="445" r:id="rId23"/>
    <p:sldId id="446" r:id="rId24"/>
    <p:sldId id="447" r:id="rId25"/>
    <p:sldId id="448" r:id="rId26"/>
    <p:sldId id="449" r:id="rId27"/>
    <p:sldId id="451" r:id="rId28"/>
    <p:sldId id="450" r:id="rId29"/>
    <p:sldId id="452" r:id="rId30"/>
    <p:sldId id="453" r:id="rId31"/>
    <p:sldId id="454" r:id="rId32"/>
    <p:sldId id="455" r:id="rId33"/>
    <p:sldId id="456" r:id="rId34"/>
    <p:sldId id="499" r:id="rId35"/>
    <p:sldId id="506" r:id="rId36"/>
    <p:sldId id="500" r:id="rId37"/>
    <p:sldId id="501" r:id="rId38"/>
    <p:sldId id="502" r:id="rId39"/>
    <p:sldId id="510" r:id="rId40"/>
    <p:sldId id="504" r:id="rId41"/>
    <p:sldId id="258" r:id="rId42"/>
    <p:sldId id="513" r:id="rId43"/>
    <p:sldId id="259" r:id="rId44"/>
    <p:sldId id="260" r:id="rId45"/>
    <p:sldId id="264" r:id="rId46"/>
    <p:sldId id="458" r:id="rId47"/>
    <p:sldId id="265" r:id="rId48"/>
    <p:sldId id="509" r:id="rId49"/>
    <p:sldId id="459" r:id="rId50"/>
    <p:sldId id="505" r:id="rId51"/>
    <p:sldId id="460" r:id="rId52"/>
    <p:sldId id="461" r:id="rId53"/>
    <p:sldId id="267" r:id="rId54"/>
    <p:sldId id="268" r:id="rId55"/>
    <p:sldId id="269" r:id="rId56"/>
    <p:sldId id="271" r:id="rId57"/>
    <p:sldId id="272" r:id="rId58"/>
    <p:sldId id="273" r:id="rId59"/>
    <p:sldId id="514" r:id="rId60"/>
    <p:sldId id="515" r:id="rId61"/>
    <p:sldId id="516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vuno-Kuria, Shilumbe" userId="971a9ce4-f8fe-45be-a1b9-784e76a04f28" providerId="ADAL" clId="{D5BBD0FC-5BFB-4A31-93DD-CEF81CD09B40}"/>
    <pc:docChg chg="custSel delSld modSld">
      <pc:chgData name="Chivuno-Kuria, Shilumbe" userId="971a9ce4-f8fe-45be-a1b9-784e76a04f28" providerId="ADAL" clId="{D5BBD0FC-5BFB-4A31-93DD-CEF81CD09B40}" dt="2025-03-24T10:03:55.842" v="87" actId="20577"/>
      <pc:docMkLst>
        <pc:docMk/>
      </pc:docMkLst>
      <pc:sldChg chg="modSp mod">
        <pc:chgData name="Chivuno-Kuria, Shilumbe" userId="971a9ce4-f8fe-45be-a1b9-784e76a04f28" providerId="ADAL" clId="{D5BBD0FC-5BFB-4A31-93DD-CEF81CD09B40}" dt="2025-03-24T10:03:55.842" v="87" actId="20577"/>
        <pc:sldMkLst>
          <pc:docMk/>
          <pc:sldMk cId="1366004070" sldId="512"/>
        </pc:sldMkLst>
        <pc:spChg chg="mod">
          <ac:chgData name="Chivuno-Kuria, Shilumbe" userId="971a9ce4-f8fe-45be-a1b9-784e76a04f28" providerId="ADAL" clId="{D5BBD0FC-5BFB-4A31-93DD-CEF81CD09B40}" dt="2025-03-24T10:03:55.842" v="87" actId="20577"/>
          <ac:spMkLst>
            <pc:docMk/>
            <pc:sldMk cId="1366004070" sldId="512"/>
            <ac:spMk id="2" creationId="{528E83C2-D59B-4A64-93F1-7574F11F97AE}"/>
          </ac:spMkLst>
        </pc:spChg>
      </pc:sldChg>
      <pc:sldChg chg="modSp del mod">
        <pc:chgData name="Chivuno-Kuria, Shilumbe" userId="971a9ce4-f8fe-45be-a1b9-784e76a04f28" providerId="ADAL" clId="{D5BBD0FC-5BFB-4A31-93DD-CEF81CD09B40}" dt="2025-03-24T10:02:56.062" v="65" actId="2696"/>
        <pc:sldMkLst>
          <pc:docMk/>
          <pc:sldMk cId="1393546284" sldId="517"/>
        </pc:sldMkLst>
        <pc:spChg chg="mod">
          <ac:chgData name="Chivuno-Kuria, Shilumbe" userId="971a9ce4-f8fe-45be-a1b9-784e76a04f28" providerId="ADAL" clId="{D5BBD0FC-5BFB-4A31-93DD-CEF81CD09B40}" dt="2025-03-24T10:02:46.504" v="64" actId="20577"/>
          <ac:spMkLst>
            <pc:docMk/>
            <pc:sldMk cId="1393546284" sldId="517"/>
            <ac:spMk id="2" creationId="{AE01FB1F-334D-43C3-AA2B-ED3CEFE21A5E}"/>
          </ac:spMkLst>
        </pc:spChg>
        <pc:spChg chg="mod">
          <ac:chgData name="Chivuno-Kuria, Shilumbe" userId="971a9ce4-f8fe-45be-a1b9-784e76a04f28" providerId="ADAL" clId="{D5BBD0FC-5BFB-4A31-93DD-CEF81CD09B40}" dt="2025-03-24T10:02:19.523" v="41" actId="20577"/>
          <ac:spMkLst>
            <pc:docMk/>
            <pc:sldMk cId="1393546284" sldId="517"/>
            <ac:spMk id="3" creationId="{DBA15D5E-8983-42DE-A850-935A9DDADB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F5012-9CBC-4409-BC6F-A2C612C966EF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14CE9-DA3C-49C7-9425-090086B5B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461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696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AA14AB-D17F-421A-9439-97DC0B01D3C4}" type="slidenum">
              <a:rPr lang="en-US" smtClean="0">
                <a:cs typeface="Arial" charset="0"/>
              </a:rPr>
              <a:pPr/>
              <a:t>5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E9715F-9FC7-4E62-8B12-EC8581D777D2}" type="slidenum">
              <a:rPr lang="en-US" smtClean="0">
                <a:cs typeface="Arial" charset="0"/>
              </a:rPr>
              <a:pPr/>
              <a:t>6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A006EC2E-393B-1823-01F0-B1B8441935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838970-EAC8-499C-9A9A-E587625C7321}" type="slidenum">
              <a:rPr lang="en-GB" altLang="en-US"/>
              <a:pPr/>
              <a:t>15</a:t>
            </a:fld>
            <a:endParaRPr lang="en-GB" altLang="en-US"/>
          </a:p>
        </p:txBody>
      </p:sp>
      <p:sp>
        <p:nvSpPr>
          <p:cNvPr id="445442" name="Rectangle 3074">
            <a:extLst>
              <a:ext uri="{FF2B5EF4-FFF2-40B4-BE49-F238E27FC236}">
                <a16:creationId xmlns:a16="http://schemas.microsoft.com/office/drawing/2014/main" id="{29F165FF-1333-4645-94A7-9543F7A040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075">
            <a:extLst>
              <a:ext uri="{FF2B5EF4-FFF2-40B4-BE49-F238E27FC236}">
                <a16:creationId xmlns:a16="http://schemas.microsoft.com/office/drawing/2014/main" id="{47C04AF6-E018-D256-AEF1-0249CE8F09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03709E04-709A-6546-9AC9-392E2146E4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13DAB3-A8E8-47D9-A41A-4A6DBE00A04F}" type="slidenum">
              <a:rPr lang="en-GB" altLang="en-US"/>
              <a:pPr/>
              <a:t>19</a:t>
            </a:fld>
            <a:endParaRPr lang="en-GB" altLang="en-US"/>
          </a:p>
        </p:txBody>
      </p:sp>
      <p:sp>
        <p:nvSpPr>
          <p:cNvPr id="444418" name="Rectangle 2">
            <a:extLst>
              <a:ext uri="{FF2B5EF4-FFF2-40B4-BE49-F238E27FC236}">
                <a16:creationId xmlns:a16="http://schemas.microsoft.com/office/drawing/2014/main" id="{9F385C6E-EC68-55F7-2533-D641FEA017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4419" name="Rectangle 3">
            <a:extLst>
              <a:ext uri="{FF2B5EF4-FFF2-40B4-BE49-F238E27FC236}">
                <a16:creationId xmlns:a16="http://schemas.microsoft.com/office/drawing/2014/main" id="{97CFF791-B412-D9D8-09D4-4532803F9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A941A67B-8FF9-9A9B-1395-ECF6DB2AC7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A1CFFE-B1F1-4B58-8454-136B46BBA232}" type="slidenum">
              <a:rPr lang="en-GB" altLang="en-US"/>
              <a:pPr/>
              <a:t>20</a:t>
            </a:fld>
            <a:endParaRPr lang="en-GB" altLang="en-US"/>
          </a:p>
        </p:txBody>
      </p:sp>
      <p:sp>
        <p:nvSpPr>
          <p:cNvPr id="468994" name="Rectangle 2">
            <a:extLst>
              <a:ext uri="{FF2B5EF4-FFF2-40B4-BE49-F238E27FC236}">
                <a16:creationId xmlns:a16="http://schemas.microsoft.com/office/drawing/2014/main" id="{307DA423-2ED0-9F90-5B74-67071354FE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5" name="Rectangle 3">
            <a:extLst>
              <a:ext uri="{FF2B5EF4-FFF2-40B4-BE49-F238E27FC236}">
                <a16:creationId xmlns:a16="http://schemas.microsoft.com/office/drawing/2014/main" id="{EB67DE8E-9051-4C68-648D-BFF4B9DD3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7A80EEC3-32B4-6FEF-7525-6391708DD2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A6F760-7939-49B6-A60E-4B7CDCE4D322}" type="slidenum">
              <a:rPr lang="en-GB" altLang="en-US"/>
              <a:pPr/>
              <a:t>21</a:t>
            </a:fld>
            <a:endParaRPr lang="en-GB" altLang="en-US"/>
          </a:p>
        </p:txBody>
      </p:sp>
      <p:sp>
        <p:nvSpPr>
          <p:cNvPr id="470018" name="Rectangle 2">
            <a:extLst>
              <a:ext uri="{FF2B5EF4-FFF2-40B4-BE49-F238E27FC236}">
                <a16:creationId xmlns:a16="http://schemas.microsoft.com/office/drawing/2014/main" id="{909CC5E8-B444-7402-3333-61A2A75606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0019" name="Rectangle 3">
            <a:extLst>
              <a:ext uri="{FF2B5EF4-FFF2-40B4-BE49-F238E27FC236}">
                <a16:creationId xmlns:a16="http://schemas.microsoft.com/office/drawing/2014/main" id="{F78A3E20-3074-9C4A-204C-A4F78B254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205EB386-BD28-F790-AD8E-72A6B3D34D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1C0FCF-EF8C-47FF-AF9E-8AAA1DB41336}" type="slidenum">
              <a:rPr lang="en-GB" altLang="en-US"/>
              <a:pPr/>
              <a:t>22</a:t>
            </a:fld>
            <a:endParaRPr lang="en-GB" altLang="en-US"/>
          </a:p>
        </p:txBody>
      </p:sp>
      <p:sp>
        <p:nvSpPr>
          <p:cNvPr id="471042" name="Rectangle 2">
            <a:extLst>
              <a:ext uri="{FF2B5EF4-FFF2-40B4-BE49-F238E27FC236}">
                <a16:creationId xmlns:a16="http://schemas.microsoft.com/office/drawing/2014/main" id="{82C8DEBD-1789-B597-78B6-3D5382105D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43" name="Rectangle 3">
            <a:extLst>
              <a:ext uri="{FF2B5EF4-FFF2-40B4-BE49-F238E27FC236}">
                <a16:creationId xmlns:a16="http://schemas.microsoft.com/office/drawing/2014/main" id="{DDEEEE65-20AD-335C-1B75-3745C3E45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0222E83B-E16D-FF81-7B59-ED80E11852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B1A6BF-2590-402C-A45F-ACB572E2FF49}" type="slidenum">
              <a:rPr lang="en-GB" altLang="en-US"/>
              <a:pPr/>
              <a:t>23</a:t>
            </a:fld>
            <a:endParaRPr lang="en-GB" altLang="en-US"/>
          </a:p>
        </p:txBody>
      </p:sp>
      <p:sp>
        <p:nvSpPr>
          <p:cNvPr id="472066" name="Rectangle 1026">
            <a:extLst>
              <a:ext uri="{FF2B5EF4-FFF2-40B4-BE49-F238E27FC236}">
                <a16:creationId xmlns:a16="http://schemas.microsoft.com/office/drawing/2014/main" id="{E617C6F9-7CB3-4239-C178-236565968E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 1027">
            <a:extLst>
              <a:ext uri="{FF2B5EF4-FFF2-40B4-BE49-F238E27FC236}">
                <a16:creationId xmlns:a16="http://schemas.microsoft.com/office/drawing/2014/main" id="{2BAFB7B8-CC24-DDBC-FBD1-1726F302D6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D7CB0D9E-0E6F-3B85-DB9B-E63AB55A64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C0B972-3A5C-493B-B792-FA920A9E3AD3}" type="slidenum">
              <a:rPr lang="en-GB" altLang="en-US"/>
              <a:pPr/>
              <a:t>24</a:t>
            </a:fld>
            <a:endParaRPr lang="en-GB" altLang="en-US"/>
          </a:p>
        </p:txBody>
      </p:sp>
      <p:sp>
        <p:nvSpPr>
          <p:cNvPr id="473090" name="Rectangle 2">
            <a:extLst>
              <a:ext uri="{FF2B5EF4-FFF2-40B4-BE49-F238E27FC236}">
                <a16:creationId xmlns:a16="http://schemas.microsoft.com/office/drawing/2014/main" id="{01A732AB-2C25-A233-B82C-2E69CAE64D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3A35F21A-2EC9-BDD7-C410-CACF1B9769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5BBB3FE7-1283-4ABE-1606-57B1BCBB06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FEF33E-4026-43C5-B6CC-46F2FD42B011}" type="slidenum">
              <a:rPr lang="en-GB" altLang="en-US"/>
              <a:pPr/>
              <a:t>25</a:t>
            </a:fld>
            <a:endParaRPr lang="en-GB" altLang="en-US"/>
          </a:p>
        </p:txBody>
      </p:sp>
      <p:sp>
        <p:nvSpPr>
          <p:cNvPr id="474114" name="Rectangle 2">
            <a:extLst>
              <a:ext uri="{FF2B5EF4-FFF2-40B4-BE49-F238E27FC236}">
                <a16:creationId xmlns:a16="http://schemas.microsoft.com/office/drawing/2014/main" id="{312902C7-DED1-A896-14BD-6199FF20F1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4115" name="Rectangle 3">
            <a:extLst>
              <a:ext uri="{FF2B5EF4-FFF2-40B4-BE49-F238E27FC236}">
                <a16:creationId xmlns:a16="http://schemas.microsoft.com/office/drawing/2014/main" id="{0FCB86D8-6436-1C8F-AAB7-FF4B27779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70568950-040C-5797-9243-661416732F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572FD8-3783-47FD-AAD3-0AC47B675569}" type="slidenum">
              <a:rPr lang="en-GB" altLang="en-US"/>
              <a:pPr/>
              <a:t>26</a:t>
            </a:fld>
            <a:endParaRPr lang="en-GB" altLang="en-US"/>
          </a:p>
        </p:txBody>
      </p:sp>
      <p:sp>
        <p:nvSpPr>
          <p:cNvPr id="454658" name="Rectangle 2">
            <a:extLst>
              <a:ext uri="{FF2B5EF4-FFF2-40B4-BE49-F238E27FC236}">
                <a16:creationId xmlns:a16="http://schemas.microsoft.com/office/drawing/2014/main" id="{3FB8E8EE-ED35-F308-5BC9-ECB5A51696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4659" name="Rectangle 3">
            <a:extLst>
              <a:ext uri="{FF2B5EF4-FFF2-40B4-BE49-F238E27FC236}">
                <a16:creationId xmlns:a16="http://schemas.microsoft.com/office/drawing/2014/main" id="{49693FE2-05F4-3A6D-B69E-0516CFC100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6EB506D2-C31E-A22F-C22E-F3883F3562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70D79D-9D1D-4F11-9CBD-50806F66151F}" type="slidenum">
              <a:rPr lang="en-GB" altLang="en-US"/>
              <a:pPr/>
              <a:t>27</a:t>
            </a:fld>
            <a:endParaRPr lang="en-GB" altLang="en-US"/>
          </a:p>
        </p:txBody>
      </p:sp>
      <p:sp>
        <p:nvSpPr>
          <p:cNvPr id="475138" name="Rectangle 2">
            <a:extLst>
              <a:ext uri="{FF2B5EF4-FFF2-40B4-BE49-F238E27FC236}">
                <a16:creationId xmlns:a16="http://schemas.microsoft.com/office/drawing/2014/main" id="{6D782400-8820-A523-7B96-E769B67DD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F912BB94-A1C4-5D3B-06EF-A0E7FF317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A195A5B6-B944-5E5F-F6DE-317E109EB4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6A0391-BC18-4D6C-AC49-6C0A0BB7D3E7}" type="slidenum">
              <a:rPr lang="en-GB" altLang="en-US"/>
              <a:pPr/>
              <a:t>28</a:t>
            </a:fld>
            <a:endParaRPr lang="en-GB" altLang="en-US"/>
          </a:p>
        </p:txBody>
      </p:sp>
      <p:sp>
        <p:nvSpPr>
          <p:cNvPr id="476162" name="Rectangle 1026">
            <a:extLst>
              <a:ext uri="{FF2B5EF4-FFF2-40B4-BE49-F238E27FC236}">
                <a16:creationId xmlns:a16="http://schemas.microsoft.com/office/drawing/2014/main" id="{E400E8A9-48C3-6047-7DF9-1931B6CE3C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6163" name="Rectangle 1027">
            <a:extLst>
              <a:ext uri="{FF2B5EF4-FFF2-40B4-BE49-F238E27FC236}">
                <a16:creationId xmlns:a16="http://schemas.microsoft.com/office/drawing/2014/main" id="{49B70BCA-A64E-A0F4-5217-F09C013F5C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8E27BC4F-F07A-4BE3-A0A7-D7DFE03697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199A1C-7646-4D07-865B-67656A19B749}" type="slidenum">
              <a:rPr lang="en-GB" altLang="en-US"/>
              <a:pPr/>
              <a:t>29</a:t>
            </a:fld>
            <a:endParaRPr lang="en-GB" altLang="en-US"/>
          </a:p>
        </p:txBody>
      </p:sp>
      <p:sp>
        <p:nvSpPr>
          <p:cNvPr id="477186" name="Rectangle 2">
            <a:extLst>
              <a:ext uri="{FF2B5EF4-FFF2-40B4-BE49-F238E27FC236}">
                <a16:creationId xmlns:a16="http://schemas.microsoft.com/office/drawing/2014/main" id="{4C7F11EF-D303-361C-EBBC-332231F98F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631C809C-2ACC-FF28-E4D9-557ABD2FBA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2C8EF26F-F31E-002B-362C-B47CE141D0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F5A1C5-6EB9-41CB-9202-552DBAC36FC3}" type="slidenum">
              <a:rPr lang="en-GB" altLang="en-US"/>
              <a:pPr/>
              <a:t>30</a:t>
            </a:fld>
            <a:endParaRPr lang="en-GB" altLang="en-US"/>
          </a:p>
        </p:txBody>
      </p:sp>
      <p:sp>
        <p:nvSpPr>
          <p:cNvPr id="478210" name="Rectangle 2">
            <a:extLst>
              <a:ext uri="{FF2B5EF4-FFF2-40B4-BE49-F238E27FC236}">
                <a16:creationId xmlns:a16="http://schemas.microsoft.com/office/drawing/2014/main" id="{A570FF15-44DD-FAC3-DD9F-27691A9D33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8211" name="Rectangle 3">
            <a:extLst>
              <a:ext uri="{FF2B5EF4-FFF2-40B4-BE49-F238E27FC236}">
                <a16:creationId xmlns:a16="http://schemas.microsoft.com/office/drawing/2014/main" id="{CAFAD329-52A5-FEA5-76C3-370319E95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A6C14A8C-33CF-2F80-E5FA-98C05C3266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A3BD33-88AA-40A8-88EF-8B27BCEE6A68}" type="slidenum">
              <a:rPr lang="en-GB" altLang="en-US"/>
              <a:pPr/>
              <a:t>31</a:t>
            </a:fld>
            <a:endParaRPr lang="en-GB" altLang="en-US"/>
          </a:p>
        </p:txBody>
      </p:sp>
      <p:sp>
        <p:nvSpPr>
          <p:cNvPr id="479234" name="Rectangle 2">
            <a:extLst>
              <a:ext uri="{FF2B5EF4-FFF2-40B4-BE49-F238E27FC236}">
                <a16:creationId xmlns:a16="http://schemas.microsoft.com/office/drawing/2014/main" id="{B72077F9-633A-AC8B-BBA9-9FA3DA6B40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9235" name="Rectangle 3">
            <a:extLst>
              <a:ext uri="{FF2B5EF4-FFF2-40B4-BE49-F238E27FC236}">
                <a16:creationId xmlns:a16="http://schemas.microsoft.com/office/drawing/2014/main" id="{37A930FC-88DE-5BD2-69D9-D1FCD6E80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715019C2-186C-5FBE-DEE8-AB451FACE0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345EB8-34C3-4EB1-8787-637DACF69A9F}" type="slidenum">
              <a:rPr lang="en-GB" altLang="en-US"/>
              <a:pPr/>
              <a:t>32</a:t>
            </a:fld>
            <a:endParaRPr lang="en-GB" altLang="en-US"/>
          </a:p>
        </p:txBody>
      </p:sp>
      <p:sp>
        <p:nvSpPr>
          <p:cNvPr id="480258" name="Rectangle 2">
            <a:extLst>
              <a:ext uri="{FF2B5EF4-FFF2-40B4-BE49-F238E27FC236}">
                <a16:creationId xmlns:a16="http://schemas.microsoft.com/office/drawing/2014/main" id="{354DD579-315D-BAEC-9429-B68CE01493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0259" name="Rectangle 3">
            <a:extLst>
              <a:ext uri="{FF2B5EF4-FFF2-40B4-BE49-F238E27FC236}">
                <a16:creationId xmlns:a16="http://schemas.microsoft.com/office/drawing/2014/main" id="{294EF2C5-6303-A709-1BAA-1FD39955D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A2DDAA30-3141-DC13-4E2D-1F1A5EF00B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7D0E03-18C9-48AA-BDA7-E9C143D4EB61}" type="slidenum">
              <a:rPr lang="en-GB" altLang="en-US"/>
              <a:pPr/>
              <a:t>33</a:t>
            </a:fld>
            <a:endParaRPr lang="en-GB" altLang="en-US"/>
          </a:p>
        </p:txBody>
      </p:sp>
      <p:sp>
        <p:nvSpPr>
          <p:cNvPr id="481282" name="Rectangle 2">
            <a:extLst>
              <a:ext uri="{FF2B5EF4-FFF2-40B4-BE49-F238E27FC236}">
                <a16:creationId xmlns:a16="http://schemas.microsoft.com/office/drawing/2014/main" id="{20857A51-0F8D-61FB-6445-B25B185319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283" name="Rectangle 3">
            <a:extLst>
              <a:ext uri="{FF2B5EF4-FFF2-40B4-BE49-F238E27FC236}">
                <a16:creationId xmlns:a16="http://schemas.microsoft.com/office/drawing/2014/main" id="{F858E97A-CCB0-C1E5-1668-7AC1F1A6CE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46291446-9D6E-856C-AC05-8DB547C439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518050-1F11-483F-9FE0-958E61B57200}" type="slidenum">
              <a:rPr lang="en-GB" altLang="en-US"/>
              <a:pPr/>
              <a:t>46</a:t>
            </a:fld>
            <a:endParaRPr lang="en-GB" altLang="en-US"/>
          </a:p>
        </p:txBody>
      </p:sp>
      <p:sp>
        <p:nvSpPr>
          <p:cNvPr id="483330" name="Rectangle 2">
            <a:extLst>
              <a:ext uri="{FF2B5EF4-FFF2-40B4-BE49-F238E27FC236}">
                <a16:creationId xmlns:a16="http://schemas.microsoft.com/office/drawing/2014/main" id="{AA278AB9-83FA-7A46-95C4-66C5E8A3BA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3331" name="Rectangle 3">
            <a:extLst>
              <a:ext uri="{FF2B5EF4-FFF2-40B4-BE49-F238E27FC236}">
                <a16:creationId xmlns:a16="http://schemas.microsoft.com/office/drawing/2014/main" id="{5659A7F7-AC03-ADFB-225A-37D6A8A217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B22F8B3D-15A1-B025-1859-8BA4AC809E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E868B0-7FB0-4A75-93A8-72193D76ABA6}" type="slidenum">
              <a:rPr lang="en-GB" altLang="en-US"/>
              <a:pPr/>
              <a:t>49</a:t>
            </a:fld>
            <a:endParaRPr lang="en-GB" altLang="en-US"/>
          </a:p>
        </p:txBody>
      </p:sp>
      <p:sp>
        <p:nvSpPr>
          <p:cNvPr id="484354" name="Rectangle 2">
            <a:extLst>
              <a:ext uri="{FF2B5EF4-FFF2-40B4-BE49-F238E27FC236}">
                <a16:creationId xmlns:a16="http://schemas.microsoft.com/office/drawing/2014/main" id="{B1A32226-71BB-142D-3369-31B36E9B99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4355" name="Rectangle 3">
            <a:extLst>
              <a:ext uri="{FF2B5EF4-FFF2-40B4-BE49-F238E27FC236}">
                <a16:creationId xmlns:a16="http://schemas.microsoft.com/office/drawing/2014/main" id="{4C63D643-2E1C-8F62-7511-98C15E969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635FC596-0789-CBAE-0B70-38521F00C5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D6546E-1301-4A62-9B63-E16F5E742E7F}" type="slidenum">
              <a:rPr lang="en-GB" altLang="en-US"/>
              <a:pPr/>
              <a:t>51</a:t>
            </a:fld>
            <a:endParaRPr lang="en-GB" altLang="en-US"/>
          </a:p>
        </p:txBody>
      </p:sp>
      <p:sp>
        <p:nvSpPr>
          <p:cNvPr id="485378" name="Rectangle 1026">
            <a:extLst>
              <a:ext uri="{FF2B5EF4-FFF2-40B4-BE49-F238E27FC236}">
                <a16:creationId xmlns:a16="http://schemas.microsoft.com/office/drawing/2014/main" id="{BF0CA913-5718-115A-5B15-D3EE75AE3C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5379" name="Rectangle 1027">
            <a:extLst>
              <a:ext uri="{FF2B5EF4-FFF2-40B4-BE49-F238E27FC236}">
                <a16:creationId xmlns:a16="http://schemas.microsoft.com/office/drawing/2014/main" id="{7B563A25-C83E-B666-3891-363B0CBBD3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9">
            <a:extLst>
              <a:ext uri="{FF2B5EF4-FFF2-40B4-BE49-F238E27FC236}">
                <a16:creationId xmlns:a16="http://schemas.microsoft.com/office/drawing/2014/main" id="{F754CF52-B739-B494-2416-F043BD35F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95B64C-8E5A-424C-99EA-68C81141FCF7}" type="slidenum">
              <a:rPr lang="en-GB" altLang="en-US"/>
              <a:pPr/>
              <a:t>52</a:t>
            </a:fld>
            <a:endParaRPr lang="en-GB" altLang="en-US"/>
          </a:p>
        </p:txBody>
      </p:sp>
      <p:sp>
        <p:nvSpPr>
          <p:cNvPr id="486402" name="Rectangle 2">
            <a:extLst>
              <a:ext uri="{FF2B5EF4-FFF2-40B4-BE49-F238E27FC236}">
                <a16:creationId xmlns:a16="http://schemas.microsoft.com/office/drawing/2014/main" id="{A1D4F38F-AB2D-1FF2-4593-0E06761653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0A2EB614-CAF6-9EDB-C3A3-3FB3B4597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A9C84CB-9BC1-418F-A3B4-E69964E3B53E}" type="datetime1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601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8C14-00E8-4737-AF17-2BB30CB8C08B}" type="datetime1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15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5B8E9-4258-4081-92DA-D115A62F9900}" type="datetime1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40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52EA-BA0A-462B-9B0B-F4438B2261EC}" type="datetime1">
              <a:rPr lang="en-GB" smtClean="0"/>
              <a:t>24/03/2025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05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BDC18-CCC2-4E83-9026-0D5CA5E1B947}" type="datetime1">
              <a:rPr lang="en-GB" smtClean="0"/>
              <a:t>24/03/2025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40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677F-4BB0-4CBB-AF7A-955327E63B5B}" type="datetime1">
              <a:rPr lang="en-GB" smtClean="0"/>
              <a:t>24/03/2025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90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924AC-DF9B-48BB-ABF7-5A016492C684}" type="datetime1">
              <a:rPr lang="en-GB" smtClean="0"/>
              <a:t>24/03/2025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13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1443-6F01-4025-AEDB-C99E2C287628}" type="datetime1">
              <a:rPr lang="en-GB" smtClean="0"/>
              <a:t>24/03/2025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908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6BB9-9143-4F7B-8089-1238523D57D8}" type="datetime1">
              <a:rPr lang="en-GB" smtClean="0"/>
              <a:t>24/03/2025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50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F52D-7216-4E7B-AAFE-1B589EEC5FD0}" type="datetime1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61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04C8-578E-449A-B83A-5AAA6CB555A9}" type="datetime1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73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/>
          <a:srcRect b="49802"/>
          <a:stretch/>
        </p:blipFill>
        <p:spPr>
          <a:xfrm>
            <a:off x="1" y="0"/>
            <a:ext cx="12192000" cy="34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0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5FE2DC9-2C76-483A-9EB8-2621B6787C70}" type="datetime1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818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dbms/database_normalization.htm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SC_0063 (2)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0" r="15370" b="39874"/>
          <a:stretch/>
        </p:blipFill>
        <p:spPr>
          <a:xfrm>
            <a:off x="1578617" y="3434615"/>
            <a:ext cx="9132489" cy="34233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51561" y="1716573"/>
            <a:ext cx="8319734" cy="921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694" dirty="0">
                <a:solidFill>
                  <a:srgbClr val="FFFFFF"/>
                </a:solidFill>
              </a:rPr>
              <a:t>Week </a:t>
            </a:r>
            <a:r>
              <a:rPr lang="en-GB" sz="2694" dirty="0">
                <a:solidFill>
                  <a:srgbClr val="FFFFFF"/>
                </a:solidFill>
              </a:rPr>
              <a:t>6</a:t>
            </a:r>
            <a:endParaRPr lang="en-US" sz="3233" dirty="0">
              <a:solidFill>
                <a:srgbClr val="FFFFFF"/>
              </a:solidFill>
            </a:endParaRPr>
          </a:p>
          <a:p>
            <a:pPr algn="ctr"/>
            <a:r>
              <a:rPr lang="en-ZA" sz="2694" dirty="0">
                <a:solidFill>
                  <a:srgbClr val="FFFFFF"/>
                </a:solidFill>
              </a:rPr>
              <a:t>Database Design Continued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5098" y="1242919"/>
            <a:ext cx="7193040" cy="368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1796" b="1" i="0" u="none" strike="noStrike" baseline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1796" b="1">
                <a:solidFill>
                  <a:srgbClr val="FFFFFF"/>
                </a:solidFill>
                <a:latin typeface="RopaSoftPro-Regular"/>
              </a:rPr>
              <a:t> of Computing and Informatics</a:t>
            </a:r>
            <a:endParaRPr lang="en-US" sz="1796" b="1" i="0" u="none" strike="noStrike" baseline="0">
              <a:solidFill>
                <a:srgbClr val="FFFFFF"/>
              </a:solidFill>
              <a:latin typeface="RopaSoftPro-Regular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736" y="3857374"/>
            <a:ext cx="2144373" cy="263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3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A04F2-5AA0-4B2A-85C3-650480D4C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53E-2E5B-48B8-AB09-547D7685F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questions to ask: </a:t>
            </a:r>
          </a:p>
          <a:p>
            <a:r>
              <a:rPr lang="en-US" dirty="0"/>
              <a:t> What are the entities (= objects, individuals) in the organization? </a:t>
            </a:r>
          </a:p>
          <a:p>
            <a:r>
              <a:rPr lang="en-US" dirty="0"/>
              <a:t> Which relationships exist among the entities? </a:t>
            </a:r>
          </a:p>
          <a:p>
            <a:r>
              <a:rPr lang="en-US" dirty="0"/>
              <a:t> What information (= attributes) do we want to store about these entities and relationships? </a:t>
            </a:r>
          </a:p>
          <a:p>
            <a:r>
              <a:rPr lang="en-US" dirty="0"/>
              <a:t> What are the business rules of the organization? </a:t>
            </a:r>
          </a:p>
          <a:p>
            <a:r>
              <a:rPr lang="en-US" dirty="0"/>
              <a:t>Which integrity constraints do arise from them? </a:t>
            </a:r>
          </a:p>
          <a:p>
            <a:r>
              <a:rPr lang="en-US" dirty="0"/>
              <a:t>The answers are represented in an Entity Relationship Diagram (ER diagram)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CF538-195D-64BB-1A24-33C6623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17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2EBC-FF04-4F52-9A9B-1A44E455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Chen’s Notation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C0CB0-D687-4955-93B7-71C0280D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Entity </a:t>
            </a:r>
          </a:p>
          <a:p>
            <a:endParaRPr lang="en-US" dirty="0"/>
          </a:p>
          <a:p>
            <a:r>
              <a:rPr lang="en-US" dirty="0"/>
              <a:t>Attribute</a:t>
            </a:r>
          </a:p>
          <a:p>
            <a:endParaRPr lang="en-US" dirty="0"/>
          </a:p>
          <a:p>
            <a:r>
              <a:rPr lang="en-US" dirty="0"/>
              <a:t>Relationship  </a:t>
            </a:r>
          </a:p>
          <a:p>
            <a:r>
              <a:rPr lang="en-US" dirty="0"/>
              <a:t>Cardinality 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2A61AF-038F-4C6A-AEA1-944EED83BE9B}"/>
              </a:ext>
            </a:extLst>
          </p:cNvPr>
          <p:cNvSpPr/>
          <p:nvPr/>
        </p:nvSpPr>
        <p:spPr>
          <a:xfrm>
            <a:off x="3488924" y="2645545"/>
            <a:ext cx="2607076" cy="4882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</a:t>
            </a:r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B29F8F-FD85-428A-AC32-9EE851A555E2}"/>
              </a:ext>
            </a:extLst>
          </p:cNvPr>
          <p:cNvSpPr/>
          <p:nvPr/>
        </p:nvSpPr>
        <p:spPr>
          <a:xfrm>
            <a:off x="6604985" y="3266982"/>
            <a:ext cx="2539015" cy="71021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/>
              <a:t>StudentNumber</a:t>
            </a:r>
            <a:endParaRPr lang="en-GB" u="sng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66A8AF7-B0B3-42F8-8430-7C7F39D7919B}"/>
              </a:ext>
            </a:extLst>
          </p:cNvPr>
          <p:cNvSpPr/>
          <p:nvPr/>
        </p:nvSpPr>
        <p:spPr>
          <a:xfrm>
            <a:off x="3213716" y="3429000"/>
            <a:ext cx="1961965" cy="63031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GivenName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0ECD85-589E-4780-92FE-D45384C77E13}"/>
              </a:ext>
            </a:extLst>
          </p:cNvPr>
          <p:cNvCxnSpPr/>
          <p:nvPr/>
        </p:nvCxnSpPr>
        <p:spPr>
          <a:xfrm flipH="1">
            <a:off x="4296792" y="3158067"/>
            <a:ext cx="257453" cy="270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7133D9-B4D7-4580-AF8D-D84F21B0A4CD}"/>
              </a:ext>
            </a:extLst>
          </p:cNvPr>
          <p:cNvCxnSpPr>
            <a:stCxn id="6" idx="3"/>
          </p:cNvCxnSpPr>
          <p:nvPr/>
        </p:nvCxnSpPr>
        <p:spPr>
          <a:xfrm>
            <a:off x="6096000" y="2889681"/>
            <a:ext cx="828582" cy="3773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4EBB825-2432-4224-AB6B-D22777CE02F0}"/>
              </a:ext>
            </a:extLst>
          </p:cNvPr>
          <p:cNvSpPr/>
          <p:nvPr/>
        </p:nvSpPr>
        <p:spPr>
          <a:xfrm>
            <a:off x="3488924" y="4600112"/>
            <a:ext cx="2607076" cy="4882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887E4-96D1-42C3-B49C-5F64570F53A2}"/>
              </a:ext>
            </a:extLst>
          </p:cNvPr>
          <p:cNvSpPr/>
          <p:nvPr/>
        </p:nvSpPr>
        <p:spPr>
          <a:xfrm>
            <a:off x="8725268" y="4600110"/>
            <a:ext cx="2194267" cy="4882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Course </a:t>
            </a:r>
            <a:endParaRPr lang="en-GB" dirty="0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AA8D3A21-3A1C-4436-B5C8-12E9671947DD}"/>
              </a:ext>
            </a:extLst>
          </p:cNvPr>
          <p:cNvSpPr/>
          <p:nvPr/>
        </p:nvSpPr>
        <p:spPr>
          <a:xfrm>
            <a:off x="6418553" y="4489140"/>
            <a:ext cx="1571350" cy="710213"/>
          </a:xfrm>
          <a:prstGeom prst="diamon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enrols</a:t>
            </a:r>
            <a:endParaRPr lang="en-GB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979C94-6A4D-44C4-8B4A-D3868EA3368F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6096000" y="4844247"/>
            <a:ext cx="32255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B59025-903F-4EF7-9139-9CAFD2C1729A}"/>
              </a:ext>
            </a:extLst>
          </p:cNvPr>
          <p:cNvCxnSpPr>
            <a:cxnSpLocks/>
          </p:cNvCxnSpPr>
          <p:nvPr/>
        </p:nvCxnSpPr>
        <p:spPr>
          <a:xfrm flipV="1">
            <a:off x="7899644" y="4822051"/>
            <a:ext cx="825624" cy="22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FB274-338D-8625-920B-379A92B0F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018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E83C2-D59B-4A64-93F1-7574F11F9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CHEN’S NOTATION ERD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EF9452-65C4-45F1-931E-8F1F53197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271" y="2557463"/>
            <a:ext cx="7535119" cy="372759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81129-7FB4-F628-D23D-90C43C4A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004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86"/>
          <a:stretch/>
        </p:blipFill>
        <p:spPr bwMode="auto">
          <a:xfrm>
            <a:off x="1651247" y="2955805"/>
            <a:ext cx="7385990" cy="220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Crow’s Foot Example:</a:t>
            </a:r>
            <a:br>
              <a:rPr lang="en-US" sz="4000" dirty="0"/>
            </a:br>
            <a:r>
              <a:rPr lang="en-US" sz="4000" dirty="0"/>
              <a:t>One-to-Many Relationship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5802868"/>
            <a:ext cx="556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Kroenke &amp; Auer (2013)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9D3FB-DACB-8AA5-05A2-0A1CE4F7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16" y="1653165"/>
            <a:ext cx="4398709" cy="4404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2" y="982132"/>
            <a:ext cx="9601196" cy="456143"/>
          </a:xfrm>
        </p:spPr>
        <p:txBody>
          <a:bodyPr>
            <a:normAutofit fontScale="90000"/>
          </a:bodyPr>
          <a:lstStyle/>
          <a:p>
            <a:r>
              <a:rPr lang="en-US" dirty="0"/>
              <a:t>Crow’s Foot Notation 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8201" y="5955268"/>
            <a:ext cx="23172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Kroenke &amp; Auer (2013)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58EBEF-D12E-4488-981E-10E6281C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6</a:t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963E-BF48-4DDE-9633-60E604CE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drawing ERDs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0C177-9A3C-4B84-B9CC-A1AB59636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may use the following tools </a:t>
            </a:r>
          </a:p>
          <a:p>
            <a:pPr marL="457200" indent="-457200">
              <a:buAutoNum type="arabicPeriod"/>
            </a:pPr>
            <a:r>
              <a:rPr lang="en-US" dirty="0"/>
              <a:t>Microsoft Office Word                     </a:t>
            </a:r>
          </a:p>
          <a:p>
            <a:pPr marL="457200" indent="-457200">
              <a:buAutoNum type="arabicPeriod"/>
            </a:pPr>
            <a:r>
              <a:rPr lang="en-US" dirty="0"/>
              <a:t>draw.io</a:t>
            </a:r>
          </a:p>
          <a:p>
            <a:pPr marL="457200" indent="-457200">
              <a:buAutoNum type="arabicPeriod"/>
            </a:pPr>
            <a:r>
              <a:rPr lang="en-US" dirty="0"/>
              <a:t>lucidchart.com</a:t>
            </a:r>
          </a:p>
          <a:p>
            <a:pPr marL="457200" indent="-457200">
              <a:buAutoNum type="arabicPeriod"/>
            </a:pPr>
            <a:r>
              <a:rPr lang="en-US" dirty="0"/>
              <a:t>creately.com </a:t>
            </a:r>
          </a:p>
          <a:p>
            <a:pPr marL="457200" indent="-457200">
              <a:buAutoNum type="arabicPeriod"/>
            </a:pPr>
            <a:r>
              <a:rPr lang="en-US" dirty="0"/>
              <a:t>smartdraw.com and many more</a:t>
            </a:r>
          </a:p>
          <a:p>
            <a:r>
              <a:rPr lang="en-US" dirty="0"/>
              <a:t>Standard symbols 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56FAC-2EB8-7AE6-0538-2C722311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247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D2A70-2C83-45BF-8515-C6FB35BD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AAD28-AAA1-48A5-BC91-E08117427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the end of this lesson, students should be able to</a:t>
            </a:r>
          </a:p>
          <a:p>
            <a:r>
              <a:rPr lang="en-US" dirty="0"/>
              <a:t>Translate the conceptual model into a logical model</a:t>
            </a:r>
          </a:p>
          <a:p>
            <a:r>
              <a:rPr lang="en-US" dirty="0"/>
              <a:t>Identify and describe anomalies in database designs</a:t>
            </a:r>
          </a:p>
          <a:p>
            <a:r>
              <a:rPr lang="en-US" dirty="0"/>
              <a:t>Understand the need for </a:t>
            </a:r>
            <a:r>
              <a:rPr lang="en-US" dirty="0" err="1"/>
              <a:t>normalisation</a:t>
            </a:r>
            <a:endParaRPr lang="en-US" dirty="0"/>
          </a:p>
          <a:p>
            <a:r>
              <a:rPr lang="en-US" dirty="0"/>
              <a:t>Define the normalization process up to 3NF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AA62A-C40D-C8DF-57F2-8DDBCD3B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189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1B08-F7FB-4927-8A63-47E0EC0C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database design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8EAE3-D826-43CB-B9B4-D29FEA6A3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Done after the conceptual design</a:t>
            </a:r>
          </a:p>
          <a:p>
            <a:r>
              <a:rPr lang="en-US" altLang="en-US" sz="2400" b="1" dirty="0"/>
              <a:t>Logical database design</a:t>
            </a:r>
            <a:r>
              <a:rPr lang="en-US" altLang="en-US" sz="2400" dirty="0"/>
              <a:t> is the process of transforming the conceptual data model into the logical data model. </a:t>
            </a:r>
            <a:r>
              <a:rPr lang="en-US" altLang="en-US" dirty="0"/>
              <a:t>Although there are other data models, </a:t>
            </a:r>
            <a:r>
              <a:rPr lang="en-US" altLang="en-US" b="1" dirty="0"/>
              <a:t>we emphasize the relational model for two reasons</a:t>
            </a:r>
            <a:r>
              <a:rPr lang="en-US" altLang="en-US" dirty="0"/>
              <a:t>: </a:t>
            </a:r>
          </a:p>
          <a:p>
            <a:pPr lvl="1">
              <a:buFontTx/>
              <a:buAutoNum type="arabicPeriod"/>
            </a:pPr>
            <a:r>
              <a:rPr lang="en-US" altLang="en-US" sz="2300" dirty="0"/>
              <a:t> It is most commonly used in contemporary applications</a:t>
            </a:r>
          </a:p>
          <a:p>
            <a:pPr lvl="1">
              <a:buFontTx/>
              <a:buAutoNum type="arabicPeriod"/>
            </a:pPr>
            <a:r>
              <a:rPr lang="en-US" altLang="en-US" sz="2300" dirty="0"/>
              <a:t> The principles of logical database design used for the relational model apply to other logical models as well.</a:t>
            </a:r>
            <a:endParaRPr lang="en-US" dirty="0"/>
          </a:p>
          <a:p>
            <a:r>
              <a:rPr lang="en-ZA" dirty="0"/>
              <a:t>Identify the attributes, cardinalities, determine the primary keys, foreign keys or composite keys </a:t>
            </a:r>
          </a:p>
          <a:p>
            <a:r>
              <a:rPr lang="en-US" dirty="0"/>
              <a:t>We are learning how to design relational databases, data stored in the form of relations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C645A-3290-6A0C-750B-E818BE13C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622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C6CE-AEBE-16BD-9D1C-B880946A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The Relational Model -</a:t>
            </a:r>
            <a:br>
              <a:rPr lang="en-US" altLang="en-US" dirty="0"/>
            </a:br>
            <a:r>
              <a:rPr lang="en-US" altLang="en-US" dirty="0"/>
              <a:t>	Basic Definitions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7D611-41FC-0519-070E-4FCCE29D2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The </a:t>
            </a:r>
            <a:r>
              <a:rPr lang="en-US" altLang="en-US" sz="2400" b="1" dirty="0"/>
              <a:t>relational model</a:t>
            </a:r>
            <a:r>
              <a:rPr lang="en-US" altLang="en-US" sz="2400" dirty="0"/>
              <a:t> represents data in the form of </a:t>
            </a:r>
            <a:r>
              <a:rPr lang="en-US" altLang="en-US" sz="2400" i="1" dirty="0"/>
              <a:t>tables</a:t>
            </a:r>
            <a:r>
              <a:rPr lang="en-US" altLang="en-US" sz="2400" dirty="0"/>
              <a:t>. Only a few simple concepts are needed to describe the relational model. </a:t>
            </a:r>
            <a:r>
              <a:rPr lang="en-US" altLang="en-US" sz="2400" u="sng" dirty="0"/>
              <a:t>The relational data model consists of the following three components</a:t>
            </a:r>
            <a:r>
              <a:rPr lang="en-US" altLang="en-US" sz="2400" dirty="0"/>
              <a:t>: </a:t>
            </a:r>
            <a:endParaRPr lang="de-DE" altLang="en-US" sz="2400" dirty="0"/>
          </a:p>
          <a:p>
            <a:r>
              <a:rPr lang="en-US" altLang="en-US" dirty="0"/>
              <a:t>1. </a:t>
            </a:r>
            <a:r>
              <a:rPr lang="en-US" altLang="en-US" b="1" dirty="0"/>
              <a:t>Data Structure</a:t>
            </a:r>
            <a:r>
              <a:rPr lang="en-US" altLang="en-US" dirty="0"/>
              <a:t> Data are organized in the form of tables with rows and columns.</a:t>
            </a:r>
            <a:endParaRPr lang="de-DE" altLang="en-US" dirty="0"/>
          </a:p>
          <a:p>
            <a:r>
              <a:rPr lang="en-US" altLang="en-US" dirty="0"/>
              <a:t>2. </a:t>
            </a:r>
            <a:r>
              <a:rPr lang="en-US" altLang="en-US" b="1" dirty="0"/>
              <a:t>Data Manipulation</a:t>
            </a:r>
            <a:r>
              <a:rPr lang="en-US" altLang="en-US" dirty="0"/>
              <a:t> Powerful operations (using the SQL language) are used to manipulate data stored in relations.</a:t>
            </a:r>
          </a:p>
          <a:p>
            <a:r>
              <a:rPr lang="en-US" altLang="en-US" dirty="0"/>
              <a:t>3. </a:t>
            </a:r>
            <a:r>
              <a:rPr lang="en-US" altLang="en-US" b="1" dirty="0"/>
              <a:t>Data Integrity</a:t>
            </a:r>
            <a:r>
              <a:rPr lang="en-US" altLang="en-US" dirty="0"/>
              <a:t> Facilities are included to specify business rules that maintain the integrity of data when they are manipulated.</a:t>
            </a:r>
            <a:endParaRPr lang="de-DE" alt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B5586-066B-55E0-17B4-5605D7F5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555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49FD-636B-025A-DACC-5D2591731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The Relational Model -</a:t>
            </a:r>
            <a:br>
              <a:rPr lang="en-US" altLang="en-US" dirty="0"/>
            </a:br>
            <a:r>
              <a:rPr lang="en-US" altLang="en-US" dirty="0"/>
              <a:t>	Relational Data Structure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68189-A600-421B-4F51-EF53911A5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z="2400" b="1" dirty="0"/>
              <a:t>Not all tables are relations</a:t>
            </a:r>
            <a:r>
              <a:rPr lang="en-US" altLang="en-US" sz="2400" dirty="0"/>
              <a:t>. The table must meet the following conditions to be a relation:</a:t>
            </a:r>
            <a:endParaRPr lang="de-DE" altLang="en-US" sz="2400" dirty="0"/>
          </a:p>
          <a:p>
            <a:r>
              <a:rPr lang="en-US" altLang="en-US" sz="2400" dirty="0"/>
              <a:t>1. Each relation in a database must have a unique name.</a:t>
            </a:r>
            <a:endParaRPr lang="de-DE" altLang="en-US" sz="2400" dirty="0"/>
          </a:p>
          <a:p>
            <a:r>
              <a:rPr lang="en-US" altLang="en-US" dirty="0"/>
              <a:t>2. An entry at the intersection of each row and column is atomic. There can be no multi-valued attributes in a relation.</a:t>
            </a:r>
          </a:p>
          <a:p>
            <a:r>
              <a:rPr lang="en-US" altLang="en-US" dirty="0"/>
              <a:t>3. Each row is unique; no two rows are identical.</a:t>
            </a:r>
          </a:p>
          <a:p>
            <a:r>
              <a:rPr lang="en-US" altLang="en-US" dirty="0"/>
              <a:t>4. Each column within a table has a unique name.</a:t>
            </a:r>
          </a:p>
          <a:p>
            <a:r>
              <a:rPr lang="en-US" altLang="en-US" dirty="0"/>
              <a:t>5. The sequence of columns is insignificant; the order can be changed without changing the meaning or use of the relation.</a:t>
            </a:r>
            <a:endParaRPr lang="de-DE" altLang="en-US" dirty="0"/>
          </a:p>
          <a:p>
            <a:r>
              <a:rPr lang="en-US" altLang="en-US" dirty="0"/>
              <a:t>6. The sequence of rows is insignificant; the order can be changed without changing the meaning or use of the relation.</a:t>
            </a:r>
            <a:endParaRPr lang="de-DE" altLang="en-US" dirty="0"/>
          </a:p>
          <a:p>
            <a:endParaRPr lang="de-DE" altLang="en-US" dirty="0"/>
          </a:p>
          <a:p>
            <a:endParaRPr lang="en-US" alt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54139-01F2-E25A-FB77-63BCBFFB0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410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9FF6-9E7C-0442-C45E-76E75EC3F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Integrity Constraints – Domain Constraints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01528-CF00-9358-BAE1-0FB43EDE2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en-US" sz="4000" dirty="0"/>
              <a:t>The relational data model includes several types of constraints whose purpose is to ensure accuracy and integrity of data</a:t>
            </a:r>
            <a:r>
              <a:rPr lang="en-US" altLang="en-US" sz="6000" dirty="0"/>
              <a:t>.</a:t>
            </a:r>
            <a:endParaRPr lang="de-DE" altLang="en-US" sz="6000" dirty="0"/>
          </a:p>
          <a:p>
            <a:r>
              <a:rPr lang="en-US" altLang="en-US" sz="4000" b="1" dirty="0"/>
              <a:t>Domain constraints</a:t>
            </a:r>
            <a:r>
              <a:rPr lang="en-US" altLang="en-US" sz="4000" dirty="0"/>
              <a:t> require that all values in a column must be from the same domain. A </a:t>
            </a:r>
            <a:r>
              <a:rPr lang="en-US" altLang="en-US" sz="4000" b="1" dirty="0"/>
              <a:t>domain</a:t>
            </a:r>
            <a:r>
              <a:rPr lang="en-US" altLang="en-US" sz="4000" dirty="0"/>
              <a:t> is a set of values defined by domain name, meaning, data type, length and further restrictions (if applicable).</a:t>
            </a:r>
            <a:r>
              <a:rPr lang="en-US" altLang="en-US" sz="6000" dirty="0"/>
              <a:t> </a:t>
            </a:r>
            <a:endParaRPr lang="de-DE" altLang="en-US" sz="6000" dirty="0"/>
          </a:p>
          <a:p>
            <a:r>
              <a:rPr lang="en-US" altLang="en-US" sz="4000" dirty="0"/>
              <a:t>It specifies some of the following characteristics of attributes: data type, length, format, range, allowable values, meaning, uniqueness and null support.</a:t>
            </a:r>
          </a:p>
          <a:p>
            <a:pPr lvl="1"/>
            <a:r>
              <a:rPr lang="en-US" altLang="en-US" sz="4000" dirty="0"/>
              <a:t>The use of domains offers several advantages:</a:t>
            </a:r>
          </a:p>
          <a:p>
            <a:pPr marL="457200" lvl="1" indent="0">
              <a:buNone/>
            </a:pPr>
            <a:r>
              <a:rPr lang="en-US" altLang="en-US" sz="4000" dirty="0"/>
              <a:t>      1. Domains verify that the values for an attribute are valid.</a:t>
            </a:r>
          </a:p>
          <a:p>
            <a:pPr marL="457200" lvl="1" indent="0">
              <a:buNone/>
            </a:pPr>
            <a:r>
              <a:rPr lang="en-US" altLang="en-US" sz="4000" dirty="0"/>
              <a:t>      2. Domains ensure the various data manipulation operations are logical.</a:t>
            </a:r>
          </a:p>
          <a:p>
            <a:pPr marL="457200" lvl="1" indent="0">
              <a:buNone/>
            </a:pPr>
            <a:r>
              <a:rPr lang="en-US" altLang="en-US" sz="4000" dirty="0"/>
              <a:t>      3. Domains help conserve effort in describing attribute characteristics.</a:t>
            </a:r>
            <a:endParaRPr lang="de-DE" altLang="en-US" sz="40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5CD50-02F0-D13B-726F-65B281F09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314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9DDD-FA0B-70AC-3349-5C8D4DDEB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Integrity Constraints - </a:t>
            </a:r>
            <a:br>
              <a:rPr lang="en-US" altLang="en-US" dirty="0"/>
            </a:br>
            <a:r>
              <a:rPr lang="en-US" altLang="en-US" dirty="0"/>
              <a:t>      Entity Integrity/Null Value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39B0-244A-8A6E-D7A8-D31FE5278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z="2400" dirty="0"/>
              <a:t>Every relation has a primary key, and the data values in the primary key must be valid ( every primary key attribute must be non null ; this also includes attributes in a composite primary key !). A null value is a value that does not yet exist, or unknown, or not applicable.</a:t>
            </a:r>
          </a:p>
          <a:p>
            <a:r>
              <a:rPr lang="en-US" altLang="en-US" sz="2400" dirty="0"/>
              <a:t>A NULL value is an indicator for a particular column in a row, that there is no data value for this particular field in the row (particular attribute can not be assigned a value).  </a:t>
            </a:r>
          </a:p>
          <a:p>
            <a:pPr eaLnBrk="0" hangingPunct="0"/>
            <a:r>
              <a:rPr lang="en-US" altLang="en-US" sz="2400" dirty="0"/>
              <a:t> In key columns, a NULL value in any one of them declares the whole key as NULL (if used as a key). </a:t>
            </a:r>
          </a:p>
          <a:p>
            <a:pPr eaLnBrk="0" hangingPunct="0"/>
            <a:r>
              <a:rPr lang="en-US" altLang="en-US" sz="2400" dirty="0"/>
              <a:t> No primary key value can be NULL. </a:t>
            </a:r>
          </a:p>
          <a:p>
            <a:pPr eaLnBrk="0" hangingPunct="0"/>
            <a:r>
              <a:rPr lang="en-US" altLang="en-US" sz="2400" dirty="0"/>
              <a:t> Note that there is only one NULL value for all data types</a:t>
            </a:r>
          </a:p>
          <a:p>
            <a:pPr eaLnBrk="0" hangingPunct="0"/>
            <a:endParaRPr lang="de-DE" altLang="en-US" sz="24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ADEA6-AB9E-7FA7-8548-1AD1008F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032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9366-7A5E-4987-73F2-09E45939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Integrity Constraints -  Referential Integrity/ Foreign Keys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1C8D5-9036-F993-71C5-5C0108E44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400" dirty="0"/>
              <a:t>In the relational model, associations between tables are defined through the use of foreign keys</a:t>
            </a:r>
            <a:endParaRPr lang="de-DE" altLang="en-US" sz="2400" dirty="0"/>
          </a:p>
          <a:p>
            <a:pPr eaLnBrk="0" hangingPunct="0"/>
            <a:r>
              <a:rPr lang="en-US" altLang="en-US" sz="2400" dirty="0"/>
              <a:t>DEF: A </a:t>
            </a:r>
            <a:r>
              <a:rPr lang="en-US" altLang="en-US" sz="2400" b="1" dirty="0"/>
              <a:t>foreign key</a:t>
            </a:r>
            <a:r>
              <a:rPr lang="en-US" altLang="en-US" sz="2400" dirty="0"/>
              <a:t> is a column which is used to define a relationship between two tables.  </a:t>
            </a:r>
          </a:p>
          <a:p>
            <a:pPr eaLnBrk="0" hangingPunct="0"/>
            <a:r>
              <a:rPr lang="en-US" altLang="en-US" sz="2400" dirty="0"/>
              <a:t>The foreign key is defined on columns which contain data values, which can only be duplicates (or NULL values) of those contained in the primary key of another table.  </a:t>
            </a:r>
          </a:p>
          <a:p>
            <a:pPr eaLnBrk="0" hangingPunct="0"/>
            <a:r>
              <a:rPr lang="en-US" altLang="en-US" sz="2400" dirty="0"/>
              <a:t>Therefore, these values associate one or more rows in the table with the foreign key (the “</a:t>
            </a:r>
            <a:r>
              <a:rPr lang="en-US" altLang="en-US" sz="2400" b="1" dirty="0"/>
              <a:t>child</a:t>
            </a:r>
            <a:r>
              <a:rPr lang="en-US" altLang="en-US" sz="2400" dirty="0"/>
              <a:t>” table) to a unique row in the table with the primary key (the “</a:t>
            </a:r>
            <a:r>
              <a:rPr lang="en-US" altLang="en-US" sz="2400" b="1" dirty="0"/>
              <a:t>parent</a:t>
            </a:r>
            <a:r>
              <a:rPr lang="en-US" altLang="en-US" sz="2400" dirty="0"/>
              <a:t>” table) – unless the foreign key value is NULL, indicating that there is no parent row, i.e. this is an “orphan” row.</a:t>
            </a:r>
            <a:endParaRPr lang="en-ZA" altLang="en-US" sz="24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833CD-778E-1F92-3E40-31EB44472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718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EDF10208-BB85-ED04-6049-62A5BEC4F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685800"/>
            <a:ext cx="8700911" cy="1346196"/>
          </a:xfrm>
        </p:spPr>
        <p:txBody>
          <a:bodyPr>
            <a:normAutofit/>
          </a:bodyPr>
          <a:lstStyle/>
          <a:p>
            <a:pPr algn="l"/>
            <a:r>
              <a:rPr lang="en-US" altLang="en-US" dirty="0"/>
              <a:t> Integrity Constraints - Referential Integrity/ Foreign Keys (Cont.)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F955D246-84EF-5EC7-13BE-3F81275F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AF3-622D-405D-A349-795F411457C2}" type="slidenum">
              <a:rPr lang="de-DE" altLang="en-US"/>
              <a:pPr/>
              <a:t>15</a:t>
            </a:fld>
            <a:endParaRPr lang="de-DE" altLang="en-US"/>
          </a:p>
        </p:txBody>
      </p:sp>
      <p:grpSp>
        <p:nvGrpSpPr>
          <p:cNvPr id="183299" name="Group 3">
            <a:extLst>
              <a:ext uri="{FF2B5EF4-FFF2-40B4-BE49-F238E27FC236}">
                <a16:creationId xmlns:a16="http://schemas.microsoft.com/office/drawing/2014/main" id="{32E0F8FE-1231-F52F-7B93-574C3D043897}"/>
              </a:ext>
            </a:extLst>
          </p:cNvPr>
          <p:cNvGrpSpPr>
            <a:grpSpLocks/>
          </p:cNvGrpSpPr>
          <p:nvPr/>
        </p:nvGrpSpPr>
        <p:grpSpPr bwMode="auto">
          <a:xfrm>
            <a:off x="1986844" y="2438400"/>
            <a:ext cx="5175955" cy="1066800"/>
            <a:chOff x="240" y="1008"/>
            <a:chExt cx="3312" cy="1104"/>
          </a:xfrm>
        </p:grpSpPr>
        <p:sp>
          <p:nvSpPr>
            <p:cNvPr id="183300" name="Rectangle 4">
              <a:extLst>
                <a:ext uri="{FF2B5EF4-FFF2-40B4-BE49-F238E27FC236}">
                  <a16:creationId xmlns:a16="http://schemas.microsoft.com/office/drawing/2014/main" id="{F69695AA-A715-CFD6-9103-5FFB311AF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008"/>
              <a:ext cx="807" cy="36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/>
                <a:t>registration</a:t>
              </a:r>
            </a:p>
            <a:p>
              <a:pPr algn="ctr" eaLnBrk="0" hangingPunct="0"/>
              <a:r>
                <a:rPr lang="en-US" altLang="en-US" sz="1600" b="1"/>
                <a:t>number</a:t>
              </a:r>
            </a:p>
          </p:txBody>
        </p:sp>
        <p:sp>
          <p:nvSpPr>
            <p:cNvPr id="183301" name="Rectangle 5">
              <a:extLst>
                <a:ext uri="{FF2B5EF4-FFF2-40B4-BE49-F238E27FC236}">
                  <a16:creationId xmlns:a16="http://schemas.microsoft.com/office/drawing/2014/main" id="{E7D3D4A3-4DF1-262E-6AA7-D731FDA4D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" y="1008"/>
              <a:ext cx="679" cy="36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/>
                <a:t>engine </a:t>
              </a:r>
            </a:p>
            <a:p>
              <a:pPr algn="ctr" eaLnBrk="0" hangingPunct="0"/>
              <a:r>
                <a:rPr lang="en-US" altLang="en-US" sz="1600" b="1"/>
                <a:t>number</a:t>
              </a:r>
            </a:p>
          </p:txBody>
        </p:sp>
        <p:sp>
          <p:nvSpPr>
            <p:cNvPr id="183302" name="Rectangle 6">
              <a:extLst>
                <a:ext uri="{FF2B5EF4-FFF2-40B4-BE49-F238E27FC236}">
                  <a16:creationId xmlns:a16="http://schemas.microsoft.com/office/drawing/2014/main" id="{B252AF67-4580-6369-E282-BDDA45270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1008"/>
              <a:ext cx="722" cy="36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u="sng" dirty="0"/>
                <a:t>frame</a:t>
              </a:r>
            </a:p>
            <a:p>
              <a:pPr algn="ctr" eaLnBrk="0" hangingPunct="0"/>
              <a:r>
                <a:rPr lang="en-US" altLang="en-US" sz="1600" b="1" u="sng" dirty="0"/>
                <a:t>number</a:t>
              </a:r>
              <a:endParaRPr lang="en-US" altLang="en-US" sz="1600" b="1" dirty="0"/>
            </a:p>
          </p:txBody>
        </p:sp>
        <p:sp>
          <p:nvSpPr>
            <p:cNvPr id="183303" name="Rectangle 7">
              <a:extLst>
                <a:ext uri="{FF2B5EF4-FFF2-40B4-BE49-F238E27FC236}">
                  <a16:creationId xmlns:a16="http://schemas.microsoft.com/office/drawing/2014/main" id="{B8C0718E-5BB5-BB2E-DCFD-06B4DD625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008"/>
              <a:ext cx="552" cy="36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/>
                <a:t>color</a:t>
              </a:r>
            </a:p>
          </p:txBody>
        </p:sp>
        <p:sp>
          <p:nvSpPr>
            <p:cNvPr id="183304" name="Rectangle 8">
              <a:extLst>
                <a:ext uri="{FF2B5EF4-FFF2-40B4-BE49-F238E27FC236}">
                  <a16:creationId xmlns:a16="http://schemas.microsoft.com/office/drawing/2014/main" id="{71468CE2-6BCE-6961-D9F3-469BC9FBF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" y="1008"/>
              <a:ext cx="552" cy="36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/>
                <a:t>type</a:t>
              </a:r>
            </a:p>
          </p:txBody>
        </p:sp>
        <p:sp>
          <p:nvSpPr>
            <p:cNvPr id="183305" name="Rectangle 9">
              <a:extLst>
                <a:ext uri="{FF2B5EF4-FFF2-40B4-BE49-F238E27FC236}">
                  <a16:creationId xmlns:a16="http://schemas.microsoft.com/office/drawing/2014/main" id="{C8889C40-16E2-7332-06A8-35E05F9FA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376"/>
              <a:ext cx="807" cy="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N100 G</a:t>
              </a:r>
            </a:p>
          </p:txBody>
        </p:sp>
        <p:sp>
          <p:nvSpPr>
            <p:cNvPr id="183306" name="Rectangle 10">
              <a:extLst>
                <a:ext uri="{FF2B5EF4-FFF2-40B4-BE49-F238E27FC236}">
                  <a16:creationId xmlns:a16="http://schemas.microsoft.com/office/drawing/2014/main" id="{C62E037D-E3E0-77BA-59BC-BA29A9AD1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" y="1376"/>
              <a:ext cx="679" cy="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dirty="0"/>
                <a:t>Z9999</a:t>
              </a:r>
            </a:p>
          </p:txBody>
        </p:sp>
        <p:sp>
          <p:nvSpPr>
            <p:cNvPr id="183307" name="Rectangle 11">
              <a:extLst>
                <a:ext uri="{FF2B5EF4-FFF2-40B4-BE49-F238E27FC236}">
                  <a16:creationId xmlns:a16="http://schemas.microsoft.com/office/drawing/2014/main" id="{EF9D3EC4-3494-3F25-8F14-592B8A445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1376"/>
              <a:ext cx="722" cy="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12345</a:t>
              </a:r>
            </a:p>
          </p:txBody>
        </p:sp>
        <p:sp>
          <p:nvSpPr>
            <p:cNvPr id="183308" name="Rectangle 12">
              <a:extLst>
                <a:ext uri="{FF2B5EF4-FFF2-40B4-BE49-F238E27FC236}">
                  <a16:creationId xmlns:a16="http://schemas.microsoft.com/office/drawing/2014/main" id="{B86A546E-FC5E-0243-2033-55960E34C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76"/>
              <a:ext cx="552" cy="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red</a:t>
              </a:r>
            </a:p>
          </p:txBody>
        </p:sp>
        <p:sp>
          <p:nvSpPr>
            <p:cNvPr id="183309" name="Rectangle 13">
              <a:extLst>
                <a:ext uri="{FF2B5EF4-FFF2-40B4-BE49-F238E27FC236}">
                  <a16:creationId xmlns:a16="http://schemas.microsoft.com/office/drawing/2014/main" id="{0EC0BE76-12DE-CB16-BF66-7ACBFBC54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" y="1376"/>
              <a:ext cx="552" cy="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BMW 3</a:t>
              </a:r>
            </a:p>
          </p:txBody>
        </p:sp>
        <p:sp>
          <p:nvSpPr>
            <p:cNvPr id="183310" name="Rectangle 14">
              <a:extLst>
                <a:ext uri="{FF2B5EF4-FFF2-40B4-BE49-F238E27FC236}">
                  <a16:creationId xmlns:a16="http://schemas.microsoft.com/office/drawing/2014/main" id="{80E20F47-40E4-056A-71DD-445ACA034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744"/>
              <a:ext cx="807" cy="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N 123 W</a:t>
              </a:r>
            </a:p>
          </p:txBody>
        </p:sp>
        <p:sp>
          <p:nvSpPr>
            <p:cNvPr id="183311" name="Rectangle 15">
              <a:extLst>
                <a:ext uri="{FF2B5EF4-FFF2-40B4-BE49-F238E27FC236}">
                  <a16:creationId xmlns:a16="http://schemas.microsoft.com/office/drawing/2014/main" id="{932BD26B-3881-D74A-8F19-DE6C9CC1F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" y="1744"/>
              <a:ext cx="679" cy="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dirty="0"/>
                <a:t>456 GX 22</a:t>
              </a:r>
            </a:p>
          </p:txBody>
        </p:sp>
        <p:sp>
          <p:nvSpPr>
            <p:cNvPr id="183312" name="Rectangle 16">
              <a:extLst>
                <a:ext uri="{FF2B5EF4-FFF2-40B4-BE49-F238E27FC236}">
                  <a16:creationId xmlns:a16="http://schemas.microsoft.com/office/drawing/2014/main" id="{E8FD56A2-1A1B-C926-FF59-CC0E7AA0B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1744"/>
              <a:ext cx="722" cy="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54321</a:t>
              </a:r>
            </a:p>
          </p:txBody>
        </p:sp>
        <p:sp>
          <p:nvSpPr>
            <p:cNvPr id="183313" name="Rectangle 17">
              <a:extLst>
                <a:ext uri="{FF2B5EF4-FFF2-40B4-BE49-F238E27FC236}">
                  <a16:creationId xmlns:a16="http://schemas.microsoft.com/office/drawing/2014/main" id="{4361E20D-5FF7-2FA5-B6AB-5A9361500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44"/>
              <a:ext cx="552" cy="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white</a:t>
              </a:r>
            </a:p>
          </p:txBody>
        </p:sp>
        <p:sp>
          <p:nvSpPr>
            <p:cNvPr id="183314" name="Rectangle 18">
              <a:extLst>
                <a:ext uri="{FF2B5EF4-FFF2-40B4-BE49-F238E27FC236}">
                  <a16:creationId xmlns:a16="http://schemas.microsoft.com/office/drawing/2014/main" id="{5DF344D2-35A3-AEC1-50AC-4FFFBF786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" y="1744"/>
              <a:ext cx="552" cy="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Nissan</a:t>
              </a:r>
            </a:p>
            <a:p>
              <a:pPr algn="ctr" eaLnBrk="0" hangingPunct="0"/>
              <a:r>
                <a:rPr lang="en-US" altLang="en-US" sz="1600"/>
                <a:t>Patrol</a:t>
              </a:r>
            </a:p>
          </p:txBody>
        </p:sp>
      </p:grpSp>
      <p:grpSp>
        <p:nvGrpSpPr>
          <p:cNvPr id="183315" name="Group 19">
            <a:extLst>
              <a:ext uri="{FF2B5EF4-FFF2-40B4-BE49-F238E27FC236}">
                <a16:creationId xmlns:a16="http://schemas.microsoft.com/office/drawing/2014/main" id="{4C4953EA-053B-443F-3AE5-30407A137C8E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4114800"/>
            <a:ext cx="3962400" cy="1524000"/>
            <a:chOff x="2640" y="2544"/>
            <a:chExt cx="2928" cy="1440"/>
          </a:xfrm>
        </p:grpSpPr>
        <p:sp>
          <p:nvSpPr>
            <p:cNvPr id="183316" name="Rectangle 20">
              <a:extLst>
                <a:ext uri="{FF2B5EF4-FFF2-40B4-BE49-F238E27FC236}">
                  <a16:creationId xmlns:a16="http://schemas.microsoft.com/office/drawing/2014/main" id="{34D18D7A-5ABB-28BE-2030-6C655BF5E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544"/>
              <a:ext cx="912" cy="4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u="sng"/>
                <a:t>name</a:t>
              </a:r>
              <a:endParaRPr lang="en-US" altLang="en-US" sz="1600" b="1"/>
            </a:p>
          </p:txBody>
        </p:sp>
        <p:sp>
          <p:nvSpPr>
            <p:cNvPr id="183317" name="Rectangle 21">
              <a:extLst>
                <a:ext uri="{FF2B5EF4-FFF2-40B4-BE49-F238E27FC236}">
                  <a16:creationId xmlns:a16="http://schemas.microsoft.com/office/drawing/2014/main" id="{B40C0CD8-7B59-9E2E-A9B2-3E6A1CFFD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544"/>
              <a:ext cx="768" cy="4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/>
                <a:t>imported</a:t>
              </a:r>
            </a:p>
            <a:p>
              <a:pPr algn="ctr" eaLnBrk="0" hangingPunct="0"/>
              <a:r>
                <a:rPr lang="en-US" altLang="en-US" sz="1600" b="1"/>
                <a:t>from</a:t>
              </a:r>
            </a:p>
          </p:txBody>
        </p:sp>
        <p:sp>
          <p:nvSpPr>
            <p:cNvPr id="183318" name="Rectangle 22">
              <a:extLst>
                <a:ext uri="{FF2B5EF4-FFF2-40B4-BE49-F238E27FC236}">
                  <a16:creationId xmlns:a16="http://schemas.microsoft.com/office/drawing/2014/main" id="{6EA23C6E-A9F7-9569-CF65-C88B19CC5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544"/>
              <a:ext cx="816" cy="4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/>
                <a:t>price</a:t>
              </a:r>
            </a:p>
          </p:txBody>
        </p:sp>
        <p:sp>
          <p:nvSpPr>
            <p:cNvPr id="183319" name="Rectangle 23">
              <a:extLst>
                <a:ext uri="{FF2B5EF4-FFF2-40B4-BE49-F238E27FC236}">
                  <a16:creationId xmlns:a16="http://schemas.microsoft.com/office/drawing/2014/main" id="{142F6895-F9DF-36D0-D14C-8CEF7F997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024"/>
              <a:ext cx="912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BMW 3</a:t>
              </a:r>
            </a:p>
          </p:txBody>
        </p:sp>
        <p:sp>
          <p:nvSpPr>
            <p:cNvPr id="183320" name="Rectangle 24">
              <a:extLst>
                <a:ext uri="{FF2B5EF4-FFF2-40B4-BE49-F238E27FC236}">
                  <a16:creationId xmlns:a16="http://schemas.microsoft.com/office/drawing/2014/main" id="{4DE48925-0ECA-6F69-18F2-3451D844B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76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Germany</a:t>
              </a:r>
            </a:p>
          </p:txBody>
        </p:sp>
        <p:sp>
          <p:nvSpPr>
            <p:cNvPr id="183321" name="Rectangle 25">
              <a:extLst>
                <a:ext uri="{FF2B5EF4-FFF2-40B4-BE49-F238E27FC236}">
                  <a16:creationId xmlns:a16="http://schemas.microsoft.com/office/drawing/2014/main" id="{76983E2B-9EE7-AE43-DFF8-BD1E85D47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024"/>
              <a:ext cx="816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140000</a:t>
              </a:r>
            </a:p>
          </p:txBody>
        </p:sp>
        <p:sp>
          <p:nvSpPr>
            <p:cNvPr id="183322" name="Rectangle 26">
              <a:extLst>
                <a:ext uri="{FF2B5EF4-FFF2-40B4-BE49-F238E27FC236}">
                  <a16:creationId xmlns:a16="http://schemas.microsoft.com/office/drawing/2014/main" id="{C5F40657-E2B1-57AE-EB8E-94FB32304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504"/>
              <a:ext cx="912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Nissan </a:t>
              </a:r>
            </a:p>
            <a:p>
              <a:pPr algn="ctr" eaLnBrk="0" hangingPunct="0"/>
              <a:r>
                <a:rPr lang="en-US" altLang="en-US" sz="1600"/>
                <a:t>Patrol</a:t>
              </a:r>
            </a:p>
          </p:txBody>
        </p:sp>
        <p:sp>
          <p:nvSpPr>
            <p:cNvPr id="183323" name="Rectangle 27">
              <a:extLst>
                <a:ext uri="{FF2B5EF4-FFF2-40B4-BE49-F238E27FC236}">
                  <a16:creationId xmlns:a16="http://schemas.microsoft.com/office/drawing/2014/main" id="{BBC5EEFE-2EDB-FBDD-A35B-C4BD57BD3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504"/>
              <a:ext cx="76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Japan</a:t>
              </a:r>
            </a:p>
          </p:txBody>
        </p:sp>
        <p:sp>
          <p:nvSpPr>
            <p:cNvPr id="183324" name="Rectangle 28">
              <a:extLst>
                <a:ext uri="{FF2B5EF4-FFF2-40B4-BE49-F238E27FC236}">
                  <a16:creationId xmlns:a16="http://schemas.microsoft.com/office/drawing/2014/main" id="{B1148D95-F74C-F6B5-0CCC-C69EDF169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504"/>
              <a:ext cx="816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160000</a:t>
              </a:r>
            </a:p>
          </p:txBody>
        </p:sp>
        <p:sp>
          <p:nvSpPr>
            <p:cNvPr id="183325" name="Rectangle 29">
              <a:extLst>
                <a:ext uri="{FF2B5EF4-FFF2-40B4-BE49-F238E27FC236}">
                  <a16:creationId xmlns:a16="http://schemas.microsoft.com/office/drawing/2014/main" id="{04E48DFC-AD83-DCBC-672D-D8F51A78D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2544"/>
              <a:ext cx="432" cy="4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/>
                <a:t>4x4</a:t>
              </a:r>
            </a:p>
          </p:txBody>
        </p:sp>
        <p:sp>
          <p:nvSpPr>
            <p:cNvPr id="183326" name="Rectangle 30">
              <a:extLst>
                <a:ext uri="{FF2B5EF4-FFF2-40B4-BE49-F238E27FC236}">
                  <a16:creationId xmlns:a16="http://schemas.microsoft.com/office/drawing/2014/main" id="{DF5FBA07-BCBE-1060-061B-8A097F03D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3024"/>
              <a:ext cx="432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n</a:t>
              </a:r>
            </a:p>
          </p:txBody>
        </p:sp>
        <p:sp>
          <p:nvSpPr>
            <p:cNvPr id="183327" name="Rectangle 31">
              <a:extLst>
                <a:ext uri="{FF2B5EF4-FFF2-40B4-BE49-F238E27FC236}">
                  <a16:creationId xmlns:a16="http://schemas.microsoft.com/office/drawing/2014/main" id="{A860D586-D1E1-F22A-F828-163B4E1F0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3504"/>
              <a:ext cx="432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y</a:t>
              </a:r>
            </a:p>
          </p:txBody>
        </p:sp>
      </p:grpSp>
      <p:grpSp>
        <p:nvGrpSpPr>
          <p:cNvPr id="183328" name="Group 32">
            <a:extLst>
              <a:ext uri="{FF2B5EF4-FFF2-40B4-BE49-F238E27FC236}">
                <a16:creationId xmlns:a16="http://schemas.microsoft.com/office/drawing/2014/main" id="{6111049D-7DCD-2DB9-5286-D0DE8A150B31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2667000"/>
            <a:ext cx="2895600" cy="2667000"/>
            <a:chOff x="1968" y="1584"/>
            <a:chExt cx="1824" cy="1680"/>
          </a:xfrm>
        </p:grpSpPr>
        <p:grpSp>
          <p:nvGrpSpPr>
            <p:cNvPr id="183329" name="Group 33">
              <a:extLst>
                <a:ext uri="{FF2B5EF4-FFF2-40B4-BE49-F238E27FC236}">
                  <a16:creationId xmlns:a16="http://schemas.microsoft.com/office/drawing/2014/main" id="{E4583A87-1930-0790-85B4-74308C613F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584"/>
              <a:ext cx="1296" cy="1344"/>
              <a:chOff x="2496" y="1584"/>
              <a:chExt cx="1296" cy="1344"/>
            </a:xfrm>
          </p:grpSpPr>
          <p:sp>
            <p:nvSpPr>
              <p:cNvPr id="183330" name="Line 34">
                <a:extLst>
                  <a:ext uri="{FF2B5EF4-FFF2-40B4-BE49-F238E27FC236}">
                    <a16:creationId xmlns:a16="http://schemas.microsoft.com/office/drawing/2014/main" id="{9FD35969-10B9-ABD9-DB82-A610F35487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584"/>
                <a:ext cx="38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3331" name="Line 35">
                <a:extLst>
                  <a:ext uri="{FF2B5EF4-FFF2-40B4-BE49-F238E27FC236}">
                    <a16:creationId xmlns:a16="http://schemas.microsoft.com/office/drawing/2014/main" id="{76EBDF87-8B6C-C129-7258-93EB4025F1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1584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3332" name="Line 36">
                <a:extLst>
                  <a:ext uri="{FF2B5EF4-FFF2-40B4-BE49-F238E27FC236}">
                    <a16:creationId xmlns:a16="http://schemas.microsoft.com/office/drawing/2014/main" id="{954BA937-2DFE-2D0F-EF9A-591DA2CDE0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96" y="2160"/>
                <a:ext cx="1296" cy="76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3333" name="Line 37">
                <a:extLst>
                  <a:ext uri="{FF2B5EF4-FFF2-40B4-BE49-F238E27FC236}">
                    <a16:creationId xmlns:a16="http://schemas.microsoft.com/office/drawing/2014/main" id="{8161E529-AB40-4A97-3B9D-C2E9E3F200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2928"/>
                <a:ext cx="38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83334" name="Group 38">
              <a:extLst>
                <a:ext uri="{FF2B5EF4-FFF2-40B4-BE49-F238E27FC236}">
                  <a16:creationId xmlns:a16="http://schemas.microsoft.com/office/drawing/2014/main" id="{81C39FDC-50D2-22F5-622D-1852392B3A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968"/>
              <a:ext cx="1200" cy="1296"/>
              <a:chOff x="1968" y="1968"/>
              <a:chExt cx="1200" cy="1296"/>
            </a:xfrm>
          </p:grpSpPr>
          <p:sp>
            <p:nvSpPr>
              <p:cNvPr id="183335" name="Line 39">
                <a:extLst>
                  <a:ext uri="{FF2B5EF4-FFF2-40B4-BE49-F238E27FC236}">
                    <a16:creationId xmlns:a16="http://schemas.microsoft.com/office/drawing/2014/main" id="{E8B34D8D-C934-FB99-63B5-76A2B7A54E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68" y="1968"/>
                <a:ext cx="1200" cy="76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3336" name="Line 40">
                <a:extLst>
                  <a:ext uri="{FF2B5EF4-FFF2-40B4-BE49-F238E27FC236}">
                    <a16:creationId xmlns:a16="http://schemas.microsoft.com/office/drawing/2014/main" id="{F3D9D220-62D3-0553-B32C-03C37F5887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736"/>
                <a:ext cx="0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3337" name="Line 41">
                <a:extLst>
                  <a:ext uri="{FF2B5EF4-FFF2-40B4-BE49-F238E27FC236}">
                    <a16:creationId xmlns:a16="http://schemas.microsoft.com/office/drawing/2014/main" id="{116E86B2-F8A9-B238-E8C0-517D7C4CD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3264"/>
                <a:ext cx="91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83338" name="Group 42">
            <a:extLst>
              <a:ext uri="{FF2B5EF4-FFF2-40B4-BE49-F238E27FC236}">
                <a16:creationId xmlns:a16="http://schemas.microsoft.com/office/drawing/2014/main" id="{5EEA7765-8928-7812-624F-29BEA27C5020}"/>
              </a:ext>
            </a:extLst>
          </p:cNvPr>
          <p:cNvGrpSpPr>
            <a:grpSpLocks/>
          </p:cNvGrpSpPr>
          <p:nvPr/>
        </p:nvGrpSpPr>
        <p:grpSpPr bwMode="auto">
          <a:xfrm>
            <a:off x="1986844" y="3530600"/>
            <a:ext cx="6385632" cy="558800"/>
            <a:chOff x="240" y="2112"/>
            <a:chExt cx="4074" cy="368"/>
          </a:xfrm>
        </p:grpSpPr>
        <p:grpSp>
          <p:nvGrpSpPr>
            <p:cNvPr id="183339" name="Group 43">
              <a:extLst>
                <a:ext uri="{FF2B5EF4-FFF2-40B4-BE49-F238E27FC236}">
                  <a16:creationId xmlns:a16="http://schemas.microsoft.com/office/drawing/2014/main" id="{353F937B-17D0-8DAC-4812-76954472AC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112"/>
              <a:ext cx="3312" cy="368"/>
              <a:chOff x="336" y="2272"/>
              <a:chExt cx="3312" cy="368"/>
            </a:xfrm>
          </p:grpSpPr>
          <p:sp>
            <p:nvSpPr>
              <p:cNvPr id="183340" name="Rectangle 44">
                <a:extLst>
                  <a:ext uri="{FF2B5EF4-FFF2-40B4-BE49-F238E27FC236}">
                    <a16:creationId xmlns:a16="http://schemas.microsoft.com/office/drawing/2014/main" id="{794B3A62-E8E6-9D7F-5FA4-761C53E7A0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2272"/>
                <a:ext cx="807" cy="36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/>
                  <a:t>N 444 W</a:t>
                </a:r>
              </a:p>
            </p:txBody>
          </p:sp>
          <p:sp>
            <p:nvSpPr>
              <p:cNvPr id="183341" name="Rectangle 45">
                <a:extLst>
                  <a:ext uri="{FF2B5EF4-FFF2-40B4-BE49-F238E27FC236}">
                    <a16:creationId xmlns:a16="http://schemas.microsoft.com/office/drawing/2014/main" id="{09765138-CF1A-9AF7-7E08-F6EBC8FE3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5" y="2272"/>
                <a:ext cx="679" cy="36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/>
                  <a:t>100000</a:t>
                </a:r>
              </a:p>
            </p:txBody>
          </p:sp>
          <p:sp>
            <p:nvSpPr>
              <p:cNvPr id="183342" name="Rectangle 46">
                <a:extLst>
                  <a:ext uri="{FF2B5EF4-FFF2-40B4-BE49-F238E27FC236}">
                    <a16:creationId xmlns:a16="http://schemas.microsoft.com/office/drawing/2014/main" id="{26440953-865A-A530-4AA6-9EB9C7722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" y="2272"/>
                <a:ext cx="722" cy="36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/>
                  <a:t>77777</a:t>
                </a:r>
              </a:p>
            </p:txBody>
          </p:sp>
          <p:sp>
            <p:nvSpPr>
              <p:cNvPr id="183343" name="Rectangle 47">
                <a:extLst>
                  <a:ext uri="{FF2B5EF4-FFF2-40B4-BE49-F238E27FC236}">
                    <a16:creationId xmlns:a16="http://schemas.microsoft.com/office/drawing/2014/main" id="{B2195D0B-2D77-658D-51C4-A80D84827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272"/>
                <a:ext cx="552" cy="36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/>
                  <a:t>white</a:t>
                </a:r>
              </a:p>
            </p:txBody>
          </p:sp>
          <p:sp>
            <p:nvSpPr>
              <p:cNvPr id="183344" name="Rectangle 48">
                <a:extLst>
                  <a:ext uri="{FF2B5EF4-FFF2-40B4-BE49-F238E27FC236}">
                    <a16:creationId xmlns:a16="http://schemas.microsoft.com/office/drawing/2014/main" id="{5DD79950-6FB2-211D-601D-0009B98E9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6" y="2272"/>
                <a:ext cx="552" cy="36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/>
                  <a:t>null</a:t>
                </a:r>
              </a:p>
            </p:txBody>
          </p:sp>
        </p:grpSp>
        <p:sp>
          <p:nvSpPr>
            <p:cNvPr id="183345" name="Text Box 49">
              <a:extLst>
                <a:ext uri="{FF2B5EF4-FFF2-40B4-BE49-F238E27FC236}">
                  <a16:creationId xmlns:a16="http://schemas.microsoft.com/office/drawing/2014/main" id="{DF6148B4-4EC6-E952-3E05-E06F40202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160"/>
              <a:ext cx="7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400" b="1"/>
                <a:t>orphan</a:t>
              </a:r>
              <a:endParaRPr lang="en-US" altLang="en-US" sz="2400"/>
            </a:p>
          </p:txBody>
        </p:sp>
      </p:grpSp>
      <p:sp>
        <p:nvSpPr>
          <p:cNvPr id="183346" name="Text Box 50">
            <a:extLst>
              <a:ext uri="{FF2B5EF4-FFF2-40B4-BE49-F238E27FC236}">
                <a16:creationId xmlns:a16="http://schemas.microsoft.com/office/drawing/2014/main" id="{DD88A357-9A12-FFB2-3F71-0A058F155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526" y="1793876"/>
            <a:ext cx="8354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b="1"/>
              <a:t>child</a:t>
            </a:r>
          </a:p>
        </p:txBody>
      </p:sp>
      <p:sp>
        <p:nvSpPr>
          <p:cNvPr id="183347" name="Text Box 51">
            <a:extLst>
              <a:ext uri="{FF2B5EF4-FFF2-40B4-BE49-F238E27FC236}">
                <a16:creationId xmlns:a16="http://schemas.microsoft.com/office/drawing/2014/main" id="{C228D333-409B-E81A-ED75-CB1163C3E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1" y="5715000"/>
            <a:ext cx="1063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b="1"/>
              <a:t>Parent</a:t>
            </a:r>
            <a:endParaRPr lang="en-US" altLang="en-US" sz="24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3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3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3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3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3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3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3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3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51B8C-FEB6-4144-BF72-AB642F7BB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ERD to relations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96A24-0BD6-4E60-A066-BF7049335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every entity type create a relation </a:t>
            </a:r>
          </a:p>
          <a:p>
            <a:r>
              <a:rPr lang="en-US" dirty="0"/>
              <a:t> Every atomic attribute of the entity type becomes a relation attribute</a:t>
            </a:r>
          </a:p>
          <a:p>
            <a:r>
              <a:rPr lang="en-US" dirty="0"/>
              <a:t> Derived attributes are not included (but remember their derivation rules) </a:t>
            </a:r>
          </a:p>
          <a:p>
            <a:r>
              <a:rPr lang="en-US" dirty="0"/>
              <a:t> Attributes of the entity key make up the primary key of the relation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8E889-5250-627C-9588-65F035CA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351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C6C8C-E976-43AA-BB2E-8EE9FF82B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ERD to relations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8272A5-D90B-41D9-89C2-EFC390675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7575" y="2591521"/>
            <a:ext cx="3629023" cy="29241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DE16B7-16A0-4948-B952-080A84A90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2476500"/>
            <a:ext cx="3276600" cy="28575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D7FB66-38F0-4498-906B-89399320CF1E}"/>
              </a:ext>
            </a:extLst>
          </p:cNvPr>
          <p:cNvCxnSpPr>
            <a:cxnSpLocks/>
          </p:cNvCxnSpPr>
          <p:nvPr/>
        </p:nvCxnSpPr>
        <p:spPr>
          <a:xfrm>
            <a:off x="3448050" y="4103616"/>
            <a:ext cx="1123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08AE8C1A-3030-473C-864D-B4176598CFA8}"/>
              </a:ext>
            </a:extLst>
          </p:cNvPr>
          <p:cNvSpPr/>
          <p:nvPr/>
        </p:nvSpPr>
        <p:spPr>
          <a:xfrm>
            <a:off x="4572000" y="3264451"/>
            <a:ext cx="1752599" cy="167832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enrols</a:t>
            </a:r>
            <a:endParaRPr lang="en-GB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9940BD-0D9D-4098-9B3C-3C807B014F74}"/>
              </a:ext>
            </a:extLst>
          </p:cNvPr>
          <p:cNvCxnSpPr>
            <a:cxnSpLocks/>
          </p:cNvCxnSpPr>
          <p:nvPr/>
        </p:nvCxnSpPr>
        <p:spPr>
          <a:xfrm flipV="1">
            <a:off x="6324599" y="4103615"/>
            <a:ext cx="217121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6C1DD-2A9A-CDB9-9C45-F9C17317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842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9023-E416-444E-8051-274555D3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ERD to relations</a:t>
            </a: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FCEC269-8563-49F6-AA19-B65D15C6F6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909225"/>
              </p:ext>
            </p:extLst>
          </p:nvPr>
        </p:nvGraphicFramePr>
        <p:xfrm>
          <a:off x="1156506" y="3473275"/>
          <a:ext cx="625129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765">
                  <a:extLst>
                    <a:ext uri="{9D8B030D-6E8A-4147-A177-3AD203B41FA5}">
                      <a16:colId xmlns:a16="http://schemas.microsoft.com/office/drawing/2014/main" val="3104666977"/>
                    </a:ext>
                  </a:extLst>
                </a:gridCol>
                <a:gridCol w="2083765">
                  <a:extLst>
                    <a:ext uri="{9D8B030D-6E8A-4147-A177-3AD203B41FA5}">
                      <a16:colId xmlns:a16="http://schemas.microsoft.com/office/drawing/2014/main" val="4245254552"/>
                    </a:ext>
                  </a:extLst>
                </a:gridCol>
                <a:gridCol w="2083765">
                  <a:extLst>
                    <a:ext uri="{9D8B030D-6E8A-4147-A177-3AD203B41FA5}">
                      <a16:colId xmlns:a16="http://schemas.microsoft.com/office/drawing/2014/main" val="1365270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GivenName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LastName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 err="1"/>
                        <a:t>studno</a:t>
                      </a:r>
                      <a:endParaRPr lang="en-GB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86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335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281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B784491-DA5F-4551-BBB2-DA792748A7F7}"/>
              </a:ext>
            </a:extLst>
          </p:cNvPr>
          <p:cNvSpPr txBox="1"/>
          <p:nvPr/>
        </p:nvSpPr>
        <p:spPr>
          <a:xfrm>
            <a:off x="1156506" y="3015393"/>
            <a:ext cx="230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333AA6-8F62-459D-8C68-44B88CE5389D}"/>
              </a:ext>
            </a:extLst>
          </p:cNvPr>
          <p:cNvSpPr txBox="1"/>
          <p:nvPr/>
        </p:nvSpPr>
        <p:spPr>
          <a:xfrm>
            <a:off x="1295402" y="4815068"/>
            <a:ext cx="167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Course </a:t>
            </a:r>
            <a:endParaRPr lang="en-GB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FCD4C84-CCB2-4977-8813-D155EC80A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314750"/>
              </p:ext>
            </p:extLst>
          </p:nvPr>
        </p:nvGraphicFramePr>
        <p:xfrm>
          <a:off x="1156506" y="5209585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815904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399353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682131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49588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u="sng" dirty="0" err="1"/>
                        <a:t>Courseno</a:t>
                      </a:r>
                      <a:endParaRPr lang="en-GB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numofStudents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Euip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346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74028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63FACF-F1AC-5A47-12EC-8CFE0B97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26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050">
            <a:extLst>
              <a:ext uri="{FF2B5EF4-FFF2-40B4-BE49-F238E27FC236}">
                <a16:creationId xmlns:a16="http://schemas.microsoft.com/office/drawing/2014/main" id="{ACE99BF0-8850-6DA6-23CF-C043C1EE3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99732" y="745066"/>
            <a:ext cx="9223024" cy="1546578"/>
          </a:xfrm>
        </p:spPr>
        <p:txBody>
          <a:bodyPr>
            <a:normAutofit/>
          </a:bodyPr>
          <a:lstStyle/>
          <a:p>
            <a:pPr algn="l"/>
            <a:r>
              <a:rPr lang="en-US" altLang="en-US" dirty="0"/>
              <a:t> Integrity Constraints –</a:t>
            </a:r>
            <a:br>
              <a:rPr lang="en-US" altLang="en-US" dirty="0"/>
            </a:br>
            <a:r>
              <a:rPr lang="en-US" altLang="en-US" dirty="0"/>
              <a:t> Well-structured relations</a:t>
            </a:r>
            <a:endParaRPr lang="de-DE" altLang="en-US" dirty="0"/>
          </a:p>
        </p:txBody>
      </p:sp>
      <p:sp>
        <p:nvSpPr>
          <p:cNvPr id="443395" name="Rectangle 2051">
            <a:extLst>
              <a:ext uri="{FF2B5EF4-FFF2-40B4-BE49-F238E27FC236}">
                <a16:creationId xmlns:a16="http://schemas.microsoft.com/office/drawing/2014/main" id="{09C7FBEE-0ED6-83BF-3C84-5E0106641E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95402" y="2641600"/>
            <a:ext cx="9699976" cy="3759199"/>
          </a:xfrm>
        </p:spPr>
        <p:txBody>
          <a:bodyPr>
            <a:normAutofit/>
          </a:bodyPr>
          <a:lstStyle/>
          <a:p>
            <a:pPr marL="0" indent="0" eaLnBrk="0" hangingPunct="0">
              <a:lnSpc>
                <a:spcPct val="90000"/>
              </a:lnSpc>
              <a:buNone/>
            </a:pPr>
            <a:r>
              <a:rPr lang="en-US" altLang="en-US" sz="2800" dirty="0"/>
              <a:t>A </a:t>
            </a:r>
            <a:r>
              <a:rPr lang="en-US" altLang="en-US" sz="2800" b="1" dirty="0"/>
              <a:t>well-structured relation</a:t>
            </a:r>
            <a:r>
              <a:rPr lang="en-US" altLang="en-US" sz="2800" dirty="0"/>
              <a:t> contains a minimum amount of redundancy and allows users to insert, modify and delete the rows in a table without errors or inconsistencies.</a:t>
            </a:r>
          </a:p>
          <a:p>
            <a:pPr eaLnBrk="0" hangingPunct="0">
              <a:lnSpc>
                <a:spcPct val="90000"/>
              </a:lnSpc>
            </a:pPr>
            <a:r>
              <a:rPr lang="en-US" altLang="en-US" sz="2800" dirty="0"/>
              <a:t>Redundancies in tables are called </a:t>
            </a:r>
            <a:r>
              <a:rPr lang="en-US" altLang="en-US" sz="2800" b="1" dirty="0"/>
              <a:t>anomalies</a:t>
            </a:r>
            <a:r>
              <a:rPr lang="en-US" altLang="en-US" sz="2800" dirty="0"/>
              <a:t>. There are three types of anomalies:</a:t>
            </a:r>
          </a:p>
          <a:p>
            <a:pPr lvl="1" eaLnBrk="0" hangingPunct="0">
              <a:lnSpc>
                <a:spcPct val="90000"/>
              </a:lnSpc>
            </a:pPr>
            <a:r>
              <a:rPr lang="en-US" altLang="en-US" sz="2400" dirty="0"/>
              <a:t>Insertion anomaly</a:t>
            </a:r>
          </a:p>
          <a:p>
            <a:pPr lvl="1" eaLnBrk="0" hangingPunct="0">
              <a:lnSpc>
                <a:spcPct val="90000"/>
              </a:lnSpc>
            </a:pPr>
            <a:r>
              <a:rPr lang="en-US" altLang="en-US" sz="2400" dirty="0"/>
              <a:t>Deletion anomaly</a:t>
            </a:r>
          </a:p>
          <a:p>
            <a:pPr lvl="1" eaLnBrk="0" hangingPunct="0">
              <a:lnSpc>
                <a:spcPct val="90000"/>
              </a:lnSpc>
            </a:pPr>
            <a:r>
              <a:rPr lang="en-US" altLang="en-US" sz="2400" dirty="0"/>
              <a:t>Modification anomaly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F5AFBC3-6E27-88C2-BC0C-5BFA97FE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85E7F-8AE4-4D29-8812-8748B0F81C42}" type="slidenum">
              <a:rPr lang="de-DE" altLang="en-US"/>
              <a:pPr/>
              <a:t>19</a:t>
            </a:fld>
            <a:endParaRPr lang="de-DE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1026">
            <a:extLst>
              <a:ext uri="{FF2B5EF4-FFF2-40B4-BE49-F238E27FC236}">
                <a16:creationId xmlns:a16="http://schemas.microsoft.com/office/drawing/2014/main" id="{A3C04696-B257-D439-69CC-2324BAC73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798756" cy="2181578"/>
          </a:xfrm>
        </p:spPr>
        <p:txBody>
          <a:bodyPr>
            <a:normAutofit/>
          </a:bodyPr>
          <a:lstStyle/>
          <a:p>
            <a:pPr marL="979488" indent="-869950" algn="l"/>
            <a:r>
              <a:rPr lang="en-US" altLang="en-US" dirty="0"/>
              <a:t>Transforming E-R Diagrams into Relations</a:t>
            </a:r>
            <a:endParaRPr lang="de-DE" altLang="en-US" dirty="0"/>
          </a:p>
        </p:txBody>
      </p:sp>
      <p:sp>
        <p:nvSpPr>
          <p:cNvPr id="202755" name="Rectangle 1027">
            <a:extLst>
              <a:ext uri="{FF2B5EF4-FFF2-40B4-BE49-F238E27FC236}">
                <a16:creationId xmlns:a16="http://schemas.microsoft.com/office/drawing/2014/main" id="{79761C2B-4DB5-35DF-B655-FF56B6B3868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81200" y="2895600"/>
            <a:ext cx="3810000" cy="3234267"/>
          </a:xfrm>
        </p:spPr>
        <p:txBody>
          <a:bodyPr>
            <a:normAutofit lnSpcReduction="10000"/>
          </a:bodyPr>
          <a:lstStyle/>
          <a:p>
            <a:pPr eaLnBrk="0" hangingPunct="0"/>
            <a:r>
              <a:rPr lang="en-ZA" altLang="en-US" dirty="0"/>
              <a:t>Map Regular Entities</a:t>
            </a:r>
          </a:p>
          <a:p>
            <a:pPr lvl="1" eaLnBrk="0" hangingPunct="0"/>
            <a:r>
              <a:rPr lang="en-ZA" altLang="en-US" sz="2400" dirty="0"/>
              <a:t>Composite Attributes</a:t>
            </a:r>
          </a:p>
          <a:p>
            <a:pPr lvl="1" eaLnBrk="0" hangingPunct="0"/>
            <a:r>
              <a:rPr lang="en-ZA" altLang="en-US" sz="2400" dirty="0"/>
              <a:t>Multivalued Attributes</a:t>
            </a:r>
          </a:p>
          <a:p>
            <a:pPr eaLnBrk="0" hangingPunct="0"/>
            <a:r>
              <a:rPr lang="en-ZA" altLang="en-US" dirty="0"/>
              <a:t>Map Weak entities</a:t>
            </a:r>
          </a:p>
          <a:p>
            <a:pPr eaLnBrk="0" hangingPunct="0"/>
            <a:r>
              <a:rPr lang="en-ZA" altLang="en-US" dirty="0"/>
              <a:t>Map Binary relationships</a:t>
            </a:r>
          </a:p>
          <a:p>
            <a:pPr lvl="1" eaLnBrk="0" hangingPunct="0"/>
            <a:r>
              <a:rPr lang="en-ZA" altLang="en-US" sz="2400" dirty="0"/>
              <a:t>Binary one to many</a:t>
            </a:r>
          </a:p>
          <a:p>
            <a:pPr lvl="1" eaLnBrk="0" hangingPunct="0"/>
            <a:r>
              <a:rPr lang="en-ZA" altLang="en-US" sz="2400" dirty="0"/>
              <a:t>Binary many to many</a:t>
            </a:r>
          </a:p>
          <a:p>
            <a:pPr lvl="1" eaLnBrk="0" hangingPunct="0"/>
            <a:r>
              <a:rPr lang="en-ZA" altLang="en-US" sz="2400" dirty="0"/>
              <a:t>Binary one to one</a:t>
            </a:r>
          </a:p>
        </p:txBody>
      </p:sp>
      <p:sp>
        <p:nvSpPr>
          <p:cNvPr id="202756" name="Rectangle 1028">
            <a:extLst>
              <a:ext uri="{FF2B5EF4-FFF2-40B4-BE49-F238E27FC236}">
                <a16:creationId xmlns:a16="http://schemas.microsoft.com/office/drawing/2014/main" id="{0C1E1E2B-40D3-3D3E-AA45-13E77164F7E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324600" y="2971800"/>
            <a:ext cx="3810000" cy="3657600"/>
          </a:xfrm>
        </p:spPr>
        <p:txBody>
          <a:bodyPr>
            <a:normAutofit lnSpcReduction="10000"/>
          </a:bodyPr>
          <a:lstStyle/>
          <a:p>
            <a:pPr eaLnBrk="0" hangingPunct="0"/>
            <a:r>
              <a:rPr lang="en-ZA" altLang="en-US" dirty="0"/>
              <a:t>Map unary relationships</a:t>
            </a:r>
          </a:p>
          <a:p>
            <a:pPr lvl="1" eaLnBrk="0" hangingPunct="0"/>
            <a:r>
              <a:rPr lang="en-ZA" altLang="en-US" sz="2400" dirty="0"/>
              <a:t>Unary one to many</a:t>
            </a:r>
          </a:p>
          <a:p>
            <a:pPr lvl="1" eaLnBrk="0" hangingPunct="0"/>
            <a:r>
              <a:rPr lang="en-ZA" altLang="en-US" sz="2400" dirty="0"/>
              <a:t>Unary many to many</a:t>
            </a:r>
          </a:p>
          <a:p>
            <a:r>
              <a:rPr lang="en-ZA" altLang="en-US" dirty="0"/>
              <a:t>Map Ternary Relationships</a:t>
            </a:r>
            <a:endParaRPr lang="en-ZA" altLang="en-US" sz="2800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239FAFC-D69A-A907-443E-557E1668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B90EA-46E9-4F57-B72B-688CBFB17797}" type="slidenum">
              <a:rPr lang="de-DE" altLang="en-US"/>
              <a:pPr/>
              <a:t>20</a:t>
            </a:fld>
            <a:endParaRPr lang="de-DE" altLang="en-US"/>
          </a:p>
        </p:txBody>
      </p:sp>
      <p:sp>
        <p:nvSpPr>
          <p:cNvPr id="202757" name="Rectangle 1029">
            <a:extLst>
              <a:ext uri="{FF2B5EF4-FFF2-40B4-BE49-F238E27FC236}">
                <a16:creationId xmlns:a16="http://schemas.microsoft.com/office/drawing/2014/main" id="{1A8E2352-CB33-D72E-5956-1B60B0035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600200"/>
            <a:ext cx="7924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ZA" altLang="en-US"/>
              <a:t>In considering this issue, we need to consider how to deal with the following scenarios: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2BC0A41B-908D-BACD-20AE-A94343B2F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623886"/>
            <a:ext cx="8839198" cy="66040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dirty="0"/>
              <a:t>Mapping Regular Entities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C0F822EA-A999-CF20-6069-4508ECDF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183DB-4E43-4542-A15A-1C5780186B7F}" type="slidenum">
              <a:rPr lang="de-DE" altLang="en-US"/>
              <a:pPr/>
              <a:t>21</a:t>
            </a:fld>
            <a:endParaRPr lang="de-DE" altLang="en-US"/>
          </a:p>
        </p:txBody>
      </p:sp>
      <p:sp>
        <p:nvSpPr>
          <p:cNvPr id="204803" name="Text Box 3">
            <a:extLst>
              <a:ext uri="{FF2B5EF4-FFF2-40B4-BE49-F238E27FC236}">
                <a16:creationId xmlns:a16="http://schemas.microsoft.com/office/drawing/2014/main" id="{0772D606-75DF-3A83-2961-D074351F8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4" y="1462088"/>
            <a:ext cx="72913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altLang="en-US" sz="2800" dirty="0"/>
              <a:t> Each regular entity is transformed into a relation</a:t>
            </a:r>
            <a:endParaRPr lang="de-DE" altLang="en-US" sz="2800" dirty="0"/>
          </a:p>
        </p:txBody>
      </p:sp>
      <p:sp>
        <p:nvSpPr>
          <p:cNvPr id="204804" name="Text Box 4">
            <a:extLst>
              <a:ext uri="{FF2B5EF4-FFF2-40B4-BE49-F238E27FC236}">
                <a16:creationId xmlns:a16="http://schemas.microsoft.com/office/drawing/2014/main" id="{9F228443-998B-FFBE-B1D1-AA7BCFE48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406651"/>
            <a:ext cx="845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en-US" sz="2800" dirty="0"/>
              <a:t> The name of the relation is the same as the entity type</a:t>
            </a:r>
            <a:endParaRPr lang="de-DE" altLang="en-US" sz="2800" dirty="0"/>
          </a:p>
        </p:txBody>
      </p:sp>
      <p:sp>
        <p:nvSpPr>
          <p:cNvPr id="204805" name="Text Box 5">
            <a:extLst>
              <a:ext uri="{FF2B5EF4-FFF2-40B4-BE49-F238E27FC236}">
                <a16:creationId xmlns:a16="http://schemas.microsoft.com/office/drawing/2014/main" id="{2107FA9A-9036-C7DD-8EFC-2BC47F47F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549650"/>
            <a:ext cx="8534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en-US" sz="2800"/>
              <a:t> Each simple attribute of the entity type becomes an attribute of the relation</a:t>
            </a:r>
            <a:endParaRPr lang="de-DE" altLang="en-US" sz="2800"/>
          </a:p>
        </p:txBody>
      </p:sp>
      <p:sp>
        <p:nvSpPr>
          <p:cNvPr id="204806" name="Text Box 6">
            <a:extLst>
              <a:ext uri="{FF2B5EF4-FFF2-40B4-BE49-F238E27FC236}">
                <a16:creationId xmlns:a16="http://schemas.microsoft.com/office/drawing/2014/main" id="{FD0233AD-9626-429F-FAF7-1A72C2688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845050"/>
            <a:ext cx="8534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en-US" sz="2800"/>
              <a:t> The identifier of the entity type becomes the primary key of the corresponding relation</a:t>
            </a:r>
            <a:endParaRPr lang="de-DE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AE32BED5-A9FE-7496-E515-769B8490F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76200"/>
            <a:ext cx="9144000" cy="1143000"/>
          </a:xfrm>
        </p:spPr>
        <p:txBody>
          <a:bodyPr/>
          <a:lstStyle/>
          <a:p>
            <a:pPr algn="l"/>
            <a:r>
              <a:rPr lang="en-US" altLang="en-US" dirty="0"/>
              <a:t>Mapping Multivalued Attributes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5C560CEA-0740-C050-C335-2C3F1813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C9BE-7B1C-43F4-AC22-946CD7026866}" type="slidenum">
              <a:rPr lang="de-DE" altLang="en-US"/>
              <a:pPr/>
              <a:t>22</a:t>
            </a:fld>
            <a:endParaRPr lang="de-DE" altLang="en-US"/>
          </a:p>
        </p:txBody>
      </p:sp>
      <p:sp>
        <p:nvSpPr>
          <p:cNvPr id="206851" name="Text Box 3">
            <a:extLst>
              <a:ext uri="{FF2B5EF4-FFF2-40B4-BE49-F238E27FC236}">
                <a16:creationId xmlns:a16="http://schemas.microsoft.com/office/drawing/2014/main" id="{1D4CACB8-7D16-B880-0387-C6350F2D4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1614488"/>
            <a:ext cx="4745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altLang="en-US" sz="2400"/>
              <a:t> </a:t>
            </a:r>
            <a:r>
              <a:rPr lang="en-US" altLang="en-US" sz="2800"/>
              <a:t>Two relations must be created:</a:t>
            </a:r>
            <a:endParaRPr lang="de-DE" altLang="en-US" sz="2800"/>
          </a:p>
        </p:txBody>
      </p:sp>
      <p:sp>
        <p:nvSpPr>
          <p:cNvPr id="206852" name="Text Box 4">
            <a:extLst>
              <a:ext uri="{FF2B5EF4-FFF2-40B4-BE49-F238E27FC236}">
                <a16:creationId xmlns:a16="http://schemas.microsoft.com/office/drawing/2014/main" id="{88C6219A-A3DD-00B0-EE56-9172D52CB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590801"/>
            <a:ext cx="8229600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buFontTx/>
              <a:buChar char="•"/>
            </a:pPr>
            <a:r>
              <a:rPr lang="en-US" altLang="en-US" sz="2400" dirty="0"/>
              <a:t> </a:t>
            </a:r>
            <a:r>
              <a:rPr lang="en-US" altLang="en-US" sz="2800" dirty="0"/>
              <a:t>A first relation contains all of the attributes of the entity type, except the multivalued attribute.</a:t>
            </a:r>
          </a:p>
          <a:p>
            <a:pPr lvl="1"/>
            <a:endParaRPr lang="en-US" altLang="en-US" sz="2800" dirty="0"/>
          </a:p>
          <a:p>
            <a:pPr lvl="1">
              <a:buFontTx/>
              <a:buChar char="•"/>
            </a:pPr>
            <a:r>
              <a:rPr lang="en-US" altLang="en-US" sz="2800" dirty="0"/>
              <a:t> A second relation contains two attributes that form the primary key. The first attribute contains the primary key of the first relation and becomes a foreign key referring to this primary key. The second is the multivalued attribute.</a:t>
            </a:r>
            <a:endParaRPr lang="de-DE" alt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3948AA56-754B-1160-B736-777676D91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36724" y="558800"/>
            <a:ext cx="8931275" cy="660400"/>
          </a:xfrm>
        </p:spPr>
        <p:txBody>
          <a:bodyPr>
            <a:normAutofit fontScale="90000"/>
          </a:bodyPr>
          <a:lstStyle/>
          <a:p>
            <a:pPr marL="857250" indent="-857250" algn="l"/>
            <a:r>
              <a:rPr lang="en-US" altLang="en-US" dirty="0"/>
              <a:t>Mapping Multivalued Attributes 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6B5445E3-8FC6-B68F-9089-D4EED9E87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1DE0-11FF-4529-9E75-754DA4839B7F}" type="slidenum">
              <a:rPr lang="de-DE" altLang="en-US"/>
              <a:pPr/>
              <a:t>23</a:t>
            </a:fld>
            <a:endParaRPr lang="de-DE" altLang="en-US"/>
          </a:p>
        </p:txBody>
      </p:sp>
      <p:sp>
        <p:nvSpPr>
          <p:cNvPr id="207875" name="Text Box 3">
            <a:extLst>
              <a:ext uri="{FF2B5EF4-FFF2-40B4-BE49-F238E27FC236}">
                <a16:creationId xmlns:a16="http://schemas.microsoft.com/office/drawing/2014/main" id="{7F229255-C770-C2B3-A29F-FDED1A67A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1485901"/>
            <a:ext cx="1403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EXAMPLE:</a:t>
            </a:r>
            <a:endParaRPr lang="de-DE" altLang="en-US" b="1"/>
          </a:p>
        </p:txBody>
      </p:sp>
      <p:grpSp>
        <p:nvGrpSpPr>
          <p:cNvPr id="207912" name="Group 40">
            <a:extLst>
              <a:ext uri="{FF2B5EF4-FFF2-40B4-BE49-F238E27FC236}">
                <a16:creationId xmlns:a16="http://schemas.microsoft.com/office/drawing/2014/main" id="{8B404F97-0E5A-5D2F-612D-19A78013EE7E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905000"/>
            <a:ext cx="6477000" cy="1828800"/>
            <a:chOff x="480" y="1200"/>
            <a:chExt cx="4080" cy="1152"/>
          </a:xfrm>
        </p:grpSpPr>
        <p:sp>
          <p:nvSpPr>
            <p:cNvPr id="207878" name="Rectangle 6">
              <a:extLst>
                <a:ext uri="{FF2B5EF4-FFF2-40B4-BE49-F238E27FC236}">
                  <a16:creationId xmlns:a16="http://schemas.microsoft.com/office/drawing/2014/main" id="{DC03EA15-E336-8E4A-9DFF-32A38A384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7" y="2041"/>
              <a:ext cx="120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EMPLOYEE</a:t>
              </a:r>
              <a:endParaRPr lang="de-DE" altLang="en-US" b="1"/>
            </a:p>
          </p:txBody>
        </p:sp>
        <p:sp>
          <p:nvSpPr>
            <p:cNvPr id="207879" name="Oval 7">
              <a:extLst>
                <a:ext uri="{FF2B5EF4-FFF2-40B4-BE49-F238E27FC236}">
                  <a16:creationId xmlns:a16="http://schemas.microsoft.com/office/drawing/2014/main" id="{8670D096-07C7-E0F0-F3F8-EE75E0DDD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440"/>
              <a:ext cx="86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name</a:t>
              </a:r>
              <a:endParaRPr lang="de-DE" altLang="en-US" b="1"/>
            </a:p>
          </p:txBody>
        </p:sp>
        <p:sp>
          <p:nvSpPr>
            <p:cNvPr id="207880" name="Oval 8">
              <a:extLst>
                <a:ext uri="{FF2B5EF4-FFF2-40B4-BE49-F238E27FC236}">
                  <a16:creationId xmlns:a16="http://schemas.microsoft.com/office/drawing/2014/main" id="{770E8DDE-1906-2EE7-69DA-32A21095C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016"/>
              <a:ext cx="1056" cy="336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skill</a:t>
              </a:r>
              <a:endParaRPr lang="de-DE" altLang="en-US" b="1"/>
            </a:p>
          </p:txBody>
        </p:sp>
        <p:cxnSp>
          <p:nvCxnSpPr>
            <p:cNvPr id="207884" name="AutoShape 12">
              <a:extLst>
                <a:ext uri="{FF2B5EF4-FFF2-40B4-BE49-F238E27FC236}">
                  <a16:creationId xmlns:a16="http://schemas.microsoft.com/office/drawing/2014/main" id="{E67FEBFA-031B-2178-7094-E9B7AE988B3F}"/>
                </a:ext>
              </a:extLst>
            </p:cNvPr>
            <p:cNvCxnSpPr>
              <a:cxnSpLocks noChangeShapeType="1"/>
              <a:stCxn id="207878" idx="3"/>
              <a:endCxn id="207880" idx="2"/>
            </p:cNvCxnSpPr>
            <p:nvPr/>
          </p:nvCxnSpPr>
          <p:spPr bwMode="auto">
            <a:xfrm flipV="1">
              <a:off x="3117" y="2184"/>
              <a:ext cx="375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7885" name="AutoShape 13">
              <a:extLst>
                <a:ext uri="{FF2B5EF4-FFF2-40B4-BE49-F238E27FC236}">
                  <a16:creationId xmlns:a16="http://schemas.microsoft.com/office/drawing/2014/main" id="{B0032DD0-04A5-F087-0FF3-30E91A72AA7F}"/>
                </a:ext>
              </a:extLst>
            </p:cNvPr>
            <p:cNvCxnSpPr>
              <a:cxnSpLocks noChangeShapeType="1"/>
              <a:stCxn id="207878" idx="0"/>
              <a:endCxn id="207879" idx="4"/>
            </p:cNvCxnSpPr>
            <p:nvPr/>
          </p:nvCxnSpPr>
          <p:spPr bwMode="auto">
            <a:xfrm flipV="1">
              <a:off x="2517" y="1728"/>
              <a:ext cx="555" cy="3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7889" name="Oval 17">
              <a:extLst>
                <a:ext uri="{FF2B5EF4-FFF2-40B4-BE49-F238E27FC236}">
                  <a16:creationId xmlns:a16="http://schemas.microsoft.com/office/drawing/2014/main" id="{7FD48433-4888-8DD3-0AA7-8FCED2CBF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440"/>
              <a:ext cx="86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id</a:t>
              </a:r>
              <a:endParaRPr lang="de-DE" altLang="en-US" b="1" u="sng"/>
            </a:p>
          </p:txBody>
        </p:sp>
        <p:cxnSp>
          <p:nvCxnSpPr>
            <p:cNvPr id="207890" name="AutoShape 18">
              <a:extLst>
                <a:ext uri="{FF2B5EF4-FFF2-40B4-BE49-F238E27FC236}">
                  <a16:creationId xmlns:a16="http://schemas.microsoft.com/office/drawing/2014/main" id="{70C2B09C-02CC-16FD-E19B-65077E6258CC}"/>
                </a:ext>
              </a:extLst>
            </p:cNvPr>
            <p:cNvCxnSpPr>
              <a:cxnSpLocks noChangeShapeType="1"/>
              <a:stCxn id="207878" idx="0"/>
              <a:endCxn id="207889" idx="4"/>
            </p:cNvCxnSpPr>
            <p:nvPr/>
          </p:nvCxnSpPr>
          <p:spPr bwMode="auto">
            <a:xfrm flipH="1" flipV="1">
              <a:off x="2064" y="1728"/>
              <a:ext cx="453" cy="3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7891" name="Text Box 19">
              <a:extLst>
                <a:ext uri="{FF2B5EF4-FFF2-40B4-BE49-F238E27FC236}">
                  <a16:creationId xmlns:a16="http://schemas.microsoft.com/office/drawing/2014/main" id="{70A4DE87-B706-7C64-B812-3AA47793FE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200"/>
              <a:ext cx="95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E-R Diagram</a:t>
              </a:r>
              <a:endParaRPr lang="de-DE" altLang="en-US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207899" name="Text Box 27">
            <a:extLst>
              <a:ext uri="{FF2B5EF4-FFF2-40B4-BE49-F238E27FC236}">
                <a16:creationId xmlns:a16="http://schemas.microsoft.com/office/drawing/2014/main" id="{91000B77-B585-7490-D155-83D7C97BC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114801"/>
            <a:ext cx="195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 (Tables)</a:t>
            </a:r>
            <a:endParaRPr lang="de-DE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07908" name="Group 36">
            <a:extLst>
              <a:ext uri="{FF2B5EF4-FFF2-40B4-BE49-F238E27FC236}">
                <a16:creationId xmlns:a16="http://schemas.microsoft.com/office/drawing/2014/main" id="{7E2A7CCA-85F1-7125-4FB7-B449A793066D}"/>
              </a:ext>
            </a:extLst>
          </p:cNvPr>
          <p:cNvGrpSpPr>
            <a:grpSpLocks/>
          </p:cNvGrpSpPr>
          <p:nvPr/>
        </p:nvGrpSpPr>
        <p:grpSpPr bwMode="auto">
          <a:xfrm>
            <a:off x="6248401" y="4814888"/>
            <a:ext cx="3140075" cy="876300"/>
            <a:chOff x="326" y="3240"/>
            <a:chExt cx="1978" cy="552"/>
          </a:xfrm>
        </p:grpSpPr>
        <p:sp>
          <p:nvSpPr>
            <p:cNvPr id="207901" name="Rectangle 29">
              <a:extLst>
                <a:ext uri="{FF2B5EF4-FFF2-40B4-BE49-F238E27FC236}">
                  <a16:creationId xmlns:a16="http://schemas.microsoft.com/office/drawing/2014/main" id="{ECB7D9F9-67ED-2668-9897-E49502D14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456"/>
              <a:ext cx="96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id</a:t>
              </a:r>
              <a:endParaRPr lang="de-DE" altLang="en-US" b="1" u="sng"/>
            </a:p>
          </p:txBody>
        </p:sp>
        <p:sp>
          <p:nvSpPr>
            <p:cNvPr id="207902" name="Rectangle 30">
              <a:extLst>
                <a:ext uri="{FF2B5EF4-FFF2-40B4-BE49-F238E27FC236}">
                  <a16:creationId xmlns:a16="http://schemas.microsoft.com/office/drawing/2014/main" id="{544DA588-917E-2B85-58C1-5DF14A547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456"/>
              <a:ext cx="96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skill</a:t>
              </a:r>
              <a:endParaRPr lang="de-DE" altLang="en-US" b="1" u="sng"/>
            </a:p>
          </p:txBody>
        </p:sp>
        <p:sp>
          <p:nvSpPr>
            <p:cNvPr id="207906" name="Text Box 34">
              <a:extLst>
                <a:ext uri="{FF2B5EF4-FFF2-40B4-BE49-F238E27FC236}">
                  <a16:creationId xmlns:a16="http://schemas.microsoft.com/office/drawing/2014/main" id="{7605C14C-E7B1-3C57-B816-DB44936AA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" y="3240"/>
              <a:ext cx="14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EMPLOYEE_SKILL</a:t>
              </a:r>
              <a:endParaRPr lang="de-DE" altLang="en-US" b="1"/>
            </a:p>
          </p:txBody>
        </p:sp>
      </p:grpSp>
      <p:grpSp>
        <p:nvGrpSpPr>
          <p:cNvPr id="207909" name="Group 37">
            <a:extLst>
              <a:ext uri="{FF2B5EF4-FFF2-40B4-BE49-F238E27FC236}">
                <a16:creationId xmlns:a16="http://schemas.microsoft.com/office/drawing/2014/main" id="{71F658CB-54E9-29F8-A818-B807AA249D0E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800601"/>
            <a:ext cx="3124200" cy="900113"/>
            <a:chOff x="336" y="2496"/>
            <a:chExt cx="1968" cy="567"/>
          </a:xfrm>
        </p:grpSpPr>
        <p:sp>
          <p:nvSpPr>
            <p:cNvPr id="207894" name="Rectangle 22">
              <a:extLst>
                <a:ext uri="{FF2B5EF4-FFF2-40B4-BE49-F238E27FC236}">
                  <a16:creationId xmlns:a16="http://schemas.microsoft.com/office/drawing/2014/main" id="{DEFDF906-31A9-B2DE-19CA-3FF599FEE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727"/>
              <a:ext cx="96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id</a:t>
              </a:r>
              <a:endParaRPr lang="de-DE" altLang="en-US" b="1" u="sng"/>
            </a:p>
          </p:txBody>
        </p:sp>
        <p:sp>
          <p:nvSpPr>
            <p:cNvPr id="207895" name="Rectangle 23">
              <a:extLst>
                <a:ext uri="{FF2B5EF4-FFF2-40B4-BE49-F238E27FC236}">
                  <a16:creationId xmlns:a16="http://schemas.microsoft.com/office/drawing/2014/main" id="{84C1234E-7CA2-435D-A8A1-1B16A2036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727"/>
              <a:ext cx="96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name</a:t>
              </a:r>
              <a:endParaRPr lang="de-DE" altLang="en-US" b="1"/>
            </a:p>
          </p:txBody>
        </p:sp>
        <p:sp>
          <p:nvSpPr>
            <p:cNvPr id="207907" name="Text Box 35">
              <a:extLst>
                <a:ext uri="{FF2B5EF4-FFF2-40B4-BE49-F238E27FC236}">
                  <a16:creationId xmlns:a16="http://schemas.microsoft.com/office/drawing/2014/main" id="{D80084C6-27E2-C2C0-B9BE-4138538BF9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496"/>
              <a:ext cx="9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EMPLOYEE</a:t>
              </a:r>
              <a:endParaRPr lang="de-DE" altLang="en-US" b="1"/>
            </a:p>
          </p:txBody>
        </p:sp>
      </p:grpSp>
      <p:grpSp>
        <p:nvGrpSpPr>
          <p:cNvPr id="207913" name="Group 41">
            <a:extLst>
              <a:ext uri="{FF2B5EF4-FFF2-40B4-BE49-F238E27FC236}">
                <a16:creationId xmlns:a16="http://schemas.microsoft.com/office/drawing/2014/main" id="{E2157EB2-463D-9303-F0F4-9E14FDD1C594}"/>
              </a:ext>
            </a:extLst>
          </p:cNvPr>
          <p:cNvGrpSpPr>
            <a:grpSpLocks/>
          </p:cNvGrpSpPr>
          <p:nvPr/>
        </p:nvGrpSpPr>
        <p:grpSpPr bwMode="auto">
          <a:xfrm>
            <a:off x="2971801" y="5691189"/>
            <a:ext cx="4130675" cy="885825"/>
            <a:chOff x="912" y="3585"/>
            <a:chExt cx="2602" cy="558"/>
          </a:xfrm>
        </p:grpSpPr>
        <p:cxnSp>
          <p:nvCxnSpPr>
            <p:cNvPr id="207910" name="AutoShape 38">
              <a:extLst>
                <a:ext uri="{FF2B5EF4-FFF2-40B4-BE49-F238E27FC236}">
                  <a16:creationId xmlns:a16="http://schemas.microsoft.com/office/drawing/2014/main" id="{346888A8-7E35-087E-9DBD-429B0293DF45}"/>
                </a:ext>
              </a:extLst>
            </p:cNvPr>
            <p:cNvCxnSpPr>
              <a:cxnSpLocks noChangeShapeType="1"/>
              <a:stCxn id="207901" idx="2"/>
              <a:endCxn id="207894" idx="2"/>
            </p:cNvCxnSpPr>
            <p:nvPr/>
          </p:nvCxnSpPr>
          <p:spPr bwMode="auto">
            <a:xfrm rot="5400000">
              <a:off x="2210" y="2287"/>
              <a:ext cx="6" cy="2602"/>
            </a:xfrm>
            <a:prstGeom prst="bentConnector3">
              <a:avLst>
                <a:gd name="adj1" fmla="val 5483329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7911" name="Text Box 39">
              <a:extLst>
                <a:ext uri="{FF2B5EF4-FFF2-40B4-BE49-F238E27FC236}">
                  <a16:creationId xmlns:a16="http://schemas.microsoft.com/office/drawing/2014/main" id="{31DAF0B0-E693-FFF7-3236-2BE97A32A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8" y="3912"/>
              <a:ext cx="14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foreign key reference</a:t>
              </a:r>
              <a:endParaRPr lang="de-DE" altLang="en-US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06773D4A-77EB-204B-1A7A-EB156463A3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338666"/>
            <a:ext cx="7772400" cy="946150"/>
          </a:xfrm>
        </p:spPr>
        <p:txBody>
          <a:bodyPr>
            <a:normAutofit/>
          </a:bodyPr>
          <a:lstStyle/>
          <a:p>
            <a:pPr algn="l"/>
            <a:r>
              <a:rPr lang="en-US" altLang="en-US" dirty="0"/>
              <a:t>Mapping Weak Entities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5BB207FE-FAFF-4358-AD1A-31A0500E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31734-DED6-4E52-AC12-8FC7FD30F725}" type="slidenum">
              <a:rPr lang="de-DE" altLang="en-US"/>
              <a:pPr/>
              <a:t>24</a:t>
            </a:fld>
            <a:endParaRPr lang="de-DE" altLang="en-US"/>
          </a:p>
        </p:txBody>
      </p:sp>
      <p:sp>
        <p:nvSpPr>
          <p:cNvPr id="208899" name="Text Box 3">
            <a:extLst>
              <a:ext uri="{FF2B5EF4-FFF2-40B4-BE49-F238E27FC236}">
                <a16:creationId xmlns:a16="http://schemas.microsoft.com/office/drawing/2014/main" id="{C7CE60C9-090D-6098-D1FD-178BAE687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217614"/>
            <a:ext cx="1040835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altLang="en-US" sz="2800" dirty="0"/>
              <a:t> For each weak entity type, create a new relation an include all of the simple attributes (or simple components of composite attributes).</a:t>
            </a:r>
            <a:endParaRPr lang="de-DE" altLang="en-US" sz="2800" dirty="0"/>
          </a:p>
        </p:txBody>
      </p:sp>
      <p:sp>
        <p:nvSpPr>
          <p:cNvPr id="208900" name="Text Box 4">
            <a:extLst>
              <a:ext uri="{FF2B5EF4-FFF2-40B4-BE49-F238E27FC236}">
                <a16:creationId xmlns:a16="http://schemas.microsoft.com/office/drawing/2014/main" id="{4DA12715-721C-5910-64B9-58660B05E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377" y="2757488"/>
            <a:ext cx="1091635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altLang="en-US" sz="2400" dirty="0"/>
              <a:t> </a:t>
            </a:r>
            <a:r>
              <a:rPr lang="en-US" altLang="en-US" sz="2800" dirty="0"/>
              <a:t>Include the primary key of the owner relationship.</a:t>
            </a:r>
            <a:endParaRPr lang="de-DE" altLang="en-US" sz="2800" dirty="0"/>
          </a:p>
        </p:txBody>
      </p:sp>
      <p:sp>
        <p:nvSpPr>
          <p:cNvPr id="208901" name="Text Box 5">
            <a:extLst>
              <a:ext uri="{FF2B5EF4-FFF2-40B4-BE49-F238E27FC236}">
                <a16:creationId xmlns:a16="http://schemas.microsoft.com/office/drawing/2014/main" id="{D010BEB8-2FA8-F281-015D-527B4D024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579814"/>
            <a:ext cx="105664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altLang="en-US" sz="2400" dirty="0"/>
              <a:t> </a:t>
            </a:r>
            <a:r>
              <a:rPr lang="en-US" altLang="en-US" sz="2800" dirty="0"/>
              <a:t>The primary key of the new relation is a combination of the copied primary key of the owner relation and partial identifier of the weak entity type.</a:t>
            </a:r>
            <a:endParaRPr lang="de-DE" altLang="en-US" sz="2800" dirty="0"/>
          </a:p>
        </p:txBody>
      </p:sp>
      <p:sp>
        <p:nvSpPr>
          <p:cNvPr id="208902" name="Text Box 6">
            <a:extLst>
              <a:ext uri="{FF2B5EF4-FFF2-40B4-BE49-F238E27FC236}">
                <a16:creationId xmlns:a16="http://schemas.microsoft.com/office/drawing/2014/main" id="{9BBE0AE6-EE26-FCC1-20FA-F7ACB93D6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756" y="5302250"/>
            <a:ext cx="11096976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altLang="en-US" sz="2400" dirty="0"/>
              <a:t> </a:t>
            </a:r>
            <a:r>
              <a:rPr lang="en-US" altLang="en-US" sz="2800" dirty="0"/>
              <a:t>The copied primary key of the new relation is a foreign key referencing to the owner relation.</a:t>
            </a:r>
            <a:endParaRPr lang="de-DE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628EE18C-B7FD-9AD5-EE5F-2B91CB14BF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457198"/>
            <a:ext cx="7772400" cy="533401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en-US" dirty="0"/>
            </a:br>
            <a:r>
              <a:rPr lang="en-US" altLang="en-US" dirty="0"/>
              <a:t>Mapping Weak Entities 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AEB81FC2-E6DC-163E-F03E-9B0153B1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2539-2E2F-48D8-B479-61760189CD34}" type="slidenum">
              <a:rPr lang="de-DE" altLang="en-US"/>
              <a:pPr/>
              <a:t>25</a:t>
            </a:fld>
            <a:endParaRPr lang="de-DE" altLang="en-US"/>
          </a:p>
        </p:txBody>
      </p:sp>
      <p:sp>
        <p:nvSpPr>
          <p:cNvPr id="209923" name="Text Box 3">
            <a:extLst>
              <a:ext uri="{FF2B5EF4-FFF2-40B4-BE49-F238E27FC236}">
                <a16:creationId xmlns:a16="http://schemas.microsoft.com/office/drawing/2014/main" id="{D3CA367A-3514-C6A0-6441-4CAD9C143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359" y="1064856"/>
            <a:ext cx="134337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 altLang="en-US" b="1" dirty="0"/>
          </a:p>
          <a:p>
            <a:endParaRPr lang="en-US" altLang="en-US" b="1" dirty="0"/>
          </a:p>
          <a:p>
            <a:r>
              <a:rPr lang="en-US" altLang="en-US" b="1" dirty="0"/>
              <a:t>EXAMPLE</a:t>
            </a:r>
            <a:endParaRPr lang="de-DE" altLang="en-US" b="1" dirty="0"/>
          </a:p>
        </p:txBody>
      </p:sp>
      <p:grpSp>
        <p:nvGrpSpPr>
          <p:cNvPr id="209967" name="Group 47">
            <a:extLst>
              <a:ext uri="{FF2B5EF4-FFF2-40B4-BE49-F238E27FC236}">
                <a16:creationId xmlns:a16="http://schemas.microsoft.com/office/drawing/2014/main" id="{16B742CA-D6C3-443B-6309-8D990FE7C54F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133600"/>
            <a:ext cx="3200400" cy="914400"/>
            <a:chOff x="384" y="1344"/>
            <a:chExt cx="2016" cy="576"/>
          </a:xfrm>
        </p:grpSpPr>
        <p:sp>
          <p:nvSpPr>
            <p:cNvPr id="209925" name="Rectangle 5">
              <a:extLst>
                <a:ext uri="{FF2B5EF4-FFF2-40B4-BE49-F238E27FC236}">
                  <a16:creationId xmlns:a16="http://schemas.microsoft.com/office/drawing/2014/main" id="{316B571E-7AD0-E3DA-096A-FCEF7598E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88"/>
              <a:ext cx="120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EMPLOYEE</a:t>
              </a:r>
              <a:endParaRPr lang="de-DE" altLang="en-US" b="1"/>
            </a:p>
          </p:txBody>
        </p:sp>
        <p:sp>
          <p:nvSpPr>
            <p:cNvPr id="209926" name="Oval 6">
              <a:extLst>
                <a:ext uri="{FF2B5EF4-FFF2-40B4-BE49-F238E27FC236}">
                  <a16:creationId xmlns:a16="http://schemas.microsoft.com/office/drawing/2014/main" id="{978AD532-DC9D-F48C-E17D-C9706146C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344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name</a:t>
              </a:r>
              <a:endParaRPr lang="de-DE" altLang="en-US" b="1"/>
            </a:p>
          </p:txBody>
        </p:sp>
        <p:cxnSp>
          <p:nvCxnSpPr>
            <p:cNvPr id="209929" name="AutoShape 9">
              <a:extLst>
                <a:ext uri="{FF2B5EF4-FFF2-40B4-BE49-F238E27FC236}">
                  <a16:creationId xmlns:a16="http://schemas.microsoft.com/office/drawing/2014/main" id="{6A4B8FAF-27BD-13C7-5210-9195A773EE93}"/>
                </a:ext>
              </a:extLst>
            </p:cNvPr>
            <p:cNvCxnSpPr>
              <a:cxnSpLocks noChangeShapeType="1"/>
              <a:stCxn id="209925" idx="1"/>
              <a:endCxn id="209926" idx="5"/>
            </p:cNvCxnSpPr>
            <p:nvPr/>
          </p:nvCxnSpPr>
          <p:spPr bwMode="auto">
            <a:xfrm flipH="1" flipV="1">
              <a:off x="835" y="1549"/>
              <a:ext cx="365" cy="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9930" name="Oval 10">
              <a:extLst>
                <a:ext uri="{FF2B5EF4-FFF2-40B4-BE49-F238E27FC236}">
                  <a16:creationId xmlns:a16="http://schemas.microsoft.com/office/drawing/2014/main" id="{E77534C8-1A74-C14A-5BD9-1310132BC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80"/>
              <a:ext cx="48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id</a:t>
              </a:r>
              <a:endParaRPr lang="de-DE" altLang="en-US" b="1" u="sng"/>
            </a:p>
          </p:txBody>
        </p:sp>
        <p:cxnSp>
          <p:nvCxnSpPr>
            <p:cNvPr id="209931" name="AutoShape 11">
              <a:extLst>
                <a:ext uri="{FF2B5EF4-FFF2-40B4-BE49-F238E27FC236}">
                  <a16:creationId xmlns:a16="http://schemas.microsoft.com/office/drawing/2014/main" id="{3EFF8C2E-95B9-0C4C-1A34-CCF28F9000C4}"/>
                </a:ext>
              </a:extLst>
            </p:cNvPr>
            <p:cNvCxnSpPr>
              <a:cxnSpLocks noChangeShapeType="1"/>
              <a:stCxn id="209925" idx="1"/>
              <a:endCxn id="209930" idx="7"/>
            </p:cNvCxnSpPr>
            <p:nvPr/>
          </p:nvCxnSpPr>
          <p:spPr bwMode="auto">
            <a:xfrm flipH="1">
              <a:off x="794" y="1632"/>
              <a:ext cx="406" cy="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9932" name="Text Box 12">
            <a:extLst>
              <a:ext uri="{FF2B5EF4-FFF2-40B4-BE49-F238E27FC236}">
                <a16:creationId xmlns:a16="http://schemas.microsoft.com/office/drawing/2014/main" id="{723905D0-FC35-91A0-7983-BD3BE09C8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066800"/>
            <a:ext cx="15198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E-R Diagram</a:t>
            </a:r>
            <a:endParaRPr lang="de-DE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9933" name="Text Box 13">
            <a:extLst>
              <a:ext uri="{FF2B5EF4-FFF2-40B4-BE49-F238E27FC236}">
                <a16:creationId xmlns:a16="http://schemas.microsoft.com/office/drawing/2014/main" id="{D74A36D2-1EBD-ADB0-9F15-6B14AB078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200" y="3595688"/>
            <a:ext cx="1955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Relations (Tables)</a:t>
            </a:r>
            <a:endParaRPr lang="de-DE" altLang="en-US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09938" name="Group 18">
            <a:extLst>
              <a:ext uri="{FF2B5EF4-FFF2-40B4-BE49-F238E27FC236}">
                <a16:creationId xmlns:a16="http://schemas.microsoft.com/office/drawing/2014/main" id="{526947DF-3A4A-0F7C-3C2E-792437729076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800601"/>
            <a:ext cx="3124200" cy="900113"/>
            <a:chOff x="336" y="2496"/>
            <a:chExt cx="1968" cy="567"/>
          </a:xfrm>
        </p:grpSpPr>
        <p:sp>
          <p:nvSpPr>
            <p:cNvPr id="209939" name="Rectangle 19">
              <a:extLst>
                <a:ext uri="{FF2B5EF4-FFF2-40B4-BE49-F238E27FC236}">
                  <a16:creationId xmlns:a16="http://schemas.microsoft.com/office/drawing/2014/main" id="{86F95183-0975-50E4-9763-9BBD325CF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727"/>
              <a:ext cx="96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id</a:t>
              </a:r>
              <a:endParaRPr lang="de-DE" altLang="en-US" b="1" u="sng"/>
            </a:p>
          </p:txBody>
        </p:sp>
        <p:sp>
          <p:nvSpPr>
            <p:cNvPr id="209940" name="Rectangle 20">
              <a:extLst>
                <a:ext uri="{FF2B5EF4-FFF2-40B4-BE49-F238E27FC236}">
                  <a16:creationId xmlns:a16="http://schemas.microsoft.com/office/drawing/2014/main" id="{EB883CFE-1F57-FD55-18C2-EE4155BF5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727"/>
              <a:ext cx="96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name</a:t>
              </a:r>
              <a:endParaRPr lang="de-DE" altLang="en-US" b="1"/>
            </a:p>
          </p:txBody>
        </p:sp>
        <p:sp>
          <p:nvSpPr>
            <p:cNvPr id="209941" name="Text Box 21">
              <a:extLst>
                <a:ext uri="{FF2B5EF4-FFF2-40B4-BE49-F238E27FC236}">
                  <a16:creationId xmlns:a16="http://schemas.microsoft.com/office/drawing/2014/main" id="{60B39335-A93B-F7F7-22F9-569E4B64D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496"/>
              <a:ext cx="9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EMPLOYEE</a:t>
              </a:r>
              <a:endParaRPr lang="de-DE" altLang="en-US" b="1"/>
            </a:p>
          </p:txBody>
        </p:sp>
      </p:grpSp>
      <p:grpSp>
        <p:nvGrpSpPr>
          <p:cNvPr id="209942" name="Group 22">
            <a:extLst>
              <a:ext uri="{FF2B5EF4-FFF2-40B4-BE49-F238E27FC236}">
                <a16:creationId xmlns:a16="http://schemas.microsoft.com/office/drawing/2014/main" id="{5B2C7F77-7A6D-B9B8-60CE-4EAE328A8369}"/>
              </a:ext>
            </a:extLst>
          </p:cNvPr>
          <p:cNvGrpSpPr>
            <a:grpSpLocks/>
          </p:cNvGrpSpPr>
          <p:nvPr/>
        </p:nvGrpSpPr>
        <p:grpSpPr bwMode="auto">
          <a:xfrm>
            <a:off x="2971801" y="5691189"/>
            <a:ext cx="4130675" cy="885825"/>
            <a:chOff x="912" y="3585"/>
            <a:chExt cx="2602" cy="558"/>
          </a:xfrm>
        </p:grpSpPr>
        <p:cxnSp>
          <p:nvCxnSpPr>
            <p:cNvPr id="209943" name="AutoShape 23">
              <a:extLst>
                <a:ext uri="{FF2B5EF4-FFF2-40B4-BE49-F238E27FC236}">
                  <a16:creationId xmlns:a16="http://schemas.microsoft.com/office/drawing/2014/main" id="{999E0384-D5B1-FA78-07DB-14D6E937C03D}"/>
                </a:ext>
              </a:extLst>
            </p:cNvPr>
            <p:cNvCxnSpPr>
              <a:cxnSpLocks noChangeShapeType="1"/>
              <a:stCxn id="209935" idx="2"/>
              <a:endCxn id="209939" idx="2"/>
            </p:cNvCxnSpPr>
            <p:nvPr/>
          </p:nvCxnSpPr>
          <p:spPr bwMode="auto">
            <a:xfrm rot="5400000">
              <a:off x="2210" y="2287"/>
              <a:ext cx="6" cy="2602"/>
            </a:xfrm>
            <a:prstGeom prst="bentConnector3">
              <a:avLst>
                <a:gd name="adj1" fmla="val 5483329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9944" name="Text Box 24">
              <a:extLst>
                <a:ext uri="{FF2B5EF4-FFF2-40B4-BE49-F238E27FC236}">
                  <a16:creationId xmlns:a16="http://schemas.microsoft.com/office/drawing/2014/main" id="{BAC6221E-8A0D-B6E9-51BC-DD7786092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8" y="3912"/>
              <a:ext cx="14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solidFill>
                    <a:srgbClr val="FF0000"/>
                  </a:solidFill>
                </a:rPr>
                <a:t>foreign key reference</a:t>
              </a:r>
              <a:endParaRPr lang="de-DE" altLang="en-US" b="1">
                <a:solidFill>
                  <a:srgbClr val="FF0000"/>
                </a:solidFill>
              </a:endParaRPr>
            </a:p>
          </p:txBody>
        </p:sp>
      </p:grpSp>
      <p:grpSp>
        <p:nvGrpSpPr>
          <p:cNvPr id="209968" name="Group 48">
            <a:extLst>
              <a:ext uri="{FF2B5EF4-FFF2-40B4-BE49-F238E27FC236}">
                <a16:creationId xmlns:a16="http://schemas.microsoft.com/office/drawing/2014/main" id="{EDA71539-ECFA-7361-7330-F8A3BBF6204E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981200"/>
            <a:ext cx="4495800" cy="1143000"/>
            <a:chOff x="2400" y="1248"/>
            <a:chExt cx="2832" cy="720"/>
          </a:xfrm>
        </p:grpSpPr>
        <p:sp>
          <p:nvSpPr>
            <p:cNvPr id="209947" name="Rectangle 27">
              <a:extLst>
                <a:ext uri="{FF2B5EF4-FFF2-40B4-BE49-F238E27FC236}">
                  <a16:creationId xmlns:a16="http://schemas.microsoft.com/office/drawing/2014/main" id="{4453A787-12C5-B285-1EF1-6B6F0A3F7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2" y="1462"/>
              <a:ext cx="960" cy="336"/>
            </a:xfrm>
            <a:prstGeom prst="rect">
              <a:avLst/>
            </a:prstGeom>
            <a:noFill/>
            <a:ln w="38100" cmpd="dbl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DEPENDENT</a:t>
              </a:r>
              <a:endParaRPr lang="de-DE" altLang="en-US" b="1"/>
            </a:p>
          </p:txBody>
        </p:sp>
        <p:sp>
          <p:nvSpPr>
            <p:cNvPr id="209951" name="AutoShape 31">
              <a:extLst>
                <a:ext uri="{FF2B5EF4-FFF2-40B4-BE49-F238E27FC236}">
                  <a16:creationId xmlns:a16="http://schemas.microsoft.com/office/drawing/2014/main" id="{F77A9820-AFF8-7A96-DD3B-F82BA85EC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1392"/>
              <a:ext cx="576" cy="477"/>
            </a:xfrm>
            <a:prstGeom prst="diamond">
              <a:avLst/>
            </a:prstGeom>
            <a:noFill/>
            <a:ln w="38100" cmpd="dbl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has</a:t>
              </a:r>
              <a:endParaRPr lang="de-DE" altLang="en-US" b="1"/>
            </a:p>
          </p:txBody>
        </p:sp>
        <p:sp>
          <p:nvSpPr>
            <p:cNvPr id="209956" name="Oval 36">
              <a:extLst>
                <a:ext uri="{FF2B5EF4-FFF2-40B4-BE49-F238E27FC236}">
                  <a16:creationId xmlns:a16="http://schemas.microsoft.com/office/drawing/2014/main" id="{DBD16A4C-9B72-0AFA-5B9C-3BF0C7D6E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76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name</a:t>
              </a:r>
              <a:endParaRPr lang="de-DE" altLang="en-US" b="1" u="sng"/>
            </a:p>
          </p:txBody>
        </p:sp>
        <p:sp>
          <p:nvSpPr>
            <p:cNvPr id="209957" name="Oval 37">
              <a:extLst>
                <a:ext uri="{FF2B5EF4-FFF2-40B4-BE49-F238E27FC236}">
                  <a16:creationId xmlns:a16="http://schemas.microsoft.com/office/drawing/2014/main" id="{F938DEE8-E695-F622-4259-79A6229CC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680"/>
              <a:ext cx="576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dob</a:t>
              </a:r>
              <a:endParaRPr lang="de-DE" altLang="en-US" b="1"/>
            </a:p>
          </p:txBody>
        </p:sp>
        <p:cxnSp>
          <p:nvCxnSpPr>
            <p:cNvPr id="209961" name="AutoShape 41">
              <a:extLst>
                <a:ext uri="{FF2B5EF4-FFF2-40B4-BE49-F238E27FC236}">
                  <a16:creationId xmlns:a16="http://schemas.microsoft.com/office/drawing/2014/main" id="{5AC3A24C-CAF1-6980-205C-6776F9F0429C}"/>
                </a:ext>
              </a:extLst>
            </p:cNvPr>
            <p:cNvCxnSpPr>
              <a:cxnSpLocks noChangeShapeType="1"/>
              <a:stCxn id="209951" idx="3"/>
              <a:endCxn id="209947" idx="1"/>
            </p:cNvCxnSpPr>
            <p:nvPr/>
          </p:nvCxnSpPr>
          <p:spPr bwMode="auto">
            <a:xfrm flipV="1">
              <a:off x="3198" y="1630"/>
              <a:ext cx="232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9962" name="AutoShape 42">
              <a:extLst>
                <a:ext uri="{FF2B5EF4-FFF2-40B4-BE49-F238E27FC236}">
                  <a16:creationId xmlns:a16="http://schemas.microsoft.com/office/drawing/2014/main" id="{4C6A7986-318E-BC3A-2E48-71D79DC41632}"/>
                </a:ext>
              </a:extLst>
            </p:cNvPr>
            <p:cNvCxnSpPr>
              <a:cxnSpLocks noChangeShapeType="1"/>
              <a:stCxn id="209925" idx="3"/>
              <a:endCxn id="209951" idx="1"/>
            </p:cNvCxnSpPr>
            <p:nvPr/>
          </p:nvCxnSpPr>
          <p:spPr bwMode="auto">
            <a:xfrm flipV="1">
              <a:off x="2400" y="1631"/>
              <a:ext cx="198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9963" name="AutoShape 43">
              <a:extLst>
                <a:ext uri="{FF2B5EF4-FFF2-40B4-BE49-F238E27FC236}">
                  <a16:creationId xmlns:a16="http://schemas.microsoft.com/office/drawing/2014/main" id="{0C5FF267-1631-076B-3666-93B1516102F2}"/>
                </a:ext>
              </a:extLst>
            </p:cNvPr>
            <p:cNvCxnSpPr>
              <a:cxnSpLocks noChangeShapeType="1"/>
              <a:stCxn id="209947" idx="3"/>
              <a:endCxn id="209956" idx="3"/>
            </p:cNvCxnSpPr>
            <p:nvPr/>
          </p:nvCxnSpPr>
          <p:spPr bwMode="auto">
            <a:xfrm flipV="1">
              <a:off x="4414" y="1494"/>
              <a:ext cx="326" cy="1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9964" name="AutoShape 44">
              <a:extLst>
                <a:ext uri="{FF2B5EF4-FFF2-40B4-BE49-F238E27FC236}">
                  <a16:creationId xmlns:a16="http://schemas.microsoft.com/office/drawing/2014/main" id="{DB1FC6A7-D34F-E89B-2DAA-0E1E9E1B60F2}"/>
                </a:ext>
              </a:extLst>
            </p:cNvPr>
            <p:cNvCxnSpPr>
              <a:cxnSpLocks noChangeShapeType="1"/>
              <a:stCxn id="209947" idx="3"/>
              <a:endCxn id="209957" idx="1"/>
            </p:cNvCxnSpPr>
            <p:nvPr/>
          </p:nvCxnSpPr>
          <p:spPr bwMode="auto">
            <a:xfrm>
              <a:off x="4414" y="1630"/>
              <a:ext cx="326" cy="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09966" name="Group 46">
            <a:extLst>
              <a:ext uri="{FF2B5EF4-FFF2-40B4-BE49-F238E27FC236}">
                <a16:creationId xmlns:a16="http://schemas.microsoft.com/office/drawing/2014/main" id="{4BE2598A-57A0-8CFD-ACA1-E4D36685EAB5}"/>
              </a:ext>
            </a:extLst>
          </p:cNvPr>
          <p:cNvGrpSpPr>
            <a:grpSpLocks/>
          </p:cNvGrpSpPr>
          <p:nvPr/>
        </p:nvGrpSpPr>
        <p:grpSpPr bwMode="auto">
          <a:xfrm>
            <a:off x="6248401" y="4814888"/>
            <a:ext cx="3167063" cy="876300"/>
            <a:chOff x="2976" y="3033"/>
            <a:chExt cx="1995" cy="552"/>
          </a:xfrm>
        </p:grpSpPr>
        <p:sp>
          <p:nvSpPr>
            <p:cNvPr id="209935" name="Rectangle 15">
              <a:extLst>
                <a:ext uri="{FF2B5EF4-FFF2-40B4-BE49-F238E27FC236}">
                  <a16:creationId xmlns:a16="http://schemas.microsoft.com/office/drawing/2014/main" id="{4D46FE92-4B6D-E602-1193-A5221DF63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" y="3249"/>
              <a:ext cx="71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id</a:t>
              </a:r>
              <a:endParaRPr lang="de-DE" altLang="en-US" b="1" u="sng"/>
            </a:p>
          </p:txBody>
        </p:sp>
        <p:sp>
          <p:nvSpPr>
            <p:cNvPr id="209936" name="Rectangle 16">
              <a:extLst>
                <a:ext uri="{FF2B5EF4-FFF2-40B4-BE49-F238E27FC236}">
                  <a16:creationId xmlns:a16="http://schemas.microsoft.com/office/drawing/2014/main" id="{B482B378-1741-7B53-A1FB-B624EBD2F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249"/>
              <a:ext cx="614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name</a:t>
              </a:r>
              <a:endParaRPr lang="de-DE" altLang="en-US" b="1" u="sng"/>
            </a:p>
          </p:txBody>
        </p:sp>
        <p:sp>
          <p:nvSpPr>
            <p:cNvPr id="209937" name="Text Box 17">
              <a:extLst>
                <a:ext uri="{FF2B5EF4-FFF2-40B4-BE49-F238E27FC236}">
                  <a16:creationId xmlns:a16="http://schemas.microsoft.com/office/drawing/2014/main" id="{B8F3160D-2A05-E8B0-57B0-7E2BD9FA1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033"/>
              <a:ext cx="10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DEPENDENT</a:t>
              </a:r>
              <a:endParaRPr lang="de-DE" altLang="en-US" b="1"/>
            </a:p>
          </p:txBody>
        </p:sp>
        <p:sp>
          <p:nvSpPr>
            <p:cNvPr id="209965" name="Rectangle 45">
              <a:extLst>
                <a:ext uri="{FF2B5EF4-FFF2-40B4-BE49-F238E27FC236}">
                  <a16:creationId xmlns:a16="http://schemas.microsoft.com/office/drawing/2014/main" id="{6BD20634-B484-BF21-1516-835E16BEC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7" y="3247"/>
              <a:ext cx="614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dob</a:t>
              </a:r>
              <a:endParaRPr lang="de-DE" altLang="en-US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9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:a16="http://schemas.microsoft.com/office/drawing/2014/main" id="{D54A9B13-3BDE-365D-1B94-D46D5C6F6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228600"/>
            <a:ext cx="9144000" cy="1143000"/>
          </a:xfrm>
        </p:spPr>
        <p:txBody>
          <a:bodyPr>
            <a:normAutofit/>
          </a:bodyPr>
          <a:lstStyle/>
          <a:p>
            <a:pPr marL="857250" indent="-857250" algn="l"/>
            <a:r>
              <a:rPr lang="en-US" altLang="en-US" dirty="0"/>
              <a:t>Mapping One2Many Binary Relationships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06CAD02-F656-6858-0803-ED963E59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04C3A-3CBF-48B8-9B3E-775262EE2B1F}" type="slidenum">
              <a:rPr lang="de-DE" altLang="en-US"/>
              <a:pPr/>
              <a:t>26</a:t>
            </a:fld>
            <a:endParaRPr lang="de-DE" altLang="en-US"/>
          </a:p>
        </p:txBody>
      </p:sp>
      <p:grpSp>
        <p:nvGrpSpPr>
          <p:cNvPr id="210947" name="Group 3">
            <a:extLst>
              <a:ext uri="{FF2B5EF4-FFF2-40B4-BE49-F238E27FC236}">
                <a16:creationId xmlns:a16="http://schemas.microsoft.com/office/drawing/2014/main" id="{6CCD9F27-7AF5-32D1-D46B-45B94F6E9387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819400"/>
            <a:ext cx="4876800" cy="1066800"/>
            <a:chOff x="432" y="1344"/>
            <a:chExt cx="4704" cy="768"/>
          </a:xfrm>
        </p:grpSpPr>
        <p:sp>
          <p:nvSpPr>
            <p:cNvPr id="210948" name="Rectangle 4">
              <a:extLst>
                <a:ext uri="{FF2B5EF4-FFF2-40B4-BE49-F238E27FC236}">
                  <a16:creationId xmlns:a16="http://schemas.microsoft.com/office/drawing/2014/main" id="{B3E9BBA4-D0AC-806A-64A9-DF448C8B0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134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CarType</a:t>
              </a:r>
            </a:p>
          </p:txBody>
        </p:sp>
        <p:sp>
          <p:nvSpPr>
            <p:cNvPr id="210949" name="Rectangle 5">
              <a:extLst>
                <a:ext uri="{FF2B5EF4-FFF2-40B4-BE49-F238E27FC236}">
                  <a16:creationId xmlns:a16="http://schemas.microsoft.com/office/drawing/2014/main" id="{588DBC22-0170-8069-AFC1-119EC1FC5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440"/>
              <a:ext cx="134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Car</a:t>
              </a:r>
            </a:p>
          </p:txBody>
        </p:sp>
        <p:sp>
          <p:nvSpPr>
            <p:cNvPr id="210950" name="AutoShape 6">
              <a:extLst>
                <a:ext uri="{FF2B5EF4-FFF2-40B4-BE49-F238E27FC236}">
                  <a16:creationId xmlns:a16="http://schemas.microsoft.com/office/drawing/2014/main" id="{6FE48D8F-DA41-34AE-2D34-0F9521450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44"/>
              <a:ext cx="912" cy="768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type</a:t>
              </a:r>
            </a:p>
          </p:txBody>
        </p:sp>
        <p:sp>
          <p:nvSpPr>
            <p:cNvPr id="210951" name="Line 7">
              <a:extLst>
                <a:ext uri="{FF2B5EF4-FFF2-40B4-BE49-F238E27FC236}">
                  <a16:creationId xmlns:a16="http://schemas.microsoft.com/office/drawing/2014/main" id="{5C6DC54F-C214-07FB-2856-7B186D4FB9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17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0952" name="Line 8">
              <a:extLst>
                <a:ext uri="{FF2B5EF4-FFF2-40B4-BE49-F238E27FC236}">
                  <a16:creationId xmlns:a16="http://schemas.microsoft.com/office/drawing/2014/main" id="{30609FC2-E33F-773D-6074-F89F2AD4C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72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0953" name="Text Box 9">
              <a:extLst>
                <a:ext uri="{FF2B5EF4-FFF2-40B4-BE49-F238E27FC236}">
                  <a16:creationId xmlns:a16="http://schemas.microsoft.com/office/drawing/2014/main" id="{BBF6F1AD-2100-3BE8-542C-612FCC8EB7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0" y="1527"/>
              <a:ext cx="27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600"/>
                <a:t>1</a:t>
              </a:r>
            </a:p>
          </p:txBody>
        </p:sp>
        <p:sp>
          <p:nvSpPr>
            <p:cNvPr id="210954" name="Text Box 10">
              <a:extLst>
                <a:ext uri="{FF2B5EF4-FFF2-40B4-BE49-F238E27FC236}">
                  <a16:creationId xmlns:a16="http://schemas.microsoft.com/office/drawing/2014/main" id="{424C4681-A19B-232C-5E41-8258BFACA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4" y="1527"/>
              <a:ext cx="331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600"/>
                <a:t>m</a:t>
              </a:r>
            </a:p>
          </p:txBody>
        </p:sp>
      </p:grpSp>
      <p:sp>
        <p:nvSpPr>
          <p:cNvPr id="210955" name="Text Box 11">
            <a:extLst>
              <a:ext uri="{FF2B5EF4-FFF2-40B4-BE49-F238E27FC236}">
                <a16:creationId xmlns:a16="http://schemas.microsoft.com/office/drawing/2014/main" id="{85DC5E09-638D-C80B-5A3C-6646E2C12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1" y="2006799"/>
            <a:ext cx="687387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dirty="0"/>
              <a:t>One2many relationships are implemented using the back reference from the many side to the one side</a:t>
            </a:r>
          </a:p>
        </p:txBody>
      </p:sp>
      <p:grpSp>
        <p:nvGrpSpPr>
          <p:cNvPr id="210956" name="Group 12">
            <a:extLst>
              <a:ext uri="{FF2B5EF4-FFF2-40B4-BE49-F238E27FC236}">
                <a16:creationId xmlns:a16="http://schemas.microsoft.com/office/drawing/2014/main" id="{D37C86B0-F4A1-10BE-F976-A2950C0B23F3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3657605"/>
            <a:ext cx="5865813" cy="461963"/>
            <a:chOff x="960" y="2400"/>
            <a:chExt cx="3695" cy="291"/>
          </a:xfrm>
        </p:grpSpPr>
        <p:sp>
          <p:nvSpPr>
            <p:cNvPr id="210957" name="Text Box 13">
              <a:extLst>
                <a:ext uri="{FF2B5EF4-FFF2-40B4-BE49-F238E27FC236}">
                  <a16:creationId xmlns:a16="http://schemas.microsoft.com/office/drawing/2014/main" id="{731EFC12-3071-6755-0E15-1E4BA0E1A6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400"/>
              <a:ext cx="5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400"/>
                <a:t>parent</a:t>
              </a:r>
            </a:p>
          </p:txBody>
        </p:sp>
        <p:sp>
          <p:nvSpPr>
            <p:cNvPr id="210958" name="Text Box 14">
              <a:extLst>
                <a:ext uri="{FF2B5EF4-FFF2-40B4-BE49-F238E27FC236}">
                  <a16:creationId xmlns:a16="http://schemas.microsoft.com/office/drawing/2014/main" id="{B253C6E4-F4BC-CE2A-AD2E-5766D4B12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400"/>
              <a:ext cx="47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400"/>
                <a:t>child</a:t>
              </a:r>
            </a:p>
          </p:txBody>
        </p:sp>
      </p:grpSp>
      <p:grpSp>
        <p:nvGrpSpPr>
          <p:cNvPr id="210959" name="Group 15">
            <a:extLst>
              <a:ext uri="{FF2B5EF4-FFF2-40B4-BE49-F238E27FC236}">
                <a16:creationId xmlns:a16="http://schemas.microsoft.com/office/drawing/2014/main" id="{C0C3C502-B52A-326E-04F0-DAF9214EEC6D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962400"/>
            <a:ext cx="7805738" cy="1524000"/>
            <a:chOff x="576" y="2496"/>
            <a:chExt cx="4917" cy="960"/>
          </a:xfrm>
        </p:grpSpPr>
        <p:grpSp>
          <p:nvGrpSpPr>
            <p:cNvPr id="210960" name="Group 16">
              <a:extLst>
                <a:ext uri="{FF2B5EF4-FFF2-40B4-BE49-F238E27FC236}">
                  <a16:creationId xmlns:a16="http://schemas.microsoft.com/office/drawing/2014/main" id="{5CD8937A-CBA4-784C-0381-3D2A264F41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2784"/>
              <a:ext cx="4704" cy="672"/>
              <a:chOff x="576" y="2784"/>
              <a:chExt cx="4704" cy="672"/>
            </a:xfrm>
          </p:grpSpPr>
          <p:grpSp>
            <p:nvGrpSpPr>
              <p:cNvPr id="210961" name="Group 17">
                <a:extLst>
                  <a:ext uri="{FF2B5EF4-FFF2-40B4-BE49-F238E27FC236}">
                    <a16:creationId xmlns:a16="http://schemas.microsoft.com/office/drawing/2014/main" id="{616B0F0D-CF08-EA9F-DCA9-60B518483F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2784"/>
                <a:ext cx="2016" cy="672"/>
                <a:chOff x="240" y="1008"/>
                <a:chExt cx="3312" cy="1104"/>
              </a:xfrm>
            </p:grpSpPr>
            <p:sp>
              <p:nvSpPr>
                <p:cNvPr id="210962" name="Rectangle 18">
                  <a:extLst>
                    <a:ext uri="{FF2B5EF4-FFF2-40B4-BE49-F238E27FC236}">
                      <a16:creationId xmlns:a16="http://schemas.microsoft.com/office/drawing/2014/main" id="{D369F5F4-CF0C-5154-E65D-E6F7DAA3B0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1008"/>
                  <a:ext cx="807" cy="368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 b="1"/>
                    <a:t>registration</a:t>
                  </a:r>
                </a:p>
                <a:p>
                  <a:pPr algn="ctr" eaLnBrk="0" hangingPunct="0"/>
                  <a:r>
                    <a:rPr lang="en-US" altLang="en-US" sz="1000" b="1"/>
                    <a:t>number</a:t>
                  </a:r>
                </a:p>
              </p:txBody>
            </p:sp>
            <p:sp>
              <p:nvSpPr>
                <p:cNvPr id="210963" name="Rectangle 19">
                  <a:extLst>
                    <a:ext uri="{FF2B5EF4-FFF2-40B4-BE49-F238E27FC236}">
                      <a16:creationId xmlns:a16="http://schemas.microsoft.com/office/drawing/2014/main" id="{4BD508BD-6718-7EBE-149A-12ACEBEF6F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9" y="1008"/>
                  <a:ext cx="679" cy="368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 b="1"/>
                    <a:t>engine </a:t>
                  </a:r>
                </a:p>
                <a:p>
                  <a:pPr algn="ctr" eaLnBrk="0" hangingPunct="0"/>
                  <a:r>
                    <a:rPr lang="en-US" altLang="en-US" sz="1000" b="1"/>
                    <a:t>number</a:t>
                  </a:r>
                </a:p>
              </p:txBody>
            </p:sp>
            <p:sp>
              <p:nvSpPr>
                <p:cNvPr id="210964" name="Rectangle 20">
                  <a:extLst>
                    <a:ext uri="{FF2B5EF4-FFF2-40B4-BE49-F238E27FC236}">
                      <a16:creationId xmlns:a16="http://schemas.microsoft.com/office/drawing/2014/main" id="{073BB0E2-146E-BE04-E165-BEF273D3EB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7" y="1008"/>
                  <a:ext cx="722" cy="368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 b="1" u="sng"/>
                    <a:t>frame</a:t>
                  </a:r>
                </a:p>
                <a:p>
                  <a:pPr algn="ctr" eaLnBrk="0" hangingPunct="0"/>
                  <a:r>
                    <a:rPr lang="en-US" altLang="en-US" sz="1000" b="1" u="sng"/>
                    <a:t>number</a:t>
                  </a:r>
                  <a:endParaRPr lang="en-US" altLang="en-US" sz="1000" b="1"/>
                </a:p>
              </p:txBody>
            </p:sp>
            <p:sp>
              <p:nvSpPr>
                <p:cNvPr id="210965" name="Rectangle 21">
                  <a:extLst>
                    <a:ext uri="{FF2B5EF4-FFF2-40B4-BE49-F238E27FC236}">
                      <a16:creationId xmlns:a16="http://schemas.microsoft.com/office/drawing/2014/main" id="{459900B9-3408-8A72-B254-C943D7C765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1008"/>
                  <a:ext cx="552" cy="368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 b="1"/>
                    <a:t>color</a:t>
                  </a:r>
                </a:p>
              </p:txBody>
            </p:sp>
            <p:sp>
              <p:nvSpPr>
                <p:cNvPr id="210966" name="Rectangle 22">
                  <a:extLst>
                    <a:ext uri="{FF2B5EF4-FFF2-40B4-BE49-F238E27FC236}">
                      <a16:creationId xmlns:a16="http://schemas.microsoft.com/office/drawing/2014/main" id="{152FFE65-A126-1F61-A763-04850C288B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0" y="1008"/>
                  <a:ext cx="552" cy="368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 b="1" dirty="0"/>
                    <a:t>Name</a:t>
                  </a:r>
                </a:p>
              </p:txBody>
            </p:sp>
            <p:sp>
              <p:nvSpPr>
                <p:cNvPr id="210967" name="Rectangle 23">
                  <a:extLst>
                    <a:ext uri="{FF2B5EF4-FFF2-40B4-BE49-F238E27FC236}">
                      <a16:creationId xmlns:a16="http://schemas.microsoft.com/office/drawing/2014/main" id="{EA4189A5-372B-6880-8DBE-C388B30033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1376"/>
                  <a:ext cx="807" cy="36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N100 G</a:t>
                  </a:r>
                </a:p>
              </p:txBody>
            </p:sp>
            <p:sp>
              <p:nvSpPr>
                <p:cNvPr id="210968" name="Rectangle 24">
                  <a:extLst>
                    <a:ext uri="{FF2B5EF4-FFF2-40B4-BE49-F238E27FC236}">
                      <a16:creationId xmlns:a16="http://schemas.microsoft.com/office/drawing/2014/main" id="{44EF1C8F-2EFB-BFD3-28AF-CC91B83799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9" y="1376"/>
                  <a:ext cx="679" cy="36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Z9999</a:t>
                  </a:r>
                </a:p>
              </p:txBody>
            </p:sp>
            <p:sp>
              <p:nvSpPr>
                <p:cNvPr id="210969" name="Rectangle 25">
                  <a:extLst>
                    <a:ext uri="{FF2B5EF4-FFF2-40B4-BE49-F238E27FC236}">
                      <a16:creationId xmlns:a16="http://schemas.microsoft.com/office/drawing/2014/main" id="{46E0B25B-1DD4-4C2D-7843-CCF46E3382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7" y="1376"/>
                  <a:ext cx="722" cy="36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12345</a:t>
                  </a:r>
                </a:p>
              </p:txBody>
            </p:sp>
            <p:sp>
              <p:nvSpPr>
                <p:cNvPr id="210970" name="Rectangle 26">
                  <a:extLst>
                    <a:ext uri="{FF2B5EF4-FFF2-40B4-BE49-F238E27FC236}">
                      <a16:creationId xmlns:a16="http://schemas.microsoft.com/office/drawing/2014/main" id="{30FBE541-DFBD-36AE-BAD9-A9B74E7830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1376"/>
                  <a:ext cx="552" cy="36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red</a:t>
                  </a:r>
                </a:p>
              </p:txBody>
            </p:sp>
            <p:sp>
              <p:nvSpPr>
                <p:cNvPr id="210971" name="Rectangle 27">
                  <a:extLst>
                    <a:ext uri="{FF2B5EF4-FFF2-40B4-BE49-F238E27FC236}">
                      <a16:creationId xmlns:a16="http://schemas.microsoft.com/office/drawing/2014/main" id="{5D6840EE-2281-3AEA-66F3-52E1A4C6DE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0" y="1376"/>
                  <a:ext cx="552" cy="36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BMW 3</a:t>
                  </a:r>
                </a:p>
              </p:txBody>
            </p:sp>
            <p:sp>
              <p:nvSpPr>
                <p:cNvPr id="210972" name="Rectangle 28">
                  <a:extLst>
                    <a:ext uri="{FF2B5EF4-FFF2-40B4-BE49-F238E27FC236}">
                      <a16:creationId xmlns:a16="http://schemas.microsoft.com/office/drawing/2014/main" id="{A3ADB87C-491E-B03A-7C3C-750B6C8144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1744"/>
                  <a:ext cx="807" cy="36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N 123 W</a:t>
                  </a:r>
                </a:p>
              </p:txBody>
            </p:sp>
            <p:sp>
              <p:nvSpPr>
                <p:cNvPr id="210973" name="Rectangle 29">
                  <a:extLst>
                    <a:ext uri="{FF2B5EF4-FFF2-40B4-BE49-F238E27FC236}">
                      <a16:creationId xmlns:a16="http://schemas.microsoft.com/office/drawing/2014/main" id="{8D3A3150-9A08-B07F-67C0-E07A5666F9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9" y="1744"/>
                  <a:ext cx="679" cy="36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456 GX 22</a:t>
                  </a:r>
                </a:p>
              </p:txBody>
            </p:sp>
            <p:sp>
              <p:nvSpPr>
                <p:cNvPr id="210974" name="Rectangle 30">
                  <a:extLst>
                    <a:ext uri="{FF2B5EF4-FFF2-40B4-BE49-F238E27FC236}">
                      <a16:creationId xmlns:a16="http://schemas.microsoft.com/office/drawing/2014/main" id="{3E9B6836-1F97-EF3C-7460-927A6EE2AA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7" y="1744"/>
                  <a:ext cx="722" cy="36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54321</a:t>
                  </a:r>
                </a:p>
              </p:txBody>
            </p:sp>
            <p:sp>
              <p:nvSpPr>
                <p:cNvPr id="210975" name="Rectangle 31">
                  <a:extLst>
                    <a:ext uri="{FF2B5EF4-FFF2-40B4-BE49-F238E27FC236}">
                      <a16:creationId xmlns:a16="http://schemas.microsoft.com/office/drawing/2014/main" id="{805309F2-6B1B-D090-361E-6454ECDE4F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1744"/>
                  <a:ext cx="552" cy="36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white</a:t>
                  </a:r>
                </a:p>
              </p:txBody>
            </p:sp>
            <p:sp>
              <p:nvSpPr>
                <p:cNvPr id="210976" name="Rectangle 32">
                  <a:extLst>
                    <a:ext uri="{FF2B5EF4-FFF2-40B4-BE49-F238E27FC236}">
                      <a16:creationId xmlns:a16="http://schemas.microsoft.com/office/drawing/2014/main" id="{0D05DC10-5C8C-528D-ABE2-831077BF95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0" y="1744"/>
                  <a:ext cx="552" cy="36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Nissan</a:t>
                  </a:r>
                </a:p>
                <a:p>
                  <a:pPr algn="ctr" eaLnBrk="0" hangingPunct="0"/>
                  <a:r>
                    <a:rPr lang="en-US" altLang="en-US" sz="1000"/>
                    <a:t>Patrol</a:t>
                  </a:r>
                </a:p>
              </p:txBody>
            </p:sp>
          </p:grpSp>
          <p:grpSp>
            <p:nvGrpSpPr>
              <p:cNvPr id="210977" name="Group 33">
                <a:extLst>
                  <a:ext uri="{FF2B5EF4-FFF2-40B4-BE49-F238E27FC236}">
                    <a16:creationId xmlns:a16="http://schemas.microsoft.com/office/drawing/2014/main" id="{839F229F-B4A8-4261-1A16-512F718908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2784"/>
                <a:ext cx="1344" cy="432"/>
                <a:chOff x="2640" y="2544"/>
                <a:chExt cx="2928" cy="1440"/>
              </a:xfrm>
            </p:grpSpPr>
            <p:sp>
              <p:nvSpPr>
                <p:cNvPr id="210978" name="Rectangle 34">
                  <a:extLst>
                    <a:ext uri="{FF2B5EF4-FFF2-40B4-BE49-F238E27FC236}">
                      <a16:creationId xmlns:a16="http://schemas.microsoft.com/office/drawing/2014/main" id="{E2F59873-2DA5-DFEC-F91B-1A6CCA3310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2544"/>
                  <a:ext cx="912" cy="480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 b="1" u="sng"/>
                    <a:t>name</a:t>
                  </a:r>
                  <a:endParaRPr lang="en-US" altLang="en-US" sz="1000" b="1"/>
                </a:p>
              </p:txBody>
            </p:sp>
            <p:sp>
              <p:nvSpPr>
                <p:cNvPr id="210979" name="Rectangle 35">
                  <a:extLst>
                    <a:ext uri="{FF2B5EF4-FFF2-40B4-BE49-F238E27FC236}">
                      <a16:creationId xmlns:a16="http://schemas.microsoft.com/office/drawing/2014/main" id="{5D72DA64-C541-95CC-A9D8-79FAC76837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2544"/>
                  <a:ext cx="768" cy="480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 b="1"/>
                    <a:t>imported</a:t>
                  </a:r>
                </a:p>
                <a:p>
                  <a:pPr algn="ctr" eaLnBrk="0" hangingPunct="0"/>
                  <a:r>
                    <a:rPr lang="en-US" altLang="en-US" sz="1000" b="1"/>
                    <a:t>from</a:t>
                  </a:r>
                </a:p>
              </p:txBody>
            </p:sp>
            <p:sp>
              <p:nvSpPr>
                <p:cNvPr id="210980" name="Rectangle 36">
                  <a:extLst>
                    <a:ext uri="{FF2B5EF4-FFF2-40B4-BE49-F238E27FC236}">
                      <a16:creationId xmlns:a16="http://schemas.microsoft.com/office/drawing/2014/main" id="{15A07B40-604A-CAE5-DB06-26290C159E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816" cy="480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 b="1"/>
                    <a:t>price</a:t>
                  </a:r>
                </a:p>
              </p:txBody>
            </p:sp>
            <p:sp>
              <p:nvSpPr>
                <p:cNvPr id="210981" name="Rectangle 37">
                  <a:extLst>
                    <a:ext uri="{FF2B5EF4-FFF2-40B4-BE49-F238E27FC236}">
                      <a16:creationId xmlns:a16="http://schemas.microsoft.com/office/drawing/2014/main" id="{B76B60BB-A3E5-D49E-2DE7-8551668CCB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3024"/>
                  <a:ext cx="912" cy="48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BMW 3</a:t>
                  </a:r>
                </a:p>
              </p:txBody>
            </p:sp>
            <p:sp>
              <p:nvSpPr>
                <p:cNvPr id="210982" name="Rectangle 38">
                  <a:extLst>
                    <a:ext uri="{FF2B5EF4-FFF2-40B4-BE49-F238E27FC236}">
                      <a16:creationId xmlns:a16="http://schemas.microsoft.com/office/drawing/2014/main" id="{44867F2B-3A77-7690-4051-82DEB9C32E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3024"/>
                  <a:ext cx="768" cy="48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Germany</a:t>
                  </a:r>
                </a:p>
              </p:txBody>
            </p:sp>
            <p:sp>
              <p:nvSpPr>
                <p:cNvPr id="210983" name="Rectangle 39">
                  <a:extLst>
                    <a:ext uri="{FF2B5EF4-FFF2-40B4-BE49-F238E27FC236}">
                      <a16:creationId xmlns:a16="http://schemas.microsoft.com/office/drawing/2014/main" id="{7AD6D1E7-28D8-34F8-A6FB-B46454905F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3024"/>
                  <a:ext cx="816" cy="48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140000</a:t>
                  </a:r>
                </a:p>
              </p:txBody>
            </p:sp>
            <p:sp>
              <p:nvSpPr>
                <p:cNvPr id="210984" name="Rectangle 40">
                  <a:extLst>
                    <a:ext uri="{FF2B5EF4-FFF2-40B4-BE49-F238E27FC236}">
                      <a16:creationId xmlns:a16="http://schemas.microsoft.com/office/drawing/2014/main" id="{69F9BBE0-24CD-0ABE-69E2-93A42DEDC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3504"/>
                  <a:ext cx="912" cy="48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Nissan </a:t>
                  </a:r>
                </a:p>
                <a:p>
                  <a:pPr algn="ctr" eaLnBrk="0" hangingPunct="0"/>
                  <a:r>
                    <a:rPr lang="en-US" altLang="en-US" sz="1000"/>
                    <a:t>Patrol</a:t>
                  </a:r>
                </a:p>
              </p:txBody>
            </p:sp>
            <p:sp>
              <p:nvSpPr>
                <p:cNvPr id="210985" name="Rectangle 41">
                  <a:extLst>
                    <a:ext uri="{FF2B5EF4-FFF2-40B4-BE49-F238E27FC236}">
                      <a16:creationId xmlns:a16="http://schemas.microsoft.com/office/drawing/2014/main" id="{666F23E9-BB63-8892-F4DA-87E90D96A2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3504"/>
                  <a:ext cx="768" cy="48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Japan</a:t>
                  </a:r>
                </a:p>
              </p:txBody>
            </p:sp>
            <p:sp>
              <p:nvSpPr>
                <p:cNvPr id="210986" name="Rectangle 42">
                  <a:extLst>
                    <a:ext uri="{FF2B5EF4-FFF2-40B4-BE49-F238E27FC236}">
                      <a16:creationId xmlns:a16="http://schemas.microsoft.com/office/drawing/2014/main" id="{A4A12973-907D-716F-7D2D-105F67B399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3504"/>
                  <a:ext cx="816" cy="48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160000</a:t>
                  </a:r>
                </a:p>
              </p:txBody>
            </p:sp>
            <p:sp>
              <p:nvSpPr>
                <p:cNvPr id="210987" name="Rectangle 43">
                  <a:extLst>
                    <a:ext uri="{FF2B5EF4-FFF2-40B4-BE49-F238E27FC236}">
                      <a16:creationId xmlns:a16="http://schemas.microsoft.com/office/drawing/2014/main" id="{FC545A20-DF56-B471-7DAC-E05BBD6CD5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6" y="2544"/>
                  <a:ext cx="432" cy="480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 b="1"/>
                    <a:t>4x4</a:t>
                  </a:r>
                </a:p>
              </p:txBody>
            </p:sp>
            <p:sp>
              <p:nvSpPr>
                <p:cNvPr id="210988" name="Rectangle 44">
                  <a:extLst>
                    <a:ext uri="{FF2B5EF4-FFF2-40B4-BE49-F238E27FC236}">
                      <a16:creationId xmlns:a16="http://schemas.microsoft.com/office/drawing/2014/main" id="{4D7EB424-5127-DDF6-562B-FDBBC1C19D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6" y="3024"/>
                  <a:ext cx="432" cy="48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n</a:t>
                  </a:r>
                </a:p>
              </p:txBody>
            </p:sp>
            <p:sp>
              <p:nvSpPr>
                <p:cNvPr id="210989" name="Rectangle 45">
                  <a:extLst>
                    <a:ext uri="{FF2B5EF4-FFF2-40B4-BE49-F238E27FC236}">
                      <a16:creationId xmlns:a16="http://schemas.microsoft.com/office/drawing/2014/main" id="{8F161FAC-8412-34A6-D4F6-BD1F2CD34C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6" y="3504"/>
                  <a:ext cx="432" cy="48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en-US" sz="1000"/>
                    <a:t>y</a:t>
                  </a:r>
                </a:p>
              </p:txBody>
            </p:sp>
          </p:grpSp>
        </p:grpSp>
        <p:sp>
          <p:nvSpPr>
            <p:cNvPr id="210990" name="Text Box 46">
              <a:extLst>
                <a:ext uri="{FF2B5EF4-FFF2-40B4-BE49-F238E27FC236}">
                  <a16:creationId xmlns:a16="http://schemas.microsoft.com/office/drawing/2014/main" id="{2E1E579A-DEF3-A43A-1600-05C079350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496"/>
              <a:ext cx="74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>
                  <a:solidFill>
                    <a:srgbClr val="FF3300"/>
                  </a:solidFill>
                </a:rPr>
                <a:t>foreign key</a:t>
              </a:r>
              <a:endParaRPr lang="en-US" altLang="en-US" sz="2400">
                <a:solidFill>
                  <a:srgbClr val="FF3300"/>
                </a:solidFill>
              </a:endParaRPr>
            </a:p>
          </p:txBody>
        </p:sp>
      </p:grpSp>
      <p:sp>
        <p:nvSpPr>
          <p:cNvPr id="210991" name="Text Box 47">
            <a:extLst>
              <a:ext uri="{FF2B5EF4-FFF2-40B4-BE49-F238E27FC236}">
                <a16:creationId xmlns:a16="http://schemas.microsoft.com/office/drawing/2014/main" id="{25625275-1289-19E9-2901-FFCEF5395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715000"/>
            <a:ext cx="3980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600"/>
              <a:t>Typical query: select all cars of the type BMW 3</a:t>
            </a:r>
          </a:p>
        </p:txBody>
      </p:sp>
      <p:grpSp>
        <p:nvGrpSpPr>
          <p:cNvPr id="210992" name="Group 48">
            <a:extLst>
              <a:ext uri="{FF2B5EF4-FFF2-40B4-BE49-F238E27FC236}">
                <a16:creationId xmlns:a16="http://schemas.microsoft.com/office/drawing/2014/main" id="{63014C51-E1C9-0AFE-DA6E-43B4F33C0D00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343400"/>
            <a:ext cx="7239000" cy="1219200"/>
            <a:chOff x="768" y="2736"/>
            <a:chExt cx="4560" cy="768"/>
          </a:xfrm>
        </p:grpSpPr>
        <p:sp>
          <p:nvSpPr>
            <p:cNvPr id="210993" name="Rectangle 49">
              <a:extLst>
                <a:ext uri="{FF2B5EF4-FFF2-40B4-BE49-F238E27FC236}">
                  <a16:creationId xmlns:a16="http://schemas.microsoft.com/office/drawing/2014/main" id="{B0AC6F6D-FF9E-2917-2E08-AE1A0ADDE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736"/>
              <a:ext cx="432" cy="768"/>
            </a:xfrm>
            <a:prstGeom prst="rect">
              <a:avLst/>
            </a:prstGeom>
            <a:noFill/>
            <a:ln w="254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0994" name="Line 50">
              <a:extLst>
                <a:ext uri="{FF2B5EF4-FFF2-40B4-BE49-F238E27FC236}">
                  <a16:creationId xmlns:a16="http://schemas.microsoft.com/office/drawing/2014/main" id="{A75978A6-4CE3-6FB0-8649-21E41E986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3504"/>
              <a:ext cx="4032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0995" name="Line 51">
              <a:extLst>
                <a:ext uri="{FF2B5EF4-FFF2-40B4-BE49-F238E27FC236}">
                  <a16:creationId xmlns:a16="http://schemas.microsoft.com/office/drawing/2014/main" id="{0A3BF501-8C08-B1D9-F9E9-C404A1AA48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68" y="3216"/>
              <a:ext cx="192" cy="28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0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0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0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47B19843-CFEE-CDC6-5E1A-9790D780DE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641350"/>
            <a:ext cx="9144000" cy="654049"/>
          </a:xfrm>
        </p:spPr>
        <p:txBody>
          <a:bodyPr>
            <a:normAutofit fontScale="90000"/>
          </a:bodyPr>
          <a:lstStyle/>
          <a:p>
            <a:pPr marL="857250" indent="-857250" algn="l"/>
            <a:r>
              <a:rPr lang="en-US" altLang="en-US" dirty="0"/>
              <a:t>Mapping One2One Binary Relationships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2505FE7-F815-4158-2E51-1B2791F3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FD5E3-4E5D-426E-AB9A-C47916E6C236}" type="slidenum">
              <a:rPr lang="de-DE" altLang="en-US"/>
              <a:pPr/>
              <a:t>27</a:t>
            </a:fld>
            <a:endParaRPr lang="de-DE" altLang="en-US"/>
          </a:p>
        </p:txBody>
      </p:sp>
      <p:sp>
        <p:nvSpPr>
          <p:cNvPr id="213003" name="Text Box 11">
            <a:extLst>
              <a:ext uri="{FF2B5EF4-FFF2-40B4-BE49-F238E27FC236}">
                <a16:creationId xmlns:a16="http://schemas.microsoft.com/office/drawing/2014/main" id="{223F107E-B5E2-B147-FF7D-977DA2673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33" y="1371601"/>
            <a:ext cx="107808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dirty="0"/>
              <a:t>One to one relationships can be considered as special cases of one to many relationships.</a:t>
            </a:r>
          </a:p>
        </p:txBody>
      </p:sp>
      <p:sp>
        <p:nvSpPr>
          <p:cNvPr id="213044" name="Text Box 52">
            <a:extLst>
              <a:ext uri="{FF2B5EF4-FFF2-40B4-BE49-F238E27FC236}">
                <a16:creationId xmlns:a16="http://schemas.microsoft.com/office/drawing/2014/main" id="{C2ED2865-D12C-EBBD-39F1-135D3C614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222" y="2133601"/>
            <a:ext cx="96971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dirty="0"/>
              <a:t>If here is an optional side, then the foreign key should be implemented at this side. This avoids storing null values in the foreign key column.</a:t>
            </a:r>
          </a:p>
        </p:txBody>
      </p:sp>
      <p:grpSp>
        <p:nvGrpSpPr>
          <p:cNvPr id="213045" name="Group 53">
            <a:extLst>
              <a:ext uri="{FF2B5EF4-FFF2-40B4-BE49-F238E27FC236}">
                <a16:creationId xmlns:a16="http://schemas.microsoft.com/office/drawing/2014/main" id="{8B0121F7-9E1E-CB03-2492-FB468D480D7B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352800"/>
            <a:ext cx="4876800" cy="1066800"/>
            <a:chOff x="432" y="1344"/>
            <a:chExt cx="4704" cy="768"/>
          </a:xfrm>
        </p:grpSpPr>
        <p:sp>
          <p:nvSpPr>
            <p:cNvPr id="213046" name="Rectangle 54">
              <a:extLst>
                <a:ext uri="{FF2B5EF4-FFF2-40B4-BE49-F238E27FC236}">
                  <a16:creationId xmlns:a16="http://schemas.microsoft.com/office/drawing/2014/main" id="{F9D3525C-419E-F564-B4DA-B3A1B345B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134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Lecturers</a:t>
              </a:r>
            </a:p>
          </p:txBody>
        </p:sp>
        <p:sp>
          <p:nvSpPr>
            <p:cNvPr id="213047" name="Rectangle 55">
              <a:extLst>
                <a:ext uri="{FF2B5EF4-FFF2-40B4-BE49-F238E27FC236}">
                  <a16:creationId xmlns:a16="http://schemas.microsoft.com/office/drawing/2014/main" id="{27596624-40CD-5F88-465F-B5B0B7322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440"/>
              <a:ext cx="134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Subjects</a:t>
              </a:r>
            </a:p>
          </p:txBody>
        </p:sp>
        <p:sp>
          <p:nvSpPr>
            <p:cNvPr id="213048" name="AutoShape 56">
              <a:extLst>
                <a:ext uri="{FF2B5EF4-FFF2-40B4-BE49-F238E27FC236}">
                  <a16:creationId xmlns:a16="http://schemas.microsoft.com/office/drawing/2014/main" id="{0AF2A05F-58AE-74FB-637D-44DAE83C9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44"/>
              <a:ext cx="912" cy="768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teach</a:t>
              </a:r>
            </a:p>
          </p:txBody>
        </p:sp>
        <p:sp>
          <p:nvSpPr>
            <p:cNvPr id="213049" name="Line 57">
              <a:extLst>
                <a:ext uri="{FF2B5EF4-FFF2-40B4-BE49-F238E27FC236}">
                  <a16:creationId xmlns:a16="http://schemas.microsoft.com/office/drawing/2014/main" id="{88A11B4F-0AFB-BE5E-3196-34F3A6648B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17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3050" name="Line 58">
              <a:extLst>
                <a:ext uri="{FF2B5EF4-FFF2-40B4-BE49-F238E27FC236}">
                  <a16:creationId xmlns:a16="http://schemas.microsoft.com/office/drawing/2014/main" id="{CFE8BAA3-F52E-1D49-77BC-92698B23D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72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3051" name="Text Box 59">
              <a:extLst>
                <a:ext uri="{FF2B5EF4-FFF2-40B4-BE49-F238E27FC236}">
                  <a16:creationId xmlns:a16="http://schemas.microsoft.com/office/drawing/2014/main" id="{69A148C0-F3CE-4D99-2EF1-9F36C458C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0" y="1527"/>
              <a:ext cx="422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600"/>
                <a:t>0,1</a:t>
              </a:r>
            </a:p>
          </p:txBody>
        </p:sp>
        <p:sp>
          <p:nvSpPr>
            <p:cNvPr id="213052" name="Text Box 60">
              <a:extLst>
                <a:ext uri="{FF2B5EF4-FFF2-40B4-BE49-F238E27FC236}">
                  <a16:creationId xmlns:a16="http://schemas.microsoft.com/office/drawing/2014/main" id="{6D8981E0-4557-C289-FCA6-3853A070E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4" y="1527"/>
              <a:ext cx="423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600"/>
                <a:t>1,1</a:t>
              </a:r>
            </a:p>
          </p:txBody>
        </p:sp>
      </p:grpSp>
      <p:graphicFrame>
        <p:nvGraphicFramePr>
          <p:cNvPr id="213180" name="Group 188">
            <a:extLst>
              <a:ext uri="{FF2B5EF4-FFF2-40B4-BE49-F238E27FC236}">
                <a16:creationId xmlns:a16="http://schemas.microsoft.com/office/drawing/2014/main" id="{7F01C395-8182-30F9-54A8-83269135ABF9}"/>
              </a:ext>
            </a:extLst>
          </p:cNvPr>
          <p:cNvGraphicFramePr>
            <a:graphicFrameLocks noGrp="1"/>
          </p:cNvGraphicFramePr>
          <p:nvPr/>
        </p:nvGraphicFramePr>
        <p:xfrm>
          <a:off x="2362201" y="4572001"/>
          <a:ext cx="3211513" cy="1265873"/>
        </p:xfrm>
        <a:graphic>
          <a:graphicData uri="http://schemas.openxmlformats.org/drawingml/2006/table">
            <a:tbl>
              <a:tblPr/>
              <a:tblGrid>
                <a:gridCol w="1220788">
                  <a:extLst>
                    <a:ext uri="{9D8B030D-6E8A-4147-A177-3AD203B41FA5}">
                      <a16:colId xmlns:a16="http://schemas.microsoft.com/office/drawing/2014/main" val="2879935714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3016204694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3721605477"/>
                    </a:ext>
                  </a:extLst>
                </a:gridCol>
              </a:tblGrid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Lecture #</a:t>
                      </a:r>
                      <a:endParaRPr kumimoji="0" lang="en-GB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Name</a:t>
                      </a:r>
                      <a:endParaRPr kumimoji="0" lang="en-GB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Surname</a:t>
                      </a:r>
                      <a:endParaRPr kumimoji="0" lang="en-GB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267208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1001045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Samuel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Smiths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152601"/>
                  </a:ext>
                </a:extLst>
              </a:tr>
              <a:tr h="311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101010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Mary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Van Dick</a:t>
                      </a:r>
                      <a:endParaRPr kumimoji="0" lang="en-GB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740215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10147582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Leo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Martin</a:t>
                      </a:r>
                      <a:endParaRPr kumimoji="0" lang="en-GB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720773"/>
                  </a:ext>
                </a:extLst>
              </a:tr>
            </a:tbl>
          </a:graphicData>
        </a:graphic>
      </p:graphicFrame>
      <p:graphicFrame>
        <p:nvGraphicFramePr>
          <p:cNvPr id="213181" name="Group 189">
            <a:extLst>
              <a:ext uri="{FF2B5EF4-FFF2-40B4-BE49-F238E27FC236}">
                <a16:creationId xmlns:a16="http://schemas.microsoft.com/office/drawing/2014/main" id="{A6C31859-F8A8-E4BC-2EF6-26D2AE36BE70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4616451"/>
          <a:ext cx="3062288" cy="1265873"/>
        </p:xfrm>
        <a:graphic>
          <a:graphicData uri="http://schemas.openxmlformats.org/drawingml/2006/table">
            <a:tbl>
              <a:tblPr/>
              <a:tblGrid>
                <a:gridCol w="817563">
                  <a:extLst>
                    <a:ext uri="{9D8B030D-6E8A-4147-A177-3AD203B41FA5}">
                      <a16:colId xmlns:a16="http://schemas.microsoft.com/office/drawing/2014/main" val="1344516377"/>
                    </a:ext>
                  </a:extLst>
                </a:gridCol>
                <a:gridCol w="1023937">
                  <a:extLst>
                    <a:ext uri="{9D8B030D-6E8A-4147-A177-3AD203B41FA5}">
                      <a16:colId xmlns:a16="http://schemas.microsoft.com/office/drawing/2014/main" val="2031926117"/>
                    </a:ext>
                  </a:extLst>
                </a:gridCol>
                <a:gridCol w="1220788">
                  <a:extLst>
                    <a:ext uri="{9D8B030D-6E8A-4147-A177-3AD203B41FA5}">
                      <a16:colId xmlns:a16="http://schemas.microsoft.com/office/drawing/2014/main" val="1769258613"/>
                    </a:ext>
                  </a:extLst>
                </a:gridCol>
              </a:tblGrid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Code</a:t>
                      </a:r>
                      <a:endParaRPr kumimoji="0" lang="en-GB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Name</a:t>
                      </a:r>
                      <a:endParaRPr kumimoji="0" lang="en-GB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Lecture #</a:t>
                      </a:r>
                      <a:endParaRPr kumimoji="0" lang="en-GB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480574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IDB112S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Databases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1001045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84320"/>
                  </a:ext>
                </a:extLst>
              </a:tr>
              <a:tr h="311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PRG100A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Programming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10147582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662371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PIS112S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Inf. Systems.</a:t>
                      </a:r>
                      <a:endParaRPr kumimoji="0" lang="en-GB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101010</a:t>
                      </a:r>
                      <a:endParaRPr kumimoji="0" lang="en-GB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948168"/>
                  </a:ext>
                </a:extLst>
              </a:tr>
            </a:tbl>
          </a:graphicData>
        </a:graphic>
      </p:graphicFrame>
      <p:cxnSp>
        <p:nvCxnSpPr>
          <p:cNvPr id="213176" name="AutoShape 184">
            <a:extLst>
              <a:ext uri="{FF2B5EF4-FFF2-40B4-BE49-F238E27FC236}">
                <a16:creationId xmlns:a16="http://schemas.microsoft.com/office/drawing/2014/main" id="{0BBE6F0C-9E28-8851-D755-CB408AF5C23B}"/>
              </a:ext>
            </a:extLst>
          </p:cNvPr>
          <p:cNvCxnSpPr>
            <a:cxnSpLocks noChangeShapeType="1"/>
            <a:stCxn id="0" idx="2"/>
          </p:cNvCxnSpPr>
          <p:nvPr/>
        </p:nvCxnSpPr>
        <p:spPr bwMode="auto">
          <a:xfrm rot="16200000" flipV="1">
            <a:off x="5657057" y="3140869"/>
            <a:ext cx="3175" cy="5475288"/>
          </a:xfrm>
          <a:prstGeom prst="bentConnector4">
            <a:avLst>
              <a:gd name="adj1" fmla="val -15050005"/>
              <a:gd name="adj2" fmla="val 99736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3177" name="Text Box 185">
            <a:extLst>
              <a:ext uri="{FF2B5EF4-FFF2-40B4-BE49-F238E27FC236}">
                <a16:creationId xmlns:a16="http://schemas.microsoft.com/office/drawing/2014/main" id="{87034D55-CF01-DE46-DA9C-3187AB711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6415088"/>
            <a:ext cx="2254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foreign key reference</a:t>
            </a:r>
            <a:endParaRPr lang="de-DE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3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3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3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3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145845AC-2936-7B64-F429-C68DD5CFD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54642"/>
            <a:ext cx="9144000" cy="1040757"/>
          </a:xfrm>
        </p:spPr>
        <p:txBody>
          <a:bodyPr>
            <a:normAutofit fontScale="90000"/>
          </a:bodyPr>
          <a:lstStyle/>
          <a:p>
            <a:pPr marL="857250" indent="-857250" algn="l" defTabSz="803275"/>
            <a:r>
              <a:rPr lang="en-US" altLang="en-US" dirty="0"/>
              <a:t> Mapping Many2Many Binary Relationships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5EB7FFB1-1213-FF66-76B8-51402FC7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98FF-9BFD-46F6-904A-1E888493F1BB}" type="slidenum">
              <a:rPr lang="de-DE" altLang="en-US"/>
              <a:pPr/>
              <a:t>28</a:t>
            </a:fld>
            <a:endParaRPr lang="de-DE" altLang="en-US"/>
          </a:p>
        </p:txBody>
      </p:sp>
      <p:grpSp>
        <p:nvGrpSpPr>
          <p:cNvPr id="211972" name="Group 4">
            <a:extLst>
              <a:ext uri="{FF2B5EF4-FFF2-40B4-BE49-F238E27FC236}">
                <a16:creationId xmlns:a16="http://schemas.microsoft.com/office/drawing/2014/main" id="{5CF3CC68-CDD1-84E7-5B33-AB698ED56F91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819400"/>
            <a:ext cx="4876800" cy="1066800"/>
            <a:chOff x="432" y="1344"/>
            <a:chExt cx="4704" cy="768"/>
          </a:xfrm>
        </p:grpSpPr>
        <p:sp>
          <p:nvSpPr>
            <p:cNvPr id="211973" name="Rectangle 5">
              <a:extLst>
                <a:ext uri="{FF2B5EF4-FFF2-40B4-BE49-F238E27FC236}">
                  <a16:creationId xmlns:a16="http://schemas.microsoft.com/office/drawing/2014/main" id="{0EF064FA-1649-5BD7-5843-1397F2281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134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Person</a:t>
              </a:r>
            </a:p>
          </p:txBody>
        </p:sp>
        <p:sp>
          <p:nvSpPr>
            <p:cNvPr id="211974" name="Rectangle 6">
              <a:extLst>
                <a:ext uri="{FF2B5EF4-FFF2-40B4-BE49-F238E27FC236}">
                  <a16:creationId xmlns:a16="http://schemas.microsoft.com/office/drawing/2014/main" id="{4914A1EF-8D5C-3002-72A0-43ABECD6D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440"/>
              <a:ext cx="134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Car</a:t>
              </a:r>
            </a:p>
          </p:txBody>
        </p:sp>
        <p:sp>
          <p:nvSpPr>
            <p:cNvPr id="211975" name="AutoShape 7">
              <a:extLst>
                <a:ext uri="{FF2B5EF4-FFF2-40B4-BE49-F238E27FC236}">
                  <a16:creationId xmlns:a16="http://schemas.microsoft.com/office/drawing/2014/main" id="{C0FFFCCA-83FF-CA6D-48D4-B39CEA8BB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44"/>
              <a:ext cx="912" cy="768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use</a:t>
              </a:r>
            </a:p>
          </p:txBody>
        </p:sp>
        <p:sp>
          <p:nvSpPr>
            <p:cNvPr id="211976" name="Line 8">
              <a:extLst>
                <a:ext uri="{FF2B5EF4-FFF2-40B4-BE49-F238E27FC236}">
                  <a16:creationId xmlns:a16="http://schemas.microsoft.com/office/drawing/2014/main" id="{D688DD87-EABD-CAC4-84E8-D2A0B86A99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17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1977" name="Line 9">
              <a:extLst>
                <a:ext uri="{FF2B5EF4-FFF2-40B4-BE49-F238E27FC236}">
                  <a16:creationId xmlns:a16="http://schemas.microsoft.com/office/drawing/2014/main" id="{9C6EA167-11C6-9E9D-10DF-8C2208714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72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1978" name="Text Box 10">
              <a:extLst>
                <a:ext uri="{FF2B5EF4-FFF2-40B4-BE49-F238E27FC236}">
                  <a16:creationId xmlns:a16="http://schemas.microsoft.com/office/drawing/2014/main" id="{E9C366DD-4D19-1890-B6CD-350E5632F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0" y="1527"/>
              <a:ext cx="330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600"/>
                <a:t>m</a:t>
              </a:r>
            </a:p>
          </p:txBody>
        </p:sp>
        <p:sp>
          <p:nvSpPr>
            <p:cNvPr id="211979" name="Text Box 11">
              <a:extLst>
                <a:ext uri="{FF2B5EF4-FFF2-40B4-BE49-F238E27FC236}">
                  <a16:creationId xmlns:a16="http://schemas.microsoft.com/office/drawing/2014/main" id="{F5B20822-4B75-C98B-392B-B6D738D7C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4" y="1527"/>
              <a:ext cx="276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600"/>
                <a:t>n</a:t>
              </a:r>
            </a:p>
          </p:txBody>
        </p:sp>
      </p:grpSp>
      <p:sp>
        <p:nvSpPr>
          <p:cNvPr id="211980" name="Text Box 12">
            <a:extLst>
              <a:ext uri="{FF2B5EF4-FFF2-40B4-BE49-F238E27FC236}">
                <a16:creationId xmlns:a16="http://schemas.microsoft.com/office/drawing/2014/main" id="{3CB1DA40-9440-98A9-A0D6-ED8BE47FB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1" y="1828801"/>
            <a:ext cx="68738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400"/>
              <a:t>Many2many relationships are implemented using a third association table.</a:t>
            </a:r>
          </a:p>
        </p:txBody>
      </p:sp>
      <p:grpSp>
        <p:nvGrpSpPr>
          <p:cNvPr id="211981" name="Group 13">
            <a:extLst>
              <a:ext uri="{FF2B5EF4-FFF2-40B4-BE49-F238E27FC236}">
                <a16:creationId xmlns:a16="http://schemas.microsoft.com/office/drawing/2014/main" id="{C72C6BD6-D7F1-287F-1527-6DDE85CD44C6}"/>
              </a:ext>
            </a:extLst>
          </p:cNvPr>
          <p:cNvGrpSpPr>
            <a:grpSpLocks/>
          </p:cNvGrpSpPr>
          <p:nvPr/>
        </p:nvGrpSpPr>
        <p:grpSpPr bwMode="auto">
          <a:xfrm>
            <a:off x="2627314" y="4800600"/>
            <a:ext cx="7507287" cy="1066800"/>
            <a:chOff x="695" y="3024"/>
            <a:chExt cx="4729" cy="672"/>
          </a:xfrm>
        </p:grpSpPr>
        <p:grpSp>
          <p:nvGrpSpPr>
            <p:cNvPr id="211982" name="Group 14">
              <a:extLst>
                <a:ext uri="{FF2B5EF4-FFF2-40B4-BE49-F238E27FC236}">
                  <a16:creationId xmlns:a16="http://schemas.microsoft.com/office/drawing/2014/main" id="{C86BF76D-0AF4-80A7-145B-CCF9F5E4B0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3024"/>
              <a:ext cx="1344" cy="672"/>
              <a:chOff x="3744" y="2640"/>
              <a:chExt cx="1344" cy="672"/>
            </a:xfrm>
          </p:grpSpPr>
          <p:sp>
            <p:nvSpPr>
              <p:cNvPr id="211983" name="Rectangle 15">
                <a:extLst>
                  <a:ext uri="{FF2B5EF4-FFF2-40B4-BE49-F238E27FC236}">
                    <a16:creationId xmlns:a16="http://schemas.microsoft.com/office/drawing/2014/main" id="{E59096B0-0FAE-86F5-B317-31B1343B3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640"/>
                <a:ext cx="491" cy="22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/>
                  <a:t>registration</a:t>
                </a:r>
              </a:p>
              <a:p>
                <a:pPr algn="ctr" eaLnBrk="0" hangingPunct="0"/>
                <a:r>
                  <a:rPr lang="en-US" altLang="en-US" sz="1000" b="1"/>
                  <a:t>number</a:t>
                </a:r>
              </a:p>
            </p:txBody>
          </p:sp>
          <p:sp>
            <p:nvSpPr>
              <p:cNvPr id="211984" name="Rectangle 16">
                <a:extLst>
                  <a:ext uri="{FF2B5EF4-FFF2-40B4-BE49-F238E27FC236}">
                    <a16:creationId xmlns:a16="http://schemas.microsoft.com/office/drawing/2014/main" id="{1A405C66-B30C-B58D-618C-2D3ABC49A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5" y="2640"/>
                <a:ext cx="413" cy="22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/>
                  <a:t>engine </a:t>
                </a:r>
              </a:p>
              <a:p>
                <a:pPr algn="ctr" eaLnBrk="0" hangingPunct="0"/>
                <a:r>
                  <a:rPr lang="en-US" altLang="en-US" sz="1000" b="1"/>
                  <a:t>number</a:t>
                </a:r>
              </a:p>
            </p:txBody>
          </p:sp>
          <p:sp>
            <p:nvSpPr>
              <p:cNvPr id="211985" name="Rectangle 17">
                <a:extLst>
                  <a:ext uri="{FF2B5EF4-FFF2-40B4-BE49-F238E27FC236}">
                    <a16:creationId xmlns:a16="http://schemas.microsoft.com/office/drawing/2014/main" id="{39CC2871-9E81-5A72-A4AF-E0174F439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5" y="2640"/>
                <a:ext cx="440" cy="22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 u="sng"/>
                  <a:t>frame</a:t>
                </a:r>
              </a:p>
              <a:p>
                <a:pPr algn="ctr" eaLnBrk="0" hangingPunct="0"/>
                <a:r>
                  <a:rPr lang="en-US" altLang="en-US" sz="1000" b="1" u="sng"/>
                  <a:t>number</a:t>
                </a:r>
                <a:endParaRPr lang="en-US" altLang="en-US" sz="1000" b="1"/>
              </a:p>
            </p:txBody>
          </p:sp>
          <p:sp>
            <p:nvSpPr>
              <p:cNvPr id="211986" name="Rectangle 18">
                <a:extLst>
                  <a:ext uri="{FF2B5EF4-FFF2-40B4-BE49-F238E27FC236}">
                    <a16:creationId xmlns:a16="http://schemas.microsoft.com/office/drawing/2014/main" id="{E34C2CD6-C064-F36B-E7ED-5533E1911A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864"/>
                <a:ext cx="491" cy="2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N100 G</a:t>
                </a:r>
              </a:p>
            </p:txBody>
          </p:sp>
          <p:sp>
            <p:nvSpPr>
              <p:cNvPr id="211987" name="Rectangle 19">
                <a:extLst>
                  <a:ext uri="{FF2B5EF4-FFF2-40B4-BE49-F238E27FC236}">
                    <a16:creationId xmlns:a16="http://schemas.microsoft.com/office/drawing/2014/main" id="{108C4B9C-1342-AFFE-115F-06ED2ABB8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5" y="2864"/>
                <a:ext cx="413" cy="2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Z9999</a:t>
                </a:r>
              </a:p>
            </p:txBody>
          </p:sp>
          <p:sp>
            <p:nvSpPr>
              <p:cNvPr id="211988" name="Rectangle 20">
                <a:extLst>
                  <a:ext uri="{FF2B5EF4-FFF2-40B4-BE49-F238E27FC236}">
                    <a16:creationId xmlns:a16="http://schemas.microsoft.com/office/drawing/2014/main" id="{01CA5399-4D44-78F2-AB17-79F354D021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5" y="2864"/>
                <a:ext cx="440" cy="2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12345</a:t>
                </a:r>
              </a:p>
            </p:txBody>
          </p:sp>
          <p:sp>
            <p:nvSpPr>
              <p:cNvPr id="211989" name="Rectangle 21">
                <a:extLst>
                  <a:ext uri="{FF2B5EF4-FFF2-40B4-BE49-F238E27FC236}">
                    <a16:creationId xmlns:a16="http://schemas.microsoft.com/office/drawing/2014/main" id="{3BD6BA3D-EAE6-5054-CD06-4EFEA930F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3088"/>
                <a:ext cx="491" cy="2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N 123 W</a:t>
                </a:r>
              </a:p>
            </p:txBody>
          </p:sp>
          <p:sp>
            <p:nvSpPr>
              <p:cNvPr id="211990" name="Rectangle 22">
                <a:extLst>
                  <a:ext uri="{FF2B5EF4-FFF2-40B4-BE49-F238E27FC236}">
                    <a16:creationId xmlns:a16="http://schemas.microsoft.com/office/drawing/2014/main" id="{653A3E1B-C16C-FD14-D34D-0CD100FDD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5" y="3088"/>
                <a:ext cx="413" cy="2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456 GX 22</a:t>
                </a:r>
              </a:p>
            </p:txBody>
          </p:sp>
          <p:sp>
            <p:nvSpPr>
              <p:cNvPr id="211991" name="Rectangle 23">
                <a:extLst>
                  <a:ext uri="{FF2B5EF4-FFF2-40B4-BE49-F238E27FC236}">
                    <a16:creationId xmlns:a16="http://schemas.microsoft.com/office/drawing/2014/main" id="{8D396062-079B-0BD6-D084-6F25C2141A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5" y="3088"/>
                <a:ext cx="440" cy="2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54321</a:t>
                </a:r>
              </a:p>
            </p:txBody>
          </p:sp>
        </p:grpSp>
        <p:grpSp>
          <p:nvGrpSpPr>
            <p:cNvPr id="211992" name="Group 24">
              <a:extLst>
                <a:ext uri="{FF2B5EF4-FFF2-40B4-BE49-F238E27FC236}">
                  <a16:creationId xmlns:a16="http://schemas.microsoft.com/office/drawing/2014/main" id="{7FB8E7B7-72C4-A302-C62C-3F8F887D7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5" y="3024"/>
              <a:ext cx="793" cy="432"/>
              <a:chOff x="576" y="2784"/>
              <a:chExt cx="793" cy="432"/>
            </a:xfrm>
          </p:grpSpPr>
          <p:sp>
            <p:nvSpPr>
              <p:cNvPr id="211993" name="Rectangle 25">
                <a:extLst>
                  <a:ext uri="{FF2B5EF4-FFF2-40B4-BE49-F238E27FC236}">
                    <a16:creationId xmlns:a16="http://schemas.microsoft.com/office/drawing/2014/main" id="{B1B34A9E-CE99-1EFD-C09B-7A0600B36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784"/>
                <a:ext cx="419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 u="sng"/>
                  <a:t>name</a:t>
                </a:r>
                <a:endParaRPr lang="en-US" altLang="en-US" sz="1000" b="1"/>
              </a:p>
            </p:txBody>
          </p:sp>
          <p:sp>
            <p:nvSpPr>
              <p:cNvPr id="211994" name="Rectangle 26">
                <a:extLst>
                  <a:ext uri="{FF2B5EF4-FFF2-40B4-BE49-F238E27FC236}">
                    <a16:creationId xmlns:a16="http://schemas.microsoft.com/office/drawing/2014/main" id="{58F70209-CB58-3FE2-7B40-DC46C8840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5" y="2784"/>
                <a:ext cx="374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/>
                  <a:t>First_name</a:t>
                </a:r>
              </a:p>
            </p:txBody>
          </p:sp>
          <p:sp>
            <p:nvSpPr>
              <p:cNvPr id="211995" name="Rectangle 27">
                <a:extLst>
                  <a:ext uri="{FF2B5EF4-FFF2-40B4-BE49-F238E27FC236}">
                    <a16:creationId xmlns:a16="http://schemas.microsoft.com/office/drawing/2014/main" id="{01F3C164-563D-80C6-D8F8-9D3290D87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28"/>
                <a:ext cx="419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De Wyk</a:t>
                </a:r>
              </a:p>
            </p:txBody>
          </p:sp>
          <p:sp>
            <p:nvSpPr>
              <p:cNvPr id="211996" name="Rectangle 28">
                <a:extLst>
                  <a:ext uri="{FF2B5EF4-FFF2-40B4-BE49-F238E27FC236}">
                    <a16:creationId xmlns:a16="http://schemas.microsoft.com/office/drawing/2014/main" id="{BD7A9418-B0F6-106C-D53F-C5F471BBA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5" y="2928"/>
                <a:ext cx="3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Frederik</a:t>
                </a:r>
              </a:p>
            </p:txBody>
          </p:sp>
          <p:sp>
            <p:nvSpPr>
              <p:cNvPr id="211997" name="Rectangle 29">
                <a:extLst>
                  <a:ext uri="{FF2B5EF4-FFF2-40B4-BE49-F238E27FC236}">
                    <a16:creationId xmlns:a16="http://schemas.microsoft.com/office/drawing/2014/main" id="{A0E5EA13-EA5F-60BC-431A-BAF45E3DF9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3072"/>
                <a:ext cx="419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Meier</a:t>
                </a:r>
              </a:p>
            </p:txBody>
          </p:sp>
          <p:sp>
            <p:nvSpPr>
              <p:cNvPr id="211998" name="Rectangle 30">
                <a:extLst>
                  <a:ext uri="{FF2B5EF4-FFF2-40B4-BE49-F238E27FC236}">
                    <a16:creationId xmlns:a16="http://schemas.microsoft.com/office/drawing/2014/main" id="{54E51413-3E11-767F-EA6B-B1A3230E43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5" y="3072"/>
                <a:ext cx="3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Willi</a:t>
                </a:r>
              </a:p>
            </p:txBody>
          </p:sp>
        </p:grpSp>
      </p:grpSp>
      <p:grpSp>
        <p:nvGrpSpPr>
          <p:cNvPr id="211999" name="Group 31">
            <a:extLst>
              <a:ext uri="{FF2B5EF4-FFF2-40B4-BE49-F238E27FC236}">
                <a16:creationId xmlns:a16="http://schemas.microsoft.com/office/drawing/2014/main" id="{BDBF1B99-1A5A-CDC5-5CB9-F79FA5CC4722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848100"/>
            <a:ext cx="1981200" cy="2070100"/>
            <a:chOff x="2208" y="2424"/>
            <a:chExt cx="1248" cy="1304"/>
          </a:xfrm>
        </p:grpSpPr>
        <p:grpSp>
          <p:nvGrpSpPr>
            <p:cNvPr id="212000" name="Group 32">
              <a:extLst>
                <a:ext uri="{FF2B5EF4-FFF2-40B4-BE49-F238E27FC236}">
                  <a16:creationId xmlns:a16="http://schemas.microsoft.com/office/drawing/2014/main" id="{81F4205F-9086-D997-A0A9-1E05B1ADC3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640"/>
              <a:ext cx="1248" cy="1088"/>
              <a:chOff x="2208" y="2640"/>
              <a:chExt cx="1248" cy="1088"/>
            </a:xfrm>
          </p:grpSpPr>
          <p:sp>
            <p:nvSpPr>
              <p:cNvPr id="212001" name="Rectangle 33">
                <a:extLst>
                  <a:ext uri="{FF2B5EF4-FFF2-40B4-BE49-F238E27FC236}">
                    <a16:creationId xmlns:a16="http://schemas.microsoft.com/office/drawing/2014/main" id="{BF0691D1-DEDD-35FC-D4B8-77740682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640"/>
                <a:ext cx="659" cy="272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/>
                  <a:t>User name</a:t>
                </a:r>
              </a:p>
            </p:txBody>
          </p:sp>
          <p:sp>
            <p:nvSpPr>
              <p:cNvPr id="212002" name="Rectangle 34">
                <a:extLst>
                  <a:ext uri="{FF2B5EF4-FFF2-40B4-BE49-F238E27FC236}">
                    <a16:creationId xmlns:a16="http://schemas.microsoft.com/office/drawing/2014/main" id="{8A550314-925D-238B-8480-622081F88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7" y="2640"/>
                <a:ext cx="589" cy="272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/>
                  <a:t>frame_number</a:t>
                </a:r>
              </a:p>
            </p:txBody>
          </p:sp>
          <p:sp>
            <p:nvSpPr>
              <p:cNvPr id="212003" name="Rectangle 35">
                <a:extLst>
                  <a:ext uri="{FF2B5EF4-FFF2-40B4-BE49-F238E27FC236}">
                    <a16:creationId xmlns:a16="http://schemas.microsoft.com/office/drawing/2014/main" id="{A8648E3D-7D40-8FB2-68C1-79EEAD247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912"/>
                <a:ext cx="659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De Wyk</a:t>
                </a:r>
              </a:p>
            </p:txBody>
          </p:sp>
          <p:sp>
            <p:nvSpPr>
              <p:cNvPr id="212004" name="Rectangle 36">
                <a:extLst>
                  <a:ext uri="{FF2B5EF4-FFF2-40B4-BE49-F238E27FC236}">
                    <a16:creationId xmlns:a16="http://schemas.microsoft.com/office/drawing/2014/main" id="{1021E8B9-EF78-80BA-DA0C-D266A71814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51" y="2912"/>
                <a:ext cx="0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12345</a:t>
                </a:r>
              </a:p>
            </p:txBody>
          </p:sp>
          <p:sp>
            <p:nvSpPr>
              <p:cNvPr id="212005" name="Rectangle 37">
                <a:extLst>
                  <a:ext uri="{FF2B5EF4-FFF2-40B4-BE49-F238E27FC236}">
                    <a16:creationId xmlns:a16="http://schemas.microsoft.com/office/drawing/2014/main" id="{75951D70-A2A6-EBEE-9D2C-E56F0EE80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3184"/>
                <a:ext cx="659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De Wyk</a:t>
                </a:r>
              </a:p>
            </p:txBody>
          </p:sp>
          <p:sp>
            <p:nvSpPr>
              <p:cNvPr id="212006" name="Rectangle 38">
                <a:extLst>
                  <a:ext uri="{FF2B5EF4-FFF2-40B4-BE49-F238E27FC236}">
                    <a16:creationId xmlns:a16="http://schemas.microsoft.com/office/drawing/2014/main" id="{30F170D3-9A72-B067-58DC-F2743805F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7" y="3184"/>
                <a:ext cx="589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54321</a:t>
                </a:r>
              </a:p>
            </p:txBody>
          </p:sp>
          <p:sp>
            <p:nvSpPr>
              <p:cNvPr id="212007" name="Rectangle 39">
                <a:extLst>
                  <a:ext uri="{FF2B5EF4-FFF2-40B4-BE49-F238E27FC236}">
                    <a16:creationId xmlns:a16="http://schemas.microsoft.com/office/drawing/2014/main" id="{78FEC343-0AB6-5749-CE53-676A6662C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3456"/>
                <a:ext cx="659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Meier</a:t>
                </a:r>
              </a:p>
            </p:txBody>
          </p:sp>
          <p:sp>
            <p:nvSpPr>
              <p:cNvPr id="212008" name="Rectangle 40">
                <a:extLst>
                  <a:ext uri="{FF2B5EF4-FFF2-40B4-BE49-F238E27FC236}">
                    <a16:creationId xmlns:a16="http://schemas.microsoft.com/office/drawing/2014/main" id="{C7A53414-B793-DF03-3319-FCEA8681E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7" y="3456"/>
                <a:ext cx="589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54321</a:t>
                </a:r>
              </a:p>
            </p:txBody>
          </p:sp>
        </p:grpSp>
        <p:sp>
          <p:nvSpPr>
            <p:cNvPr id="212009" name="Text Box 41">
              <a:extLst>
                <a:ext uri="{FF2B5EF4-FFF2-40B4-BE49-F238E27FC236}">
                  <a16:creationId xmlns:a16="http://schemas.microsoft.com/office/drawing/2014/main" id="{C7201DDF-D9EA-A140-AECE-5708E1BC2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424"/>
              <a:ext cx="10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/>
                <a:t>table car_usage </a:t>
              </a:r>
            </a:p>
          </p:txBody>
        </p:sp>
      </p:grpSp>
      <p:grpSp>
        <p:nvGrpSpPr>
          <p:cNvPr id="212010" name="Group 42">
            <a:extLst>
              <a:ext uri="{FF2B5EF4-FFF2-40B4-BE49-F238E27FC236}">
                <a16:creationId xmlns:a16="http://schemas.microsoft.com/office/drawing/2014/main" id="{32923451-5A67-CCFF-3842-AD5A0E76FEC0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495800"/>
            <a:ext cx="1676400" cy="0"/>
            <a:chOff x="2352" y="2832"/>
            <a:chExt cx="1056" cy="0"/>
          </a:xfrm>
        </p:grpSpPr>
        <p:sp>
          <p:nvSpPr>
            <p:cNvPr id="212011" name="Line 43">
              <a:extLst>
                <a:ext uri="{FF2B5EF4-FFF2-40B4-BE49-F238E27FC236}">
                  <a16:creationId xmlns:a16="http://schemas.microsoft.com/office/drawing/2014/main" id="{E38EFC6E-265C-3FAF-4E8B-C8E11F9520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83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2012" name="Line 44">
              <a:extLst>
                <a:ext uri="{FF2B5EF4-FFF2-40B4-BE49-F238E27FC236}">
                  <a16:creationId xmlns:a16="http://schemas.microsoft.com/office/drawing/2014/main" id="{A706E2EE-B4AF-1C1A-6F0C-F2F256738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83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12013" name="Group 45">
            <a:extLst>
              <a:ext uri="{FF2B5EF4-FFF2-40B4-BE49-F238E27FC236}">
                <a16:creationId xmlns:a16="http://schemas.microsoft.com/office/drawing/2014/main" id="{00C980F0-FFCC-5177-1266-9E255EDB7B63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4114800"/>
            <a:ext cx="2971800" cy="1905000"/>
            <a:chOff x="912" y="2592"/>
            <a:chExt cx="1872" cy="1200"/>
          </a:xfrm>
        </p:grpSpPr>
        <p:sp>
          <p:nvSpPr>
            <p:cNvPr id="212014" name="Rectangle 46">
              <a:extLst>
                <a:ext uri="{FF2B5EF4-FFF2-40B4-BE49-F238E27FC236}">
                  <a16:creationId xmlns:a16="http://schemas.microsoft.com/office/drawing/2014/main" id="{1BFEFFF5-F3C6-D55D-9323-CAA0922B8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592"/>
              <a:ext cx="624" cy="1200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2015" name="Line 47">
              <a:extLst>
                <a:ext uri="{FF2B5EF4-FFF2-40B4-BE49-F238E27FC236}">
                  <a16:creationId xmlns:a16="http://schemas.microsoft.com/office/drawing/2014/main" id="{0C4E6753-3569-C2DB-7438-54C6407BDD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2"/>
              <a:ext cx="1248" cy="43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12016" name="Group 48">
            <a:extLst>
              <a:ext uri="{FF2B5EF4-FFF2-40B4-BE49-F238E27FC236}">
                <a16:creationId xmlns:a16="http://schemas.microsoft.com/office/drawing/2014/main" id="{71B3B257-734A-B345-A4A4-B69A73C4B8D0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114800"/>
            <a:ext cx="2971800" cy="1905000"/>
            <a:chOff x="2928" y="2592"/>
            <a:chExt cx="1872" cy="1200"/>
          </a:xfrm>
        </p:grpSpPr>
        <p:sp>
          <p:nvSpPr>
            <p:cNvPr id="212017" name="Rectangle 49">
              <a:extLst>
                <a:ext uri="{FF2B5EF4-FFF2-40B4-BE49-F238E27FC236}">
                  <a16:creationId xmlns:a16="http://schemas.microsoft.com/office/drawing/2014/main" id="{BE8F2197-67FB-FD54-CC05-6C286C70B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592"/>
              <a:ext cx="624" cy="1200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2018" name="Line 50">
              <a:extLst>
                <a:ext uri="{FF2B5EF4-FFF2-40B4-BE49-F238E27FC236}">
                  <a16:creationId xmlns:a16="http://schemas.microsoft.com/office/drawing/2014/main" id="{B7FC1E90-1878-51C1-E26F-37AAED607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592"/>
              <a:ext cx="1248" cy="43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12019" name="Text Box 51">
            <a:extLst>
              <a:ext uri="{FF2B5EF4-FFF2-40B4-BE49-F238E27FC236}">
                <a16:creationId xmlns:a16="http://schemas.microsoft.com/office/drawing/2014/main" id="{AC39E41B-0241-37B8-717F-F8EA27CEC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988050"/>
            <a:ext cx="389773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600"/>
              <a:t>Typical query: select all cars used by Mr. Meyer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1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1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2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2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2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2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2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2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2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2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43ED46B0-64CD-6BEA-BED2-9809B11F93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1143000"/>
          </a:xfrm>
        </p:spPr>
        <p:txBody>
          <a:bodyPr>
            <a:normAutofit fontScale="90000"/>
          </a:bodyPr>
          <a:lstStyle/>
          <a:p>
            <a:pPr marL="857250" indent="-857250" algn="l"/>
            <a:r>
              <a:rPr lang="en-US" altLang="en-US" dirty="0"/>
              <a:t>Mapping Many2Many Binary Relationships 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4D3FE6B-9B66-5076-5543-FCBD22E9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F2E30-3B73-40BC-951E-1EAFE7BDA01B}" type="slidenum">
              <a:rPr lang="de-DE" altLang="en-US"/>
              <a:pPr/>
              <a:t>29</a:t>
            </a:fld>
            <a:endParaRPr lang="de-DE" altLang="en-US"/>
          </a:p>
        </p:txBody>
      </p:sp>
      <p:sp>
        <p:nvSpPr>
          <p:cNvPr id="214019" name="Text Box 3">
            <a:extLst>
              <a:ext uri="{FF2B5EF4-FFF2-40B4-BE49-F238E27FC236}">
                <a16:creationId xmlns:a16="http://schemas.microsoft.com/office/drawing/2014/main" id="{3084C181-A0D6-061A-F843-800CC6EBE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556" y="1485901"/>
            <a:ext cx="10058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/>
              <a:t>Sometimes the association tables get a different primary key, e.g. for the following reasons:</a:t>
            </a:r>
            <a:endParaRPr lang="de-DE" altLang="en-US" sz="2400" dirty="0"/>
          </a:p>
        </p:txBody>
      </p:sp>
      <p:sp>
        <p:nvSpPr>
          <p:cNvPr id="214020" name="Text Box 4">
            <a:extLst>
              <a:ext uri="{FF2B5EF4-FFF2-40B4-BE49-F238E27FC236}">
                <a16:creationId xmlns:a16="http://schemas.microsoft.com/office/drawing/2014/main" id="{1407CAC5-47EF-D818-9F5B-74610D0AD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733" y="2530475"/>
            <a:ext cx="10058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36550" indent="-336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20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dirty="0"/>
              <a:t>1. There is a natural identifier for the association familiar to the end user (like </a:t>
            </a:r>
            <a:r>
              <a:rPr lang="en-US" altLang="en-US" dirty="0" err="1"/>
              <a:t>ShipmentID</a:t>
            </a:r>
            <a:r>
              <a:rPr lang="en-US" altLang="en-US" dirty="0"/>
              <a:t> for the shipment relationship between the entity types CUSTOMER and VENDOR). This is sometimes called a </a:t>
            </a:r>
            <a:r>
              <a:rPr lang="en-US" altLang="en-US" i="1" dirty="0"/>
              <a:t>surrogate</a:t>
            </a:r>
            <a:r>
              <a:rPr lang="en-US" altLang="en-US" dirty="0"/>
              <a:t> identifier.</a:t>
            </a:r>
            <a:endParaRPr lang="de-DE" altLang="en-US" dirty="0"/>
          </a:p>
        </p:txBody>
      </p:sp>
      <p:sp>
        <p:nvSpPr>
          <p:cNvPr id="214021" name="Text Box 5">
            <a:extLst>
              <a:ext uri="{FF2B5EF4-FFF2-40B4-BE49-F238E27FC236}">
                <a16:creationId xmlns:a16="http://schemas.microsoft.com/office/drawing/2014/main" id="{E3BBAF9E-7665-3A67-1D1F-93C1F3E81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733" y="4086225"/>
            <a:ext cx="104422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36550" indent="-336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20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dirty="0"/>
              <a:t>2. The copied primary keys are not sufficient to identify relationships. (e.g., there are many shipments between the same customer / vendor), so we may want to add additional attributes (like shipment date).</a:t>
            </a:r>
            <a:endParaRPr lang="de-DE" altLang="en-US" dirty="0"/>
          </a:p>
        </p:txBody>
      </p:sp>
      <p:sp>
        <p:nvSpPr>
          <p:cNvPr id="214022" name="Text Box 6">
            <a:extLst>
              <a:ext uri="{FF2B5EF4-FFF2-40B4-BE49-F238E27FC236}">
                <a16:creationId xmlns:a16="http://schemas.microsoft.com/office/drawing/2014/main" id="{C8202A31-6010-92DE-D81F-EB10EC9A3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733" y="5159022"/>
            <a:ext cx="106228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20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dirty="0"/>
              <a:t>In both cases, the foreign keys remain despite the modified definition of the primary key in the association table.</a:t>
            </a:r>
            <a:endParaRPr lang="de-DE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5E9289EF-1919-41A6-FD2E-27D83C1B2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1143000"/>
          </a:xfrm>
        </p:spPr>
        <p:txBody>
          <a:bodyPr>
            <a:normAutofit/>
          </a:bodyPr>
          <a:lstStyle/>
          <a:p>
            <a:pPr marL="857250" indent="-857250" algn="l"/>
            <a:r>
              <a:rPr lang="en-US" altLang="en-US" dirty="0"/>
              <a:t>Mapping One2Many Unary Relationships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DBDDD0AB-F2C2-A8B7-5475-68AC398C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9E9C-C2F7-49BD-9C61-9327F31BD240}" type="slidenum">
              <a:rPr lang="de-DE" altLang="en-US"/>
              <a:pPr/>
              <a:t>30</a:t>
            </a:fld>
            <a:endParaRPr lang="de-DE" altLang="en-US"/>
          </a:p>
        </p:txBody>
      </p:sp>
      <p:sp>
        <p:nvSpPr>
          <p:cNvPr id="215043" name="Text Box 3">
            <a:extLst>
              <a:ext uri="{FF2B5EF4-FFF2-40B4-BE49-F238E27FC236}">
                <a16:creationId xmlns:a16="http://schemas.microsoft.com/office/drawing/2014/main" id="{4CF430B8-72F0-E950-05A4-DBFB08281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447801"/>
            <a:ext cx="8610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/>
              <a:t>A foreign key is added to the relation that references primary key values in the same relation.</a:t>
            </a:r>
            <a:endParaRPr lang="de-DE" altLang="en-US" sz="2400"/>
          </a:p>
        </p:txBody>
      </p:sp>
      <p:sp>
        <p:nvSpPr>
          <p:cNvPr id="215053" name="Text Box 13">
            <a:extLst>
              <a:ext uri="{FF2B5EF4-FFF2-40B4-BE49-F238E27FC236}">
                <a16:creationId xmlns:a16="http://schemas.microsoft.com/office/drawing/2014/main" id="{825FC9B0-7590-73DC-6582-48AFA2E0B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590800"/>
            <a:ext cx="15198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E-R Diagram</a:t>
            </a:r>
            <a:endParaRPr lang="de-DE" altLang="en-US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15054" name="Text Box 14">
            <a:extLst>
              <a:ext uri="{FF2B5EF4-FFF2-40B4-BE49-F238E27FC236}">
                <a16:creationId xmlns:a16="http://schemas.microsoft.com/office/drawing/2014/main" id="{8F9CD1C0-0FA0-69BF-A990-B44F4A1DA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200" y="3810001"/>
            <a:ext cx="195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Relations (Tables)</a:t>
            </a:r>
            <a:endParaRPr lang="de-DE" altLang="en-US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15060" name="Rectangle 20">
            <a:extLst>
              <a:ext uri="{FF2B5EF4-FFF2-40B4-BE49-F238E27FC236}">
                <a16:creationId xmlns:a16="http://schemas.microsoft.com/office/drawing/2014/main" id="{0DAE903F-6256-B1E6-0799-8D9C59254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710113"/>
            <a:ext cx="1524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u="sng"/>
              <a:t>id</a:t>
            </a:r>
            <a:endParaRPr lang="de-DE" altLang="en-US" b="1" u="sng"/>
          </a:p>
        </p:txBody>
      </p:sp>
      <p:sp>
        <p:nvSpPr>
          <p:cNvPr id="215061" name="Rectangle 21">
            <a:extLst>
              <a:ext uri="{FF2B5EF4-FFF2-40B4-BE49-F238E27FC236}">
                <a16:creationId xmlns:a16="http://schemas.microsoft.com/office/drawing/2014/main" id="{9A4266C7-29BE-A7E3-99D3-C4FA6E723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710113"/>
            <a:ext cx="1524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/>
              <a:t>name</a:t>
            </a:r>
            <a:endParaRPr lang="de-DE" altLang="en-US" b="1"/>
          </a:p>
        </p:txBody>
      </p:sp>
      <p:sp>
        <p:nvSpPr>
          <p:cNvPr id="215062" name="Text Box 22">
            <a:extLst>
              <a:ext uri="{FF2B5EF4-FFF2-40B4-BE49-F238E27FC236}">
                <a16:creationId xmlns:a16="http://schemas.microsoft.com/office/drawing/2014/main" id="{51ADEA9A-14BC-BE46-FEAC-E35A4FBB5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343400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PERSON</a:t>
            </a:r>
            <a:endParaRPr lang="de-DE" altLang="en-US" b="1"/>
          </a:p>
        </p:txBody>
      </p:sp>
      <p:grpSp>
        <p:nvGrpSpPr>
          <p:cNvPr id="215063" name="Group 23">
            <a:extLst>
              <a:ext uri="{FF2B5EF4-FFF2-40B4-BE49-F238E27FC236}">
                <a16:creationId xmlns:a16="http://schemas.microsoft.com/office/drawing/2014/main" id="{1FBD09E7-7893-1855-1307-EC7366F3E66F}"/>
              </a:ext>
            </a:extLst>
          </p:cNvPr>
          <p:cNvGrpSpPr>
            <a:grpSpLocks/>
          </p:cNvGrpSpPr>
          <p:nvPr/>
        </p:nvGrpSpPr>
        <p:grpSpPr bwMode="auto">
          <a:xfrm>
            <a:off x="2971801" y="5257800"/>
            <a:ext cx="3198813" cy="871538"/>
            <a:chOff x="912" y="3585"/>
            <a:chExt cx="2731" cy="564"/>
          </a:xfrm>
        </p:grpSpPr>
        <p:cxnSp>
          <p:nvCxnSpPr>
            <p:cNvPr id="215064" name="AutoShape 24">
              <a:extLst>
                <a:ext uri="{FF2B5EF4-FFF2-40B4-BE49-F238E27FC236}">
                  <a16:creationId xmlns:a16="http://schemas.microsoft.com/office/drawing/2014/main" id="{02565962-57E0-70FB-F2E6-9A5E60939A22}"/>
                </a:ext>
              </a:extLst>
            </p:cNvPr>
            <p:cNvCxnSpPr>
              <a:cxnSpLocks noChangeShapeType="1"/>
              <a:endCxn id="215060" idx="2"/>
            </p:cNvCxnSpPr>
            <p:nvPr/>
          </p:nvCxnSpPr>
          <p:spPr bwMode="auto">
            <a:xfrm rot="5400000">
              <a:off x="2210" y="2287"/>
              <a:ext cx="6" cy="2602"/>
            </a:xfrm>
            <a:prstGeom prst="bentConnector3">
              <a:avLst>
                <a:gd name="adj1" fmla="val 5483329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5065" name="Text Box 25">
              <a:extLst>
                <a:ext uri="{FF2B5EF4-FFF2-40B4-BE49-F238E27FC236}">
                  <a16:creationId xmlns:a16="http://schemas.microsoft.com/office/drawing/2014/main" id="{31B5993A-753E-58BB-D58D-8AF6BC780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8" y="3912"/>
              <a:ext cx="1925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solidFill>
                    <a:srgbClr val="FF0000"/>
                  </a:solidFill>
                </a:rPr>
                <a:t>foreign key reference</a:t>
              </a:r>
              <a:endParaRPr lang="de-DE" altLang="en-US" b="1">
                <a:solidFill>
                  <a:srgbClr val="FF0000"/>
                </a:solidFill>
              </a:endParaRPr>
            </a:p>
          </p:txBody>
        </p:sp>
      </p:grpSp>
      <p:grpSp>
        <p:nvGrpSpPr>
          <p:cNvPr id="215068" name="Group 28">
            <a:extLst>
              <a:ext uri="{FF2B5EF4-FFF2-40B4-BE49-F238E27FC236}">
                <a16:creationId xmlns:a16="http://schemas.microsoft.com/office/drawing/2014/main" id="{B5ED6B83-E5B5-146F-18E6-A05D8C54E4CD}"/>
              </a:ext>
            </a:extLst>
          </p:cNvPr>
          <p:cNvGrpSpPr>
            <a:grpSpLocks/>
          </p:cNvGrpSpPr>
          <p:nvPr/>
        </p:nvGrpSpPr>
        <p:grpSpPr bwMode="auto">
          <a:xfrm>
            <a:off x="4949826" y="2400300"/>
            <a:ext cx="3584575" cy="1485900"/>
            <a:chOff x="1584" y="1512"/>
            <a:chExt cx="2258" cy="936"/>
          </a:xfrm>
        </p:grpSpPr>
        <p:sp>
          <p:nvSpPr>
            <p:cNvPr id="215046" name="Rectangle 6">
              <a:extLst>
                <a:ext uri="{FF2B5EF4-FFF2-40B4-BE49-F238E27FC236}">
                  <a16:creationId xmlns:a16="http://schemas.microsoft.com/office/drawing/2014/main" id="{6FDD3EC0-40CA-E678-8C8A-2A7A62C5F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680"/>
              <a:ext cx="120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PERSON</a:t>
              </a:r>
              <a:endParaRPr lang="de-DE" altLang="en-US" b="1"/>
            </a:p>
          </p:txBody>
        </p:sp>
        <p:sp>
          <p:nvSpPr>
            <p:cNvPr id="215047" name="Oval 7">
              <a:extLst>
                <a:ext uri="{FF2B5EF4-FFF2-40B4-BE49-F238E27FC236}">
                  <a16:creationId xmlns:a16="http://schemas.microsoft.com/office/drawing/2014/main" id="{D6A9D605-69DF-9A97-5DF9-F0087AEEC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160"/>
              <a:ext cx="86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name</a:t>
              </a:r>
              <a:endParaRPr lang="de-DE" altLang="en-US" b="1"/>
            </a:p>
          </p:txBody>
        </p:sp>
        <p:cxnSp>
          <p:nvCxnSpPr>
            <p:cNvPr id="215050" name="AutoShape 10">
              <a:extLst>
                <a:ext uri="{FF2B5EF4-FFF2-40B4-BE49-F238E27FC236}">
                  <a16:creationId xmlns:a16="http://schemas.microsoft.com/office/drawing/2014/main" id="{C7D25CF9-A2E5-8E41-C8D5-95DE9EDDA048}"/>
                </a:ext>
              </a:extLst>
            </p:cNvPr>
            <p:cNvCxnSpPr>
              <a:cxnSpLocks noChangeShapeType="1"/>
              <a:stCxn id="215046" idx="2"/>
              <a:endCxn id="215047" idx="0"/>
            </p:cNvCxnSpPr>
            <p:nvPr/>
          </p:nvCxnSpPr>
          <p:spPr bwMode="auto">
            <a:xfrm>
              <a:off x="2568" y="1968"/>
              <a:ext cx="504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5051" name="Oval 11">
              <a:extLst>
                <a:ext uri="{FF2B5EF4-FFF2-40B4-BE49-F238E27FC236}">
                  <a16:creationId xmlns:a16="http://schemas.microsoft.com/office/drawing/2014/main" id="{AE384A82-FA79-EDAD-BE90-BCFFAFC9C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160"/>
              <a:ext cx="86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id</a:t>
              </a:r>
              <a:endParaRPr lang="de-DE" altLang="en-US" b="1" u="sng"/>
            </a:p>
          </p:txBody>
        </p:sp>
        <p:cxnSp>
          <p:nvCxnSpPr>
            <p:cNvPr id="215052" name="AutoShape 12">
              <a:extLst>
                <a:ext uri="{FF2B5EF4-FFF2-40B4-BE49-F238E27FC236}">
                  <a16:creationId xmlns:a16="http://schemas.microsoft.com/office/drawing/2014/main" id="{21584B46-0443-D167-CB44-B56EB20CA293}"/>
                </a:ext>
              </a:extLst>
            </p:cNvPr>
            <p:cNvCxnSpPr>
              <a:cxnSpLocks noChangeShapeType="1"/>
              <a:stCxn id="215046" idx="2"/>
              <a:endCxn id="215051" idx="0"/>
            </p:cNvCxnSpPr>
            <p:nvPr/>
          </p:nvCxnSpPr>
          <p:spPr bwMode="auto">
            <a:xfrm flipH="1">
              <a:off x="2016" y="1968"/>
              <a:ext cx="552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066" name="AutoShape 26">
              <a:extLst>
                <a:ext uri="{FF2B5EF4-FFF2-40B4-BE49-F238E27FC236}">
                  <a16:creationId xmlns:a16="http://schemas.microsoft.com/office/drawing/2014/main" id="{0E263F31-427E-5971-497A-ED5F6CC2CA26}"/>
                </a:ext>
              </a:extLst>
            </p:cNvPr>
            <p:cNvCxnSpPr>
              <a:cxnSpLocks noChangeShapeType="1"/>
              <a:stCxn id="215046" idx="3"/>
              <a:endCxn id="215046" idx="0"/>
            </p:cNvCxnSpPr>
            <p:nvPr/>
          </p:nvCxnSpPr>
          <p:spPr bwMode="auto">
            <a:xfrm flipH="1" flipV="1">
              <a:off x="2568" y="1680"/>
              <a:ext cx="600" cy="144"/>
            </a:xfrm>
            <a:prstGeom prst="bentConnector4">
              <a:avLst>
                <a:gd name="adj1" fmla="val -24000"/>
                <a:gd name="adj2" fmla="val 3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5067" name="Text Box 27">
              <a:extLst>
                <a:ext uri="{FF2B5EF4-FFF2-40B4-BE49-F238E27FC236}">
                  <a16:creationId xmlns:a16="http://schemas.microsoft.com/office/drawing/2014/main" id="{C9EBEF5C-C272-5BAC-6317-CE99D2D65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1512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father</a:t>
              </a:r>
              <a:endParaRPr lang="de-DE" altLang="en-US" b="1"/>
            </a:p>
          </p:txBody>
        </p:sp>
      </p:grpSp>
      <p:sp>
        <p:nvSpPr>
          <p:cNvPr id="215069" name="Rectangle 29">
            <a:extLst>
              <a:ext uri="{FF2B5EF4-FFF2-40B4-BE49-F238E27FC236}">
                <a16:creationId xmlns:a16="http://schemas.microsoft.com/office/drawing/2014/main" id="{C9510674-9A11-BEA1-5F72-EEA043387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088" y="4713288"/>
            <a:ext cx="1524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/>
              <a:t>father_id</a:t>
            </a:r>
            <a:endParaRPr lang="de-DE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A60F9FC4-E48F-6C84-E955-72D36427B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449998"/>
            <a:ext cx="9144000" cy="769201"/>
          </a:xfrm>
        </p:spPr>
        <p:txBody>
          <a:bodyPr>
            <a:normAutofit/>
          </a:bodyPr>
          <a:lstStyle/>
          <a:p>
            <a:pPr marL="911225" indent="-857250" algn="l" defTabSz="857250"/>
            <a:r>
              <a:rPr lang="en-US" altLang="en-US" dirty="0"/>
              <a:t>Mapping One2Many Unary Relationships 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481CC73-9346-6E95-F410-667B46E0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5E0BE-3A4A-4AC9-9821-EDE1AAA80ED3}" type="slidenum">
              <a:rPr lang="de-DE" altLang="en-US"/>
              <a:pPr/>
              <a:t>31</a:t>
            </a:fld>
            <a:endParaRPr lang="de-DE" altLang="en-US"/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D0C2F264-D044-3250-565D-89077A259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76399"/>
            <a:ext cx="838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/>
              <a:t>Node that one2 many relationships are used to model hierarchies (tree structures) !</a:t>
            </a:r>
            <a:endParaRPr lang="de-DE" altLang="en-US" sz="2400" dirty="0"/>
          </a:p>
        </p:txBody>
      </p:sp>
      <p:grpSp>
        <p:nvGrpSpPr>
          <p:cNvPr id="216098" name="Group 34">
            <a:extLst>
              <a:ext uri="{FF2B5EF4-FFF2-40B4-BE49-F238E27FC236}">
                <a16:creationId xmlns:a16="http://schemas.microsoft.com/office/drawing/2014/main" id="{F88640E9-50A9-E93D-DCB3-677C7AFDDE7B}"/>
              </a:ext>
            </a:extLst>
          </p:cNvPr>
          <p:cNvGrpSpPr>
            <a:grpSpLocks/>
          </p:cNvGrpSpPr>
          <p:nvPr/>
        </p:nvGrpSpPr>
        <p:grpSpPr bwMode="auto">
          <a:xfrm>
            <a:off x="2095500" y="2743200"/>
            <a:ext cx="3429000" cy="3200400"/>
            <a:chOff x="288" y="2064"/>
            <a:chExt cx="2160" cy="2016"/>
          </a:xfrm>
        </p:grpSpPr>
        <p:grpSp>
          <p:nvGrpSpPr>
            <p:cNvPr id="216073" name="Group 9">
              <a:extLst>
                <a:ext uri="{FF2B5EF4-FFF2-40B4-BE49-F238E27FC236}">
                  <a16:creationId xmlns:a16="http://schemas.microsoft.com/office/drawing/2014/main" id="{CB72B058-9B30-8D66-BB45-0B82F3CA28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064"/>
              <a:ext cx="2160" cy="288"/>
              <a:chOff x="288" y="2448"/>
              <a:chExt cx="2160" cy="288"/>
            </a:xfrm>
          </p:grpSpPr>
          <p:sp>
            <p:nvSpPr>
              <p:cNvPr id="216068" name="Rectangle 4">
                <a:extLst>
                  <a:ext uri="{FF2B5EF4-FFF2-40B4-BE49-F238E27FC236}">
                    <a16:creationId xmlns:a16="http://schemas.microsoft.com/office/drawing/2014/main" id="{5CFA45DA-BF04-6E19-3C2C-89F34C3CD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448"/>
                <a:ext cx="720" cy="28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id</a:t>
                </a:r>
                <a:endParaRPr lang="de-DE" altLang="en-US" b="1"/>
              </a:p>
            </p:txBody>
          </p:sp>
          <p:sp>
            <p:nvSpPr>
              <p:cNvPr id="216070" name="Rectangle 6">
                <a:extLst>
                  <a:ext uri="{FF2B5EF4-FFF2-40B4-BE49-F238E27FC236}">
                    <a16:creationId xmlns:a16="http://schemas.microsoft.com/office/drawing/2014/main" id="{530A0F9D-71A4-2E9D-3B99-F36D854EE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448"/>
                <a:ext cx="720" cy="28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name</a:t>
                </a:r>
                <a:endParaRPr lang="de-DE" altLang="en-US" b="1"/>
              </a:p>
            </p:txBody>
          </p:sp>
          <p:sp>
            <p:nvSpPr>
              <p:cNvPr id="216071" name="Rectangle 7">
                <a:extLst>
                  <a:ext uri="{FF2B5EF4-FFF2-40B4-BE49-F238E27FC236}">
                    <a16:creationId xmlns:a16="http://schemas.microsoft.com/office/drawing/2014/main" id="{688440C2-99AA-8035-5842-05E60ACC7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448"/>
                <a:ext cx="720" cy="28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father_id</a:t>
                </a:r>
                <a:endParaRPr lang="de-DE" altLang="en-US" b="1"/>
              </a:p>
            </p:txBody>
          </p:sp>
        </p:grpSp>
        <p:grpSp>
          <p:nvGrpSpPr>
            <p:cNvPr id="216074" name="Group 10">
              <a:extLst>
                <a:ext uri="{FF2B5EF4-FFF2-40B4-BE49-F238E27FC236}">
                  <a16:creationId xmlns:a16="http://schemas.microsoft.com/office/drawing/2014/main" id="{5B39B647-24AF-8591-0A7E-74916BB82E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352"/>
              <a:ext cx="2160" cy="288"/>
              <a:chOff x="288" y="2448"/>
              <a:chExt cx="2160" cy="288"/>
            </a:xfrm>
          </p:grpSpPr>
          <p:sp>
            <p:nvSpPr>
              <p:cNvPr id="216075" name="Rectangle 11">
                <a:extLst>
                  <a:ext uri="{FF2B5EF4-FFF2-40B4-BE49-F238E27FC236}">
                    <a16:creationId xmlns:a16="http://schemas.microsoft.com/office/drawing/2014/main" id="{0B03B987-9B67-FE9B-8745-72D5302A7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1</a:t>
                </a:r>
                <a:endParaRPr lang="de-DE" altLang="en-US" b="1"/>
              </a:p>
            </p:txBody>
          </p:sp>
          <p:sp>
            <p:nvSpPr>
              <p:cNvPr id="216076" name="Rectangle 12">
                <a:extLst>
                  <a:ext uri="{FF2B5EF4-FFF2-40B4-BE49-F238E27FC236}">
                    <a16:creationId xmlns:a16="http://schemas.microsoft.com/office/drawing/2014/main" id="{DD96F08C-4E48-2B73-23D9-7309A9BC38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Otto</a:t>
                </a:r>
                <a:endParaRPr lang="de-DE" altLang="en-US" b="1"/>
              </a:p>
            </p:txBody>
          </p:sp>
          <p:sp>
            <p:nvSpPr>
              <p:cNvPr id="216077" name="Rectangle 13">
                <a:extLst>
                  <a:ext uri="{FF2B5EF4-FFF2-40B4-BE49-F238E27FC236}">
                    <a16:creationId xmlns:a16="http://schemas.microsoft.com/office/drawing/2014/main" id="{BD8A218F-356F-FABE-E13D-DF91F2518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null</a:t>
                </a:r>
                <a:endParaRPr lang="de-DE" altLang="en-US" b="1"/>
              </a:p>
            </p:txBody>
          </p:sp>
        </p:grpSp>
        <p:grpSp>
          <p:nvGrpSpPr>
            <p:cNvPr id="216078" name="Group 14">
              <a:extLst>
                <a:ext uri="{FF2B5EF4-FFF2-40B4-BE49-F238E27FC236}">
                  <a16:creationId xmlns:a16="http://schemas.microsoft.com/office/drawing/2014/main" id="{0C4F4E48-9965-1098-B7C5-EC5FA0A3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640"/>
              <a:ext cx="2160" cy="288"/>
              <a:chOff x="288" y="2448"/>
              <a:chExt cx="2160" cy="288"/>
            </a:xfrm>
          </p:grpSpPr>
          <p:sp>
            <p:nvSpPr>
              <p:cNvPr id="216079" name="Rectangle 15">
                <a:extLst>
                  <a:ext uri="{FF2B5EF4-FFF2-40B4-BE49-F238E27FC236}">
                    <a16:creationId xmlns:a16="http://schemas.microsoft.com/office/drawing/2014/main" id="{C8E0B15D-ACA3-6CBE-0FBC-407064287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2</a:t>
                </a:r>
                <a:endParaRPr lang="de-DE" altLang="en-US" b="1"/>
              </a:p>
            </p:txBody>
          </p:sp>
          <p:sp>
            <p:nvSpPr>
              <p:cNvPr id="216080" name="Rectangle 16">
                <a:extLst>
                  <a:ext uri="{FF2B5EF4-FFF2-40B4-BE49-F238E27FC236}">
                    <a16:creationId xmlns:a16="http://schemas.microsoft.com/office/drawing/2014/main" id="{05C64A52-2557-F6A0-3A52-97D1C47F7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Klaus</a:t>
                </a:r>
                <a:endParaRPr lang="de-DE" altLang="en-US" b="1"/>
              </a:p>
            </p:txBody>
          </p:sp>
          <p:sp>
            <p:nvSpPr>
              <p:cNvPr id="216081" name="Rectangle 17">
                <a:extLst>
                  <a:ext uri="{FF2B5EF4-FFF2-40B4-BE49-F238E27FC236}">
                    <a16:creationId xmlns:a16="http://schemas.microsoft.com/office/drawing/2014/main" id="{0B1256B5-0B25-3B8B-CE37-F6462A7A6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1</a:t>
                </a:r>
                <a:endParaRPr lang="de-DE" altLang="en-US" b="1"/>
              </a:p>
            </p:txBody>
          </p:sp>
        </p:grpSp>
        <p:grpSp>
          <p:nvGrpSpPr>
            <p:cNvPr id="216082" name="Group 18">
              <a:extLst>
                <a:ext uri="{FF2B5EF4-FFF2-40B4-BE49-F238E27FC236}">
                  <a16:creationId xmlns:a16="http://schemas.microsoft.com/office/drawing/2014/main" id="{C18AE5EF-1B24-BC6D-3F9D-8AD2FE4E80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928"/>
              <a:ext cx="2160" cy="288"/>
              <a:chOff x="288" y="2448"/>
              <a:chExt cx="2160" cy="288"/>
            </a:xfrm>
          </p:grpSpPr>
          <p:sp>
            <p:nvSpPr>
              <p:cNvPr id="216083" name="Rectangle 19">
                <a:extLst>
                  <a:ext uri="{FF2B5EF4-FFF2-40B4-BE49-F238E27FC236}">
                    <a16:creationId xmlns:a16="http://schemas.microsoft.com/office/drawing/2014/main" id="{7CE10209-D6D9-02C1-AC4C-F7617B1423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3</a:t>
                </a:r>
                <a:endParaRPr lang="de-DE" altLang="en-US" b="1"/>
              </a:p>
            </p:txBody>
          </p:sp>
          <p:sp>
            <p:nvSpPr>
              <p:cNvPr id="216084" name="Rectangle 20">
                <a:extLst>
                  <a:ext uri="{FF2B5EF4-FFF2-40B4-BE49-F238E27FC236}">
                    <a16:creationId xmlns:a16="http://schemas.microsoft.com/office/drawing/2014/main" id="{A9213681-EDA5-3754-0409-E823B603A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Lutz</a:t>
                </a:r>
                <a:endParaRPr lang="de-DE" altLang="en-US" b="1"/>
              </a:p>
            </p:txBody>
          </p:sp>
          <p:sp>
            <p:nvSpPr>
              <p:cNvPr id="216085" name="Rectangle 21">
                <a:extLst>
                  <a:ext uri="{FF2B5EF4-FFF2-40B4-BE49-F238E27FC236}">
                    <a16:creationId xmlns:a16="http://schemas.microsoft.com/office/drawing/2014/main" id="{22930B8A-6E26-5F46-7E29-39ACA681C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1</a:t>
                </a:r>
                <a:endParaRPr lang="de-DE" altLang="en-US" b="1"/>
              </a:p>
            </p:txBody>
          </p:sp>
        </p:grpSp>
        <p:grpSp>
          <p:nvGrpSpPr>
            <p:cNvPr id="216086" name="Group 22">
              <a:extLst>
                <a:ext uri="{FF2B5EF4-FFF2-40B4-BE49-F238E27FC236}">
                  <a16:creationId xmlns:a16="http://schemas.microsoft.com/office/drawing/2014/main" id="{99DE2813-F490-15AA-7569-0E3C0CC311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3216"/>
              <a:ext cx="2160" cy="288"/>
              <a:chOff x="288" y="2448"/>
              <a:chExt cx="2160" cy="288"/>
            </a:xfrm>
          </p:grpSpPr>
          <p:sp>
            <p:nvSpPr>
              <p:cNvPr id="216087" name="Rectangle 23">
                <a:extLst>
                  <a:ext uri="{FF2B5EF4-FFF2-40B4-BE49-F238E27FC236}">
                    <a16:creationId xmlns:a16="http://schemas.microsoft.com/office/drawing/2014/main" id="{90D9B2C6-FEA4-41C1-0A6C-1DCB2F9F1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4</a:t>
                </a:r>
                <a:endParaRPr lang="de-DE" altLang="en-US" b="1"/>
              </a:p>
            </p:txBody>
          </p:sp>
          <p:sp>
            <p:nvSpPr>
              <p:cNvPr id="216088" name="Rectangle 24">
                <a:extLst>
                  <a:ext uri="{FF2B5EF4-FFF2-40B4-BE49-F238E27FC236}">
                    <a16:creationId xmlns:a16="http://schemas.microsoft.com/office/drawing/2014/main" id="{17B3865D-245F-2ADF-F5F6-6CF9DF039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Jens</a:t>
                </a:r>
                <a:endParaRPr lang="de-DE" altLang="en-US" b="1"/>
              </a:p>
            </p:txBody>
          </p:sp>
          <p:sp>
            <p:nvSpPr>
              <p:cNvPr id="216089" name="Rectangle 25">
                <a:extLst>
                  <a:ext uri="{FF2B5EF4-FFF2-40B4-BE49-F238E27FC236}">
                    <a16:creationId xmlns:a16="http://schemas.microsoft.com/office/drawing/2014/main" id="{8436274C-142C-18F0-50A9-2C060C753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2</a:t>
                </a:r>
                <a:endParaRPr lang="de-DE" altLang="en-US" b="1"/>
              </a:p>
            </p:txBody>
          </p:sp>
        </p:grpSp>
        <p:grpSp>
          <p:nvGrpSpPr>
            <p:cNvPr id="216090" name="Group 26">
              <a:extLst>
                <a:ext uri="{FF2B5EF4-FFF2-40B4-BE49-F238E27FC236}">
                  <a16:creationId xmlns:a16="http://schemas.microsoft.com/office/drawing/2014/main" id="{216DEF1B-2E69-EA8E-1FFE-161A5BAB36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3504"/>
              <a:ext cx="2160" cy="288"/>
              <a:chOff x="288" y="2448"/>
              <a:chExt cx="2160" cy="288"/>
            </a:xfrm>
          </p:grpSpPr>
          <p:sp>
            <p:nvSpPr>
              <p:cNvPr id="216091" name="Rectangle 27">
                <a:extLst>
                  <a:ext uri="{FF2B5EF4-FFF2-40B4-BE49-F238E27FC236}">
                    <a16:creationId xmlns:a16="http://schemas.microsoft.com/office/drawing/2014/main" id="{1ABFD084-B408-C7D0-45FA-FDE0201C5B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5</a:t>
                </a:r>
                <a:endParaRPr lang="de-DE" altLang="en-US" b="1"/>
              </a:p>
            </p:txBody>
          </p:sp>
          <p:sp>
            <p:nvSpPr>
              <p:cNvPr id="216092" name="Rectangle 28">
                <a:extLst>
                  <a:ext uri="{FF2B5EF4-FFF2-40B4-BE49-F238E27FC236}">
                    <a16:creationId xmlns:a16="http://schemas.microsoft.com/office/drawing/2014/main" id="{F19E7775-4716-0EAD-EADF-BB77E760A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Max</a:t>
                </a:r>
                <a:endParaRPr lang="de-DE" altLang="en-US" b="1"/>
              </a:p>
            </p:txBody>
          </p:sp>
          <p:sp>
            <p:nvSpPr>
              <p:cNvPr id="216093" name="Rectangle 29">
                <a:extLst>
                  <a:ext uri="{FF2B5EF4-FFF2-40B4-BE49-F238E27FC236}">
                    <a16:creationId xmlns:a16="http://schemas.microsoft.com/office/drawing/2014/main" id="{10C3B707-C7B3-5502-61EB-9775095A1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4</a:t>
                </a:r>
                <a:endParaRPr lang="de-DE" altLang="en-US" b="1"/>
              </a:p>
            </p:txBody>
          </p:sp>
        </p:grpSp>
        <p:grpSp>
          <p:nvGrpSpPr>
            <p:cNvPr id="216094" name="Group 30">
              <a:extLst>
                <a:ext uri="{FF2B5EF4-FFF2-40B4-BE49-F238E27FC236}">
                  <a16:creationId xmlns:a16="http://schemas.microsoft.com/office/drawing/2014/main" id="{07BBFD3D-8E8A-0518-68BF-93B125252C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3792"/>
              <a:ext cx="2160" cy="288"/>
              <a:chOff x="288" y="2448"/>
              <a:chExt cx="2160" cy="288"/>
            </a:xfrm>
          </p:grpSpPr>
          <p:sp>
            <p:nvSpPr>
              <p:cNvPr id="216095" name="Rectangle 31">
                <a:extLst>
                  <a:ext uri="{FF2B5EF4-FFF2-40B4-BE49-F238E27FC236}">
                    <a16:creationId xmlns:a16="http://schemas.microsoft.com/office/drawing/2014/main" id="{F8F61A3E-CD67-6BC6-30A0-B814B22C81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5</a:t>
                </a:r>
                <a:endParaRPr lang="de-DE" altLang="en-US" b="1"/>
              </a:p>
            </p:txBody>
          </p:sp>
          <p:sp>
            <p:nvSpPr>
              <p:cNvPr id="216096" name="Rectangle 32">
                <a:extLst>
                  <a:ext uri="{FF2B5EF4-FFF2-40B4-BE49-F238E27FC236}">
                    <a16:creationId xmlns:a16="http://schemas.microsoft.com/office/drawing/2014/main" id="{82261F0F-0AD6-2F14-E4A1-0799BDB02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?</a:t>
                </a:r>
                <a:endParaRPr lang="de-DE" altLang="en-US" b="1"/>
              </a:p>
            </p:txBody>
          </p:sp>
          <p:sp>
            <p:nvSpPr>
              <p:cNvPr id="216097" name="Rectangle 33">
                <a:extLst>
                  <a:ext uri="{FF2B5EF4-FFF2-40B4-BE49-F238E27FC236}">
                    <a16:creationId xmlns:a16="http://schemas.microsoft.com/office/drawing/2014/main" id="{5E08DED1-0AD6-1857-06BC-3CE24AA22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448"/>
                <a:ext cx="72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/>
                  <a:t>4</a:t>
                </a:r>
                <a:endParaRPr lang="de-DE" altLang="en-US" b="1"/>
              </a:p>
            </p:txBody>
          </p:sp>
        </p:grpSp>
      </p:grpSp>
      <p:grpSp>
        <p:nvGrpSpPr>
          <p:cNvPr id="216111" name="Group 47">
            <a:extLst>
              <a:ext uri="{FF2B5EF4-FFF2-40B4-BE49-F238E27FC236}">
                <a16:creationId xmlns:a16="http://schemas.microsoft.com/office/drawing/2014/main" id="{B0E32468-C1C5-09AE-420E-52CB8AFE2DA6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124200"/>
            <a:ext cx="3657600" cy="2743200"/>
            <a:chOff x="3168" y="1968"/>
            <a:chExt cx="2304" cy="1728"/>
          </a:xfrm>
        </p:grpSpPr>
        <p:sp>
          <p:nvSpPr>
            <p:cNvPr id="216099" name="Rectangle 35">
              <a:extLst>
                <a:ext uri="{FF2B5EF4-FFF2-40B4-BE49-F238E27FC236}">
                  <a16:creationId xmlns:a16="http://schemas.microsoft.com/office/drawing/2014/main" id="{D6A5053A-0109-F540-36AD-866EEAF88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968"/>
              <a:ext cx="76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Otto</a:t>
              </a:r>
              <a:endParaRPr lang="de-DE" altLang="en-US" b="1"/>
            </a:p>
          </p:txBody>
        </p:sp>
        <p:sp>
          <p:nvSpPr>
            <p:cNvPr id="216100" name="Rectangle 36">
              <a:extLst>
                <a:ext uri="{FF2B5EF4-FFF2-40B4-BE49-F238E27FC236}">
                  <a16:creationId xmlns:a16="http://schemas.microsoft.com/office/drawing/2014/main" id="{1A218308-52FA-8C59-AF8D-67E33EE12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448"/>
              <a:ext cx="76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Lutz</a:t>
              </a:r>
              <a:endParaRPr lang="de-DE" altLang="en-US" b="1"/>
            </a:p>
          </p:txBody>
        </p:sp>
        <p:sp>
          <p:nvSpPr>
            <p:cNvPr id="216101" name="Rectangle 37">
              <a:extLst>
                <a:ext uri="{FF2B5EF4-FFF2-40B4-BE49-F238E27FC236}">
                  <a16:creationId xmlns:a16="http://schemas.microsoft.com/office/drawing/2014/main" id="{8411C0E7-7133-F0AE-54EB-D6B6E37A2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448"/>
              <a:ext cx="76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Klaus</a:t>
              </a:r>
              <a:endParaRPr lang="de-DE" altLang="en-US" b="1"/>
            </a:p>
          </p:txBody>
        </p:sp>
        <p:sp>
          <p:nvSpPr>
            <p:cNvPr id="216102" name="Rectangle 38">
              <a:extLst>
                <a:ext uri="{FF2B5EF4-FFF2-40B4-BE49-F238E27FC236}">
                  <a16:creationId xmlns:a16="http://schemas.microsoft.com/office/drawing/2014/main" id="{AB757AB5-EB28-3968-21C9-DF0C0EC47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928"/>
              <a:ext cx="76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Jens</a:t>
              </a:r>
              <a:endParaRPr lang="de-DE" altLang="en-US" b="1"/>
            </a:p>
          </p:txBody>
        </p:sp>
        <p:sp>
          <p:nvSpPr>
            <p:cNvPr id="216103" name="Rectangle 39">
              <a:extLst>
                <a:ext uri="{FF2B5EF4-FFF2-40B4-BE49-F238E27FC236}">
                  <a16:creationId xmlns:a16="http://schemas.microsoft.com/office/drawing/2014/main" id="{43547461-C98C-CB78-BC3A-E7C897003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408"/>
              <a:ext cx="76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Max</a:t>
              </a:r>
              <a:endParaRPr lang="de-DE" altLang="en-US" b="1"/>
            </a:p>
          </p:txBody>
        </p:sp>
        <p:sp>
          <p:nvSpPr>
            <p:cNvPr id="216104" name="Rectangle 40">
              <a:extLst>
                <a:ext uri="{FF2B5EF4-FFF2-40B4-BE49-F238E27FC236}">
                  <a16:creationId xmlns:a16="http://schemas.microsoft.com/office/drawing/2014/main" id="{F1A62B8C-9A75-0A84-D45F-8F00943A5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408"/>
              <a:ext cx="76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?</a:t>
              </a:r>
              <a:endParaRPr lang="de-DE" altLang="en-US" b="1"/>
            </a:p>
          </p:txBody>
        </p:sp>
        <p:cxnSp>
          <p:nvCxnSpPr>
            <p:cNvPr id="216105" name="AutoShape 41">
              <a:extLst>
                <a:ext uri="{FF2B5EF4-FFF2-40B4-BE49-F238E27FC236}">
                  <a16:creationId xmlns:a16="http://schemas.microsoft.com/office/drawing/2014/main" id="{F341442E-7FA0-7798-748F-323882D00FDD}"/>
                </a:ext>
              </a:extLst>
            </p:cNvPr>
            <p:cNvCxnSpPr>
              <a:cxnSpLocks noChangeShapeType="1"/>
              <a:stCxn id="216103" idx="0"/>
              <a:endCxn id="216102" idx="2"/>
            </p:cNvCxnSpPr>
            <p:nvPr/>
          </p:nvCxnSpPr>
          <p:spPr bwMode="auto">
            <a:xfrm rot="16200000">
              <a:off x="4296" y="3096"/>
              <a:ext cx="192" cy="43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6106" name="AutoShape 42">
              <a:extLst>
                <a:ext uri="{FF2B5EF4-FFF2-40B4-BE49-F238E27FC236}">
                  <a16:creationId xmlns:a16="http://schemas.microsoft.com/office/drawing/2014/main" id="{0725302D-B295-6B1E-B044-34BAA4A18DCE}"/>
                </a:ext>
              </a:extLst>
            </p:cNvPr>
            <p:cNvCxnSpPr>
              <a:cxnSpLocks noChangeShapeType="1"/>
              <a:stCxn id="216104" idx="0"/>
              <a:endCxn id="216102" idx="2"/>
            </p:cNvCxnSpPr>
            <p:nvPr/>
          </p:nvCxnSpPr>
          <p:spPr bwMode="auto">
            <a:xfrm rot="5400000" flipH="1">
              <a:off x="4752" y="3072"/>
              <a:ext cx="192" cy="48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6107" name="AutoShape 43">
              <a:extLst>
                <a:ext uri="{FF2B5EF4-FFF2-40B4-BE49-F238E27FC236}">
                  <a16:creationId xmlns:a16="http://schemas.microsoft.com/office/drawing/2014/main" id="{7A28E4E0-6961-9803-3B9E-5D46CAB4EF89}"/>
                </a:ext>
              </a:extLst>
            </p:cNvPr>
            <p:cNvCxnSpPr>
              <a:cxnSpLocks noChangeShapeType="1"/>
              <a:stCxn id="216102" idx="0"/>
              <a:endCxn id="216101" idx="2"/>
            </p:cNvCxnSpPr>
            <p:nvPr/>
          </p:nvCxnSpPr>
          <p:spPr bwMode="auto">
            <a:xfrm rot="16200000">
              <a:off x="4512" y="2832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6108" name="AutoShape 44">
              <a:extLst>
                <a:ext uri="{FF2B5EF4-FFF2-40B4-BE49-F238E27FC236}">
                  <a16:creationId xmlns:a16="http://schemas.microsoft.com/office/drawing/2014/main" id="{168AC547-9FE3-8A47-5516-DE297EB8E65E}"/>
                </a:ext>
              </a:extLst>
            </p:cNvPr>
            <p:cNvCxnSpPr>
              <a:cxnSpLocks noChangeShapeType="1"/>
              <a:stCxn id="216101" idx="0"/>
              <a:endCxn id="216099" idx="2"/>
            </p:cNvCxnSpPr>
            <p:nvPr/>
          </p:nvCxnSpPr>
          <p:spPr bwMode="auto">
            <a:xfrm rot="5400000" flipH="1">
              <a:off x="4248" y="2088"/>
              <a:ext cx="192" cy="52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6109" name="AutoShape 45">
              <a:extLst>
                <a:ext uri="{FF2B5EF4-FFF2-40B4-BE49-F238E27FC236}">
                  <a16:creationId xmlns:a16="http://schemas.microsoft.com/office/drawing/2014/main" id="{7F8589F8-B079-2DE6-BF13-1DDFCA64107B}"/>
                </a:ext>
              </a:extLst>
            </p:cNvPr>
            <p:cNvCxnSpPr>
              <a:cxnSpLocks noChangeShapeType="1"/>
              <a:stCxn id="216100" idx="0"/>
              <a:endCxn id="216099" idx="2"/>
            </p:cNvCxnSpPr>
            <p:nvPr/>
          </p:nvCxnSpPr>
          <p:spPr bwMode="auto">
            <a:xfrm rot="16200000">
              <a:off x="3720" y="2088"/>
              <a:ext cx="192" cy="52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16110" name="AutoShape 46">
            <a:extLst>
              <a:ext uri="{FF2B5EF4-FFF2-40B4-BE49-F238E27FC236}">
                <a16:creationId xmlns:a16="http://schemas.microsoft.com/office/drawing/2014/main" id="{A43BE9EB-60A6-893D-B0FD-E6AFE427F50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775339" y="4799806"/>
            <a:ext cx="1588" cy="2286000"/>
          </a:xfrm>
          <a:prstGeom prst="bentConnector3">
            <a:avLst>
              <a:gd name="adj1" fmla="val 14400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6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6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6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6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E705220F-2D95-A95C-95B0-E052A5C70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590730"/>
            <a:ext cx="9855200" cy="628469"/>
          </a:xfrm>
        </p:spPr>
        <p:txBody>
          <a:bodyPr>
            <a:normAutofit fontScale="90000"/>
          </a:bodyPr>
          <a:lstStyle/>
          <a:p>
            <a:pPr marL="857250" indent="-857250" algn="l"/>
            <a:r>
              <a:rPr lang="en-US" altLang="en-US" dirty="0"/>
              <a:t>Mapping Many2Many Unary Relationships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2514768-AC90-1381-7501-B58CDC7B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66DD-2574-47B6-A946-59E4F2FABA66}" type="slidenum">
              <a:rPr lang="de-DE" altLang="en-US"/>
              <a:pPr/>
              <a:t>32</a:t>
            </a:fld>
            <a:endParaRPr lang="de-DE" altLang="en-US"/>
          </a:p>
        </p:txBody>
      </p:sp>
      <p:sp>
        <p:nvSpPr>
          <p:cNvPr id="217091" name="Text Box 3">
            <a:extLst>
              <a:ext uri="{FF2B5EF4-FFF2-40B4-BE49-F238E27FC236}">
                <a16:creationId xmlns:a16="http://schemas.microsoft.com/office/drawing/2014/main" id="{F789A108-F3B0-F459-9B2E-7ACA46C26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1600201"/>
            <a:ext cx="80168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/>
              <a:t>Many to many unary relationships are mapped just like binary many to may relationships except that the both associated tables are actually the same table.</a:t>
            </a:r>
            <a:endParaRPr lang="de-DE" altLang="en-US" sz="2400"/>
          </a:p>
        </p:txBody>
      </p:sp>
      <p:grpSp>
        <p:nvGrpSpPr>
          <p:cNvPr id="217103" name="Group 15">
            <a:extLst>
              <a:ext uri="{FF2B5EF4-FFF2-40B4-BE49-F238E27FC236}">
                <a16:creationId xmlns:a16="http://schemas.microsoft.com/office/drawing/2014/main" id="{4F81E74D-76CA-2828-B76B-7283821E5B97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5029200"/>
            <a:ext cx="4038600" cy="533400"/>
            <a:chOff x="144" y="3168"/>
            <a:chExt cx="2544" cy="336"/>
          </a:xfrm>
        </p:grpSpPr>
        <p:sp>
          <p:nvSpPr>
            <p:cNvPr id="217092" name="Rectangle 4">
              <a:extLst>
                <a:ext uri="{FF2B5EF4-FFF2-40B4-BE49-F238E27FC236}">
                  <a16:creationId xmlns:a16="http://schemas.microsoft.com/office/drawing/2014/main" id="{7E0571C6-C651-7CDA-33BB-660943547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168"/>
              <a:ext cx="96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name</a:t>
              </a:r>
              <a:endParaRPr lang="de-DE" altLang="en-US" b="1" u="sng"/>
            </a:p>
          </p:txBody>
        </p:sp>
        <p:sp>
          <p:nvSpPr>
            <p:cNvPr id="217093" name="Rectangle 5">
              <a:extLst>
                <a:ext uri="{FF2B5EF4-FFF2-40B4-BE49-F238E27FC236}">
                  <a16:creationId xmlns:a16="http://schemas.microsoft.com/office/drawing/2014/main" id="{79ED9AB8-7D38-8931-96F7-EA5DCC5D8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168"/>
              <a:ext cx="96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description</a:t>
              </a:r>
              <a:endParaRPr lang="de-DE" altLang="en-US" b="1"/>
            </a:p>
          </p:txBody>
        </p:sp>
        <p:sp>
          <p:nvSpPr>
            <p:cNvPr id="217094" name="Text Box 6">
              <a:extLst>
                <a:ext uri="{FF2B5EF4-FFF2-40B4-BE49-F238E27FC236}">
                  <a16:creationId xmlns:a16="http://schemas.microsoft.com/office/drawing/2014/main" id="{A366F019-5C6D-27F0-5135-75971D5F2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3216"/>
              <a:ext cx="5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SKILL</a:t>
              </a:r>
              <a:endParaRPr lang="de-DE" altLang="en-US" b="1"/>
            </a:p>
          </p:txBody>
        </p:sp>
      </p:grpSp>
      <p:cxnSp>
        <p:nvCxnSpPr>
          <p:cNvPr id="217096" name="AutoShape 8">
            <a:extLst>
              <a:ext uri="{FF2B5EF4-FFF2-40B4-BE49-F238E27FC236}">
                <a16:creationId xmlns:a16="http://schemas.microsoft.com/office/drawing/2014/main" id="{D7000194-CE3A-9674-FAFB-D29A25CAD87B}"/>
              </a:ext>
            </a:extLst>
          </p:cNvPr>
          <p:cNvCxnSpPr>
            <a:cxnSpLocks noChangeShapeType="1"/>
            <a:stCxn id="217099" idx="2"/>
            <a:endCxn id="217092" idx="2"/>
          </p:cNvCxnSpPr>
          <p:nvPr/>
        </p:nvCxnSpPr>
        <p:spPr bwMode="auto">
          <a:xfrm rot="5400000">
            <a:off x="5638006" y="3429794"/>
            <a:ext cx="1588" cy="4267200"/>
          </a:xfrm>
          <a:prstGeom prst="bentConnector3">
            <a:avLst>
              <a:gd name="adj1" fmla="val 45299995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7104" name="Group 16">
            <a:extLst>
              <a:ext uri="{FF2B5EF4-FFF2-40B4-BE49-F238E27FC236}">
                <a16:creationId xmlns:a16="http://schemas.microsoft.com/office/drawing/2014/main" id="{9D7368D3-9B49-8209-AEE0-28F74B2F67B6}"/>
              </a:ext>
            </a:extLst>
          </p:cNvPr>
          <p:cNvGrpSpPr>
            <a:grpSpLocks/>
          </p:cNvGrpSpPr>
          <p:nvPr/>
        </p:nvGrpSpPr>
        <p:grpSpPr bwMode="auto">
          <a:xfrm>
            <a:off x="6965950" y="4648200"/>
            <a:ext cx="3092450" cy="914400"/>
            <a:chOff x="3428" y="2928"/>
            <a:chExt cx="1948" cy="576"/>
          </a:xfrm>
        </p:grpSpPr>
        <p:sp>
          <p:nvSpPr>
            <p:cNvPr id="217099" name="Rectangle 11">
              <a:extLst>
                <a:ext uri="{FF2B5EF4-FFF2-40B4-BE49-F238E27FC236}">
                  <a16:creationId xmlns:a16="http://schemas.microsoft.com/office/drawing/2014/main" id="{9C000619-0389-956F-FB20-30BC6405A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168"/>
              <a:ext cx="96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skill1</a:t>
              </a:r>
              <a:endParaRPr lang="de-DE" altLang="en-US" b="1" u="sng"/>
            </a:p>
          </p:txBody>
        </p:sp>
        <p:sp>
          <p:nvSpPr>
            <p:cNvPr id="217100" name="Rectangle 12">
              <a:extLst>
                <a:ext uri="{FF2B5EF4-FFF2-40B4-BE49-F238E27FC236}">
                  <a16:creationId xmlns:a16="http://schemas.microsoft.com/office/drawing/2014/main" id="{937C57BD-13AE-3CF2-EADB-8F32E159F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168"/>
              <a:ext cx="96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u="sng"/>
                <a:t>skill2</a:t>
              </a:r>
              <a:endParaRPr lang="de-DE" altLang="en-US" b="1" u="sng"/>
            </a:p>
          </p:txBody>
        </p:sp>
        <p:sp>
          <p:nvSpPr>
            <p:cNvPr id="217101" name="Text Box 13">
              <a:extLst>
                <a:ext uri="{FF2B5EF4-FFF2-40B4-BE49-F238E27FC236}">
                  <a16:creationId xmlns:a16="http://schemas.microsoft.com/office/drawing/2014/main" id="{890251B1-4775-E3F5-09AA-DC649C5BF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" y="2928"/>
              <a:ext cx="11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SIMILARITIES</a:t>
              </a:r>
              <a:endParaRPr lang="de-DE" altLang="en-US" b="1"/>
            </a:p>
          </p:txBody>
        </p:sp>
      </p:grpSp>
      <p:grpSp>
        <p:nvGrpSpPr>
          <p:cNvPr id="217105" name="Group 17">
            <a:extLst>
              <a:ext uri="{FF2B5EF4-FFF2-40B4-BE49-F238E27FC236}">
                <a16:creationId xmlns:a16="http://schemas.microsoft.com/office/drawing/2014/main" id="{6929EB0E-267A-C164-A8BB-D05890D2925A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810000"/>
            <a:ext cx="5791200" cy="1220788"/>
            <a:chOff x="1248" y="2400"/>
            <a:chExt cx="3648" cy="769"/>
          </a:xfrm>
        </p:grpSpPr>
        <p:sp>
          <p:nvSpPr>
            <p:cNvPr id="217097" name="Text Box 9">
              <a:extLst>
                <a:ext uri="{FF2B5EF4-FFF2-40B4-BE49-F238E27FC236}">
                  <a16:creationId xmlns:a16="http://schemas.microsoft.com/office/drawing/2014/main" id="{F94F072B-898A-388C-BBB7-A2C6889F6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400"/>
              <a:ext cx="15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solidFill>
                    <a:srgbClr val="FF0000"/>
                  </a:solidFill>
                </a:rPr>
                <a:t>foreign key reference(s)</a:t>
              </a:r>
              <a:endParaRPr lang="de-DE" altLang="en-US" b="1">
                <a:solidFill>
                  <a:srgbClr val="FF0000"/>
                </a:solidFill>
              </a:endParaRPr>
            </a:p>
          </p:txBody>
        </p:sp>
        <p:cxnSp>
          <p:nvCxnSpPr>
            <p:cNvPr id="217102" name="AutoShape 14">
              <a:extLst>
                <a:ext uri="{FF2B5EF4-FFF2-40B4-BE49-F238E27FC236}">
                  <a16:creationId xmlns:a16="http://schemas.microsoft.com/office/drawing/2014/main" id="{6A7C52C1-5674-A53B-6958-6ECA86CA3B90}"/>
                </a:ext>
              </a:extLst>
            </p:cNvPr>
            <p:cNvCxnSpPr>
              <a:cxnSpLocks noChangeShapeType="1"/>
              <a:stCxn id="217100" idx="0"/>
              <a:endCxn id="217092" idx="0"/>
            </p:cNvCxnSpPr>
            <p:nvPr/>
          </p:nvCxnSpPr>
          <p:spPr bwMode="auto">
            <a:xfrm rot="16200000" flipH="1" flipV="1">
              <a:off x="3071" y="1345"/>
              <a:ext cx="1" cy="3648"/>
            </a:xfrm>
            <a:prstGeom prst="bentConnector3">
              <a:avLst>
                <a:gd name="adj1" fmla="val -43700005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7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7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7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7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7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7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CA65E3BD-1BBB-1B9C-A09F-95F4BC4F3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490538"/>
            <a:ext cx="9144000" cy="6524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Modeling ternary Relationships</a:t>
            </a:r>
            <a:endParaRPr lang="de-DE" altLang="en-US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A9F58F30-A34E-E2D4-3F9B-8C66A5AE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F484-5E9F-46A1-906A-3A2670A0930B}" type="slidenum">
              <a:rPr lang="de-DE" altLang="en-US"/>
              <a:pPr/>
              <a:t>33</a:t>
            </a:fld>
            <a:endParaRPr lang="de-DE" altLang="en-US"/>
          </a:p>
        </p:txBody>
      </p:sp>
      <p:grpSp>
        <p:nvGrpSpPr>
          <p:cNvPr id="218115" name="Group 3">
            <a:extLst>
              <a:ext uri="{FF2B5EF4-FFF2-40B4-BE49-F238E27FC236}">
                <a16:creationId xmlns:a16="http://schemas.microsoft.com/office/drawing/2014/main" id="{D3249856-C347-1ACB-A9F8-68FCCC7D18A6}"/>
              </a:ext>
            </a:extLst>
          </p:cNvPr>
          <p:cNvGrpSpPr>
            <a:grpSpLocks/>
          </p:cNvGrpSpPr>
          <p:nvPr/>
        </p:nvGrpSpPr>
        <p:grpSpPr bwMode="auto">
          <a:xfrm>
            <a:off x="3276601" y="1371600"/>
            <a:ext cx="5737225" cy="1633538"/>
            <a:chOff x="1104" y="864"/>
            <a:chExt cx="3614" cy="1029"/>
          </a:xfrm>
        </p:grpSpPr>
        <p:sp>
          <p:nvSpPr>
            <p:cNvPr id="218116" name="Rectangle 4">
              <a:extLst>
                <a:ext uri="{FF2B5EF4-FFF2-40B4-BE49-F238E27FC236}">
                  <a16:creationId xmlns:a16="http://schemas.microsoft.com/office/drawing/2014/main" id="{15D49692-E29B-59BD-0A0F-3699A98B9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864"/>
              <a:ext cx="87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PATIENT</a:t>
              </a:r>
            </a:p>
          </p:txBody>
        </p:sp>
        <p:sp>
          <p:nvSpPr>
            <p:cNvPr id="218117" name="Rectangle 5">
              <a:extLst>
                <a:ext uri="{FF2B5EF4-FFF2-40B4-BE49-F238E27FC236}">
                  <a16:creationId xmlns:a16="http://schemas.microsoft.com/office/drawing/2014/main" id="{37437FCF-6134-C3DE-303E-8ADAAA8A9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912"/>
              <a:ext cx="87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PHYSICIAN</a:t>
              </a:r>
            </a:p>
          </p:txBody>
        </p:sp>
        <p:sp>
          <p:nvSpPr>
            <p:cNvPr id="218118" name="AutoShape 6">
              <a:extLst>
                <a:ext uri="{FF2B5EF4-FFF2-40B4-BE49-F238E27FC236}">
                  <a16:creationId xmlns:a16="http://schemas.microsoft.com/office/drawing/2014/main" id="{ECA9D343-DCB9-FD9D-8CE3-EF475B2D2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08"/>
              <a:ext cx="595" cy="432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400"/>
                <a:t>treats</a:t>
              </a:r>
            </a:p>
          </p:txBody>
        </p:sp>
        <p:sp>
          <p:nvSpPr>
            <p:cNvPr id="218119" name="Rectangle 7">
              <a:extLst>
                <a:ext uri="{FF2B5EF4-FFF2-40B4-BE49-F238E27FC236}">
                  <a16:creationId xmlns:a16="http://schemas.microsoft.com/office/drawing/2014/main" id="{D38DEC1C-B19C-504D-058F-DCDCC43AD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632"/>
              <a:ext cx="878" cy="26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TREATMENT</a:t>
              </a:r>
            </a:p>
          </p:txBody>
        </p:sp>
        <p:cxnSp>
          <p:nvCxnSpPr>
            <p:cNvPr id="218120" name="AutoShape 8">
              <a:extLst>
                <a:ext uri="{FF2B5EF4-FFF2-40B4-BE49-F238E27FC236}">
                  <a16:creationId xmlns:a16="http://schemas.microsoft.com/office/drawing/2014/main" id="{7EA9EFF8-61C2-9FEA-4BD3-09B6E24DC75A}"/>
                </a:ext>
              </a:extLst>
            </p:cNvPr>
            <p:cNvCxnSpPr>
              <a:cxnSpLocks noChangeShapeType="1"/>
              <a:stCxn id="218119" idx="0"/>
              <a:endCxn id="218118" idx="2"/>
            </p:cNvCxnSpPr>
            <p:nvPr/>
          </p:nvCxnSpPr>
          <p:spPr bwMode="auto">
            <a:xfrm flipV="1">
              <a:off x="2983" y="1440"/>
              <a:ext cx="3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8121" name="AutoShape 9">
              <a:extLst>
                <a:ext uri="{FF2B5EF4-FFF2-40B4-BE49-F238E27FC236}">
                  <a16:creationId xmlns:a16="http://schemas.microsoft.com/office/drawing/2014/main" id="{C11814A0-0C31-485B-360E-90CC5027F353}"/>
                </a:ext>
              </a:extLst>
            </p:cNvPr>
            <p:cNvCxnSpPr>
              <a:cxnSpLocks noChangeShapeType="1"/>
              <a:stCxn id="218118" idx="1"/>
              <a:endCxn id="218116" idx="3"/>
            </p:cNvCxnSpPr>
            <p:nvPr/>
          </p:nvCxnSpPr>
          <p:spPr bwMode="auto">
            <a:xfrm flipH="1" flipV="1">
              <a:off x="1982" y="1008"/>
              <a:ext cx="706" cy="2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8122" name="AutoShape 10">
              <a:extLst>
                <a:ext uri="{FF2B5EF4-FFF2-40B4-BE49-F238E27FC236}">
                  <a16:creationId xmlns:a16="http://schemas.microsoft.com/office/drawing/2014/main" id="{3DC12D1D-01D9-CD41-92EC-F9E9643A942A}"/>
                </a:ext>
              </a:extLst>
            </p:cNvPr>
            <p:cNvCxnSpPr>
              <a:cxnSpLocks noChangeShapeType="1"/>
              <a:stCxn id="218118" idx="3"/>
              <a:endCxn id="218117" idx="1"/>
            </p:cNvCxnSpPr>
            <p:nvPr/>
          </p:nvCxnSpPr>
          <p:spPr bwMode="auto">
            <a:xfrm flipV="1">
              <a:off x="3283" y="1032"/>
              <a:ext cx="557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123" name="Group 11">
            <a:extLst>
              <a:ext uri="{FF2B5EF4-FFF2-40B4-BE49-F238E27FC236}">
                <a16:creationId xmlns:a16="http://schemas.microsoft.com/office/drawing/2014/main" id="{B986F4DD-57FB-E401-C94A-2E52456EB2F9}"/>
              </a:ext>
            </a:extLst>
          </p:cNvPr>
          <p:cNvGrpSpPr>
            <a:grpSpLocks/>
          </p:cNvGrpSpPr>
          <p:nvPr/>
        </p:nvGrpSpPr>
        <p:grpSpPr bwMode="auto">
          <a:xfrm>
            <a:off x="4648201" y="4800600"/>
            <a:ext cx="2581275" cy="1601788"/>
            <a:chOff x="1968" y="2719"/>
            <a:chExt cx="1626" cy="1009"/>
          </a:xfrm>
        </p:grpSpPr>
        <p:sp>
          <p:nvSpPr>
            <p:cNvPr id="218124" name="Rectangle 12">
              <a:extLst>
                <a:ext uri="{FF2B5EF4-FFF2-40B4-BE49-F238E27FC236}">
                  <a16:creationId xmlns:a16="http://schemas.microsoft.com/office/drawing/2014/main" id="{1282DA8D-563E-3F54-BB98-F946EEB9D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2900"/>
              <a:ext cx="561" cy="20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000" b="1" u="sng"/>
                <a:t>Treatment_id</a:t>
              </a:r>
            </a:p>
          </p:txBody>
        </p:sp>
        <p:sp>
          <p:nvSpPr>
            <p:cNvPr id="218125" name="Rectangle 13">
              <a:extLst>
                <a:ext uri="{FF2B5EF4-FFF2-40B4-BE49-F238E27FC236}">
                  <a16:creationId xmlns:a16="http://schemas.microsoft.com/office/drawing/2014/main" id="{1006C9C6-E835-A4B7-8B71-C3FBAC8C2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" y="2900"/>
              <a:ext cx="501" cy="20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000" b="1" u="sng"/>
                <a:t>Physician_id</a:t>
              </a:r>
            </a:p>
          </p:txBody>
        </p:sp>
        <p:sp>
          <p:nvSpPr>
            <p:cNvPr id="218126" name="Rectangle 14">
              <a:extLst>
                <a:ext uri="{FF2B5EF4-FFF2-40B4-BE49-F238E27FC236}">
                  <a16:creationId xmlns:a16="http://schemas.microsoft.com/office/drawing/2014/main" id="{D0A9FC0C-1911-A6BB-6DC0-274B64050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3107"/>
              <a:ext cx="561" cy="2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000"/>
                <a:t>3</a:t>
              </a:r>
            </a:p>
          </p:txBody>
        </p:sp>
        <p:sp>
          <p:nvSpPr>
            <p:cNvPr id="218127" name="Rectangle 15">
              <a:extLst>
                <a:ext uri="{FF2B5EF4-FFF2-40B4-BE49-F238E27FC236}">
                  <a16:creationId xmlns:a16="http://schemas.microsoft.com/office/drawing/2014/main" id="{C47667C8-A5B1-1231-CBED-7953B8CE9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" y="3107"/>
              <a:ext cx="501" cy="2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000"/>
                <a:t>1</a:t>
              </a:r>
            </a:p>
          </p:txBody>
        </p:sp>
        <p:sp>
          <p:nvSpPr>
            <p:cNvPr id="218128" name="Rectangle 16">
              <a:extLst>
                <a:ext uri="{FF2B5EF4-FFF2-40B4-BE49-F238E27FC236}">
                  <a16:creationId xmlns:a16="http://schemas.microsoft.com/office/drawing/2014/main" id="{E7E061F0-A492-ACD1-2009-93D303198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3314"/>
              <a:ext cx="561" cy="2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000"/>
                <a:t>45</a:t>
              </a:r>
            </a:p>
          </p:txBody>
        </p:sp>
        <p:sp>
          <p:nvSpPr>
            <p:cNvPr id="218129" name="Rectangle 17">
              <a:extLst>
                <a:ext uri="{FF2B5EF4-FFF2-40B4-BE49-F238E27FC236}">
                  <a16:creationId xmlns:a16="http://schemas.microsoft.com/office/drawing/2014/main" id="{3A1A5001-A651-8875-F0B3-9545C76AC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" y="3314"/>
              <a:ext cx="501" cy="2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000"/>
                <a:t>1</a:t>
              </a:r>
            </a:p>
          </p:txBody>
        </p:sp>
        <p:sp>
          <p:nvSpPr>
            <p:cNvPr id="218130" name="Rectangle 18">
              <a:extLst>
                <a:ext uri="{FF2B5EF4-FFF2-40B4-BE49-F238E27FC236}">
                  <a16:creationId xmlns:a16="http://schemas.microsoft.com/office/drawing/2014/main" id="{9BB28E5F-168C-292E-4530-5F52DBCED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3521"/>
              <a:ext cx="561" cy="2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000"/>
                <a:t>2</a:t>
              </a:r>
            </a:p>
          </p:txBody>
        </p:sp>
        <p:sp>
          <p:nvSpPr>
            <p:cNvPr id="218131" name="Rectangle 19">
              <a:extLst>
                <a:ext uri="{FF2B5EF4-FFF2-40B4-BE49-F238E27FC236}">
                  <a16:creationId xmlns:a16="http://schemas.microsoft.com/office/drawing/2014/main" id="{5D0EF402-08CE-3DDD-A3DA-AB7AF8835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" y="3521"/>
              <a:ext cx="501" cy="2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000"/>
                <a:t>3</a:t>
              </a:r>
            </a:p>
          </p:txBody>
        </p:sp>
        <p:sp>
          <p:nvSpPr>
            <p:cNvPr id="218132" name="Text Box 20">
              <a:extLst>
                <a:ext uri="{FF2B5EF4-FFF2-40B4-BE49-F238E27FC236}">
                  <a16:creationId xmlns:a16="http://schemas.microsoft.com/office/drawing/2014/main" id="{024E57D6-A6FC-621B-61AB-A25A08E98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719"/>
              <a:ext cx="5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400" b="1"/>
                <a:t>TREATS</a:t>
              </a:r>
            </a:p>
          </p:txBody>
        </p:sp>
        <p:sp>
          <p:nvSpPr>
            <p:cNvPr id="218133" name="Rectangle 21">
              <a:extLst>
                <a:ext uri="{FF2B5EF4-FFF2-40B4-BE49-F238E27FC236}">
                  <a16:creationId xmlns:a16="http://schemas.microsoft.com/office/drawing/2014/main" id="{A359B540-1627-AA70-905D-033FED1E4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900"/>
              <a:ext cx="561" cy="20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000" b="1" u="sng"/>
                <a:t>Patient_id</a:t>
              </a:r>
            </a:p>
          </p:txBody>
        </p:sp>
        <p:sp>
          <p:nvSpPr>
            <p:cNvPr id="218134" name="Rectangle 22">
              <a:extLst>
                <a:ext uri="{FF2B5EF4-FFF2-40B4-BE49-F238E27FC236}">
                  <a16:creationId xmlns:a16="http://schemas.microsoft.com/office/drawing/2014/main" id="{46180E8C-3E77-9D78-2BF2-D846B435D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107"/>
              <a:ext cx="561" cy="2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000"/>
                <a:t>1</a:t>
              </a:r>
            </a:p>
          </p:txBody>
        </p:sp>
        <p:sp>
          <p:nvSpPr>
            <p:cNvPr id="218135" name="Rectangle 23">
              <a:extLst>
                <a:ext uri="{FF2B5EF4-FFF2-40B4-BE49-F238E27FC236}">
                  <a16:creationId xmlns:a16="http://schemas.microsoft.com/office/drawing/2014/main" id="{2CE99350-5833-E028-0482-41E2B32DA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314"/>
              <a:ext cx="561" cy="2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000"/>
                <a:t>2</a:t>
              </a:r>
            </a:p>
          </p:txBody>
        </p:sp>
        <p:sp>
          <p:nvSpPr>
            <p:cNvPr id="218136" name="Rectangle 24">
              <a:extLst>
                <a:ext uri="{FF2B5EF4-FFF2-40B4-BE49-F238E27FC236}">
                  <a16:creationId xmlns:a16="http://schemas.microsoft.com/office/drawing/2014/main" id="{68B99B2A-97F1-E720-583C-F72C210D5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521"/>
              <a:ext cx="561" cy="2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000"/>
                <a:t>3</a:t>
              </a:r>
            </a:p>
          </p:txBody>
        </p:sp>
      </p:grpSp>
      <p:grpSp>
        <p:nvGrpSpPr>
          <p:cNvPr id="218137" name="Group 25">
            <a:extLst>
              <a:ext uri="{FF2B5EF4-FFF2-40B4-BE49-F238E27FC236}">
                <a16:creationId xmlns:a16="http://schemas.microsoft.com/office/drawing/2014/main" id="{9FB32B40-ADEC-DC5C-39CA-5B68C797A14C}"/>
              </a:ext>
            </a:extLst>
          </p:cNvPr>
          <p:cNvGrpSpPr>
            <a:grpSpLocks/>
          </p:cNvGrpSpPr>
          <p:nvPr/>
        </p:nvGrpSpPr>
        <p:grpSpPr bwMode="auto">
          <a:xfrm>
            <a:off x="2819401" y="3429000"/>
            <a:ext cx="6303963" cy="2667000"/>
            <a:chOff x="816" y="2160"/>
            <a:chExt cx="3971" cy="1680"/>
          </a:xfrm>
        </p:grpSpPr>
        <p:grpSp>
          <p:nvGrpSpPr>
            <p:cNvPr id="218138" name="Group 26">
              <a:extLst>
                <a:ext uri="{FF2B5EF4-FFF2-40B4-BE49-F238E27FC236}">
                  <a16:creationId xmlns:a16="http://schemas.microsoft.com/office/drawing/2014/main" id="{51E97E0B-498F-75F2-A3C0-94552F473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3216"/>
              <a:ext cx="803" cy="624"/>
              <a:chOff x="576" y="1536"/>
              <a:chExt cx="803" cy="624"/>
            </a:xfrm>
          </p:grpSpPr>
          <p:sp>
            <p:nvSpPr>
              <p:cNvPr id="218139" name="Rectangle 27">
                <a:extLst>
                  <a:ext uri="{FF2B5EF4-FFF2-40B4-BE49-F238E27FC236}">
                    <a16:creationId xmlns:a16="http://schemas.microsoft.com/office/drawing/2014/main" id="{15D191D1-61E1-16E2-5563-0D64198709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419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 u="sng"/>
                  <a:t>id</a:t>
                </a:r>
                <a:endParaRPr lang="en-US" altLang="en-US" sz="1000" b="1"/>
              </a:p>
            </p:txBody>
          </p:sp>
          <p:sp>
            <p:nvSpPr>
              <p:cNvPr id="218140" name="Rectangle 28">
                <a:extLst>
                  <a:ext uri="{FF2B5EF4-FFF2-40B4-BE49-F238E27FC236}">
                    <a16:creationId xmlns:a16="http://schemas.microsoft.com/office/drawing/2014/main" id="{6597ACD4-E96B-2B35-246C-14395008B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5" y="1728"/>
                <a:ext cx="374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/>
                  <a:t>name</a:t>
                </a:r>
              </a:p>
            </p:txBody>
          </p:sp>
          <p:sp>
            <p:nvSpPr>
              <p:cNvPr id="218141" name="Rectangle 29">
                <a:extLst>
                  <a:ext uri="{FF2B5EF4-FFF2-40B4-BE49-F238E27FC236}">
                    <a16:creationId xmlns:a16="http://schemas.microsoft.com/office/drawing/2014/main" id="{D598A8B6-7124-B3C2-252D-E9C34E63D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419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1</a:t>
                </a:r>
              </a:p>
            </p:txBody>
          </p:sp>
          <p:sp>
            <p:nvSpPr>
              <p:cNvPr id="218142" name="Rectangle 30">
                <a:extLst>
                  <a:ext uri="{FF2B5EF4-FFF2-40B4-BE49-F238E27FC236}">
                    <a16:creationId xmlns:a16="http://schemas.microsoft.com/office/drawing/2014/main" id="{8265FDEA-39C9-9F50-B74E-BB41CF548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5" y="1872"/>
                <a:ext cx="3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Dax</a:t>
                </a:r>
              </a:p>
            </p:txBody>
          </p:sp>
          <p:sp>
            <p:nvSpPr>
              <p:cNvPr id="218143" name="Rectangle 31">
                <a:extLst>
                  <a:ext uri="{FF2B5EF4-FFF2-40B4-BE49-F238E27FC236}">
                    <a16:creationId xmlns:a16="http://schemas.microsoft.com/office/drawing/2014/main" id="{2951A7C7-67FC-8DCB-9C84-185DC2C70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419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3</a:t>
                </a:r>
              </a:p>
            </p:txBody>
          </p:sp>
          <p:sp>
            <p:nvSpPr>
              <p:cNvPr id="218144" name="Rectangle 32">
                <a:extLst>
                  <a:ext uri="{FF2B5EF4-FFF2-40B4-BE49-F238E27FC236}">
                    <a16:creationId xmlns:a16="http://schemas.microsoft.com/office/drawing/2014/main" id="{8164BA57-7135-F0E8-DF49-F84439EE1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5" y="2016"/>
                <a:ext cx="3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Witbooi</a:t>
                </a:r>
              </a:p>
            </p:txBody>
          </p:sp>
          <p:sp>
            <p:nvSpPr>
              <p:cNvPr id="218145" name="Text Box 33">
                <a:extLst>
                  <a:ext uri="{FF2B5EF4-FFF2-40B4-BE49-F238E27FC236}">
                    <a16:creationId xmlns:a16="http://schemas.microsoft.com/office/drawing/2014/main" id="{013EA8A6-1FDE-3716-0498-B1007A26AF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536"/>
                <a:ext cx="755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 b="1"/>
                  <a:t>PHYSICIAN</a:t>
                </a:r>
                <a:endParaRPr lang="de-DE" altLang="en-US" sz="1400" b="1"/>
              </a:p>
            </p:txBody>
          </p:sp>
        </p:grpSp>
        <p:grpSp>
          <p:nvGrpSpPr>
            <p:cNvPr id="218146" name="Group 34">
              <a:extLst>
                <a:ext uri="{FF2B5EF4-FFF2-40B4-BE49-F238E27FC236}">
                  <a16:creationId xmlns:a16="http://schemas.microsoft.com/office/drawing/2014/main" id="{B2767E85-B81A-6E03-001A-5AE1545BC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160"/>
              <a:ext cx="1032" cy="624"/>
              <a:chOff x="696" y="2496"/>
              <a:chExt cx="1032" cy="624"/>
            </a:xfrm>
          </p:grpSpPr>
          <p:sp>
            <p:nvSpPr>
              <p:cNvPr id="218147" name="Rectangle 35">
                <a:extLst>
                  <a:ext uri="{FF2B5EF4-FFF2-40B4-BE49-F238E27FC236}">
                    <a16:creationId xmlns:a16="http://schemas.microsoft.com/office/drawing/2014/main" id="{BA741FF9-DD77-7ECE-60FC-5C297E3F6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2688"/>
                <a:ext cx="419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 u="sng"/>
                  <a:t>id</a:t>
                </a:r>
                <a:endParaRPr lang="en-US" altLang="en-US" sz="1000" b="1"/>
              </a:p>
            </p:txBody>
          </p:sp>
          <p:sp>
            <p:nvSpPr>
              <p:cNvPr id="218148" name="Rectangle 36">
                <a:extLst>
                  <a:ext uri="{FF2B5EF4-FFF2-40B4-BE49-F238E27FC236}">
                    <a16:creationId xmlns:a16="http://schemas.microsoft.com/office/drawing/2014/main" id="{F4826D53-E389-6ABE-9354-D79B7847F7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9" y="2688"/>
                <a:ext cx="589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/>
                  <a:t>name</a:t>
                </a:r>
              </a:p>
            </p:txBody>
          </p:sp>
          <p:sp>
            <p:nvSpPr>
              <p:cNvPr id="218149" name="Rectangle 37">
                <a:extLst>
                  <a:ext uri="{FF2B5EF4-FFF2-40B4-BE49-F238E27FC236}">
                    <a16:creationId xmlns:a16="http://schemas.microsoft.com/office/drawing/2014/main" id="{37378BD0-756D-84D3-9AD8-B42D1605A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2832"/>
                <a:ext cx="419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2</a:t>
                </a:r>
              </a:p>
            </p:txBody>
          </p:sp>
          <p:sp>
            <p:nvSpPr>
              <p:cNvPr id="218150" name="Rectangle 38">
                <a:extLst>
                  <a:ext uri="{FF2B5EF4-FFF2-40B4-BE49-F238E27FC236}">
                    <a16:creationId xmlns:a16="http://schemas.microsoft.com/office/drawing/2014/main" id="{31785F99-949B-5981-5BB7-952CC33415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9" y="2832"/>
                <a:ext cx="589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XRay</a:t>
                </a:r>
              </a:p>
            </p:txBody>
          </p:sp>
          <p:sp>
            <p:nvSpPr>
              <p:cNvPr id="218151" name="Rectangle 39">
                <a:extLst>
                  <a:ext uri="{FF2B5EF4-FFF2-40B4-BE49-F238E27FC236}">
                    <a16:creationId xmlns:a16="http://schemas.microsoft.com/office/drawing/2014/main" id="{9399EE62-B22F-29EA-8D90-9DFDE8673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2976"/>
                <a:ext cx="419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3</a:t>
                </a:r>
              </a:p>
            </p:txBody>
          </p:sp>
          <p:sp>
            <p:nvSpPr>
              <p:cNvPr id="218152" name="Rectangle 40">
                <a:extLst>
                  <a:ext uri="{FF2B5EF4-FFF2-40B4-BE49-F238E27FC236}">
                    <a16:creationId xmlns:a16="http://schemas.microsoft.com/office/drawing/2014/main" id="{70F522B8-CEA0-3F23-538C-A4C4ABDD7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9" y="2976"/>
                <a:ext cx="589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Extract Tooth</a:t>
                </a:r>
              </a:p>
            </p:txBody>
          </p:sp>
          <p:sp>
            <p:nvSpPr>
              <p:cNvPr id="218153" name="Text Box 41">
                <a:extLst>
                  <a:ext uri="{FF2B5EF4-FFF2-40B4-BE49-F238E27FC236}">
                    <a16:creationId xmlns:a16="http://schemas.microsoft.com/office/drawing/2014/main" id="{37E67DAE-7818-3760-B85C-2A47BE0B67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6" y="2496"/>
                <a:ext cx="863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 b="1"/>
                  <a:t>TREATMENT</a:t>
                </a:r>
                <a:endParaRPr lang="de-DE" altLang="en-US" sz="1400" b="1"/>
              </a:p>
            </p:txBody>
          </p:sp>
        </p:grpSp>
        <p:grpSp>
          <p:nvGrpSpPr>
            <p:cNvPr id="218154" name="Group 42">
              <a:extLst>
                <a:ext uri="{FF2B5EF4-FFF2-40B4-BE49-F238E27FC236}">
                  <a16:creationId xmlns:a16="http://schemas.microsoft.com/office/drawing/2014/main" id="{49060CC4-100E-4984-7132-23D60C16E4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216"/>
              <a:ext cx="793" cy="624"/>
              <a:chOff x="576" y="1536"/>
              <a:chExt cx="793" cy="624"/>
            </a:xfrm>
          </p:grpSpPr>
          <p:sp>
            <p:nvSpPr>
              <p:cNvPr id="218155" name="Rectangle 43">
                <a:extLst>
                  <a:ext uri="{FF2B5EF4-FFF2-40B4-BE49-F238E27FC236}">
                    <a16:creationId xmlns:a16="http://schemas.microsoft.com/office/drawing/2014/main" id="{B0142ACC-2D1E-56F2-F906-89492B314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419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 u="sng"/>
                  <a:t>id</a:t>
                </a:r>
                <a:endParaRPr lang="en-US" altLang="en-US" sz="1000" b="1"/>
              </a:p>
            </p:txBody>
          </p:sp>
          <p:sp>
            <p:nvSpPr>
              <p:cNvPr id="218156" name="Rectangle 44">
                <a:extLst>
                  <a:ext uri="{FF2B5EF4-FFF2-40B4-BE49-F238E27FC236}">
                    <a16:creationId xmlns:a16="http://schemas.microsoft.com/office/drawing/2014/main" id="{74F01722-EDBF-53A4-709A-0A09D056E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5" y="1728"/>
                <a:ext cx="374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 b="1"/>
                  <a:t>name</a:t>
                </a:r>
              </a:p>
            </p:txBody>
          </p:sp>
          <p:sp>
            <p:nvSpPr>
              <p:cNvPr id="218157" name="Rectangle 45">
                <a:extLst>
                  <a:ext uri="{FF2B5EF4-FFF2-40B4-BE49-F238E27FC236}">
                    <a16:creationId xmlns:a16="http://schemas.microsoft.com/office/drawing/2014/main" id="{3729FDCE-E804-3CCE-CCCC-8DEC4EE31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419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1</a:t>
                </a:r>
              </a:p>
            </p:txBody>
          </p:sp>
          <p:sp>
            <p:nvSpPr>
              <p:cNvPr id="218158" name="Rectangle 46">
                <a:extLst>
                  <a:ext uri="{FF2B5EF4-FFF2-40B4-BE49-F238E27FC236}">
                    <a16:creationId xmlns:a16="http://schemas.microsoft.com/office/drawing/2014/main" id="{53590A2A-5C00-5812-6AA9-1F40DC50C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5" y="1872"/>
                <a:ext cx="3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Munguni</a:t>
                </a:r>
              </a:p>
            </p:txBody>
          </p:sp>
          <p:sp>
            <p:nvSpPr>
              <p:cNvPr id="218159" name="Rectangle 47">
                <a:extLst>
                  <a:ext uri="{FF2B5EF4-FFF2-40B4-BE49-F238E27FC236}">
                    <a16:creationId xmlns:a16="http://schemas.microsoft.com/office/drawing/2014/main" id="{35867905-81AC-CC61-D71A-3673D3A82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419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2</a:t>
                </a:r>
              </a:p>
            </p:txBody>
          </p:sp>
          <p:sp>
            <p:nvSpPr>
              <p:cNvPr id="218160" name="Rectangle 48">
                <a:extLst>
                  <a:ext uri="{FF2B5EF4-FFF2-40B4-BE49-F238E27FC236}">
                    <a16:creationId xmlns:a16="http://schemas.microsoft.com/office/drawing/2014/main" id="{A2CAE502-FA3B-8C5E-B568-48F82FC09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5" y="2016"/>
                <a:ext cx="3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000"/>
                  <a:t>Hangula</a:t>
                </a:r>
              </a:p>
            </p:txBody>
          </p:sp>
          <p:sp>
            <p:nvSpPr>
              <p:cNvPr id="218161" name="Text Box 49">
                <a:extLst>
                  <a:ext uri="{FF2B5EF4-FFF2-40B4-BE49-F238E27FC236}">
                    <a16:creationId xmlns:a16="http://schemas.microsoft.com/office/drawing/2014/main" id="{CA88463D-B859-F131-6100-67EFC5A29F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536"/>
                <a:ext cx="62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 b="1"/>
                  <a:t>PATIENT</a:t>
                </a:r>
                <a:endParaRPr lang="de-DE" altLang="en-US" sz="1400" b="1"/>
              </a:p>
            </p:txBody>
          </p:sp>
        </p:grpSp>
      </p:grpSp>
      <p:grpSp>
        <p:nvGrpSpPr>
          <p:cNvPr id="218162" name="Group 50">
            <a:extLst>
              <a:ext uri="{FF2B5EF4-FFF2-40B4-BE49-F238E27FC236}">
                <a16:creationId xmlns:a16="http://schemas.microsoft.com/office/drawing/2014/main" id="{F7326091-F10D-6D9E-53DA-1311FAF645B4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4800600"/>
            <a:ext cx="2133600" cy="1905000"/>
            <a:chOff x="1152" y="3024"/>
            <a:chExt cx="1344" cy="1200"/>
          </a:xfrm>
        </p:grpSpPr>
        <p:sp>
          <p:nvSpPr>
            <p:cNvPr id="218163" name="Rectangle 51">
              <a:extLst>
                <a:ext uri="{FF2B5EF4-FFF2-40B4-BE49-F238E27FC236}">
                  <a16:creationId xmlns:a16="http://schemas.microsoft.com/office/drawing/2014/main" id="{AC9A3B92-82C5-8481-EEB1-F8993E2A6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024"/>
              <a:ext cx="624" cy="1200"/>
            </a:xfrm>
            <a:prstGeom prst="rect">
              <a:avLst/>
            </a:prstGeom>
            <a:noFill/>
            <a:ln w="1587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8164" name="Line 52">
              <a:extLst>
                <a:ext uri="{FF2B5EF4-FFF2-40B4-BE49-F238E27FC236}">
                  <a16:creationId xmlns:a16="http://schemas.microsoft.com/office/drawing/2014/main" id="{10DAC6EA-9BEC-311D-0EBA-0E0C76B64A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" y="3024"/>
              <a:ext cx="720" cy="384"/>
            </a:xfrm>
            <a:prstGeom prst="line">
              <a:avLst/>
            </a:prstGeom>
            <a:noFill/>
            <a:ln w="158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18165" name="Group 53">
            <a:extLst>
              <a:ext uri="{FF2B5EF4-FFF2-40B4-BE49-F238E27FC236}">
                <a16:creationId xmlns:a16="http://schemas.microsoft.com/office/drawing/2014/main" id="{5D3E9A87-C8C2-47F3-8926-57703C9BD60D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4800600"/>
            <a:ext cx="1752600" cy="1905000"/>
            <a:chOff x="3120" y="3024"/>
            <a:chExt cx="1104" cy="1200"/>
          </a:xfrm>
        </p:grpSpPr>
        <p:sp>
          <p:nvSpPr>
            <p:cNvPr id="218166" name="Rectangle 54">
              <a:extLst>
                <a:ext uri="{FF2B5EF4-FFF2-40B4-BE49-F238E27FC236}">
                  <a16:creationId xmlns:a16="http://schemas.microsoft.com/office/drawing/2014/main" id="{027C5DAD-59F3-F4C1-591D-582908465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024"/>
              <a:ext cx="624" cy="1200"/>
            </a:xfrm>
            <a:prstGeom prst="rect">
              <a:avLst/>
            </a:prstGeom>
            <a:noFill/>
            <a:ln w="1587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8167" name="Line 55">
              <a:extLst>
                <a:ext uri="{FF2B5EF4-FFF2-40B4-BE49-F238E27FC236}">
                  <a16:creationId xmlns:a16="http://schemas.microsoft.com/office/drawing/2014/main" id="{D2E485E4-4957-0729-BAFC-8AEB3FA33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024"/>
              <a:ext cx="480" cy="384"/>
            </a:xfrm>
            <a:prstGeom prst="line">
              <a:avLst/>
            </a:prstGeom>
            <a:noFill/>
            <a:ln w="158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18168" name="Group 56">
            <a:extLst>
              <a:ext uri="{FF2B5EF4-FFF2-40B4-BE49-F238E27FC236}">
                <a16:creationId xmlns:a16="http://schemas.microsoft.com/office/drawing/2014/main" id="{B9EC55A2-8A9F-D9E8-D9F6-9553B66E6C0A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4343400"/>
            <a:ext cx="762000" cy="2362200"/>
            <a:chOff x="2592" y="2736"/>
            <a:chExt cx="480" cy="1488"/>
          </a:xfrm>
        </p:grpSpPr>
        <p:sp>
          <p:nvSpPr>
            <p:cNvPr id="218169" name="Rectangle 57">
              <a:extLst>
                <a:ext uri="{FF2B5EF4-FFF2-40B4-BE49-F238E27FC236}">
                  <a16:creationId xmlns:a16="http://schemas.microsoft.com/office/drawing/2014/main" id="{5B278096-ECAD-37DC-E784-920297F11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024"/>
              <a:ext cx="480" cy="1200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8170" name="Line 58">
              <a:extLst>
                <a:ext uri="{FF2B5EF4-FFF2-40B4-BE49-F238E27FC236}">
                  <a16:creationId xmlns:a16="http://schemas.microsoft.com/office/drawing/2014/main" id="{6A307075-E368-F4C0-0AD0-23E2D355EE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40" y="2736"/>
              <a:ext cx="192" cy="288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D2DB4-7DFA-4957-A66B-4290908C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Anomalies </a:t>
            </a:r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3787FE8-2E4E-4A39-95F1-2822692B63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7413" y="2286000"/>
            <a:ext cx="9093311" cy="402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81E5C5-BFE3-2BB6-8178-91C53D4E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035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Anomaly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sz="2800" dirty="0"/>
              <a:t>Looking at the relation below, </a:t>
            </a:r>
          </a:p>
          <a:p>
            <a:endParaRPr lang="en-ZW" sz="2800" dirty="0"/>
          </a:p>
          <a:p>
            <a:endParaRPr lang="en-ZW" dirty="0"/>
          </a:p>
          <a:p>
            <a:endParaRPr lang="en-Z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963034"/>
              </p:ext>
            </p:extLst>
          </p:nvPr>
        </p:nvGraphicFramePr>
        <p:xfrm>
          <a:off x="2351584" y="3106936"/>
          <a:ext cx="7488830" cy="302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ZW" dirty="0" err="1"/>
                        <a:t>PNumber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PName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PPosition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TeamName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TeamLeague</a:t>
                      </a:r>
                      <a:endParaRPr lang="en-Z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ZW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Zouma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Cback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Chelsea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Premier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ZW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Tomori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Cback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Chelsea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Premier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ZW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Emerson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Lback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Chelsea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Premier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ZW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Kante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Cmid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Chelsea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Premier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ZW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Willian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Rwing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Chelsea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Premier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ZW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Caballero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 err="1"/>
                        <a:t>Gkeeper</a:t>
                      </a:r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Chelsea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Premier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ED943-8FF9-FB9E-C818-A964F6D6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577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CF09-6303-4A8E-9005-E4CB8C90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77220"/>
          </a:xfrm>
        </p:spPr>
        <p:txBody>
          <a:bodyPr/>
          <a:lstStyle/>
          <a:p>
            <a:r>
              <a:rPr lang="en-US" dirty="0"/>
              <a:t>Insertion anomaly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F9366-C211-48CD-A452-E6F8EC75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803" y="1919111"/>
            <a:ext cx="9601196" cy="4065000"/>
          </a:xfrm>
        </p:spPr>
        <p:txBody>
          <a:bodyPr>
            <a:normAutofit/>
          </a:bodyPr>
          <a:lstStyle/>
          <a:p>
            <a:r>
              <a:rPr lang="en-ZW" dirty="0"/>
              <a:t>1. What problems can arise if we have a new player joining the team?</a:t>
            </a:r>
          </a:p>
          <a:p>
            <a:r>
              <a:rPr lang="en-ZW" dirty="0"/>
              <a:t>This means we will have player details and no league details</a:t>
            </a:r>
          </a:p>
          <a:p>
            <a:r>
              <a:rPr lang="en-ZW" dirty="0"/>
              <a:t>It leaves the League attribute without a value (i.e. NULL), it violates the integrity of the data</a:t>
            </a:r>
          </a:p>
          <a:p>
            <a:r>
              <a:rPr lang="en-ZW" dirty="0"/>
              <a:t>This is called an insertion anomaly. </a:t>
            </a:r>
          </a:p>
          <a:p>
            <a:r>
              <a:rPr lang="en-ZW" dirty="0"/>
              <a:t>Similarly  recording a new student data without the adviser details is an example of insertion anomaly.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48AA1-FE04-9D1B-DF6D-0594DBC7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59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33CB3-EF08-47B9-A621-DC0D3D1E5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Anomaly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16E72-6F40-4D8C-ABBA-7B51520AE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W" dirty="0"/>
              <a:t>2. What problem arises is when we delete the Team details from the table?</a:t>
            </a:r>
          </a:p>
          <a:p>
            <a:r>
              <a:rPr lang="en-ZW" dirty="0"/>
              <a:t>We will also delete the player details in the affected rows</a:t>
            </a:r>
          </a:p>
          <a:p>
            <a:r>
              <a:rPr lang="en-ZW" dirty="0"/>
              <a:t>This is an example of a deletion anomaly where some data is lost as we delete the other data.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76FA7-166C-CD09-469F-092A95E7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555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ED808-6F6D-4BF5-A873-65CCDACA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Anomaly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F9146-E78B-4FF8-929F-9E07B642C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ZW" dirty="0"/>
              <a:t>3. What problem arises if the Team registers in a new League e.g. MTC</a:t>
            </a:r>
          </a:p>
          <a:p>
            <a:pPr marL="0" indent="0">
              <a:buNone/>
            </a:pPr>
            <a:r>
              <a:rPr lang="en-ZW" dirty="0"/>
              <a:t>If we forget to update one record with the new League name</a:t>
            </a:r>
          </a:p>
          <a:p>
            <a:pPr marL="0" indent="0">
              <a:buNone/>
            </a:pPr>
            <a:r>
              <a:rPr lang="en-ZW" dirty="0"/>
              <a:t>We have to update multiple rows with the same value since the data is repeated in several rows (redundant).</a:t>
            </a:r>
          </a:p>
          <a:p>
            <a:pPr marL="0" indent="0">
              <a:buNone/>
            </a:pPr>
            <a:r>
              <a:rPr lang="en-ZW" dirty="0"/>
              <a:t>If other rows are left without an update, that is an anomaly</a:t>
            </a:r>
          </a:p>
          <a:p>
            <a:pPr marL="0" indent="0">
              <a:buNone/>
            </a:pPr>
            <a:r>
              <a:rPr lang="en-ZW" dirty="0"/>
              <a:t>This is an example of an update anomaly.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D2A28-5862-79A2-73B2-02DC2724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0606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06EA4-B357-44F9-B65C-444E362D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Anomalies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8D286-7B43-4BA3-9962-C04B4ED93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anomalies described may be resolved by the process called normalization</a:t>
            </a:r>
          </a:p>
          <a:p>
            <a:r>
              <a:rPr lang="en-ZW" dirty="0"/>
              <a:t>Normalisation aims to:</a:t>
            </a:r>
          </a:p>
          <a:p>
            <a:pPr marL="0" indent="0">
              <a:buNone/>
            </a:pPr>
            <a:r>
              <a:rPr lang="en-ZW" dirty="0"/>
              <a:t>1. To eliminate redundant data</a:t>
            </a:r>
          </a:p>
          <a:p>
            <a:pPr marL="0" indent="0">
              <a:buNone/>
            </a:pPr>
            <a:r>
              <a:rPr lang="en-ZW" dirty="0"/>
              <a:t>2. Ensure data dependencies make sense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8B375-38C2-D65B-9D3C-2E3E290D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1447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DEFINITION- Normalisation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Normalization theory is the study of relations (tables), attributes (columns), and the dependency of attributes upon one another.</a:t>
            </a:r>
          </a:p>
          <a:p>
            <a:r>
              <a:rPr lang="en-ZW" dirty="0"/>
              <a:t>Process of organising data in database.</a:t>
            </a:r>
          </a:p>
          <a:p>
            <a:r>
              <a:rPr lang="en-ZW" dirty="0"/>
              <a:t>Create tables and establish relationships between those tables according to the normalisation rules</a:t>
            </a:r>
          </a:p>
          <a:p>
            <a:r>
              <a:rPr lang="en-ZW" dirty="0"/>
              <a:t>Systematic approach of decomposing tables to eliminate data redundancy process where data is put into a table by removing duplicated data from relation tables</a:t>
            </a:r>
          </a:p>
          <a:p>
            <a:pPr marL="0" indent="0">
              <a:buNone/>
            </a:pPr>
            <a:endParaRPr lang="en-Z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7BDA4-6FA4-7360-54E5-1A4922D2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064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Functional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ZW" dirty="0"/>
              <a:t> </a:t>
            </a:r>
            <a:r>
              <a:rPr lang="en-US" sz="2800" dirty="0"/>
              <a:t>Functional dependency (FD) is a set of constraints between two attributes in a relation.</a:t>
            </a:r>
          </a:p>
          <a:p>
            <a:r>
              <a:rPr lang="en-US" sz="2800" dirty="0"/>
              <a:t> Functional dependency says that if two tuples have same values for attributes A1, A2,..., An, then </a:t>
            </a:r>
          </a:p>
          <a:p>
            <a:r>
              <a:rPr lang="en-US" sz="2800" dirty="0"/>
              <a:t>those two tuples must have to have same values for attributes B1, B2, ..., Bn.</a:t>
            </a:r>
          </a:p>
          <a:p>
            <a:r>
              <a:rPr lang="en-US" sz="2800" dirty="0"/>
              <a:t>Functional dependency is represented by an arrow sign (→) that is, X→Y, where X functionally determines Y.</a:t>
            </a:r>
          </a:p>
          <a:p>
            <a:r>
              <a:rPr lang="en-US" sz="2800" dirty="0"/>
              <a:t> The left-hand side attributes determine the values of attributes on the right-hand side.</a:t>
            </a:r>
          </a:p>
          <a:p>
            <a:endParaRPr lang="en-Z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B5671-B6F1-B2DE-B40E-B4A92F20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4171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3C035-4A54-4FDD-8DCC-A68E7748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dependency 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D2A6C0-D741-488D-9699-305F0F2369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398" y="2419763"/>
            <a:ext cx="9601200" cy="271697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6733F1-D9DD-4914-87EB-6A969A89E55A}"/>
              </a:ext>
            </a:extLst>
          </p:cNvPr>
          <p:cNvSpPr txBox="1"/>
          <p:nvPr/>
        </p:nvSpPr>
        <p:spPr>
          <a:xfrm>
            <a:off x="1295398" y="5457825"/>
            <a:ext cx="461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Extracted from </a:t>
            </a:r>
            <a:r>
              <a:rPr lang="en-US" dirty="0" err="1"/>
              <a:t>tutorialpoint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783120-A2B9-9EE7-542B-CC1CB9BA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725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REASONS FOR NORMALISATION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W" dirty="0"/>
              <a:t>The reasons are to avoid cases where</a:t>
            </a:r>
          </a:p>
          <a:p>
            <a:pPr marL="514350" indent="-514350">
              <a:buAutoNum type="arabicPeriod"/>
            </a:pPr>
            <a:r>
              <a:rPr lang="en-ZW" dirty="0"/>
              <a:t>To update a column for a record which occurs twice or more in a table. We have to update all rows to avoid inconsistency</a:t>
            </a:r>
          </a:p>
          <a:p>
            <a:pPr marL="514350" indent="-514350">
              <a:buAutoNum type="arabicPeriod"/>
            </a:pPr>
            <a:r>
              <a:rPr lang="en-ZW" dirty="0"/>
              <a:t>Avoid having columns with NULL values as it is an anomaly</a:t>
            </a:r>
          </a:p>
          <a:p>
            <a:pPr marL="514350" indent="-514350">
              <a:buAutoNum type="arabicPeriod"/>
            </a:pPr>
            <a:r>
              <a:rPr lang="en-ZW" dirty="0"/>
              <a:t>To delete a value in a column may lead to deleting entire record. Avoid inconsistent dependencies.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61F6D-2097-B1A6-2BF2-4AA04A90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5793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754071"/>
          </a:xfrm>
        </p:spPr>
        <p:txBody>
          <a:bodyPr>
            <a:normAutofit/>
          </a:bodyPr>
          <a:lstStyle/>
          <a:p>
            <a:r>
              <a:rPr lang="en-ZW" dirty="0"/>
              <a:t>1NF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736203"/>
            <a:ext cx="9601196" cy="413966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ZW" sz="2000" dirty="0"/>
              <a:t>   No 2 rows of data must contain repeating group information, </a:t>
            </a:r>
            <a:r>
              <a:rPr lang="en-ZA" altLang="en-US" sz="2000" dirty="0"/>
              <a:t>Each row should be uniquely identified</a:t>
            </a:r>
            <a:endParaRPr lang="en-ZW" sz="1800" dirty="0"/>
          </a:p>
          <a:p>
            <a:r>
              <a:rPr lang="en-ZW" sz="2000" dirty="0"/>
              <a:t>Each set of column must have a unique value, Each cell allows a single value</a:t>
            </a:r>
          </a:p>
          <a:p>
            <a:r>
              <a:rPr lang="en-ZW" sz="2000" dirty="0"/>
              <a:t>Multiple columns can’t be used to fetch the same row, </a:t>
            </a:r>
            <a:endParaRPr lang="en-ZA" altLang="en-US" sz="2400" dirty="0"/>
          </a:p>
          <a:p>
            <a:pPr algn="just"/>
            <a:r>
              <a:rPr lang="en-ZA" altLang="en-US" sz="2000" dirty="0"/>
              <a:t>Allows only atomic values</a:t>
            </a:r>
          </a:p>
          <a:p>
            <a:pPr marL="342900" lvl="1" indent="-342900" algn="just"/>
            <a:r>
              <a:rPr lang="en-ZA" altLang="en-US" sz="2000" dirty="0"/>
              <a:t>Values in a column are of the same category</a:t>
            </a:r>
          </a:p>
          <a:p>
            <a:pPr marL="0" indent="0">
              <a:buNone/>
            </a:pPr>
            <a:r>
              <a:rPr lang="en-ZW" sz="2000" dirty="0"/>
              <a:t>NB: a table must not take more than one value for a column</a:t>
            </a:r>
          </a:p>
          <a:p>
            <a:pPr marL="0" indent="0">
              <a:buNone/>
            </a:pPr>
            <a:r>
              <a:rPr lang="en-ZW" sz="2000" dirty="0"/>
              <a:t>If so, separate the data into multiple rows</a:t>
            </a:r>
          </a:p>
          <a:p>
            <a:pPr marL="0" indent="0">
              <a:buNone/>
            </a:pPr>
            <a:r>
              <a:rPr lang="en-ZW" sz="2000" dirty="0"/>
              <a:t>Create separate table for each set of related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11D8E-820F-2F1D-675C-1BBFE89C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9852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1NF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Rules for First Normal Form</a:t>
            </a:r>
          </a:p>
          <a:p>
            <a:pPr algn="just"/>
            <a:r>
              <a:rPr lang="en-ZA" altLang="en-US" dirty="0"/>
              <a:t>Allow only atomic values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ZA" altLang="en-US" sz="3200" dirty="0"/>
              <a:t>Each cell allows a single value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ZA" altLang="en-US" sz="3200" dirty="0"/>
              <a:t>Values in a column are of the same category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ZA" altLang="en-US" sz="3200" dirty="0"/>
              <a:t>Each row should be uniquely identified</a:t>
            </a:r>
          </a:p>
          <a:p>
            <a:endParaRPr lang="en-Z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BF787-4057-5CBE-AC75-648EE5E0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390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F4B7D1FC-EE5A-20F6-4A60-0B98DD3CF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7772400" cy="1143000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en-US" dirty="0"/>
            </a:br>
            <a:r>
              <a:rPr lang="en-US" altLang="en-US" dirty="0"/>
              <a:t>Normalization Rule 1 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4354ED8-E65A-6915-585F-577201908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450BB-3467-40A5-BE9B-029914234017}" type="slidenum">
              <a:rPr lang="de-DE" altLang="en-US"/>
              <a:pPr/>
              <a:t>46</a:t>
            </a:fld>
            <a:endParaRPr lang="de-DE" altLang="en-US"/>
          </a:p>
        </p:txBody>
      </p:sp>
      <p:sp>
        <p:nvSpPr>
          <p:cNvPr id="220163" name="Text Box 3">
            <a:extLst>
              <a:ext uri="{FF2B5EF4-FFF2-40B4-BE49-F238E27FC236}">
                <a16:creationId xmlns:a16="http://schemas.microsoft.com/office/drawing/2014/main" id="{A22227C8-B158-1FED-002A-70FDB24EC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2090" y="1676400"/>
            <a:ext cx="887871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dirty="0"/>
              <a:t>A table is in First Normal Form (1NF) if all of it’s column contain atomic values.</a:t>
            </a:r>
          </a:p>
          <a:p>
            <a:pPr eaLnBrk="0" hangingPunct="0"/>
            <a:r>
              <a:rPr lang="en-US" altLang="en-US" sz="2400" dirty="0"/>
              <a:t>The first property of a relation is that the value at the intersection of each row and column must be atomic.</a:t>
            </a:r>
          </a:p>
        </p:txBody>
      </p:sp>
      <p:grpSp>
        <p:nvGrpSpPr>
          <p:cNvPr id="220164" name="Group 4">
            <a:extLst>
              <a:ext uri="{FF2B5EF4-FFF2-40B4-BE49-F238E27FC236}">
                <a16:creationId xmlns:a16="http://schemas.microsoft.com/office/drawing/2014/main" id="{5E558D37-7A7C-4F9B-4855-A41EF63AED8E}"/>
              </a:ext>
            </a:extLst>
          </p:cNvPr>
          <p:cNvGrpSpPr>
            <a:grpSpLocks/>
          </p:cNvGrpSpPr>
          <p:nvPr/>
        </p:nvGrpSpPr>
        <p:grpSpPr bwMode="auto">
          <a:xfrm>
            <a:off x="2909888" y="4495800"/>
            <a:ext cx="2514600" cy="1524000"/>
            <a:chOff x="624" y="2016"/>
            <a:chExt cx="1584" cy="960"/>
          </a:xfrm>
        </p:grpSpPr>
        <p:sp>
          <p:nvSpPr>
            <p:cNvPr id="220165" name="Rectangle 5">
              <a:extLst>
                <a:ext uri="{FF2B5EF4-FFF2-40B4-BE49-F238E27FC236}">
                  <a16:creationId xmlns:a16="http://schemas.microsoft.com/office/drawing/2014/main" id="{713A1B88-063F-339E-637C-40D76630D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016"/>
              <a:ext cx="777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u="sng"/>
                <a:t>name</a:t>
              </a:r>
              <a:endParaRPr lang="en-US" altLang="en-US" sz="1600" b="1"/>
            </a:p>
          </p:txBody>
        </p:sp>
        <p:sp>
          <p:nvSpPr>
            <p:cNvPr id="220166" name="Rectangle 6">
              <a:extLst>
                <a:ext uri="{FF2B5EF4-FFF2-40B4-BE49-F238E27FC236}">
                  <a16:creationId xmlns:a16="http://schemas.microsoft.com/office/drawing/2014/main" id="{1DEB9F96-9F31-5E79-2BCD-D2784C03D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2016"/>
              <a:ext cx="807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/>
                <a:t>children</a:t>
              </a:r>
            </a:p>
          </p:txBody>
        </p:sp>
        <p:sp>
          <p:nvSpPr>
            <p:cNvPr id="220167" name="Rectangle 7">
              <a:extLst>
                <a:ext uri="{FF2B5EF4-FFF2-40B4-BE49-F238E27FC236}">
                  <a16:creationId xmlns:a16="http://schemas.microsoft.com/office/drawing/2014/main" id="{1819D977-6FF1-A94E-D74E-64C3DFBC0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336"/>
              <a:ext cx="7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Jens</a:t>
              </a:r>
            </a:p>
          </p:txBody>
        </p:sp>
        <p:sp>
          <p:nvSpPr>
            <p:cNvPr id="220168" name="Rectangle 8">
              <a:extLst>
                <a:ext uri="{FF2B5EF4-FFF2-40B4-BE49-F238E27FC236}">
                  <a16:creationId xmlns:a16="http://schemas.microsoft.com/office/drawing/2014/main" id="{855BE3FE-6F60-4721-0B8E-0DC24018B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2336"/>
              <a:ext cx="80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Max</a:t>
              </a:r>
            </a:p>
          </p:txBody>
        </p:sp>
        <p:sp>
          <p:nvSpPr>
            <p:cNvPr id="220169" name="Rectangle 9">
              <a:extLst>
                <a:ext uri="{FF2B5EF4-FFF2-40B4-BE49-F238E27FC236}">
                  <a16:creationId xmlns:a16="http://schemas.microsoft.com/office/drawing/2014/main" id="{BA37EC93-D676-5910-62CB-3AE79D65D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656"/>
              <a:ext cx="7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Ulf</a:t>
              </a:r>
            </a:p>
          </p:txBody>
        </p:sp>
        <p:sp>
          <p:nvSpPr>
            <p:cNvPr id="220170" name="Rectangle 10">
              <a:extLst>
                <a:ext uri="{FF2B5EF4-FFF2-40B4-BE49-F238E27FC236}">
                  <a16:creationId xmlns:a16="http://schemas.microsoft.com/office/drawing/2014/main" id="{AEE72C14-60CF-6AED-713A-BEF9C186A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2656"/>
              <a:ext cx="80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Lars, Thomas</a:t>
              </a:r>
            </a:p>
          </p:txBody>
        </p:sp>
      </p:grpSp>
      <p:grpSp>
        <p:nvGrpSpPr>
          <p:cNvPr id="220171" name="Group 11">
            <a:extLst>
              <a:ext uri="{FF2B5EF4-FFF2-40B4-BE49-F238E27FC236}">
                <a16:creationId xmlns:a16="http://schemas.microsoft.com/office/drawing/2014/main" id="{40625639-F5C8-04B8-548D-3AFCEBAD0554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4495800"/>
            <a:ext cx="2514600" cy="1524000"/>
            <a:chOff x="2967" y="2016"/>
            <a:chExt cx="1584" cy="960"/>
          </a:xfrm>
        </p:grpSpPr>
        <p:sp>
          <p:nvSpPr>
            <p:cNvPr id="220172" name="Rectangle 12">
              <a:extLst>
                <a:ext uri="{FF2B5EF4-FFF2-40B4-BE49-F238E27FC236}">
                  <a16:creationId xmlns:a16="http://schemas.microsoft.com/office/drawing/2014/main" id="{7338AD51-B34B-FA24-FE2E-CFFDAF4C6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" y="2016"/>
              <a:ext cx="777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u="sng"/>
                <a:t>name</a:t>
              </a:r>
              <a:endParaRPr lang="en-US" altLang="en-US" sz="1600" b="1"/>
            </a:p>
          </p:txBody>
        </p:sp>
        <p:sp>
          <p:nvSpPr>
            <p:cNvPr id="220173" name="Rectangle 13">
              <a:extLst>
                <a:ext uri="{FF2B5EF4-FFF2-40B4-BE49-F238E27FC236}">
                  <a16:creationId xmlns:a16="http://schemas.microsoft.com/office/drawing/2014/main" id="{24AD5F92-B20F-5359-8973-DCEF79127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016"/>
              <a:ext cx="807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/>
                <a:t>father</a:t>
              </a:r>
            </a:p>
          </p:txBody>
        </p:sp>
        <p:sp>
          <p:nvSpPr>
            <p:cNvPr id="220174" name="Rectangle 14">
              <a:extLst>
                <a:ext uri="{FF2B5EF4-FFF2-40B4-BE49-F238E27FC236}">
                  <a16:creationId xmlns:a16="http://schemas.microsoft.com/office/drawing/2014/main" id="{EAD6BF6F-31E2-000F-03E0-9DB4A73ED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" y="2336"/>
              <a:ext cx="7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Max</a:t>
              </a:r>
            </a:p>
          </p:txBody>
        </p:sp>
        <p:sp>
          <p:nvSpPr>
            <p:cNvPr id="220175" name="Rectangle 15">
              <a:extLst>
                <a:ext uri="{FF2B5EF4-FFF2-40B4-BE49-F238E27FC236}">
                  <a16:creationId xmlns:a16="http://schemas.microsoft.com/office/drawing/2014/main" id="{5E482CFE-2966-4D1E-FE9F-B7AE34F64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336"/>
              <a:ext cx="80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Jens</a:t>
              </a:r>
            </a:p>
          </p:txBody>
        </p:sp>
        <p:sp>
          <p:nvSpPr>
            <p:cNvPr id="220176" name="Rectangle 16">
              <a:extLst>
                <a:ext uri="{FF2B5EF4-FFF2-40B4-BE49-F238E27FC236}">
                  <a16:creationId xmlns:a16="http://schemas.microsoft.com/office/drawing/2014/main" id="{8BB316BC-7B3F-EE8C-039D-6AF4A5F0B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" y="2656"/>
              <a:ext cx="7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Lars</a:t>
              </a:r>
            </a:p>
          </p:txBody>
        </p:sp>
        <p:sp>
          <p:nvSpPr>
            <p:cNvPr id="220177" name="Rectangle 17">
              <a:extLst>
                <a:ext uri="{FF2B5EF4-FFF2-40B4-BE49-F238E27FC236}">
                  <a16:creationId xmlns:a16="http://schemas.microsoft.com/office/drawing/2014/main" id="{54A385E4-4C8E-2CE1-9550-9E9239F18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656"/>
              <a:ext cx="80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/>
                <a:t>Ulf</a:t>
              </a:r>
            </a:p>
          </p:txBody>
        </p:sp>
      </p:grpSp>
      <p:sp>
        <p:nvSpPr>
          <p:cNvPr id="220178" name="Text Box 18">
            <a:extLst>
              <a:ext uri="{FF2B5EF4-FFF2-40B4-BE49-F238E27FC236}">
                <a16:creationId xmlns:a16="http://schemas.microsoft.com/office/drawing/2014/main" id="{4B3C5086-C205-C0AA-E772-BDA7DB6E1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6" y="3505200"/>
            <a:ext cx="4278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/>
              <a:t>Are the following tables in 1NF ?</a:t>
            </a:r>
          </a:p>
        </p:txBody>
      </p:sp>
      <p:sp>
        <p:nvSpPr>
          <p:cNvPr id="220179" name="Text Box 19">
            <a:extLst>
              <a:ext uri="{FF2B5EF4-FFF2-40B4-BE49-F238E27FC236}">
                <a16:creationId xmlns:a16="http://schemas.microsoft.com/office/drawing/2014/main" id="{98433D77-CE33-A920-BA0E-6A947C72A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9689" y="6096001"/>
            <a:ext cx="4988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/>
              <a:t>no</a:t>
            </a:r>
          </a:p>
        </p:txBody>
      </p:sp>
      <p:sp>
        <p:nvSpPr>
          <p:cNvPr id="220180" name="Text Box 20">
            <a:extLst>
              <a:ext uri="{FF2B5EF4-FFF2-40B4-BE49-F238E27FC236}">
                <a16:creationId xmlns:a16="http://schemas.microsoft.com/office/drawing/2014/main" id="{D43159AC-A561-8576-4781-E890D0F89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0139" y="6096001"/>
            <a:ext cx="5533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/>
              <a:t>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0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0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2NF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Rules for Second Normal Form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3200" dirty="0"/>
              <a:t>Requirements for First Normal Form met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3200" dirty="0"/>
              <a:t>All attributes dependent on the primary key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ZA" sz="3200" dirty="0"/>
              <a:t>Any attribute that does not depend on the primary key  should be moved to another table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ZA" sz="3200" dirty="0"/>
              <a:t>No partial functional dependencies</a:t>
            </a:r>
          </a:p>
          <a:p>
            <a:pPr algn="just"/>
            <a:endParaRPr lang="en-Z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ABAFC-0964-4537-5F92-65362547F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1959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67A06-01A2-406E-9678-8C88686C4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2NF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5AB49-F2FE-4494-BECE-84266A4E8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The table must be in 1NF</a:t>
            </a:r>
          </a:p>
          <a:p>
            <a:r>
              <a:rPr lang="en-ZW" dirty="0"/>
              <a:t>Non key attributes should be functionally dependent on the primary key.</a:t>
            </a:r>
          </a:p>
          <a:p>
            <a:r>
              <a:rPr lang="en-ZW" dirty="0"/>
              <a:t>Create a separate table for sets of values that apply to multiple records</a:t>
            </a:r>
          </a:p>
          <a:p>
            <a:r>
              <a:rPr lang="en-ZW" dirty="0"/>
              <a:t>Relate tables with a foreign key</a:t>
            </a:r>
          </a:p>
          <a:p>
            <a:r>
              <a:rPr lang="en-ZW" dirty="0"/>
              <a:t>Split table to remove the column causing redundancy and make it into another table.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F148D-A07A-9348-ED8C-AC47F273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4901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BC087FE1-9492-DC54-05A7-E1DFEAE3C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609600"/>
            <a:ext cx="7772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dirty="0"/>
              <a:t>Normalization Rule 2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7E1F3DDB-D5DA-1279-CB00-D9DA4F61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C9DC-FA24-46CE-835D-09627D66CC15}" type="slidenum">
              <a:rPr lang="de-DE" altLang="en-US"/>
              <a:pPr/>
              <a:t>49</a:t>
            </a:fld>
            <a:endParaRPr lang="de-DE" altLang="en-US"/>
          </a:p>
        </p:txBody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D049122D-2E73-17FD-0717-2C9061728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752600"/>
            <a:ext cx="8458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400"/>
              <a:t>A table is in Second Normal Form (2NF) if :</a:t>
            </a:r>
          </a:p>
          <a:p>
            <a:pPr eaLnBrk="0" hangingPunct="0"/>
            <a:r>
              <a:rPr lang="en-US" altLang="en-US" sz="2400"/>
              <a:t>	1. It is in 1NF </a:t>
            </a:r>
            <a:r>
              <a:rPr lang="en-US" altLang="en-US" sz="2400" b="1"/>
              <a:t>and</a:t>
            </a:r>
          </a:p>
          <a:p>
            <a:pPr eaLnBrk="0" hangingPunct="0"/>
            <a:r>
              <a:rPr lang="en-US" altLang="en-US" sz="2400"/>
              <a:t>	2. All of its attributes are fully functionally dependent on the primary key only.</a:t>
            </a:r>
          </a:p>
        </p:txBody>
      </p:sp>
      <p:grpSp>
        <p:nvGrpSpPr>
          <p:cNvPr id="221188" name="Group 4">
            <a:extLst>
              <a:ext uri="{FF2B5EF4-FFF2-40B4-BE49-F238E27FC236}">
                <a16:creationId xmlns:a16="http://schemas.microsoft.com/office/drawing/2014/main" id="{87CE5B94-6F92-D488-55F6-C658A49996F3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114800"/>
            <a:ext cx="4191000" cy="1524000"/>
            <a:chOff x="480" y="1248"/>
            <a:chExt cx="4368" cy="1440"/>
          </a:xfrm>
        </p:grpSpPr>
        <p:sp>
          <p:nvSpPr>
            <p:cNvPr id="221189" name="Rectangle 5">
              <a:extLst>
                <a:ext uri="{FF2B5EF4-FFF2-40B4-BE49-F238E27FC236}">
                  <a16:creationId xmlns:a16="http://schemas.microsoft.com/office/drawing/2014/main" id="{75E1BD83-9512-97D3-E75B-240C1631C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248"/>
              <a:ext cx="912" cy="4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 u="sng"/>
                <a:t>registration</a:t>
              </a:r>
            </a:p>
            <a:p>
              <a:pPr algn="ctr" eaLnBrk="0" hangingPunct="0"/>
              <a:r>
                <a:rPr lang="en-US" altLang="en-US" sz="1200" b="1" u="sng"/>
                <a:t>number</a:t>
              </a:r>
              <a:endParaRPr lang="en-US" altLang="en-US" sz="1200" b="1"/>
            </a:p>
          </p:txBody>
        </p:sp>
        <p:sp>
          <p:nvSpPr>
            <p:cNvPr id="221190" name="Rectangle 6">
              <a:extLst>
                <a:ext uri="{FF2B5EF4-FFF2-40B4-BE49-F238E27FC236}">
                  <a16:creationId xmlns:a16="http://schemas.microsoft.com/office/drawing/2014/main" id="{A2A805BD-92CF-87C2-5BF1-D68BFE831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248"/>
              <a:ext cx="768" cy="4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/>
                <a:t>engine </a:t>
              </a:r>
            </a:p>
            <a:p>
              <a:pPr algn="ctr" eaLnBrk="0" hangingPunct="0"/>
              <a:r>
                <a:rPr lang="en-US" altLang="en-US" sz="1200" b="1"/>
                <a:t>number</a:t>
              </a:r>
            </a:p>
          </p:txBody>
        </p:sp>
        <p:sp>
          <p:nvSpPr>
            <p:cNvPr id="221191" name="Rectangle 7">
              <a:extLst>
                <a:ext uri="{FF2B5EF4-FFF2-40B4-BE49-F238E27FC236}">
                  <a16:creationId xmlns:a16="http://schemas.microsoft.com/office/drawing/2014/main" id="{3326D208-351F-1272-74C7-010E5A470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248"/>
              <a:ext cx="816" cy="4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/>
                <a:t>frame</a:t>
              </a:r>
            </a:p>
            <a:p>
              <a:pPr algn="ctr" eaLnBrk="0" hangingPunct="0"/>
              <a:r>
                <a:rPr lang="en-US" altLang="en-US" sz="1200" b="1"/>
                <a:t>number</a:t>
              </a:r>
            </a:p>
          </p:txBody>
        </p:sp>
        <p:sp>
          <p:nvSpPr>
            <p:cNvPr id="221192" name="Rectangle 8">
              <a:extLst>
                <a:ext uri="{FF2B5EF4-FFF2-40B4-BE49-F238E27FC236}">
                  <a16:creationId xmlns:a16="http://schemas.microsoft.com/office/drawing/2014/main" id="{92FBC7BB-C75B-C189-9FEF-0766AF061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248"/>
              <a:ext cx="624" cy="4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/>
                <a:t>color</a:t>
              </a:r>
            </a:p>
          </p:txBody>
        </p:sp>
        <p:sp>
          <p:nvSpPr>
            <p:cNvPr id="221193" name="Rectangle 9">
              <a:extLst>
                <a:ext uri="{FF2B5EF4-FFF2-40B4-BE49-F238E27FC236}">
                  <a16:creationId xmlns:a16="http://schemas.microsoft.com/office/drawing/2014/main" id="{913D02D1-C5DA-2BB9-0628-810CDE21C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248"/>
              <a:ext cx="624" cy="4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/>
                <a:t>type</a:t>
              </a:r>
            </a:p>
          </p:txBody>
        </p:sp>
        <p:sp>
          <p:nvSpPr>
            <p:cNvPr id="221194" name="Rectangle 10">
              <a:extLst>
                <a:ext uri="{FF2B5EF4-FFF2-40B4-BE49-F238E27FC236}">
                  <a16:creationId xmlns:a16="http://schemas.microsoft.com/office/drawing/2014/main" id="{2D002901-8499-3C1D-E241-90278EFDC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248"/>
              <a:ext cx="624" cy="4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/>
                <a:t>price</a:t>
              </a:r>
            </a:p>
          </p:txBody>
        </p:sp>
        <p:sp>
          <p:nvSpPr>
            <p:cNvPr id="221195" name="Rectangle 11">
              <a:extLst>
                <a:ext uri="{FF2B5EF4-FFF2-40B4-BE49-F238E27FC236}">
                  <a16:creationId xmlns:a16="http://schemas.microsoft.com/office/drawing/2014/main" id="{606C38EB-3B63-8A4E-C80A-1E7E534AF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728"/>
              <a:ext cx="912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N100 G</a:t>
              </a:r>
            </a:p>
          </p:txBody>
        </p:sp>
        <p:sp>
          <p:nvSpPr>
            <p:cNvPr id="221196" name="Rectangle 12">
              <a:extLst>
                <a:ext uri="{FF2B5EF4-FFF2-40B4-BE49-F238E27FC236}">
                  <a16:creationId xmlns:a16="http://schemas.microsoft.com/office/drawing/2014/main" id="{CFD98152-EB1D-2180-4E9B-A5D8B1EF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28"/>
              <a:ext cx="76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Z9999</a:t>
              </a:r>
            </a:p>
          </p:txBody>
        </p:sp>
        <p:sp>
          <p:nvSpPr>
            <p:cNvPr id="221197" name="Rectangle 13">
              <a:extLst>
                <a:ext uri="{FF2B5EF4-FFF2-40B4-BE49-F238E27FC236}">
                  <a16:creationId xmlns:a16="http://schemas.microsoft.com/office/drawing/2014/main" id="{E59442E4-FB57-94B3-1B22-9A2955242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728"/>
              <a:ext cx="816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12345</a:t>
              </a:r>
            </a:p>
          </p:txBody>
        </p:sp>
        <p:sp>
          <p:nvSpPr>
            <p:cNvPr id="221198" name="Rectangle 14">
              <a:extLst>
                <a:ext uri="{FF2B5EF4-FFF2-40B4-BE49-F238E27FC236}">
                  <a16:creationId xmlns:a16="http://schemas.microsoft.com/office/drawing/2014/main" id="{506F9DB7-EF11-E8E1-8E62-46C4EE5E5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728"/>
              <a:ext cx="624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red</a:t>
              </a:r>
            </a:p>
          </p:txBody>
        </p:sp>
        <p:sp>
          <p:nvSpPr>
            <p:cNvPr id="221199" name="Rectangle 15">
              <a:extLst>
                <a:ext uri="{FF2B5EF4-FFF2-40B4-BE49-F238E27FC236}">
                  <a16:creationId xmlns:a16="http://schemas.microsoft.com/office/drawing/2014/main" id="{BBBF4BB5-BAED-6628-6BB5-C0D4B1408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728"/>
              <a:ext cx="624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BMW 3</a:t>
              </a:r>
            </a:p>
          </p:txBody>
        </p:sp>
        <p:sp>
          <p:nvSpPr>
            <p:cNvPr id="221200" name="Rectangle 16">
              <a:extLst>
                <a:ext uri="{FF2B5EF4-FFF2-40B4-BE49-F238E27FC236}">
                  <a16:creationId xmlns:a16="http://schemas.microsoft.com/office/drawing/2014/main" id="{4D6AE401-FFCC-D98D-02D2-81F65791D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728"/>
              <a:ext cx="624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140000</a:t>
              </a:r>
            </a:p>
          </p:txBody>
        </p:sp>
        <p:sp>
          <p:nvSpPr>
            <p:cNvPr id="221201" name="Rectangle 17">
              <a:extLst>
                <a:ext uri="{FF2B5EF4-FFF2-40B4-BE49-F238E27FC236}">
                  <a16:creationId xmlns:a16="http://schemas.microsoft.com/office/drawing/2014/main" id="{859752FC-4AD3-02FE-A41C-99A66BFFD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208"/>
              <a:ext cx="912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N 123 W</a:t>
              </a:r>
            </a:p>
          </p:txBody>
        </p:sp>
        <p:sp>
          <p:nvSpPr>
            <p:cNvPr id="221202" name="Rectangle 18">
              <a:extLst>
                <a:ext uri="{FF2B5EF4-FFF2-40B4-BE49-F238E27FC236}">
                  <a16:creationId xmlns:a16="http://schemas.microsoft.com/office/drawing/2014/main" id="{890AD96F-CBE7-2E2B-D677-D4FBBDCA9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208"/>
              <a:ext cx="76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456 GX 22</a:t>
              </a:r>
            </a:p>
          </p:txBody>
        </p:sp>
        <p:sp>
          <p:nvSpPr>
            <p:cNvPr id="221203" name="Rectangle 19">
              <a:extLst>
                <a:ext uri="{FF2B5EF4-FFF2-40B4-BE49-F238E27FC236}">
                  <a16:creationId xmlns:a16="http://schemas.microsoft.com/office/drawing/2014/main" id="{97EEC1EF-293F-F996-1B8B-51D8D5F54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208"/>
              <a:ext cx="816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54321</a:t>
              </a:r>
            </a:p>
          </p:txBody>
        </p:sp>
        <p:sp>
          <p:nvSpPr>
            <p:cNvPr id="221204" name="Rectangle 20">
              <a:extLst>
                <a:ext uri="{FF2B5EF4-FFF2-40B4-BE49-F238E27FC236}">
                  <a16:creationId xmlns:a16="http://schemas.microsoft.com/office/drawing/2014/main" id="{B5806D97-491F-2435-E81B-24BE0976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208"/>
              <a:ext cx="624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white</a:t>
              </a:r>
            </a:p>
          </p:txBody>
        </p:sp>
        <p:sp>
          <p:nvSpPr>
            <p:cNvPr id="221205" name="Rectangle 21">
              <a:extLst>
                <a:ext uri="{FF2B5EF4-FFF2-40B4-BE49-F238E27FC236}">
                  <a16:creationId xmlns:a16="http://schemas.microsoft.com/office/drawing/2014/main" id="{A2F79589-0B68-94BC-24BB-A04EA6B74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208"/>
              <a:ext cx="624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Nissan</a:t>
              </a:r>
            </a:p>
            <a:p>
              <a:pPr algn="ctr" eaLnBrk="0" hangingPunct="0"/>
              <a:r>
                <a:rPr lang="en-US" altLang="en-US" sz="1200"/>
                <a:t>Patrol</a:t>
              </a:r>
            </a:p>
          </p:txBody>
        </p:sp>
        <p:sp>
          <p:nvSpPr>
            <p:cNvPr id="221206" name="Rectangle 22">
              <a:extLst>
                <a:ext uri="{FF2B5EF4-FFF2-40B4-BE49-F238E27FC236}">
                  <a16:creationId xmlns:a16="http://schemas.microsoft.com/office/drawing/2014/main" id="{9109CDBA-F687-061A-86AB-EA851AC3D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208"/>
              <a:ext cx="624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160000</a:t>
              </a:r>
            </a:p>
          </p:txBody>
        </p:sp>
      </p:grpSp>
      <p:sp>
        <p:nvSpPr>
          <p:cNvPr id="221207" name="Text Box 23">
            <a:extLst>
              <a:ext uri="{FF2B5EF4-FFF2-40B4-BE49-F238E27FC236}">
                <a16:creationId xmlns:a16="http://schemas.microsoft.com/office/drawing/2014/main" id="{AFAC2DAA-FB2E-80D2-DE16-F875EFC84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6" y="3276600"/>
            <a:ext cx="3922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/>
              <a:t>Is the following table in 2NF ?</a:t>
            </a:r>
          </a:p>
        </p:txBody>
      </p:sp>
      <p:grpSp>
        <p:nvGrpSpPr>
          <p:cNvPr id="221208" name="Group 24">
            <a:extLst>
              <a:ext uri="{FF2B5EF4-FFF2-40B4-BE49-F238E27FC236}">
                <a16:creationId xmlns:a16="http://schemas.microsoft.com/office/drawing/2014/main" id="{ACAA3E20-F17A-80BF-AC1B-11A0F3E1E786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254500"/>
            <a:ext cx="8134350" cy="1993900"/>
            <a:chOff x="432" y="2296"/>
            <a:chExt cx="5124" cy="1256"/>
          </a:xfrm>
        </p:grpSpPr>
        <p:sp>
          <p:nvSpPr>
            <p:cNvPr id="221209" name="Text Box 25">
              <a:extLst>
                <a:ext uri="{FF2B5EF4-FFF2-40B4-BE49-F238E27FC236}">
                  <a16:creationId xmlns:a16="http://schemas.microsoft.com/office/drawing/2014/main" id="{21E7A353-39BD-4706-5EA1-66E9064D1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264"/>
              <a:ext cx="51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400"/>
                <a:t>No, since the price depends on the type, not on the reg. Number !</a:t>
              </a:r>
            </a:p>
          </p:txBody>
        </p:sp>
        <p:sp>
          <p:nvSpPr>
            <p:cNvPr id="221210" name="AutoShape 26">
              <a:extLst>
                <a:ext uri="{FF2B5EF4-FFF2-40B4-BE49-F238E27FC236}">
                  <a16:creationId xmlns:a16="http://schemas.microsoft.com/office/drawing/2014/main" id="{4CDFF649-CACA-2A87-91FA-45743DB7A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8" y="2296"/>
              <a:ext cx="144" cy="192"/>
            </a:xfrm>
            <a:prstGeom prst="rightArrow">
              <a:avLst>
                <a:gd name="adj1" fmla="val 41667"/>
                <a:gd name="adj2" fmla="val 58333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07772"/>
          </a:xfrm>
        </p:spPr>
        <p:txBody>
          <a:bodyPr>
            <a:normAutofit fontScale="90000"/>
          </a:bodyPr>
          <a:lstStyle/>
          <a:p>
            <a:r>
              <a:rPr lang="en-ZW" dirty="0"/>
              <a:t>3NF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898248"/>
            <a:ext cx="9601196" cy="4224760"/>
          </a:xfrm>
        </p:spPr>
        <p:txBody>
          <a:bodyPr/>
          <a:lstStyle/>
          <a:p>
            <a:r>
              <a:rPr lang="en-ZW" dirty="0"/>
              <a:t>Every non-key attribute of table must be dependent on primary key</a:t>
            </a:r>
          </a:p>
          <a:p>
            <a:r>
              <a:rPr lang="en-ZW" dirty="0"/>
              <a:t>No case of a non-key attribute is determined by another  non-key attribute.</a:t>
            </a:r>
          </a:p>
          <a:p>
            <a:r>
              <a:rPr lang="en-ZW" dirty="0"/>
              <a:t>Table must satisfy 2NF rules</a:t>
            </a:r>
          </a:p>
          <a:p>
            <a:r>
              <a:rPr lang="en-ZW" dirty="0"/>
              <a:t>Eliminate fields that do not depend on the key</a:t>
            </a:r>
          </a:p>
          <a:p>
            <a:r>
              <a:rPr lang="en-ZW" dirty="0"/>
              <a:t>If contents of a group of fields apply to more than a single record in the table, then those fields must be in a separate table.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EB0B6-07E3-8B96-8BC1-84DBFE6F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2384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4EC71BF6-FA25-40DD-8C59-9F01D60A1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685800"/>
            <a:ext cx="7772400" cy="4572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dirty="0"/>
              <a:t> Achieving 2NF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DC7F36E-50F0-2D55-B3C4-9EBED88B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FFD6-64B8-4D20-8DED-EB7990E04B62}" type="slidenum">
              <a:rPr lang="de-DE" altLang="en-US"/>
              <a:pPr/>
              <a:t>51</a:t>
            </a:fld>
            <a:endParaRPr lang="de-DE" altLang="en-US"/>
          </a:p>
        </p:txBody>
      </p:sp>
      <p:sp>
        <p:nvSpPr>
          <p:cNvPr id="222211" name="Text Box 3">
            <a:extLst>
              <a:ext uri="{FF2B5EF4-FFF2-40B4-BE49-F238E27FC236}">
                <a16:creationId xmlns:a16="http://schemas.microsoft.com/office/drawing/2014/main" id="{33B9E443-701E-C44F-5B21-4BF03BD80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4064" y="3733800"/>
            <a:ext cx="5062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/>
              <a:t>2NF can be achieved by splitting tables.</a:t>
            </a:r>
          </a:p>
        </p:txBody>
      </p:sp>
      <p:grpSp>
        <p:nvGrpSpPr>
          <p:cNvPr id="222212" name="Group 4">
            <a:extLst>
              <a:ext uri="{FF2B5EF4-FFF2-40B4-BE49-F238E27FC236}">
                <a16:creationId xmlns:a16="http://schemas.microsoft.com/office/drawing/2014/main" id="{E872188A-E08C-D5BA-C41C-347EEA65A5C9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676400"/>
            <a:ext cx="4191000" cy="2032000"/>
            <a:chOff x="528" y="1248"/>
            <a:chExt cx="2640" cy="1280"/>
          </a:xfrm>
        </p:grpSpPr>
        <p:sp>
          <p:nvSpPr>
            <p:cNvPr id="222213" name="Rectangle 5">
              <a:extLst>
                <a:ext uri="{FF2B5EF4-FFF2-40B4-BE49-F238E27FC236}">
                  <a16:creationId xmlns:a16="http://schemas.microsoft.com/office/drawing/2014/main" id="{274DF729-48B4-E4D5-B180-110CF230A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48"/>
              <a:ext cx="551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 u="sng"/>
                <a:t>registration</a:t>
              </a:r>
            </a:p>
            <a:p>
              <a:pPr algn="ctr" eaLnBrk="0" hangingPunct="0"/>
              <a:r>
                <a:rPr lang="en-US" altLang="en-US" sz="1200" b="1" u="sng"/>
                <a:t>number</a:t>
              </a:r>
              <a:endParaRPr lang="en-US" altLang="en-US" sz="1200" b="1"/>
            </a:p>
          </p:txBody>
        </p:sp>
        <p:sp>
          <p:nvSpPr>
            <p:cNvPr id="222214" name="Rectangle 6">
              <a:extLst>
                <a:ext uri="{FF2B5EF4-FFF2-40B4-BE49-F238E27FC236}">
                  <a16:creationId xmlns:a16="http://schemas.microsoft.com/office/drawing/2014/main" id="{B139D6F5-5750-CC4D-8C14-7D18C49CC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1248"/>
              <a:ext cx="465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/>
                <a:t>engine </a:t>
              </a:r>
            </a:p>
            <a:p>
              <a:pPr algn="ctr" eaLnBrk="0" hangingPunct="0"/>
              <a:r>
                <a:rPr lang="en-US" altLang="en-US" sz="1200" b="1"/>
                <a:t>number</a:t>
              </a:r>
            </a:p>
          </p:txBody>
        </p:sp>
        <p:sp>
          <p:nvSpPr>
            <p:cNvPr id="222215" name="Rectangle 7">
              <a:extLst>
                <a:ext uri="{FF2B5EF4-FFF2-40B4-BE49-F238E27FC236}">
                  <a16:creationId xmlns:a16="http://schemas.microsoft.com/office/drawing/2014/main" id="{F217B594-6111-7C28-F0E8-EA16B7C76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1248"/>
              <a:ext cx="493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/>
                <a:t>frame</a:t>
              </a:r>
            </a:p>
            <a:p>
              <a:pPr algn="ctr" eaLnBrk="0" hangingPunct="0"/>
              <a:r>
                <a:rPr lang="en-US" altLang="en-US" sz="1200" b="1"/>
                <a:t>number</a:t>
              </a:r>
            </a:p>
          </p:txBody>
        </p:sp>
        <p:sp>
          <p:nvSpPr>
            <p:cNvPr id="222216" name="Rectangle 8">
              <a:extLst>
                <a:ext uri="{FF2B5EF4-FFF2-40B4-BE49-F238E27FC236}">
                  <a16:creationId xmlns:a16="http://schemas.microsoft.com/office/drawing/2014/main" id="{3393B775-0068-BC3F-5C3D-DE4C4D0DE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1248"/>
              <a:ext cx="377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/>
                <a:t>color</a:t>
              </a:r>
            </a:p>
          </p:txBody>
        </p:sp>
        <p:sp>
          <p:nvSpPr>
            <p:cNvPr id="222217" name="Rectangle 9">
              <a:extLst>
                <a:ext uri="{FF2B5EF4-FFF2-40B4-BE49-F238E27FC236}">
                  <a16:creationId xmlns:a16="http://schemas.microsoft.com/office/drawing/2014/main" id="{22B9B8EB-FDEA-0BB0-2205-3892F9A69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248"/>
              <a:ext cx="377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/>
                <a:t>type</a:t>
              </a:r>
            </a:p>
          </p:txBody>
        </p:sp>
        <p:sp>
          <p:nvSpPr>
            <p:cNvPr id="222218" name="Rectangle 10">
              <a:extLst>
                <a:ext uri="{FF2B5EF4-FFF2-40B4-BE49-F238E27FC236}">
                  <a16:creationId xmlns:a16="http://schemas.microsoft.com/office/drawing/2014/main" id="{FDBCDFB1-CC14-E095-7872-F5A1680DD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" y="1248"/>
              <a:ext cx="377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/>
                <a:t>price</a:t>
              </a:r>
            </a:p>
          </p:txBody>
        </p:sp>
        <p:sp>
          <p:nvSpPr>
            <p:cNvPr id="222219" name="Rectangle 11">
              <a:extLst>
                <a:ext uri="{FF2B5EF4-FFF2-40B4-BE49-F238E27FC236}">
                  <a16:creationId xmlns:a16="http://schemas.microsoft.com/office/drawing/2014/main" id="{F225A38B-E193-C576-B54C-9E10C603C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568"/>
              <a:ext cx="551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N100 G</a:t>
              </a:r>
            </a:p>
          </p:txBody>
        </p:sp>
        <p:sp>
          <p:nvSpPr>
            <p:cNvPr id="222220" name="Rectangle 12">
              <a:extLst>
                <a:ext uri="{FF2B5EF4-FFF2-40B4-BE49-F238E27FC236}">
                  <a16:creationId xmlns:a16="http://schemas.microsoft.com/office/drawing/2014/main" id="{81DDEB25-2CE1-A6D7-5185-E9E46C892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1568"/>
              <a:ext cx="465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Z9999</a:t>
              </a:r>
            </a:p>
          </p:txBody>
        </p:sp>
        <p:sp>
          <p:nvSpPr>
            <p:cNvPr id="222221" name="Rectangle 13">
              <a:extLst>
                <a:ext uri="{FF2B5EF4-FFF2-40B4-BE49-F238E27FC236}">
                  <a16:creationId xmlns:a16="http://schemas.microsoft.com/office/drawing/2014/main" id="{75136159-2DA2-7273-5B1F-7E9B6395A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1568"/>
              <a:ext cx="493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12345</a:t>
              </a:r>
            </a:p>
          </p:txBody>
        </p:sp>
        <p:sp>
          <p:nvSpPr>
            <p:cNvPr id="222222" name="Rectangle 14">
              <a:extLst>
                <a:ext uri="{FF2B5EF4-FFF2-40B4-BE49-F238E27FC236}">
                  <a16:creationId xmlns:a16="http://schemas.microsoft.com/office/drawing/2014/main" id="{D5EF01BC-558A-96D1-AE44-234C01784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1568"/>
              <a:ext cx="3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red</a:t>
              </a:r>
            </a:p>
          </p:txBody>
        </p:sp>
        <p:sp>
          <p:nvSpPr>
            <p:cNvPr id="222223" name="Rectangle 15">
              <a:extLst>
                <a:ext uri="{FF2B5EF4-FFF2-40B4-BE49-F238E27FC236}">
                  <a16:creationId xmlns:a16="http://schemas.microsoft.com/office/drawing/2014/main" id="{8DEBACEC-8E0D-48FE-B311-378096624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568"/>
              <a:ext cx="3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BMW 3</a:t>
              </a:r>
            </a:p>
          </p:txBody>
        </p:sp>
        <p:sp>
          <p:nvSpPr>
            <p:cNvPr id="222224" name="Rectangle 16">
              <a:extLst>
                <a:ext uri="{FF2B5EF4-FFF2-40B4-BE49-F238E27FC236}">
                  <a16:creationId xmlns:a16="http://schemas.microsoft.com/office/drawing/2014/main" id="{64EB9807-81CC-C762-222D-406D2FA3A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" y="1568"/>
              <a:ext cx="3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140000</a:t>
              </a:r>
            </a:p>
          </p:txBody>
        </p:sp>
        <p:sp>
          <p:nvSpPr>
            <p:cNvPr id="222225" name="Rectangle 17">
              <a:extLst>
                <a:ext uri="{FF2B5EF4-FFF2-40B4-BE49-F238E27FC236}">
                  <a16:creationId xmlns:a16="http://schemas.microsoft.com/office/drawing/2014/main" id="{64BF1667-764F-ABCB-B3AD-A2EE71523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888"/>
              <a:ext cx="551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N 123 W</a:t>
              </a:r>
            </a:p>
          </p:txBody>
        </p:sp>
        <p:sp>
          <p:nvSpPr>
            <p:cNvPr id="222226" name="Rectangle 18">
              <a:extLst>
                <a:ext uri="{FF2B5EF4-FFF2-40B4-BE49-F238E27FC236}">
                  <a16:creationId xmlns:a16="http://schemas.microsoft.com/office/drawing/2014/main" id="{4B38C62D-947E-6DDB-9CFB-9653CC1F8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1888"/>
              <a:ext cx="465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456 GX 22</a:t>
              </a:r>
            </a:p>
          </p:txBody>
        </p:sp>
        <p:sp>
          <p:nvSpPr>
            <p:cNvPr id="222227" name="Rectangle 19">
              <a:extLst>
                <a:ext uri="{FF2B5EF4-FFF2-40B4-BE49-F238E27FC236}">
                  <a16:creationId xmlns:a16="http://schemas.microsoft.com/office/drawing/2014/main" id="{EF91A8BD-9E90-EC18-A68E-0F0B8A3E2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1888"/>
              <a:ext cx="493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54321</a:t>
              </a:r>
            </a:p>
          </p:txBody>
        </p:sp>
        <p:sp>
          <p:nvSpPr>
            <p:cNvPr id="222228" name="Rectangle 20">
              <a:extLst>
                <a:ext uri="{FF2B5EF4-FFF2-40B4-BE49-F238E27FC236}">
                  <a16:creationId xmlns:a16="http://schemas.microsoft.com/office/drawing/2014/main" id="{B238FA36-AEE8-78D4-76AD-D00F6929C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1888"/>
              <a:ext cx="3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whi</a:t>
              </a:r>
            </a:p>
          </p:txBody>
        </p:sp>
        <p:sp>
          <p:nvSpPr>
            <p:cNvPr id="222229" name="Rectangle 21">
              <a:extLst>
                <a:ext uri="{FF2B5EF4-FFF2-40B4-BE49-F238E27FC236}">
                  <a16:creationId xmlns:a16="http://schemas.microsoft.com/office/drawing/2014/main" id="{340B557C-34EE-3498-868A-8B9D91BB4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888"/>
              <a:ext cx="3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Nissan</a:t>
              </a:r>
            </a:p>
            <a:p>
              <a:pPr algn="ctr" eaLnBrk="0" hangingPunct="0"/>
              <a:r>
                <a:rPr lang="en-US" altLang="en-US" sz="1200"/>
                <a:t>Patrol</a:t>
              </a:r>
            </a:p>
          </p:txBody>
        </p:sp>
        <p:sp>
          <p:nvSpPr>
            <p:cNvPr id="222230" name="Rectangle 22">
              <a:extLst>
                <a:ext uri="{FF2B5EF4-FFF2-40B4-BE49-F238E27FC236}">
                  <a16:creationId xmlns:a16="http://schemas.microsoft.com/office/drawing/2014/main" id="{424D4C0E-5DBE-3501-9D31-672573457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" y="1888"/>
              <a:ext cx="3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160000</a:t>
              </a:r>
            </a:p>
          </p:txBody>
        </p:sp>
        <p:sp>
          <p:nvSpPr>
            <p:cNvPr id="222231" name="Rectangle 23">
              <a:extLst>
                <a:ext uri="{FF2B5EF4-FFF2-40B4-BE49-F238E27FC236}">
                  <a16:creationId xmlns:a16="http://schemas.microsoft.com/office/drawing/2014/main" id="{4ABFC16C-EB0B-A135-9317-799319B66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208"/>
              <a:ext cx="551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N 23 G</a:t>
              </a:r>
            </a:p>
          </p:txBody>
        </p:sp>
        <p:sp>
          <p:nvSpPr>
            <p:cNvPr id="222232" name="Rectangle 24">
              <a:extLst>
                <a:ext uri="{FF2B5EF4-FFF2-40B4-BE49-F238E27FC236}">
                  <a16:creationId xmlns:a16="http://schemas.microsoft.com/office/drawing/2014/main" id="{2B0CB797-ED46-4B38-DEC4-BB29EE460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2208"/>
              <a:ext cx="465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456 GX 23</a:t>
              </a:r>
            </a:p>
          </p:txBody>
        </p:sp>
        <p:sp>
          <p:nvSpPr>
            <p:cNvPr id="222233" name="Rectangle 25">
              <a:extLst>
                <a:ext uri="{FF2B5EF4-FFF2-40B4-BE49-F238E27FC236}">
                  <a16:creationId xmlns:a16="http://schemas.microsoft.com/office/drawing/2014/main" id="{34ABF418-9FB9-00FF-7A40-305FCFBEF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2208"/>
              <a:ext cx="493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54325</a:t>
              </a:r>
            </a:p>
          </p:txBody>
        </p:sp>
        <p:sp>
          <p:nvSpPr>
            <p:cNvPr id="222234" name="Rectangle 26">
              <a:extLst>
                <a:ext uri="{FF2B5EF4-FFF2-40B4-BE49-F238E27FC236}">
                  <a16:creationId xmlns:a16="http://schemas.microsoft.com/office/drawing/2014/main" id="{6F75C3C8-89EB-AE28-55BA-DC3F07AB7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2208"/>
              <a:ext cx="3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blue</a:t>
              </a:r>
            </a:p>
          </p:txBody>
        </p:sp>
        <p:sp>
          <p:nvSpPr>
            <p:cNvPr id="222235" name="Rectangle 27">
              <a:extLst>
                <a:ext uri="{FF2B5EF4-FFF2-40B4-BE49-F238E27FC236}">
                  <a16:creationId xmlns:a16="http://schemas.microsoft.com/office/drawing/2014/main" id="{7E026677-7AF2-2263-7C49-991433411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208"/>
              <a:ext cx="3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Nissan</a:t>
              </a:r>
            </a:p>
            <a:p>
              <a:pPr algn="ctr" eaLnBrk="0" hangingPunct="0"/>
              <a:r>
                <a:rPr lang="en-US" altLang="en-US" sz="1200"/>
                <a:t>Patrol</a:t>
              </a:r>
            </a:p>
          </p:txBody>
        </p:sp>
        <p:sp>
          <p:nvSpPr>
            <p:cNvPr id="222236" name="Rectangle 28">
              <a:extLst>
                <a:ext uri="{FF2B5EF4-FFF2-40B4-BE49-F238E27FC236}">
                  <a16:creationId xmlns:a16="http://schemas.microsoft.com/office/drawing/2014/main" id="{E585E498-82B3-FD60-C971-2B6B1C7E5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" y="2208"/>
              <a:ext cx="377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160000</a:t>
              </a:r>
            </a:p>
          </p:txBody>
        </p:sp>
      </p:grpSp>
      <p:grpSp>
        <p:nvGrpSpPr>
          <p:cNvPr id="222237" name="Group 29">
            <a:extLst>
              <a:ext uri="{FF2B5EF4-FFF2-40B4-BE49-F238E27FC236}">
                <a16:creationId xmlns:a16="http://schemas.microsoft.com/office/drawing/2014/main" id="{86AE5C24-0683-CB07-1257-33E1750317EC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1981200"/>
            <a:ext cx="4876800" cy="1905000"/>
            <a:chOff x="2688" y="1440"/>
            <a:chExt cx="3072" cy="1200"/>
          </a:xfrm>
        </p:grpSpPr>
        <p:sp>
          <p:nvSpPr>
            <p:cNvPr id="222238" name="Text Box 30">
              <a:extLst>
                <a:ext uri="{FF2B5EF4-FFF2-40B4-BE49-F238E27FC236}">
                  <a16:creationId xmlns:a16="http://schemas.microsoft.com/office/drawing/2014/main" id="{29250B01-0EDB-E779-FC8B-C2B47E367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7" y="1440"/>
              <a:ext cx="25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400"/>
                <a:t>2NF can avoid inconsistencies.</a:t>
              </a:r>
            </a:p>
          </p:txBody>
        </p:sp>
        <p:sp>
          <p:nvSpPr>
            <p:cNvPr id="222239" name="Oval 31">
              <a:extLst>
                <a:ext uri="{FF2B5EF4-FFF2-40B4-BE49-F238E27FC236}">
                  <a16:creationId xmlns:a16="http://schemas.microsoft.com/office/drawing/2014/main" id="{007DAAD6-05EB-662D-CEB6-2C4EC6D3D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872"/>
              <a:ext cx="624" cy="76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22240" name="Group 32">
            <a:extLst>
              <a:ext uri="{FF2B5EF4-FFF2-40B4-BE49-F238E27FC236}">
                <a16:creationId xmlns:a16="http://schemas.microsoft.com/office/drawing/2014/main" id="{7C9FA1E0-7D79-BF86-2EAC-134F7CB9DB22}"/>
              </a:ext>
            </a:extLst>
          </p:cNvPr>
          <p:cNvGrpSpPr>
            <a:grpSpLocks/>
          </p:cNvGrpSpPr>
          <p:nvPr/>
        </p:nvGrpSpPr>
        <p:grpSpPr bwMode="auto">
          <a:xfrm>
            <a:off x="2176464" y="4267200"/>
            <a:ext cx="6880225" cy="2032000"/>
            <a:chOff x="411" y="2688"/>
            <a:chExt cx="4334" cy="1280"/>
          </a:xfrm>
        </p:grpSpPr>
        <p:grpSp>
          <p:nvGrpSpPr>
            <p:cNvPr id="222241" name="Group 33">
              <a:extLst>
                <a:ext uri="{FF2B5EF4-FFF2-40B4-BE49-F238E27FC236}">
                  <a16:creationId xmlns:a16="http://schemas.microsoft.com/office/drawing/2014/main" id="{84DDCA2B-E3FE-025F-5808-A444AED3AE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" y="2688"/>
              <a:ext cx="2263" cy="1280"/>
              <a:chOff x="411" y="2688"/>
              <a:chExt cx="2263" cy="1280"/>
            </a:xfrm>
          </p:grpSpPr>
          <p:sp>
            <p:nvSpPr>
              <p:cNvPr id="222242" name="Rectangle 34">
                <a:extLst>
                  <a:ext uri="{FF2B5EF4-FFF2-40B4-BE49-F238E27FC236}">
                    <a16:creationId xmlns:a16="http://schemas.microsoft.com/office/drawing/2014/main" id="{158EA9AB-0310-6201-5B03-4454E6B4E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2688"/>
                <a:ext cx="551" cy="32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 b="1" u="sng"/>
                  <a:t>registration</a:t>
                </a:r>
              </a:p>
              <a:p>
                <a:pPr algn="ctr" eaLnBrk="0" hangingPunct="0"/>
                <a:r>
                  <a:rPr lang="en-US" altLang="en-US" sz="1200" b="1" u="sng"/>
                  <a:t>number</a:t>
                </a:r>
                <a:endParaRPr lang="en-US" altLang="en-US" sz="1200" b="1"/>
              </a:p>
            </p:txBody>
          </p:sp>
          <p:sp>
            <p:nvSpPr>
              <p:cNvPr id="222243" name="Rectangle 35">
                <a:extLst>
                  <a:ext uri="{FF2B5EF4-FFF2-40B4-BE49-F238E27FC236}">
                    <a16:creationId xmlns:a16="http://schemas.microsoft.com/office/drawing/2014/main" id="{F2C1ADED-6E92-DD30-F870-E231D3BFA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2688"/>
                <a:ext cx="465" cy="32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 b="1"/>
                  <a:t>engine </a:t>
                </a:r>
              </a:p>
              <a:p>
                <a:pPr algn="ctr" eaLnBrk="0" hangingPunct="0"/>
                <a:r>
                  <a:rPr lang="en-US" altLang="en-US" sz="1200" b="1"/>
                  <a:t>number</a:t>
                </a:r>
              </a:p>
            </p:txBody>
          </p:sp>
          <p:sp>
            <p:nvSpPr>
              <p:cNvPr id="222244" name="Rectangle 36">
                <a:extLst>
                  <a:ext uri="{FF2B5EF4-FFF2-40B4-BE49-F238E27FC236}">
                    <a16:creationId xmlns:a16="http://schemas.microsoft.com/office/drawing/2014/main" id="{9C32E8ED-664A-D81E-5DC4-AB8AB3A30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2688"/>
                <a:ext cx="493" cy="32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 b="1"/>
                  <a:t>frame</a:t>
                </a:r>
              </a:p>
              <a:p>
                <a:pPr algn="ctr" eaLnBrk="0" hangingPunct="0"/>
                <a:r>
                  <a:rPr lang="en-US" altLang="en-US" sz="1200" b="1"/>
                  <a:t>number</a:t>
                </a:r>
              </a:p>
            </p:txBody>
          </p:sp>
          <p:sp>
            <p:nvSpPr>
              <p:cNvPr id="222245" name="Rectangle 37">
                <a:extLst>
                  <a:ext uri="{FF2B5EF4-FFF2-40B4-BE49-F238E27FC236}">
                    <a16:creationId xmlns:a16="http://schemas.microsoft.com/office/drawing/2014/main" id="{4C2278DD-2549-595E-CFF5-AFA389291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88"/>
                <a:ext cx="377" cy="32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 b="1"/>
                  <a:t>color</a:t>
                </a:r>
              </a:p>
            </p:txBody>
          </p:sp>
          <p:sp>
            <p:nvSpPr>
              <p:cNvPr id="222246" name="Rectangle 38">
                <a:extLst>
                  <a:ext uri="{FF2B5EF4-FFF2-40B4-BE49-F238E27FC236}">
                    <a16:creationId xmlns:a16="http://schemas.microsoft.com/office/drawing/2014/main" id="{FB031E2C-5198-65AD-C5DB-CD0D463588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" y="2688"/>
                <a:ext cx="377" cy="32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 b="1"/>
                  <a:t>type</a:t>
                </a:r>
              </a:p>
            </p:txBody>
          </p:sp>
          <p:sp>
            <p:nvSpPr>
              <p:cNvPr id="222247" name="Rectangle 39">
                <a:extLst>
                  <a:ext uri="{FF2B5EF4-FFF2-40B4-BE49-F238E27FC236}">
                    <a16:creationId xmlns:a16="http://schemas.microsoft.com/office/drawing/2014/main" id="{2CE2D192-1676-4182-6571-BC6689B189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3008"/>
                <a:ext cx="551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N100 G</a:t>
                </a:r>
              </a:p>
            </p:txBody>
          </p:sp>
          <p:sp>
            <p:nvSpPr>
              <p:cNvPr id="222248" name="Rectangle 40">
                <a:extLst>
                  <a:ext uri="{FF2B5EF4-FFF2-40B4-BE49-F238E27FC236}">
                    <a16:creationId xmlns:a16="http://schemas.microsoft.com/office/drawing/2014/main" id="{4CF59DBE-8FAF-A8A5-5AF1-79E8899BF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3008"/>
                <a:ext cx="465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Z9999</a:t>
                </a:r>
              </a:p>
            </p:txBody>
          </p:sp>
          <p:sp>
            <p:nvSpPr>
              <p:cNvPr id="222249" name="Rectangle 41">
                <a:extLst>
                  <a:ext uri="{FF2B5EF4-FFF2-40B4-BE49-F238E27FC236}">
                    <a16:creationId xmlns:a16="http://schemas.microsoft.com/office/drawing/2014/main" id="{D2223E58-A6F8-8633-CE5B-E64B3F5F6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3008"/>
                <a:ext cx="493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12345</a:t>
                </a:r>
              </a:p>
            </p:txBody>
          </p:sp>
          <p:sp>
            <p:nvSpPr>
              <p:cNvPr id="222250" name="Rectangle 42">
                <a:extLst>
                  <a:ext uri="{FF2B5EF4-FFF2-40B4-BE49-F238E27FC236}">
                    <a16:creationId xmlns:a16="http://schemas.microsoft.com/office/drawing/2014/main" id="{5C2CEBE6-0F1E-5511-7C68-0CCC0591F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3008"/>
                <a:ext cx="377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red</a:t>
                </a:r>
              </a:p>
            </p:txBody>
          </p:sp>
          <p:sp>
            <p:nvSpPr>
              <p:cNvPr id="222251" name="Rectangle 43">
                <a:extLst>
                  <a:ext uri="{FF2B5EF4-FFF2-40B4-BE49-F238E27FC236}">
                    <a16:creationId xmlns:a16="http://schemas.microsoft.com/office/drawing/2014/main" id="{5DCEEA63-5CEE-EA9B-E039-6118CE1DC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" y="3008"/>
                <a:ext cx="377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BMW 3</a:t>
                </a:r>
              </a:p>
            </p:txBody>
          </p:sp>
          <p:sp>
            <p:nvSpPr>
              <p:cNvPr id="222252" name="Rectangle 44">
                <a:extLst>
                  <a:ext uri="{FF2B5EF4-FFF2-40B4-BE49-F238E27FC236}">
                    <a16:creationId xmlns:a16="http://schemas.microsoft.com/office/drawing/2014/main" id="{3D65FB32-B923-27E6-D59A-41A92281C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3328"/>
                <a:ext cx="551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N 123 W</a:t>
                </a:r>
              </a:p>
            </p:txBody>
          </p:sp>
          <p:sp>
            <p:nvSpPr>
              <p:cNvPr id="222253" name="Rectangle 45">
                <a:extLst>
                  <a:ext uri="{FF2B5EF4-FFF2-40B4-BE49-F238E27FC236}">
                    <a16:creationId xmlns:a16="http://schemas.microsoft.com/office/drawing/2014/main" id="{9DE74430-08AA-6CA9-5F8B-D75CA7ADAB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3328"/>
                <a:ext cx="465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456 GX 22</a:t>
                </a:r>
              </a:p>
            </p:txBody>
          </p:sp>
          <p:sp>
            <p:nvSpPr>
              <p:cNvPr id="222254" name="Rectangle 46">
                <a:extLst>
                  <a:ext uri="{FF2B5EF4-FFF2-40B4-BE49-F238E27FC236}">
                    <a16:creationId xmlns:a16="http://schemas.microsoft.com/office/drawing/2014/main" id="{6D9304A1-F2A7-38EF-C3B6-C2E5996AB1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3328"/>
                <a:ext cx="493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54321</a:t>
                </a:r>
              </a:p>
            </p:txBody>
          </p:sp>
          <p:sp>
            <p:nvSpPr>
              <p:cNvPr id="222255" name="Rectangle 47">
                <a:extLst>
                  <a:ext uri="{FF2B5EF4-FFF2-40B4-BE49-F238E27FC236}">
                    <a16:creationId xmlns:a16="http://schemas.microsoft.com/office/drawing/2014/main" id="{4FE904C9-5918-FB3B-242D-9D9BE3377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3328"/>
                <a:ext cx="377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whi</a:t>
                </a:r>
              </a:p>
            </p:txBody>
          </p:sp>
          <p:sp>
            <p:nvSpPr>
              <p:cNvPr id="222256" name="Rectangle 48">
                <a:extLst>
                  <a:ext uri="{FF2B5EF4-FFF2-40B4-BE49-F238E27FC236}">
                    <a16:creationId xmlns:a16="http://schemas.microsoft.com/office/drawing/2014/main" id="{08CBE0AD-350A-AF22-59FC-518514880C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" y="3328"/>
                <a:ext cx="377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Nissan</a:t>
                </a:r>
              </a:p>
              <a:p>
                <a:pPr algn="ctr" eaLnBrk="0" hangingPunct="0"/>
                <a:r>
                  <a:rPr lang="en-US" altLang="en-US" sz="1200"/>
                  <a:t>Patrol</a:t>
                </a:r>
              </a:p>
            </p:txBody>
          </p:sp>
          <p:sp>
            <p:nvSpPr>
              <p:cNvPr id="222257" name="Rectangle 49">
                <a:extLst>
                  <a:ext uri="{FF2B5EF4-FFF2-40B4-BE49-F238E27FC236}">
                    <a16:creationId xmlns:a16="http://schemas.microsoft.com/office/drawing/2014/main" id="{538AEC32-CFE7-D1D6-DD25-1FF22D8258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3648"/>
                <a:ext cx="551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N 23 G</a:t>
                </a:r>
              </a:p>
            </p:txBody>
          </p:sp>
          <p:sp>
            <p:nvSpPr>
              <p:cNvPr id="222258" name="Rectangle 50">
                <a:extLst>
                  <a:ext uri="{FF2B5EF4-FFF2-40B4-BE49-F238E27FC236}">
                    <a16:creationId xmlns:a16="http://schemas.microsoft.com/office/drawing/2014/main" id="{D036BC6A-4C5B-BDED-73FB-67B9D37EF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3648"/>
                <a:ext cx="465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456 GX 23</a:t>
                </a:r>
              </a:p>
            </p:txBody>
          </p:sp>
          <p:sp>
            <p:nvSpPr>
              <p:cNvPr id="222259" name="Rectangle 51">
                <a:extLst>
                  <a:ext uri="{FF2B5EF4-FFF2-40B4-BE49-F238E27FC236}">
                    <a16:creationId xmlns:a16="http://schemas.microsoft.com/office/drawing/2014/main" id="{F47F84B4-B743-C600-D8A9-F349434A56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3648"/>
                <a:ext cx="493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54325</a:t>
                </a:r>
              </a:p>
            </p:txBody>
          </p:sp>
          <p:sp>
            <p:nvSpPr>
              <p:cNvPr id="222260" name="Rectangle 52">
                <a:extLst>
                  <a:ext uri="{FF2B5EF4-FFF2-40B4-BE49-F238E27FC236}">
                    <a16:creationId xmlns:a16="http://schemas.microsoft.com/office/drawing/2014/main" id="{EA4A6DBA-625D-B205-520B-8E53E9A5B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3648"/>
                <a:ext cx="377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blue</a:t>
                </a:r>
              </a:p>
            </p:txBody>
          </p:sp>
          <p:sp>
            <p:nvSpPr>
              <p:cNvPr id="222261" name="Rectangle 53">
                <a:extLst>
                  <a:ext uri="{FF2B5EF4-FFF2-40B4-BE49-F238E27FC236}">
                    <a16:creationId xmlns:a16="http://schemas.microsoft.com/office/drawing/2014/main" id="{A71C8DA6-DAF0-A035-901B-5A855E5D1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" y="3648"/>
                <a:ext cx="377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Nissan</a:t>
                </a:r>
              </a:p>
              <a:p>
                <a:pPr algn="ctr" eaLnBrk="0" hangingPunct="0"/>
                <a:r>
                  <a:rPr lang="en-US" altLang="en-US" sz="1200"/>
                  <a:t>Patrol</a:t>
                </a:r>
              </a:p>
            </p:txBody>
          </p:sp>
        </p:grpSp>
        <p:grpSp>
          <p:nvGrpSpPr>
            <p:cNvPr id="222262" name="Group 54">
              <a:extLst>
                <a:ext uri="{FF2B5EF4-FFF2-40B4-BE49-F238E27FC236}">
                  <a16:creationId xmlns:a16="http://schemas.microsoft.com/office/drawing/2014/main" id="{2B6A63C9-C91F-B29E-5D63-E73E6F328D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1" y="2736"/>
              <a:ext cx="754" cy="960"/>
              <a:chOff x="3991" y="2736"/>
              <a:chExt cx="754" cy="960"/>
            </a:xfrm>
          </p:grpSpPr>
          <p:sp>
            <p:nvSpPr>
              <p:cNvPr id="222263" name="Rectangle 55">
                <a:extLst>
                  <a:ext uri="{FF2B5EF4-FFF2-40B4-BE49-F238E27FC236}">
                    <a16:creationId xmlns:a16="http://schemas.microsoft.com/office/drawing/2014/main" id="{8E80FE5F-E9C4-6DAA-B654-A1D45CA34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1" y="2736"/>
                <a:ext cx="377" cy="32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 b="1"/>
                  <a:t>type</a:t>
                </a:r>
              </a:p>
            </p:txBody>
          </p:sp>
          <p:sp>
            <p:nvSpPr>
              <p:cNvPr id="222264" name="Rectangle 56">
                <a:extLst>
                  <a:ext uri="{FF2B5EF4-FFF2-40B4-BE49-F238E27FC236}">
                    <a16:creationId xmlns:a16="http://schemas.microsoft.com/office/drawing/2014/main" id="{29C41CF5-0942-51D1-AD1B-E039771E00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377" cy="32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 b="1"/>
                  <a:t>price</a:t>
                </a:r>
              </a:p>
            </p:txBody>
          </p:sp>
          <p:sp>
            <p:nvSpPr>
              <p:cNvPr id="222265" name="Rectangle 57">
                <a:extLst>
                  <a:ext uri="{FF2B5EF4-FFF2-40B4-BE49-F238E27FC236}">
                    <a16:creationId xmlns:a16="http://schemas.microsoft.com/office/drawing/2014/main" id="{DFFD31AB-4817-6052-C415-6BFFACD18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1" y="3056"/>
                <a:ext cx="377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BMW 3</a:t>
                </a:r>
              </a:p>
            </p:txBody>
          </p:sp>
          <p:sp>
            <p:nvSpPr>
              <p:cNvPr id="222266" name="Rectangle 58">
                <a:extLst>
                  <a:ext uri="{FF2B5EF4-FFF2-40B4-BE49-F238E27FC236}">
                    <a16:creationId xmlns:a16="http://schemas.microsoft.com/office/drawing/2014/main" id="{3FA55F7A-10C9-C4B2-7282-E66B1B02E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3056"/>
                <a:ext cx="377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140000</a:t>
                </a:r>
              </a:p>
            </p:txBody>
          </p:sp>
          <p:sp>
            <p:nvSpPr>
              <p:cNvPr id="222267" name="Rectangle 59">
                <a:extLst>
                  <a:ext uri="{FF2B5EF4-FFF2-40B4-BE49-F238E27FC236}">
                    <a16:creationId xmlns:a16="http://schemas.microsoft.com/office/drawing/2014/main" id="{7DB8B2DC-3FEE-D254-99E3-7ED6BFC41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1" y="3376"/>
                <a:ext cx="377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Nissan</a:t>
                </a:r>
              </a:p>
              <a:p>
                <a:pPr algn="ctr" eaLnBrk="0" hangingPunct="0"/>
                <a:r>
                  <a:rPr lang="en-US" altLang="en-US" sz="1200"/>
                  <a:t>Patrol</a:t>
                </a:r>
              </a:p>
            </p:txBody>
          </p:sp>
          <p:sp>
            <p:nvSpPr>
              <p:cNvPr id="222268" name="Rectangle 60">
                <a:extLst>
                  <a:ext uri="{FF2B5EF4-FFF2-40B4-BE49-F238E27FC236}">
                    <a16:creationId xmlns:a16="http://schemas.microsoft.com/office/drawing/2014/main" id="{00DD4B38-D3E0-6521-5A7E-BC377C10A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3376"/>
                <a:ext cx="377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200"/>
                  <a:t>160000</a:t>
                </a:r>
              </a:p>
            </p:txBody>
          </p:sp>
        </p:grpSp>
      </p:grpSp>
      <p:grpSp>
        <p:nvGrpSpPr>
          <p:cNvPr id="222269" name="Group 61">
            <a:extLst>
              <a:ext uri="{FF2B5EF4-FFF2-40B4-BE49-F238E27FC236}">
                <a16:creationId xmlns:a16="http://schemas.microsoft.com/office/drawing/2014/main" id="{F26324E6-A8B7-CF7D-28C3-041EC824FD6E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4540250"/>
            <a:ext cx="2362200" cy="1327150"/>
            <a:chOff x="2592" y="2860"/>
            <a:chExt cx="1488" cy="836"/>
          </a:xfrm>
        </p:grpSpPr>
        <p:sp>
          <p:nvSpPr>
            <p:cNvPr id="222270" name="Line 62">
              <a:extLst>
                <a:ext uri="{FF2B5EF4-FFF2-40B4-BE49-F238E27FC236}">
                  <a16:creationId xmlns:a16="http://schemas.microsoft.com/office/drawing/2014/main" id="{096573EF-465A-C0BA-45E3-AEADF26948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264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2271" name="Line 63">
              <a:extLst>
                <a:ext uri="{FF2B5EF4-FFF2-40B4-BE49-F238E27FC236}">
                  <a16:creationId xmlns:a16="http://schemas.microsoft.com/office/drawing/2014/main" id="{A51A8A34-EED1-203C-0C96-A7FB4E40C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504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2272" name="Line 64">
              <a:extLst>
                <a:ext uri="{FF2B5EF4-FFF2-40B4-BE49-F238E27FC236}">
                  <a16:creationId xmlns:a16="http://schemas.microsoft.com/office/drawing/2014/main" id="{34CE813D-A459-7098-B1E4-F01A46447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3600"/>
              <a:ext cx="148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2273" name="Text Box 65">
              <a:extLst>
                <a:ext uri="{FF2B5EF4-FFF2-40B4-BE49-F238E27FC236}">
                  <a16:creationId xmlns:a16="http://schemas.microsoft.com/office/drawing/2014/main" id="{A175E478-62BF-C44A-6C30-FE23630E9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0" y="2860"/>
              <a:ext cx="79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/>
                <a:t>foreign key</a:t>
              </a:r>
            </a:p>
            <a:p>
              <a:pPr eaLnBrk="0" hangingPunct="0"/>
              <a:r>
                <a:rPr lang="en-US" altLang="en-US"/>
                <a:t>relationship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2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2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2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2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2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2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2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2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333D01E1-8478-BD15-2D6D-E427B1F259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628650"/>
            <a:ext cx="7772400" cy="59055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dirty="0"/>
              <a:t>Normalization Rule 3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344DB94-4286-D672-549F-E35E8D505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7960-0293-481D-96B5-1CE3826E0B61}" type="slidenum">
              <a:rPr lang="de-DE" altLang="en-US"/>
              <a:pPr/>
              <a:t>52</a:t>
            </a:fld>
            <a:endParaRPr lang="de-DE" altLang="en-US"/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B2FF101C-93F4-94CE-4EF9-556AD8752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752601"/>
            <a:ext cx="845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400"/>
              <a:t>A table is in Third Normal Form (3NF) if it is in 2NF and all of it’s columns depend </a:t>
            </a:r>
            <a:r>
              <a:rPr lang="en-US" altLang="en-US" sz="2400" i="1"/>
              <a:t>entirely</a:t>
            </a:r>
            <a:r>
              <a:rPr lang="en-US" altLang="en-US" sz="2400"/>
              <a:t> on the primary key only.</a:t>
            </a:r>
          </a:p>
        </p:txBody>
      </p:sp>
      <p:grpSp>
        <p:nvGrpSpPr>
          <p:cNvPr id="223236" name="Group 4">
            <a:extLst>
              <a:ext uri="{FF2B5EF4-FFF2-40B4-BE49-F238E27FC236}">
                <a16:creationId xmlns:a16="http://schemas.microsoft.com/office/drawing/2014/main" id="{82143F6B-0715-9A03-CC08-5F34E43896DE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819400"/>
            <a:ext cx="3581400" cy="2032000"/>
            <a:chOff x="384" y="1728"/>
            <a:chExt cx="2256" cy="1280"/>
          </a:xfrm>
        </p:grpSpPr>
        <p:sp>
          <p:nvSpPr>
            <p:cNvPr id="223237" name="Rectangle 5">
              <a:extLst>
                <a:ext uri="{FF2B5EF4-FFF2-40B4-BE49-F238E27FC236}">
                  <a16:creationId xmlns:a16="http://schemas.microsoft.com/office/drawing/2014/main" id="{76C70DAF-CF1A-D9F7-4A44-6945D96E2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728"/>
              <a:ext cx="551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 u="sng"/>
                <a:t>Course ID</a:t>
              </a:r>
              <a:endParaRPr lang="en-US" altLang="en-US" sz="1200" b="1"/>
            </a:p>
          </p:txBody>
        </p:sp>
        <p:sp>
          <p:nvSpPr>
            <p:cNvPr id="223238" name="Rectangle 6">
              <a:extLst>
                <a:ext uri="{FF2B5EF4-FFF2-40B4-BE49-F238E27FC236}">
                  <a16:creationId xmlns:a16="http://schemas.microsoft.com/office/drawing/2014/main" id="{F12C57F6-4B8E-9A71-9A37-E6CE1BC61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1728"/>
              <a:ext cx="588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/>
                <a:t>Course</a:t>
              </a:r>
            </a:p>
            <a:p>
              <a:pPr algn="ctr" eaLnBrk="0" hangingPunct="0"/>
              <a:r>
                <a:rPr lang="en-US" altLang="en-US" sz="1200" b="1"/>
                <a:t> Name</a:t>
              </a:r>
            </a:p>
          </p:txBody>
        </p:sp>
        <p:sp>
          <p:nvSpPr>
            <p:cNvPr id="223239" name="Rectangle 7">
              <a:extLst>
                <a:ext uri="{FF2B5EF4-FFF2-40B4-BE49-F238E27FC236}">
                  <a16:creationId xmlns:a16="http://schemas.microsoft.com/office/drawing/2014/main" id="{F4F0DE76-DAFA-1A79-03AE-3F40D3B11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" y="1728"/>
              <a:ext cx="541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 u="sng"/>
                <a:t>Department</a:t>
              </a:r>
            </a:p>
            <a:p>
              <a:pPr algn="ctr" eaLnBrk="0" hangingPunct="0"/>
              <a:r>
                <a:rPr lang="en-US" altLang="en-US" sz="1200" b="1" u="sng"/>
                <a:t>ID</a:t>
              </a:r>
              <a:endParaRPr lang="en-US" altLang="en-US" sz="1200" b="1"/>
            </a:p>
          </p:txBody>
        </p:sp>
        <p:sp>
          <p:nvSpPr>
            <p:cNvPr id="223240" name="Rectangle 8">
              <a:extLst>
                <a:ext uri="{FF2B5EF4-FFF2-40B4-BE49-F238E27FC236}">
                  <a16:creationId xmlns:a16="http://schemas.microsoft.com/office/drawing/2014/main" id="{4713DD9E-329A-A216-E410-8AAEBA136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728"/>
              <a:ext cx="576" cy="32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 b="1"/>
                <a:t>Department </a:t>
              </a:r>
            </a:p>
            <a:p>
              <a:pPr algn="ctr" eaLnBrk="0" hangingPunct="0"/>
              <a:r>
                <a:rPr lang="en-US" altLang="en-US" sz="1200" b="1"/>
                <a:t>name</a:t>
              </a:r>
            </a:p>
          </p:txBody>
        </p:sp>
        <p:sp>
          <p:nvSpPr>
            <p:cNvPr id="223241" name="Rectangle 9">
              <a:extLst>
                <a:ext uri="{FF2B5EF4-FFF2-40B4-BE49-F238E27FC236}">
                  <a16:creationId xmlns:a16="http://schemas.microsoft.com/office/drawing/2014/main" id="{5A6B699F-5FC6-A001-C077-604CF67FE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048"/>
              <a:ext cx="551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2</a:t>
              </a:r>
            </a:p>
          </p:txBody>
        </p:sp>
        <p:sp>
          <p:nvSpPr>
            <p:cNvPr id="223242" name="Rectangle 10">
              <a:extLst>
                <a:ext uri="{FF2B5EF4-FFF2-40B4-BE49-F238E27FC236}">
                  <a16:creationId xmlns:a16="http://schemas.microsoft.com/office/drawing/2014/main" id="{37E580AA-292D-D843-5D00-00244F175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2048"/>
              <a:ext cx="588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history of </a:t>
              </a:r>
            </a:p>
            <a:p>
              <a:pPr algn="ctr" eaLnBrk="0" hangingPunct="0"/>
              <a:r>
                <a:rPr lang="en-US" altLang="en-US" sz="1200"/>
                <a:t>economics</a:t>
              </a:r>
            </a:p>
          </p:txBody>
        </p:sp>
        <p:sp>
          <p:nvSpPr>
            <p:cNvPr id="223243" name="Rectangle 11">
              <a:extLst>
                <a:ext uri="{FF2B5EF4-FFF2-40B4-BE49-F238E27FC236}">
                  <a16:creationId xmlns:a16="http://schemas.microsoft.com/office/drawing/2014/main" id="{05263B92-081A-4EE8-4891-46C0F621A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" y="2048"/>
              <a:ext cx="541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1</a:t>
              </a:r>
            </a:p>
          </p:txBody>
        </p:sp>
        <p:sp>
          <p:nvSpPr>
            <p:cNvPr id="223244" name="Rectangle 12">
              <a:extLst>
                <a:ext uri="{FF2B5EF4-FFF2-40B4-BE49-F238E27FC236}">
                  <a16:creationId xmlns:a16="http://schemas.microsoft.com/office/drawing/2014/main" id="{EFDB2A0A-7B8A-D20B-148A-03FC3D7DB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048"/>
              <a:ext cx="576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management</a:t>
              </a:r>
            </a:p>
          </p:txBody>
        </p:sp>
        <p:sp>
          <p:nvSpPr>
            <p:cNvPr id="223245" name="Rectangle 13">
              <a:extLst>
                <a:ext uri="{FF2B5EF4-FFF2-40B4-BE49-F238E27FC236}">
                  <a16:creationId xmlns:a16="http://schemas.microsoft.com/office/drawing/2014/main" id="{0A6B6DD6-23C7-EEDC-7422-2341C922A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68"/>
              <a:ext cx="551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3</a:t>
              </a:r>
            </a:p>
          </p:txBody>
        </p:sp>
        <p:sp>
          <p:nvSpPr>
            <p:cNvPr id="223246" name="Rectangle 14">
              <a:extLst>
                <a:ext uri="{FF2B5EF4-FFF2-40B4-BE49-F238E27FC236}">
                  <a16:creationId xmlns:a16="http://schemas.microsoft.com/office/drawing/2014/main" id="{67EE5422-5F6F-18DD-03E9-C7BE92FA5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2368"/>
              <a:ext cx="588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databases</a:t>
              </a:r>
            </a:p>
          </p:txBody>
        </p:sp>
        <p:sp>
          <p:nvSpPr>
            <p:cNvPr id="223247" name="Rectangle 15">
              <a:extLst>
                <a:ext uri="{FF2B5EF4-FFF2-40B4-BE49-F238E27FC236}">
                  <a16:creationId xmlns:a16="http://schemas.microsoft.com/office/drawing/2014/main" id="{08D477DE-011B-7C05-B243-21B9209B0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" y="2368"/>
              <a:ext cx="541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2</a:t>
              </a:r>
            </a:p>
          </p:txBody>
        </p:sp>
        <p:sp>
          <p:nvSpPr>
            <p:cNvPr id="223248" name="Rectangle 16">
              <a:extLst>
                <a:ext uri="{FF2B5EF4-FFF2-40B4-BE49-F238E27FC236}">
                  <a16:creationId xmlns:a16="http://schemas.microsoft.com/office/drawing/2014/main" id="{AB2393A8-4A3C-5307-A86B-48ACE8A67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368"/>
              <a:ext cx="576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information </a:t>
              </a:r>
            </a:p>
            <a:p>
              <a:pPr algn="ctr" eaLnBrk="0" hangingPunct="0"/>
              <a:r>
                <a:rPr lang="en-US" altLang="en-US" sz="1200"/>
                <a:t>systems</a:t>
              </a:r>
            </a:p>
          </p:txBody>
        </p:sp>
        <p:sp>
          <p:nvSpPr>
            <p:cNvPr id="223249" name="Rectangle 17">
              <a:extLst>
                <a:ext uri="{FF2B5EF4-FFF2-40B4-BE49-F238E27FC236}">
                  <a16:creationId xmlns:a16="http://schemas.microsoft.com/office/drawing/2014/main" id="{DFAB33E9-1AF4-451B-FCC8-2D5A391F1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688"/>
              <a:ext cx="551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1</a:t>
              </a:r>
            </a:p>
          </p:txBody>
        </p:sp>
        <p:sp>
          <p:nvSpPr>
            <p:cNvPr id="223250" name="Rectangle 18">
              <a:extLst>
                <a:ext uri="{FF2B5EF4-FFF2-40B4-BE49-F238E27FC236}">
                  <a16:creationId xmlns:a16="http://schemas.microsoft.com/office/drawing/2014/main" id="{5BA114BA-09FD-8FD5-05E2-6F3B78E0B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2688"/>
              <a:ext cx="588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software</a:t>
              </a:r>
            </a:p>
            <a:p>
              <a:pPr algn="ctr" eaLnBrk="0" hangingPunct="0"/>
              <a:r>
                <a:rPr lang="en-US" altLang="en-US" sz="1200"/>
                <a:t>engineering</a:t>
              </a:r>
            </a:p>
          </p:txBody>
        </p:sp>
        <p:sp>
          <p:nvSpPr>
            <p:cNvPr id="223251" name="Rectangle 19">
              <a:extLst>
                <a:ext uri="{FF2B5EF4-FFF2-40B4-BE49-F238E27FC236}">
                  <a16:creationId xmlns:a16="http://schemas.microsoft.com/office/drawing/2014/main" id="{3EBDADC4-7EAC-BD20-19C2-3597252F6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" y="2688"/>
              <a:ext cx="541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2</a:t>
              </a:r>
            </a:p>
          </p:txBody>
        </p:sp>
        <p:sp>
          <p:nvSpPr>
            <p:cNvPr id="223252" name="Rectangle 20">
              <a:extLst>
                <a:ext uri="{FF2B5EF4-FFF2-40B4-BE49-F238E27FC236}">
                  <a16:creationId xmlns:a16="http://schemas.microsoft.com/office/drawing/2014/main" id="{4C8DF513-205E-AA12-761C-4A5FCF104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688"/>
              <a:ext cx="576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200"/>
                <a:t>information </a:t>
              </a:r>
            </a:p>
            <a:p>
              <a:pPr algn="ctr" eaLnBrk="0" hangingPunct="0"/>
              <a:r>
                <a:rPr lang="en-US" altLang="en-US" sz="1200"/>
                <a:t>systems</a:t>
              </a:r>
            </a:p>
          </p:txBody>
        </p:sp>
      </p:grpSp>
      <p:sp>
        <p:nvSpPr>
          <p:cNvPr id="223253" name="Text Box 21">
            <a:extLst>
              <a:ext uri="{FF2B5EF4-FFF2-40B4-BE49-F238E27FC236}">
                <a16:creationId xmlns:a16="http://schemas.microsoft.com/office/drawing/2014/main" id="{CC082F30-53E0-0887-4190-9BE7C4EBB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6" y="2860675"/>
            <a:ext cx="3922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/>
              <a:t>Is the following table in 3NF ?</a:t>
            </a:r>
          </a:p>
        </p:txBody>
      </p:sp>
      <p:grpSp>
        <p:nvGrpSpPr>
          <p:cNvPr id="223254" name="Group 22">
            <a:extLst>
              <a:ext uri="{FF2B5EF4-FFF2-40B4-BE49-F238E27FC236}">
                <a16:creationId xmlns:a16="http://schemas.microsoft.com/office/drawing/2014/main" id="{DB6C46F6-8DA6-C21C-EC92-92159745A90C}"/>
              </a:ext>
            </a:extLst>
          </p:cNvPr>
          <p:cNvGrpSpPr>
            <a:grpSpLocks/>
          </p:cNvGrpSpPr>
          <p:nvPr/>
        </p:nvGrpSpPr>
        <p:grpSpPr bwMode="auto">
          <a:xfrm>
            <a:off x="2590801" y="3124200"/>
            <a:ext cx="7864475" cy="3105150"/>
            <a:chOff x="672" y="1968"/>
            <a:chExt cx="4954" cy="1956"/>
          </a:xfrm>
        </p:grpSpPr>
        <p:sp>
          <p:nvSpPr>
            <p:cNvPr id="223255" name="Text Box 23">
              <a:extLst>
                <a:ext uri="{FF2B5EF4-FFF2-40B4-BE49-F238E27FC236}">
                  <a16:creationId xmlns:a16="http://schemas.microsoft.com/office/drawing/2014/main" id="{2CC8B9C6-C1E6-693A-1FAD-2BBA5B7AE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168"/>
              <a:ext cx="495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400"/>
                <a:t>No, since department name depends only on department id, not on the course id. The solution to achieve 3NF is again splitting the table.</a:t>
              </a:r>
            </a:p>
          </p:txBody>
        </p:sp>
        <p:sp>
          <p:nvSpPr>
            <p:cNvPr id="223256" name="AutoShape 24">
              <a:extLst>
                <a:ext uri="{FF2B5EF4-FFF2-40B4-BE49-F238E27FC236}">
                  <a16:creationId xmlns:a16="http://schemas.microsoft.com/office/drawing/2014/main" id="{9F1AAE69-264C-7F47-8254-29252C572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968"/>
              <a:ext cx="816" cy="288"/>
            </a:xfrm>
            <a:prstGeom prst="rightArrow">
              <a:avLst>
                <a:gd name="adj1" fmla="val 44444"/>
                <a:gd name="adj2" fmla="val 41319"/>
              </a:avLst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3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3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Lets Normalise !!!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983062"/>
              </p:ext>
            </p:extLst>
          </p:nvPr>
        </p:nvGraphicFramePr>
        <p:xfrm>
          <a:off x="1400175" y="2706688"/>
          <a:ext cx="822960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W" sz="4000" dirty="0" err="1"/>
                        <a:t>StudentName</a:t>
                      </a:r>
                      <a:endParaRPr lang="en-ZW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4000" dirty="0"/>
                        <a:t>Peter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DBF, DSA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4000" dirty="0"/>
                        <a:t>Susan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JAV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4000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BMC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1ACC38-04BA-4CB9-FF19-D7FE5536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782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359" y="1011485"/>
            <a:ext cx="8229600" cy="922114"/>
          </a:xfrm>
        </p:spPr>
        <p:txBody>
          <a:bodyPr/>
          <a:lstStyle/>
          <a:p>
            <a:r>
              <a:rPr lang="en-ZW" dirty="0"/>
              <a:t>1NF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1247554"/>
              </p:ext>
            </p:extLst>
          </p:nvPr>
        </p:nvGraphicFramePr>
        <p:xfrm>
          <a:off x="1315375" y="2467823"/>
          <a:ext cx="8229600" cy="379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3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3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1056">
                <a:tc>
                  <a:txBody>
                    <a:bodyPr/>
                    <a:lstStyle/>
                    <a:p>
                      <a:r>
                        <a:rPr lang="en-ZW" sz="4000" dirty="0" err="1"/>
                        <a:t>StudentName</a:t>
                      </a:r>
                      <a:endParaRPr lang="en-ZW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00">
                <a:tc>
                  <a:txBody>
                    <a:bodyPr/>
                    <a:lstStyle/>
                    <a:p>
                      <a:r>
                        <a:rPr lang="en-ZW" sz="4000" dirty="0"/>
                        <a:t>Peter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DBF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00">
                <a:tc>
                  <a:txBody>
                    <a:bodyPr/>
                    <a:lstStyle/>
                    <a:p>
                      <a:r>
                        <a:rPr lang="en-ZW" sz="4000" dirty="0"/>
                        <a:t>Susan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JAV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100">
                <a:tc>
                  <a:txBody>
                    <a:bodyPr/>
                    <a:lstStyle/>
                    <a:p>
                      <a:r>
                        <a:rPr lang="en-ZW" sz="4000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BMC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100">
                <a:tc>
                  <a:txBody>
                    <a:bodyPr/>
                    <a:lstStyle/>
                    <a:p>
                      <a:r>
                        <a:rPr lang="en-ZW" sz="4000" dirty="0"/>
                        <a:t>Peter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W" sz="4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ECB0BD-4F21-EDE8-9A22-527C4136E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7227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2NF, 3NF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2700241"/>
              </p:ext>
            </p:extLst>
          </p:nvPr>
        </p:nvGraphicFramePr>
        <p:xfrm>
          <a:off x="986900" y="2743031"/>
          <a:ext cx="6425954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W" sz="4000" dirty="0" err="1"/>
                        <a:t>StudentName</a:t>
                      </a:r>
                      <a:endParaRPr lang="en-ZW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4000" dirty="0"/>
                        <a:t>Peter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4000" dirty="0"/>
                        <a:t>Susan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4000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62865D-B2AE-173A-D163-BBA949D3F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27252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2NF, 3NF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0679641"/>
              </p:ext>
            </p:extLst>
          </p:nvPr>
        </p:nvGraphicFramePr>
        <p:xfrm>
          <a:off x="1295402" y="2636499"/>
          <a:ext cx="82296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W" sz="4000" dirty="0" err="1"/>
                        <a:t>StudentName</a:t>
                      </a:r>
                      <a:endParaRPr lang="en-ZW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4000" dirty="0"/>
                        <a:t>Peter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DBF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4000" dirty="0"/>
                        <a:t>Susan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JAV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4000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4000" dirty="0"/>
                        <a:t>BMC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4000" dirty="0"/>
                        <a:t>Peter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W" sz="4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2BE694-659B-8CCD-BE95-F7D9754E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9308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3NF Consider this 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ZW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292516"/>
              </p:ext>
            </p:extLst>
          </p:nvPr>
        </p:nvGraphicFramePr>
        <p:xfrm>
          <a:off x="1295401" y="2465512"/>
          <a:ext cx="8208914" cy="3553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7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8387">
                <a:tc>
                  <a:txBody>
                    <a:bodyPr/>
                    <a:lstStyle/>
                    <a:p>
                      <a:r>
                        <a:rPr lang="en-ZW" sz="2000" dirty="0"/>
                        <a:t>Student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 err="1"/>
                        <a:t>StudentName</a:t>
                      </a:r>
                      <a:endParaRPr lang="en-ZW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 err="1"/>
                        <a:t>RegionCode</a:t>
                      </a:r>
                      <a:endParaRPr lang="en-ZW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8387">
                <a:tc>
                  <a:txBody>
                    <a:bodyPr/>
                    <a:lstStyle/>
                    <a:p>
                      <a:r>
                        <a:rPr lang="en-ZW" sz="2000" dirty="0"/>
                        <a:t>2120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 err="1"/>
                        <a:t>Popey</a:t>
                      </a:r>
                      <a:endParaRPr lang="en-ZW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/>
                        <a:t>Windhoek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/>
                        <a:t>061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8387">
                <a:tc>
                  <a:txBody>
                    <a:bodyPr/>
                    <a:lstStyle/>
                    <a:p>
                      <a:r>
                        <a:rPr lang="en-ZW" sz="2000" dirty="0"/>
                        <a:t>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/>
                        <a:t>Ruby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/>
                        <a:t>Windhoek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/>
                        <a:t>061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8387">
                <a:tc>
                  <a:txBody>
                    <a:bodyPr/>
                    <a:lstStyle/>
                    <a:p>
                      <a:r>
                        <a:rPr lang="en-ZW" sz="2000" dirty="0"/>
                        <a:t>3012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 err="1"/>
                        <a:t>Pinky</a:t>
                      </a:r>
                      <a:endParaRPr lang="en-ZW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 err="1"/>
                        <a:t>Goababis</a:t>
                      </a:r>
                      <a:endParaRPr lang="en-ZW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000" dirty="0"/>
                        <a:t>062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12B9B-F223-8A09-0458-9CE474A0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903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994122"/>
          </a:xfrm>
        </p:spPr>
        <p:txBody>
          <a:bodyPr/>
          <a:lstStyle/>
          <a:p>
            <a:r>
              <a:rPr lang="en-ZW" dirty="0"/>
              <a:t>3NF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3829531"/>
              </p:ext>
            </p:extLst>
          </p:nvPr>
        </p:nvGraphicFramePr>
        <p:xfrm>
          <a:off x="1306977" y="1794520"/>
          <a:ext cx="799288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W" sz="2400" dirty="0"/>
                        <a:t>Student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400" dirty="0" err="1"/>
                        <a:t>StudentName</a:t>
                      </a:r>
                      <a:endParaRPr lang="en-ZW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400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2400" dirty="0"/>
                        <a:t>2120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400" dirty="0" err="1"/>
                        <a:t>Popey</a:t>
                      </a:r>
                      <a:endParaRPr lang="en-ZW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40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2400" dirty="0"/>
                        <a:t>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400" dirty="0"/>
                        <a:t>Ruby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400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2400" dirty="0"/>
                        <a:t>3012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400" dirty="0" err="1"/>
                        <a:t>Pinky</a:t>
                      </a:r>
                      <a:endParaRPr lang="en-ZW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400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06977" y="1403122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W" dirty="0"/>
              <a:t>Student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6977" y="3836222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W" dirty="0"/>
              <a:t>Address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022820"/>
              </p:ext>
            </p:extLst>
          </p:nvPr>
        </p:nvGraphicFramePr>
        <p:xfrm>
          <a:off x="1306977" y="4418456"/>
          <a:ext cx="784887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W" sz="2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400" dirty="0" err="1"/>
                        <a:t>RegionCode</a:t>
                      </a:r>
                      <a:endParaRPr lang="en-ZW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2400" dirty="0"/>
                        <a:t>Windhoek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400" dirty="0"/>
                        <a:t>061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sz="2400" dirty="0" err="1"/>
                        <a:t>Goababis</a:t>
                      </a:r>
                      <a:endParaRPr lang="en-ZW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2400" dirty="0"/>
                        <a:t>062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7765E0-74ED-A0F6-E594-5E0D013C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6097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30E8-E716-4B52-B201-5B207092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5F07C-E711-44B1-B898-C8C347198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lesson, we focused on </a:t>
            </a:r>
          </a:p>
          <a:p>
            <a:r>
              <a:rPr lang="en-US" dirty="0"/>
              <a:t>Logical design</a:t>
            </a:r>
          </a:p>
          <a:p>
            <a:r>
              <a:rPr lang="en-US" dirty="0"/>
              <a:t>Insert, update and delete anomalies</a:t>
            </a:r>
          </a:p>
          <a:p>
            <a:r>
              <a:rPr lang="en-US" dirty="0"/>
              <a:t>Introduction to </a:t>
            </a:r>
            <a:r>
              <a:rPr lang="en-US" dirty="0" err="1"/>
              <a:t>normalisation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951FB-5381-91E8-4CC9-18007050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8022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A36C4-6B3D-4463-A13C-90C9E871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D0885-14B8-4EA9-9FA5-A6E16EB5F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Kroenke, D. M. &amp; Auer, D. (2018). Database concepts (9th ed.), Pearson</a:t>
            </a:r>
            <a:endParaRPr lang="en-US" dirty="0"/>
          </a:p>
          <a:p>
            <a:r>
              <a:rPr lang="en-GB" dirty="0"/>
              <a:t>Tutorial point . DBMS Normalisation [online] available at </a:t>
            </a:r>
            <a:r>
              <a:rPr lang="en-GB" dirty="0">
                <a:hlinkClick r:id="rId2"/>
              </a:rPr>
              <a:t>https://www.tutorialspoint.com/dbms/database_normalization.htm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3474F-2CE6-63E2-DC97-401C896C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7234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1D76-285B-4A5F-9A96-5189BF35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3D003-2529-4A3A-9872-CC9A1D5E0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business rules</a:t>
            </a:r>
          </a:p>
          <a:p>
            <a:r>
              <a:rPr lang="en-US" dirty="0"/>
              <a:t>Describe various constraints in relational databases</a:t>
            </a:r>
          </a:p>
          <a:p>
            <a:r>
              <a:rPr lang="en-US" dirty="0"/>
              <a:t>Map a logical data model to a physical data model</a:t>
            </a:r>
          </a:p>
          <a:p>
            <a:r>
              <a:rPr lang="en-US" dirty="0"/>
              <a:t>Present a physical schema for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28F82-17BA-5514-83F3-9B8CF1EB3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4196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5112</TotalTime>
  <Words>3459</Words>
  <Application>Microsoft Office PowerPoint</Application>
  <PresentationFormat>Widescreen</PresentationFormat>
  <Paragraphs>857</Paragraphs>
  <Slides>61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Arial</vt:lpstr>
      <vt:lpstr>Calibri</vt:lpstr>
      <vt:lpstr>RopaSoftPro-Regular</vt:lpstr>
      <vt:lpstr>Times New Roman</vt:lpstr>
      <vt:lpstr>Tw Cen MT</vt:lpstr>
      <vt:lpstr>Tw Cen MT Condensed</vt:lpstr>
      <vt:lpstr>Wingdings 3</vt:lpstr>
      <vt:lpstr>Integral</vt:lpstr>
      <vt:lpstr>PowerPoint Presentation</vt:lpstr>
      <vt:lpstr>Recap</vt:lpstr>
      <vt:lpstr>Chen’s Notation</vt:lpstr>
      <vt:lpstr>Example OF CHEN’S NOTATION ERD</vt:lpstr>
      <vt:lpstr>Crow’s Foot Example: One-to-Many Relationship</vt:lpstr>
      <vt:lpstr>Crow’s Foot Notation </vt:lpstr>
      <vt:lpstr>Tools for drawing ERDs </vt:lpstr>
      <vt:lpstr>Objectives  </vt:lpstr>
      <vt:lpstr>Logical database design</vt:lpstr>
      <vt:lpstr>The Relational Model -  Basic Definitions</vt:lpstr>
      <vt:lpstr>The Relational Model -  Relational Data Structure</vt:lpstr>
      <vt:lpstr>Integrity Constraints – Domain Constraints</vt:lpstr>
      <vt:lpstr>Integrity Constraints -        Entity Integrity/Null Value</vt:lpstr>
      <vt:lpstr>Integrity Constraints -  Referential Integrity/ Foreign Keys</vt:lpstr>
      <vt:lpstr> Integrity Constraints - Referential Integrity/ Foreign Keys (Cont.)</vt:lpstr>
      <vt:lpstr>Mapping ERD to relations</vt:lpstr>
      <vt:lpstr>Mapping ERD to relations</vt:lpstr>
      <vt:lpstr>Mapping ERD to relations</vt:lpstr>
      <vt:lpstr> Integrity Constraints –  Well-structured relations</vt:lpstr>
      <vt:lpstr>Transforming E-R Diagrams into Relations</vt:lpstr>
      <vt:lpstr>Mapping Regular Entities</vt:lpstr>
      <vt:lpstr>Mapping Multivalued Attributes</vt:lpstr>
      <vt:lpstr>Mapping Multivalued Attributes </vt:lpstr>
      <vt:lpstr>Mapping Weak Entities</vt:lpstr>
      <vt:lpstr> Mapping Weak Entities </vt:lpstr>
      <vt:lpstr>Mapping One2Many Binary Relationships</vt:lpstr>
      <vt:lpstr>Mapping One2One Binary Relationships</vt:lpstr>
      <vt:lpstr> Mapping Many2Many Binary Relationships</vt:lpstr>
      <vt:lpstr>Mapping Many2Many Binary Relationships </vt:lpstr>
      <vt:lpstr>Mapping One2Many Unary Relationships</vt:lpstr>
      <vt:lpstr>Mapping One2Many Unary Relationships </vt:lpstr>
      <vt:lpstr>Mapping Many2Many Unary Relationships</vt:lpstr>
      <vt:lpstr>Modeling ternary Relationships</vt:lpstr>
      <vt:lpstr>Anomalies </vt:lpstr>
      <vt:lpstr>Anomaly 1</vt:lpstr>
      <vt:lpstr>Insertion anomaly</vt:lpstr>
      <vt:lpstr>Deletion Anomaly</vt:lpstr>
      <vt:lpstr>Update Anomaly</vt:lpstr>
      <vt:lpstr>Solving Anomalies</vt:lpstr>
      <vt:lpstr>DEFINITION- Normalisation</vt:lpstr>
      <vt:lpstr>Functional Dependency</vt:lpstr>
      <vt:lpstr>Functional dependency </vt:lpstr>
      <vt:lpstr>REASONS FOR NORMALISATION</vt:lpstr>
      <vt:lpstr>1NF</vt:lpstr>
      <vt:lpstr>1NF</vt:lpstr>
      <vt:lpstr> Normalization Rule 1 </vt:lpstr>
      <vt:lpstr>2NF</vt:lpstr>
      <vt:lpstr>2NF </vt:lpstr>
      <vt:lpstr>Normalization Rule 2</vt:lpstr>
      <vt:lpstr>3NF</vt:lpstr>
      <vt:lpstr> Achieving 2NF</vt:lpstr>
      <vt:lpstr>Normalization Rule 3</vt:lpstr>
      <vt:lpstr>Lets Normalise !!!</vt:lpstr>
      <vt:lpstr>1NF</vt:lpstr>
      <vt:lpstr>2NF, 3NF</vt:lpstr>
      <vt:lpstr>2NF, 3NF</vt:lpstr>
      <vt:lpstr>3NF Consider this relation</vt:lpstr>
      <vt:lpstr>3NF</vt:lpstr>
      <vt:lpstr>Summary </vt:lpstr>
      <vt:lpstr>References 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Design</dc:title>
  <dc:creator>Chikohora, Teressa (INT)</dc:creator>
  <cp:lastModifiedBy>Chivuno-Kuria, Shilumbe</cp:lastModifiedBy>
  <cp:revision>14</cp:revision>
  <dcterms:created xsi:type="dcterms:W3CDTF">2021-04-19T06:21:24Z</dcterms:created>
  <dcterms:modified xsi:type="dcterms:W3CDTF">2025-03-24T10:03:59Z</dcterms:modified>
</cp:coreProperties>
</file>